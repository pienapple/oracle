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0"/>
  </p:notesMasterIdLst>
  <p:handoutMasterIdLst>
    <p:handoutMasterId r:id="rId111"/>
  </p:handoutMasterIdLst>
  <p:sldIdLst>
    <p:sldId id="256" r:id="rId2"/>
    <p:sldId id="1008" r:id="rId3"/>
    <p:sldId id="1009" r:id="rId4"/>
    <p:sldId id="1010" r:id="rId5"/>
    <p:sldId id="1088" r:id="rId6"/>
    <p:sldId id="1085" r:id="rId7"/>
    <p:sldId id="1086" r:id="rId8"/>
    <p:sldId id="1087" r:id="rId9"/>
    <p:sldId id="1011" r:id="rId10"/>
    <p:sldId id="1013" r:id="rId11"/>
    <p:sldId id="1014" r:id="rId12"/>
    <p:sldId id="1012" r:id="rId13"/>
    <p:sldId id="1015" r:id="rId14"/>
    <p:sldId id="1016" r:id="rId15"/>
    <p:sldId id="1017" r:id="rId16"/>
    <p:sldId id="1018" r:id="rId17"/>
    <p:sldId id="1019" r:id="rId18"/>
    <p:sldId id="1089" r:id="rId19"/>
    <p:sldId id="1020" r:id="rId20"/>
    <p:sldId id="1090" r:id="rId21"/>
    <p:sldId id="1091" r:id="rId22"/>
    <p:sldId id="1021" r:id="rId23"/>
    <p:sldId id="1119" r:id="rId24"/>
    <p:sldId id="1093" r:id="rId25"/>
    <p:sldId id="1120" r:id="rId26"/>
    <p:sldId id="1094" r:id="rId27"/>
    <p:sldId id="1095" r:id="rId28"/>
    <p:sldId id="1096" r:id="rId29"/>
    <p:sldId id="1097" r:id="rId30"/>
    <p:sldId id="1098" r:id="rId31"/>
    <p:sldId id="1099" r:id="rId32"/>
    <p:sldId id="1100" r:id="rId33"/>
    <p:sldId id="1121" r:id="rId34"/>
    <p:sldId id="1102" r:id="rId35"/>
    <p:sldId id="1103" r:id="rId36"/>
    <p:sldId id="1104" r:id="rId37"/>
    <p:sldId id="1105" r:id="rId38"/>
    <p:sldId id="1106" r:id="rId39"/>
    <p:sldId id="1107" r:id="rId40"/>
    <p:sldId id="1108" r:id="rId41"/>
    <p:sldId id="1109" r:id="rId42"/>
    <p:sldId id="1110" r:id="rId43"/>
    <p:sldId id="1111" r:id="rId44"/>
    <p:sldId id="1122" r:id="rId45"/>
    <p:sldId id="1113" r:id="rId46"/>
    <p:sldId id="1114" r:id="rId47"/>
    <p:sldId id="1115" r:id="rId48"/>
    <p:sldId id="1116" r:id="rId49"/>
    <p:sldId id="1117" r:id="rId50"/>
    <p:sldId id="1118" r:id="rId51"/>
    <p:sldId id="1024" r:id="rId52"/>
    <p:sldId id="1025" r:id="rId53"/>
    <p:sldId id="1026" r:id="rId54"/>
    <p:sldId id="1027" r:id="rId55"/>
    <p:sldId id="1028" r:id="rId56"/>
    <p:sldId id="1030" r:id="rId57"/>
    <p:sldId id="1031" r:id="rId58"/>
    <p:sldId id="1143" r:id="rId59"/>
    <p:sldId id="1032" r:id="rId60"/>
    <p:sldId id="1147" r:id="rId61"/>
    <p:sldId id="1033" r:id="rId62"/>
    <p:sldId id="1123" r:id="rId63"/>
    <p:sldId id="1124" r:id="rId64"/>
    <p:sldId id="1125" r:id="rId65"/>
    <p:sldId id="1126" r:id="rId66"/>
    <p:sldId id="1034" r:id="rId67"/>
    <p:sldId id="1035" r:id="rId68"/>
    <p:sldId id="1036" r:id="rId69"/>
    <p:sldId id="1037" r:id="rId70"/>
    <p:sldId id="1155" r:id="rId71"/>
    <p:sldId id="1152" r:id="rId72"/>
    <p:sldId id="1153" r:id="rId73"/>
    <p:sldId id="1154" r:id="rId74"/>
    <p:sldId id="1038" r:id="rId75"/>
    <p:sldId id="1039" r:id="rId76"/>
    <p:sldId id="1040" r:id="rId77"/>
    <p:sldId id="1041" r:id="rId78"/>
    <p:sldId id="1042" r:id="rId79"/>
    <p:sldId id="1144" r:id="rId80"/>
    <p:sldId id="1127" r:id="rId81"/>
    <p:sldId id="1128" r:id="rId82"/>
    <p:sldId id="1129" r:id="rId83"/>
    <p:sldId id="1130" r:id="rId84"/>
    <p:sldId id="1131" r:id="rId85"/>
    <p:sldId id="1132" r:id="rId86"/>
    <p:sldId id="1133" r:id="rId87"/>
    <p:sldId id="1134" r:id="rId88"/>
    <p:sldId id="1135" r:id="rId89"/>
    <p:sldId id="1136" r:id="rId90"/>
    <p:sldId id="1137" r:id="rId91"/>
    <p:sldId id="1138" r:id="rId92"/>
    <p:sldId id="1139" r:id="rId93"/>
    <p:sldId id="1140" r:id="rId94"/>
    <p:sldId id="1141" r:id="rId95"/>
    <p:sldId id="1142" r:id="rId96"/>
    <p:sldId id="1146" r:id="rId97"/>
    <p:sldId id="1048" r:id="rId98"/>
    <p:sldId id="1049" r:id="rId99"/>
    <p:sldId id="1149" r:id="rId100"/>
    <p:sldId id="1151" r:id="rId101"/>
    <p:sldId id="1050" r:id="rId102"/>
    <p:sldId id="1150" r:id="rId103"/>
    <p:sldId id="1148" r:id="rId104"/>
    <p:sldId id="1051" r:id="rId105"/>
    <p:sldId id="1052" r:id="rId106"/>
    <p:sldId id="1053" r:id="rId107"/>
    <p:sldId id="1145" r:id="rId108"/>
    <p:sldId id="1056" r:id="rId10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FF66"/>
    <a:srgbClr val="FFD071"/>
    <a:srgbClr val="FFFFAB"/>
    <a:srgbClr val="FFE7B7"/>
    <a:srgbClr val="FFCC66"/>
    <a:srgbClr val="FF0000"/>
    <a:srgbClr val="C1F3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6" autoAdjust="0"/>
    <p:restoredTop sz="91941" autoAdjust="0"/>
  </p:normalViewPr>
  <p:slideViewPr>
    <p:cSldViewPr>
      <p:cViewPr>
        <p:scale>
          <a:sx n="79" d="100"/>
          <a:sy n="79" d="100"/>
        </p:scale>
        <p:origin x="-1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18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notesMaster" Target="notesMasters/notesMaster1.xml"/><Relationship Id="rId115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05F95C83-3C26-411F-849C-E881215C07A0}" type="datetime1">
              <a:rPr lang="zh-CN" altLang="en-US"/>
              <a:pPr>
                <a:defRPr/>
              </a:pPr>
              <a:t>2017/6/1</a:t>
            </a:fld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D71ABF42-E8C8-4CE5-AF79-CF0091C707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57003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22869FE-3EC4-4F48-A9B3-AF75EE1F1B76}" type="datetime1">
              <a:rPr lang="zh-CN" altLang="en-US"/>
              <a:pPr>
                <a:defRPr/>
              </a:pPr>
              <a:t>2017/6/1</a:t>
            </a:fld>
            <a:endParaRPr lang="en-US" altLang="zh-CN"/>
          </a:p>
        </p:txBody>
      </p:sp>
      <p:sp>
        <p:nvSpPr>
          <p:cNvPr id="1054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D5BBCA76-438E-492D-95EA-6E29B6D016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620195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FB8E12F2-C4E3-4CB8-ACE1-6234DAE814BD}" type="datetime1">
              <a:rPr lang="zh-CN" altLang="en-US" sz="1200" b="0" smtClean="0">
                <a:latin typeface="Arial" charset="0"/>
              </a:rPr>
              <a:pPr/>
              <a:t>2017/6/1</a:t>
            </a:fld>
            <a:endParaRPr lang="en-US" altLang="zh-CN" sz="1200" b="0" smtClean="0">
              <a:latin typeface="Arial" charset="0"/>
            </a:endParaRPr>
          </a:p>
        </p:txBody>
      </p:sp>
      <p:sp>
        <p:nvSpPr>
          <p:cNvPr id="10649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5CAAD231-CFB4-4435-8632-D8532EB5D91E}" type="slidenum">
              <a:rPr lang="en-US" altLang="zh-CN" sz="1200" b="0" smtClean="0">
                <a:latin typeface="Arial" charset="0"/>
              </a:rPr>
              <a:pPr/>
              <a:t>1</a:t>
            </a:fld>
            <a:endParaRPr lang="en-US" altLang="zh-CN" sz="1200" b="0" smtClean="0">
              <a:latin typeface="Arial" charset="0"/>
            </a:endParaRPr>
          </a:p>
        </p:txBody>
      </p:sp>
      <p:sp>
        <p:nvSpPr>
          <p:cNvPr id="1065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07524" name="日期占位符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EDD27E2E-5924-41CE-A192-61F6D8641C6A}" type="datetime1">
              <a:rPr lang="zh-CN" altLang="en-US" sz="1200" b="0" smtClean="0">
                <a:latin typeface="Arial" charset="0"/>
              </a:rPr>
              <a:pPr/>
              <a:t>2017/6/1</a:t>
            </a:fld>
            <a:endParaRPr lang="en-US" altLang="zh-CN" sz="1200" b="0" smtClean="0">
              <a:latin typeface="Arial" charset="0"/>
            </a:endParaRPr>
          </a:p>
        </p:txBody>
      </p:sp>
      <p:sp>
        <p:nvSpPr>
          <p:cNvPr id="107525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9EFA896C-99F7-4B28-A2F8-DC06A49A3E3E}" type="slidenum">
              <a:rPr lang="en-US" altLang="zh-CN" sz="1200" b="0" smtClean="0">
                <a:latin typeface="Arial" charset="0"/>
              </a:rPr>
              <a:pPr/>
              <a:t>30</a:t>
            </a:fld>
            <a:endParaRPr lang="en-US" altLang="zh-CN" sz="1200" b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08548" name="日期占位符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9AB2587F-4A16-4B46-8BB2-EA5A3EE9BE7F}" type="datetime1">
              <a:rPr lang="zh-CN" altLang="en-US" sz="1200" b="0" smtClean="0">
                <a:latin typeface="Arial" charset="0"/>
              </a:rPr>
              <a:pPr/>
              <a:t>2017/6/1</a:t>
            </a:fld>
            <a:endParaRPr lang="en-US" altLang="zh-CN" sz="1200" b="0" smtClean="0">
              <a:latin typeface="Arial" charset="0"/>
            </a:endParaRPr>
          </a:p>
        </p:txBody>
      </p:sp>
      <p:sp>
        <p:nvSpPr>
          <p:cNvPr id="108549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2B1E593E-F9B4-4989-B24D-6F6D8335DC24}" type="slidenum">
              <a:rPr lang="en-US" altLang="zh-CN" sz="1200" b="0" smtClean="0">
                <a:latin typeface="Arial" charset="0"/>
              </a:rPr>
              <a:pPr/>
              <a:t>31</a:t>
            </a:fld>
            <a:endParaRPr lang="en-US" altLang="zh-CN" sz="1200" b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09572" name="日期占位符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4808A08B-7CE7-4AF5-A720-9CB6BC6A7C77}" type="datetime1">
              <a:rPr lang="zh-CN" altLang="en-US" sz="1200" b="0" smtClean="0">
                <a:latin typeface="Arial" charset="0"/>
              </a:rPr>
              <a:pPr/>
              <a:t>2017/6/1</a:t>
            </a:fld>
            <a:endParaRPr lang="en-US" altLang="zh-CN" sz="1200" b="0" smtClean="0">
              <a:latin typeface="Arial" charset="0"/>
            </a:endParaRPr>
          </a:p>
        </p:txBody>
      </p:sp>
      <p:sp>
        <p:nvSpPr>
          <p:cNvPr id="109573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7F2587E3-7D84-452F-A655-E18F123F369E}" type="slidenum">
              <a:rPr lang="en-US" altLang="zh-CN" sz="1200" b="0" smtClean="0">
                <a:latin typeface="Arial" charset="0"/>
              </a:rPr>
              <a:pPr/>
              <a:t>32</a:t>
            </a:fld>
            <a:endParaRPr lang="en-US" altLang="zh-CN" sz="1200" b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10596" name="日期占位符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830179F4-CA2E-4659-9683-2DB1A8D51A39}" type="datetime1">
              <a:rPr lang="zh-CN" altLang="en-US" sz="1200" b="0" smtClean="0">
                <a:latin typeface="Arial" charset="0"/>
              </a:rPr>
              <a:pPr/>
              <a:t>2017/6/1</a:t>
            </a:fld>
            <a:endParaRPr lang="en-US" altLang="zh-CN" sz="1200" b="0" smtClean="0">
              <a:latin typeface="Arial" charset="0"/>
            </a:endParaRPr>
          </a:p>
        </p:txBody>
      </p:sp>
      <p:sp>
        <p:nvSpPr>
          <p:cNvPr id="110597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C1E308FF-2F73-446C-B7CA-E5ECC27AE70F}" type="slidenum">
              <a:rPr lang="en-US" altLang="zh-CN" sz="1200" b="0" smtClean="0">
                <a:latin typeface="Arial" charset="0"/>
              </a:rPr>
              <a:pPr/>
              <a:t>40</a:t>
            </a:fld>
            <a:endParaRPr lang="en-US" altLang="zh-CN" sz="1200" b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11620" name="日期占位符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0FD5CBA7-1004-4AE7-AAFD-9C8059A9E125}" type="datetime1">
              <a:rPr lang="zh-CN" altLang="en-US" sz="1200" b="0" smtClean="0">
                <a:latin typeface="Arial" charset="0"/>
              </a:rPr>
              <a:pPr/>
              <a:t>2017/6/1</a:t>
            </a:fld>
            <a:endParaRPr lang="en-US" altLang="zh-CN" sz="1200" b="0" smtClean="0">
              <a:latin typeface="Arial" charset="0"/>
            </a:endParaRPr>
          </a:p>
        </p:txBody>
      </p:sp>
      <p:sp>
        <p:nvSpPr>
          <p:cNvPr id="1116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140007C9-D178-4E83-8B8D-0FA3FB44F68C}" type="slidenum">
              <a:rPr lang="en-US" altLang="zh-CN" sz="1200" b="0" smtClean="0">
                <a:latin typeface="Arial" charset="0"/>
              </a:rPr>
              <a:pPr/>
              <a:t>41</a:t>
            </a:fld>
            <a:endParaRPr lang="en-US" altLang="zh-CN" sz="1200" b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12644" name="日期占位符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4E59FCDD-510F-485F-A405-FEBFF9919F6C}" type="datetime1">
              <a:rPr lang="zh-CN" altLang="en-US" sz="1200" b="0" smtClean="0">
                <a:latin typeface="Arial" charset="0"/>
              </a:rPr>
              <a:pPr/>
              <a:t>2017/6/1</a:t>
            </a:fld>
            <a:endParaRPr lang="en-US" altLang="zh-CN" sz="1200" b="0" smtClean="0">
              <a:latin typeface="Arial" charset="0"/>
            </a:endParaRPr>
          </a:p>
        </p:txBody>
      </p:sp>
      <p:sp>
        <p:nvSpPr>
          <p:cNvPr id="112645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ED45FBD8-0685-402A-8604-805C425A9C87}" type="slidenum">
              <a:rPr lang="en-US" altLang="zh-CN" sz="1200" b="0" smtClean="0">
                <a:latin typeface="Arial" charset="0"/>
              </a:rPr>
              <a:pPr/>
              <a:t>42</a:t>
            </a:fld>
            <a:endParaRPr lang="en-US" altLang="zh-CN" sz="1200" b="0" smtClean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2" b="1041"/>
          <a:stretch>
            <a:fillRect/>
          </a:stretch>
        </p:blipFill>
        <p:spPr bwMode="auto">
          <a:xfrm>
            <a:off x="-6350" y="14288"/>
            <a:ext cx="9144000" cy="638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{912FCF66-91DB-43A8-9945-DA5F076F39FA}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0033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195513" y="2420938"/>
            <a:ext cx="532765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03754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13439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6499665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6287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16287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17520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80323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29793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88670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3972790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5490873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33381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9075" y="0"/>
            <a:ext cx="2128838" cy="61547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0"/>
            <a:ext cx="6237287" cy="61547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08921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0"/>
            <a:ext cx="8229600" cy="11255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108202181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031038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00200"/>
            <a:ext cx="38100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CC796-0CEB-4437-8896-B2DAB4EA29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300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229600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CN" altLang="zh-CN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628775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88" r:id="rId1"/>
    <p:sldLayoutId id="2147484477" r:id="rId2"/>
    <p:sldLayoutId id="2147484478" r:id="rId3"/>
    <p:sldLayoutId id="2147484479" r:id="rId4"/>
    <p:sldLayoutId id="2147484480" r:id="rId5"/>
    <p:sldLayoutId id="2147484481" r:id="rId6"/>
    <p:sldLayoutId id="2147484482" r:id="rId7"/>
    <p:sldLayoutId id="2147484483" r:id="rId8"/>
    <p:sldLayoutId id="2147484484" r:id="rId9"/>
    <p:sldLayoutId id="2147484485" r:id="rId10"/>
    <p:sldLayoutId id="2147484486" r:id="rId11"/>
    <p:sldLayoutId id="2147484487" r:id="rId12"/>
    <p:sldLayoutId id="2147484489" r:id="rId13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4375" y="1979613"/>
            <a:ext cx="7705725" cy="2163762"/>
          </a:xfrm>
        </p:spPr>
        <p:txBody>
          <a:bodyPr/>
          <a:lstStyle/>
          <a:p>
            <a:pPr algn="ctr" eaLnBrk="1" hangingPunct="1">
              <a:defRPr/>
            </a:pPr>
            <a:r>
              <a:rPr kumimoji="1" lang="zh-CN" altLang="en-US" sz="5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kumimoji="1" lang="zh-CN" altLang="en-US" sz="5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kumimoji="1" lang="zh-CN" altLang="en-US" sz="4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第</a:t>
            </a:r>
            <a:r>
              <a:rPr kumimoji="1" lang="en-US" altLang="zh-CN" sz="4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kumimoji="1" lang="zh-CN" altLang="en-US" sz="4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章  数据库编程</a:t>
            </a:r>
            <a:br>
              <a:rPr kumimoji="1" lang="zh-CN" altLang="en-US" sz="4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kumimoji="1" lang="zh-CN" altLang="en-US" sz="4400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000250" y="4508500"/>
            <a:ext cx="485775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 eaLnBrk="1" hangingPunct="1">
              <a:buFontTx/>
              <a:buNone/>
              <a:defRPr/>
            </a:pPr>
            <a:r>
              <a:rPr lang="zh-CN" altLang="en-US" sz="2400" kern="0" dirty="0" smtClean="0">
                <a:solidFill>
                  <a:srgbClr val="002060"/>
                </a:solidFill>
                <a:latin typeface="宋体" pitchFamily="2" charset="-122"/>
              </a:rPr>
              <a:t>主讲教师：杨丽丽</a:t>
            </a:r>
            <a:endParaRPr lang="en-US" altLang="zh-CN" sz="2400" kern="0" dirty="0" smtClean="0">
              <a:solidFill>
                <a:srgbClr val="002060"/>
              </a:solidFill>
              <a:latin typeface="宋体" pitchFamily="2" charset="-122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CN" sz="2400" kern="0" dirty="0" err="1">
                <a:solidFill>
                  <a:srgbClr val="002060"/>
                </a:solidFill>
                <a:latin typeface="宋体" pitchFamily="2" charset="-122"/>
              </a:rPr>
              <a:t>E-mail:yll@nwsuaf.edu.cn</a:t>
            </a:r>
            <a:endParaRPr lang="en-US" altLang="zh-CN" sz="2400" kern="0" dirty="0" smtClean="0">
              <a:solidFill>
                <a:srgbClr val="002060"/>
              </a:solidFill>
              <a:latin typeface="宋体" pitchFamily="2" charset="-122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CN" sz="2400" kern="0" dirty="0">
                <a:solidFill>
                  <a:srgbClr val="002060"/>
                </a:solidFill>
                <a:latin typeface="宋体" pitchFamily="2" charset="-122"/>
              </a:rPr>
              <a:t>Tel: </a:t>
            </a:r>
            <a:r>
              <a:rPr lang="en-US" altLang="zh-CN" sz="2400" kern="0" dirty="0" smtClean="0">
                <a:solidFill>
                  <a:srgbClr val="002060"/>
                </a:solidFill>
                <a:latin typeface="宋体" pitchFamily="2" charset="-122"/>
              </a:rPr>
              <a:t>17709213676</a:t>
            </a:r>
            <a:r>
              <a:rPr lang="zh-CN" altLang="en-US" sz="2400" kern="0" dirty="0" smtClean="0">
                <a:solidFill>
                  <a:srgbClr val="002060"/>
                </a:solidFill>
                <a:latin typeface="宋体" pitchFamily="2" charset="-122"/>
              </a:rPr>
              <a:t>，</a:t>
            </a:r>
            <a:r>
              <a:rPr lang="en-US" altLang="zh-CN" sz="2400" kern="0" dirty="0" smtClean="0">
                <a:solidFill>
                  <a:srgbClr val="002060"/>
                </a:solidFill>
                <a:latin typeface="宋体" pitchFamily="2" charset="-122"/>
              </a:rPr>
              <a:t>87091337(O)</a:t>
            </a:r>
            <a:endParaRPr lang="zh-CN" altLang="en-US" sz="2400" kern="0" dirty="0">
              <a:solidFill>
                <a:srgbClr val="00206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xfrm>
            <a:off x="395288" y="0"/>
            <a:ext cx="8229600" cy="1125538"/>
          </a:xfrm>
        </p:spPr>
        <p:txBody>
          <a:bodyPr/>
          <a:lstStyle/>
          <a:p>
            <a:r>
              <a:rPr lang="zh-CN" altLang="en-US" sz="3200" smtClean="0">
                <a:latin typeface="黑体" pitchFamily="49" charset="-122"/>
              </a:rPr>
              <a:t>第</a:t>
            </a:r>
            <a:r>
              <a:rPr lang="en-US" altLang="zh-CN" sz="3200" smtClean="0">
                <a:latin typeface="黑体" pitchFamily="49" charset="-122"/>
              </a:rPr>
              <a:t>8</a:t>
            </a:r>
            <a:r>
              <a:rPr lang="zh-CN" altLang="en-US" sz="3200" smtClean="0">
                <a:latin typeface="黑体" pitchFamily="49" charset="-122"/>
              </a:rPr>
              <a:t>章 </a:t>
            </a:r>
            <a:r>
              <a:rPr lang="en-US" altLang="zh-CN" sz="3200" smtClean="0">
                <a:latin typeface="黑体" pitchFamily="49" charset="-122"/>
              </a:rPr>
              <a:t>Oracle</a:t>
            </a:r>
            <a:r>
              <a:rPr lang="zh-CN" altLang="en-US" sz="3200" smtClean="0">
                <a:latin typeface="黑体" pitchFamily="49" charset="-122"/>
              </a:rPr>
              <a:t>数据库编程</a:t>
            </a:r>
            <a:endParaRPr lang="zh-CN" altLang="en-US" sz="3200" smtClean="0"/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xfrm>
            <a:off x="2268538" y="1628775"/>
            <a:ext cx="4267200" cy="37338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latin typeface="+mj-ea"/>
                <a:ea typeface="+mj-ea"/>
              </a:rPr>
              <a:t>8.1 PL/SQL</a:t>
            </a:r>
            <a:r>
              <a:rPr lang="zh-CN" altLang="en-US" sz="2800" dirty="0" smtClean="0">
                <a:latin typeface="+mj-ea"/>
                <a:ea typeface="+mj-ea"/>
              </a:rPr>
              <a:t>简介</a:t>
            </a:r>
            <a:endParaRPr lang="en-US" altLang="zh-CN" sz="2800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latin typeface="+mj-ea"/>
                <a:ea typeface="+mj-ea"/>
              </a:rPr>
              <a:t>8.2 </a:t>
            </a:r>
            <a:r>
              <a:rPr lang="zh-CN" altLang="en-US" sz="2800" dirty="0" smtClean="0">
                <a:latin typeface="+mj-ea"/>
                <a:ea typeface="+mj-ea"/>
              </a:rPr>
              <a:t>游标</a:t>
            </a:r>
            <a:endParaRPr lang="en-US" altLang="zh-CN" sz="2800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latin typeface="+mj-ea"/>
                <a:ea typeface="+mj-ea"/>
              </a:rPr>
              <a:t>8.3 </a:t>
            </a:r>
            <a:r>
              <a:rPr lang="zh-CN" altLang="en-US" sz="2800" dirty="0" smtClean="0">
                <a:latin typeface="+mj-ea"/>
                <a:ea typeface="+mj-ea"/>
              </a:rPr>
              <a:t>存储过程</a:t>
            </a:r>
            <a:endParaRPr lang="en-US" altLang="zh-CN" sz="2800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latin typeface="+mj-ea"/>
                <a:ea typeface="+mj-ea"/>
              </a:rPr>
              <a:t>8.4 </a:t>
            </a:r>
            <a:r>
              <a:rPr lang="zh-CN" altLang="en-US" sz="2800" dirty="0" smtClean="0">
                <a:latin typeface="+mj-ea"/>
                <a:ea typeface="+mj-ea"/>
              </a:rPr>
              <a:t>触发器</a:t>
            </a:r>
            <a:endParaRPr lang="en-US" altLang="zh-CN" sz="2800" dirty="0" smtClean="0"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-9525"/>
            <a:ext cx="8229600" cy="1125538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  <a:endParaRPr lang="en-US" altLang="zh-CN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8351837" cy="4525963"/>
          </a:xfrm>
        </p:spPr>
        <p:txBody>
          <a:bodyPr/>
          <a:lstStyle/>
          <a:p>
            <a:pPr eaLnBrk="1" hangingPunct="1">
              <a:lnSpc>
                <a:spcPts val="44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1.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简介</a:t>
            </a:r>
            <a:endParaRPr lang="en-US" altLang="zh-CN" sz="24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eaLnBrk="1" hangingPunct="1">
              <a:lnSpc>
                <a:spcPts val="4400"/>
              </a:lnSpc>
              <a:spcBef>
                <a:spcPts val="0"/>
              </a:spcBef>
              <a:defRPr/>
            </a:pPr>
            <a:r>
              <a:rPr lang="en-US" altLang="zh-CN" sz="2200" dirty="0">
                <a:latin typeface="+mj-ea"/>
                <a:ea typeface="+mj-ea"/>
              </a:rPr>
              <a:t>PL/SQL</a:t>
            </a:r>
            <a:r>
              <a:rPr lang="zh-CN" altLang="en-US" sz="2200" dirty="0">
                <a:latin typeface="+mj-ea"/>
                <a:ea typeface="+mj-ea"/>
              </a:rPr>
              <a:t>也是一种程序语言，叫做过程化</a:t>
            </a:r>
            <a:r>
              <a:rPr lang="en-US" altLang="zh-CN" sz="2200" dirty="0">
                <a:latin typeface="+mj-ea"/>
                <a:ea typeface="+mj-ea"/>
              </a:rPr>
              <a:t>SQL</a:t>
            </a:r>
            <a:r>
              <a:rPr lang="zh-CN" altLang="en-US" sz="2200" dirty="0" smtClean="0">
                <a:latin typeface="+mj-ea"/>
                <a:ea typeface="+mj-ea"/>
              </a:rPr>
              <a:t>语言</a:t>
            </a:r>
            <a:r>
              <a:rPr lang="en-US" altLang="zh-CN" sz="2200" dirty="0" smtClean="0">
                <a:latin typeface="+mj-ea"/>
                <a:ea typeface="+mj-ea"/>
              </a:rPr>
              <a:t>(Procedural Language/SQL)</a:t>
            </a:r>
            <a:r>
              <a:rPr lang="zh-CN" altLang="en-US" sz="2200" dirty="0" smtClean="0">
                <a:latin typeface="+mj-ea"/>
                <a:ea typeface="+mj-ea"/>
              </a:rPr>
              <a:t>。</a:t>
            </a:r>
            <a:r>
              <a:rPr lang="en-US" altLang="zh-CN" sz="2200" dirty="0">
                <a:latin typeface="+mj-ea"/>
                <a:ea typeface="+mj-ea"/>
              </a:rPr>
              <a:t>PL/SQL</a:t>
            </a:r>
            <a:r>
              <a:rPr lang="zh-CN" altLang="en-US" sz="2200" dirty="0">
                <a:latin typeface="+mj-ea"/>
                <a:ea typeface="+mj-ea"/>
              </a:rPr>
              <a:t>是</a:t>
            </a:r>
            <a:r>
              <a:rPr lang="en-US" altLang="zh-CN" sz="2200" dirty="0">
                <a:latin typeface="+mj-ea"/>
                <a:ea typeface="+mj-ea"/>
              </a:rPr>
              <a:t>Oracle</a:t>
            </a:r>
            <a:r>
              <a:rPr lang="zh-CN" altLang="en-US" sz="2200" dirty="0">
                <a:latin typeface="+mj-ea"/>
                <a:ea typeface="+mj-ea"/>
              </a:rPr>
              <a:t>数据库</a:t>
            </a:r>
            <a:r>
              <a:rPr lang="zh-CN" altLang="en-US" sz="2200" dirty="0">
                <a:solidFill>
                  <a:srgbClr val="FF0000"/>
                </a:solidFill>
                <a:latin typeface="+mj-ea"/>
                <a:ea typeface="+mj-ea"/>
              </a:rPr>
              <a:t>对标准数据库语言</a:t>
            </a:r>
            <a:r>
              <a:rPr lang="en-US" altLang="zh-CN" sz="2200" dirty="0" smtClean="0">
                <a:solidFill>
                  <a:srgbClr val="FF0000"/>
                </a:solidFill>
                <a:latin typeface="+mj-ea"/>
                <a:ea typeface="+mj-ea"/>
              </a:rPr>
              <a:t>SQL</a:t>
            </a:r>
            <a:r>
              <a:rPr lang="zh-CN" altLang="en-US" sz="2200" dirty="0" smtClean="0">
                <a:solidFill>
                  <a:srgbClr val="FF0000"/>
                </a:solidFill>
                <a:latin typeface="+mj-ea"/>
                <a:ea typeface="+mj-ea"/>
              </a:rPr>
              <a:t>的</a:t>
            </a:r>
            <a:r>
              <a:rPr lang="zh-CN" altLang="en-US" sz="2200" dirty="0">
                <a:solidFill>
                  <a:srgbClr val="FF0000"/>
                </a:solidFill>
                <a:latin typeface="+mj-ea"/>
                <a:ea typeface="+mj-ea"/>
              </a:rPr>
              <a:t>扩展</a:t>
            </a:r>
            <a:r>
              <a:rPr lang="zh-CN" altLang="en-US" sz="2200" dirty="0" smtClean="0">
                <a:latin typeface="+mj-ea"/>
                <a:ea typeface="+mj-ea"/>
              </a:rPr>
              <a:t>。</a:t>
            </a:r>
            <a:endParaRPr lang="en-US" altLang="zh-CN" sz="2200" dirty="0" smtClean="0">
              <a:latin typeface="+mj-ea"/>
              <a:ea typeface="+mj-ea"/>
            </a:endParaRPr>
          </a:p>
          <a:p>
            <a:pPr eaLnBrk="1" hangingPunct="1">
              <a:lnSpc>
                <a:spcPts val="4400"/>
              </a:lnSpc>
              <a:spcBef>
                <a:spcPts val="0"/>
              </a:spcBef>
              <a:defRPr/>
            </a:pPr>
            <a:r>
              <a:rPr lang="zh-CN" altLang="en-US" sz="2200" dirty="0">
                <a:latin typeface="+mj-ea"/>
                <a:ea typeface="+mj-ea"/>
              </a:rPr>
              <a:t>在普通</a:t>
            </a:r>
            <a:r>
              <a:rPr lang="en-US" altLang="zh-CN" sz="2200" dirty="0">
                <a:latin typeface="+mj-ea"/>
                <a:ea typeface="+mj-ea"/>
              </a:rPr>
              <a:t>SQL</a:t>
            </a:r>
            <a:r>
              <a:rPr lang="zh-CN" altLang="en-US" sz="2200" dirty="0">
                <a:latin typeface="+mj-ea"/>
                <a:ea typeface="+mj-ea"/>
              </a:rPr>
              <a:t>语句的使用上增加了</a:t>
            </a:r>
            <a:r>
              <a:rPr lang="zh-CN" altLang="en-US" sz="2200" dirty="0">
                <a:solidFill>
                  <a:srgbClr val="FF0000"/>
                </a:solidFill>
                <a:latin typeface="+mj-ea"/>
                <a:ea typeface="+mj-ea"/>
              </a:rPr>
              <a:t>编程语言</a:t>
            </a:r>
            <a:r>
              <a:rPr lang="zh-CN" altLang="en-US" sz="2200" dirty="0">
                <a:latin typeface="+mj-ea"/>
                <a:ea typeface="+mj-ea"/>
              </a:rPr>
              <a:t>的特点，所以</a:t>
            </a:r>
            <a:r>
              <a:rPr lang="en-US" altLang="zh-CN" sz="2200" dirty="0">
                <a:latin typeface="+mj-ea"/>
                <a:ea typeface="+mj-ea"/>
              </a:rPr>
              <a:t>PL/SQL</a:t>
            </a:r>
            <a:r>
              <a:rPr lang="zh-CN" altLang="en-US" sz="2200" dirty="0">
                <a:latin typeface="+mj-ea"/>
                <a:ea typeface="+mj-ea"/>
              </a:rPr>
              <a:t>就是把</a:t>
            </a:r>
            <a:r>
              <a:rPr lang="zh-CN" altLang="en-US" sz="2200" dirty="0">
                <a:solidFill>
                  <a:srgbClr val="FF0000"/>
                </a:solidFill>
                <a:latin typeface="+mj-ea"/>
                <a:ea typeface="+mj-ea"/>
              </a:rPr>
              <a:t>数据操作</a:t>
            </a:r>
            <a:r>
              <a:rPr lang="zh-CN" altLang="en-US" sz="2200" dirty="0">
                <a:latin typeface="+mj-ea"/>
                <a:ea typeface="+mj-ea"/>
              </a:rPr>
              <a:t>和</a:t>
            </a:r>
            <a:r>
              <a:rPr lang="zh-CN" altLang="en-US" sz="2200" dirty="0">
                <a:solidFill>
                  <a:srgbClr val="FF0000"/>
                </a:solidFill>
                <a:latin typeface="+mj-ea"/>
                <a:ea typeface="+mj-ea"/>
              </a:rPr>
              <a:t>查询语句</a:t>
            </a:r>
            <a:r>
              <a:rPr lang="zh-CN" altLang="en-US" sz="2200" dirty="0">
                <a:latin typeface="+mj-ea"/>
                <a:ea typeface="+mj-ea"/>
              </a:rPr>
              <a:t>组织在</a:t>
            </a:r>
            <a:r>
              <a:rPr lang="en-US" altLang="zh-CN" sz="2200" dirty="0">
                <a:latin typeface="+mj-ea"/>
                <a:ea typeface="+mj-ea"/>
              </a:rPr>
              <a:t>PL/SQL</a:t>
            </a:r>
            <a:r>
              <a:rPr lang="zh-CN" altLang="en-US" sz="2200" dirty="0">
                <a:latin typeface="+mj-ea"/>
                <a:ea typeface="+mj-ea"/>
              </a:rPr>
              <a:t>代码的过程性单元中，通过逻辑判断、循环等</a:t>
            </a:r>
            <a:r>
              <a:rPr lang="zh-CN" altLang="en-US" sz="2200" dirty="0" smtClean="0">
                <a:latin typeface="+mj-ea"/>
                <a:ea typeface="+mj-ea"/>
              </a:rPr>
              <a:t>操作实现</a:t>
            </a:r>
            <a:r>
              <a:rPr lang="zh-CN" altLang="en-US" sz="2200" dirty="0">
                <a:latin typeface="+mj-ea"/>
                <a:ea typeface="+mj-ea"/>
              </a:rPr>
              <a:t>复杂的功能或者计算的程序语言。</a:t>
            </a:r>
            <a:endParaRPr lang="zh-CN" altLang="en-US" sz="2200" dirty="0" smtClean="0"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  <a:endParaRPr lang="en-US" altLang="zh-CN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7924800" cy="5029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1.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简介</a:t>
            </a:r>
            <a:endParaRPr lang="en-US" altLang="zh-CN" sz="2000" dirty="0" smtClean="0"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PL/SQL</a:t>
            </a:r>
            <a:r>
              <a:rPr lang="zh-CN" altLang="en-US" sz="2000" dirty="0" smtClean="0">
                <a:latin typeface="+mj-ea"/>
                <a:ea typeface="+mj-ea"/>
              </a:rPr>
              <a:t>程序由三个</a:t>
            </a:r>
            <a:r>
              <a:rPr lang="zh-CN" altLang="en-US" sz="2000" dirty="0">
                <a:latin typeface="+mj-ea"/>
                <a:ea typeface="+mj-ea"/>
              </a:rPr>
              <a:t>部分</a:t>
            </a:r>
            <a:r>
              <a:rPr lang="zh-CN" altLang="en-US" sz="2000" dirty="0" smtClean="0">
                <a:latin typeface="+mj-ea"/>
                <a:ea typeface="+mj-ea"/>
              </a:rPr>
              <a:t>组成，即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声明部分</a:t>
            </a:r>
            <a:r>
              <a:rPr lang="zh-CN" altLang="en-US" sz="2000" dirty="0" smtClean="0">
                <a:latin typeface="+mj-ea"/>
                <a:ea typeface="+mj-ea"/>
              </a:rPr>
              <a:t>、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执行部分</a:t>
            </a:r>
            <a:r>
              <a:rPr lang="zh-CN" altLang="en-US" sz="2000" dirty="0" smtClean="0">
                <a:latin typeface="+mj-ea"/>
                <a:ea typeface="+mj-ea"/>
              </a:rPr>
              <a:t>、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异常处理</a:t>
            </a:r>
            <a:r>
              <a:rPr lang="zh-CN" altLang="en-US" sz="2000" dirty="0" smtClean="0">
                <a:latin typeface="+mj-ea"/>
                <a:ea typeface="+mj-ea"/>
              </a:rPr>
              <a:t>部分。</a:t>
            </a:r>
          </a:p>
          <a:p>
            <a:pPr eaLnBrk="1" hangingPunct="1"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PL/SQL</a:t>
            </a:r>
            <a:r>
              <a:rPr lang="zh-CN" altLang="en-US" sz="2000" dirty="0" smtClean="0">
                <a:latin typeface="+mj-ea"/>
                <a:ea typeface="+mj-ea"/>
              </a:rPr>
              <a:t>程序的结构如下：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DECLARE  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/* </a:t>
            </a:r>
            <a:r>
              <a:rPr lang="zh-CN" altLang="en-US" sz="2000" dirty="0" smtClean="0">
                <a:latin typeface="+mj-ea"/>
                <a:ea typeface="+mj-ea"/>
              </a:rPr>
              <a:t>声明部分</a:t>
            </a:r>
            <a:r>
              <a:rPr lang="en-US" altLang="zh-CN" sz="2000" dirty="0" smtClean="0">
                <a:latin typeface="+mj-ea"/>
                <a:ea typeface="+mj-ea"/>
              </a:rPr>
              <a:t>: </a:t>
            </a:r>
            <a:r>
              <a:rPr lang="zh-CN" altLang="en-US" sz="2000" dirty="0" smtClean="0">
                <a:latin typeface="+mj-ea"/>
                <a:ea typeface="+mj-ea"/>
              </a:rPr>
              <a:t>在此声明</a:t>
            </a:r>
            <a:r>
              <a:rPr lang="en-US" altLang="zh-CN" sz="2000" dirty="0" smtClean="0">
                <a:latin typeface="+mj-ea"/>
                <a:ea typeface="+mj-ea"/>
              </a:rPr>
              <a:t>PL/SQL</a:t>
            </a:r>
            <a:r>
              <a:rPr lang="zh-CN" altLang="en-US" sz="2000" dirty="0" smtClean="0">
                <a:latin typeface="+mj-ea"/>
                <a:ea typeface="+mj-ea"/>
              </a:rPr>
              <a:t>用到的变量</a:t>
            </a:r>
            <a:r>
              <a:rPr lang="en-US" altLang="zh-CN" sz="2000" dirty="0" smtClean="0">
                <a:latin typeface="+mj-ea"/>
                <a:ea typeface="+mj-ea"/>
              </a:rPr>
              <a:t>,</a:t>
            </a:r>
            <a:r>
              <a:rPr lang="zh-CN" altLang="en-US" sz="2000" dirty="0" smtClean="0">
                <a:latin typeface="+mj-ea"/>
                <a:ea typeface="+mj-ea"/>
              </a:rPr>
              <a:t>类型及游标，以及局部的存储过程和函数 *</a:t>
            </a:r>
            <a:r>
              <a:rPr lang="en-US" altLang="zh-CN" sz="2000" dirty="0" smtClean="0">
                <a:latin typeface="+mj-ea"/>
                <a:ea typeface="+mj-ea"/>
              </a:rPr>
              <a:t>/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BEGIN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    /*</a:t>
            </a:r>
            <a:r>
              <a:rPr lang="zh-CN" altLang="en-US" sz="2000" dirty="0" smtClean="0">
                <a:latin typeface="+mj-ea"/>
                <a:ea typeface="+mj-ea"/>
              </a:rPr>
              <a:t>执行部分</a:t>
            </a:r>
            <a:r>
              <a:rPr lang="en-US" altLang="zh-CN" sz="2000" dirty="0" smtClean="0">
                <a:latin typeface="+mj-ea"/>
                <a:ea typeface="+mj-ea"/>
              </a:rPr>
              <a:t>: </a:t>
            </a:r>
            <a:r>
              <a:rPr lang="zh-CN" altLang="en-US" sz="2000" dirty="0" smtClean="0">
                <a:latin typeface="+mj-ea"/>
                <a:ea typeface="+mj-ea"/>
              </a:rPr>
              <a:t>过程及</a:t>
            </a:r>
            <a:r>
              <a:rPr lang="en-US" altLang="zh-CN" sz="2000" dirty="0" smtClean="0">
                <a:latin typeface="+mj-ea"/>
                <a:ea typeface="+mj-ea"/>
              </a:rPr>
              <a:t>SQL</a:t>
            </a:r>
            <a:r>
              <a:rPr lang="zh-CN" altLang="en-US" sz="2000" dirty="0" smtClean="0">
                <a:latin typeface="+mj-ea"/>
                <a:ea typeface="+mj-ea"/>
              </a:rPr>
              <a:t>语句</a:t>
            </a:r>
            <a:r>
              <a:rPr lang="en-US" altLang="zh-CN" sz="2000" dirty="0" smtClean="0">
                <a:latin typeface="+mj-ea"/>
                <a:ea typeface="+mj-ea"/>
              </a:rPr>
              <a:t>,</a:t>
            </a:r>
            <a:r>
              <a:rPr lang="zh-CN" altLang="en-US" sz="2000" dirty="0" smtClean="0">
                <a:latin typeface="+mj-ea"/>
                <a:ea typeface="+mj-ea"/>
              </a:rPr>
              <a:t>即程序的主要部分*</a:t>
            </a:r>
            <a:r>
              <a:rPr lang="en-US" altLang="zh-CN" sz="2000" dirty="0" smtClean="0">
                <a:latin typeface="+mj-ea"/>
                <a:ea typeface="+mj-ea"/>
              </a:rPr>
              <a:t>/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EXCEPTION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   /* </a:t>
            </a:r>
            <a:r>
              <a:rPr lang="zh-CN" altLang="en-US" sz="2000" dirty="0" smtClean="0">
                <a:latin typeface="+mj-ea"/>
                <a:ea typeface="+mj-ea"/>
              </a:rPr>
              <a:t>执行异常部分</a:t>
            </a:r>
            <a:r>
              <a:rPr lang="en-US" altLang="zh-CN" sz="2000" dirty="0" smtClean="0">
                <a:latin typeface="+mj-ea"/>
                <a:ea typeface="+mj-ea"/>
              </a:rPr>
              <a:t>: </a:t>
            </a:r>
            <a:r>
              <a:rPr lang="zh-CN" altLang="en-US" sz="2000" dirty="0" smtClean="0">
                <a:latin typeface="+mj-ea"/>
                <a:ea typeface="+mj-ea"/>
              </a:rPr>
              <a:t>错误处理*</a:t>
            </a:r>
            <a:r>
              <a:rPr lang="en-US" altLang="zh-CN" sz="2000" dirty="0" smtClean="0">
                <a:latin typeface="+mj-ea"/>
                <a:ea typeface="+mj-ea"/>
              </a:rPr>
              <a:t>/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END;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  <a:endParaRPr lang="en-US" altLang="zh-CN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7924800" cy="5029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1.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简介</a:t>
            </a:r>
            <a:endParaRPr lang="en-US" altLang="zh-CN" sz="2000" dirty="0" smtClean="0"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PL/SQL</a:t>
            </a:r>
            <a:r>
              <a:rPr lang="zh-CN" altLang="en-US" sz="2000" dirty="0" smtClean="0">
                <a:latin typeface="+mj-ea"/>
                <a:ea typeface="+mj-ea"/>
              </a:rPr>
              <a:t>程序由三个</a:t>
            </a:r>
            <a:r>
              <a:rPr lang="zh-CN" altLang="en-US" sz="2000" dirty="0">
                <a:latin typeface="+mj-ea"/>
                <a:ea typeface="+mj-ea"/>
              </a:rPr>
              <a:t>部分</a:t>
            </a:r>
            <a:r>
              <a:rPr lang="zh-CN" altLang="en-US" sz="2000" dirty="0" smtClean="0">
                <a:latin typeface="+mj-ea"/>
                <a:ea typeface="+mj-ea"/>
              </a:rPr>
              <a:t>组成，即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声明部分</a:t>
            </a:r>
            <a:r>
              <a:rPr lang="zh-CN" altLang="en-US" sz="2000" dirty="0" smtClean="0">
                <a:latin typeface="+mj-ea"/>
                <a:ea typeface="+mj-ea"/>
              </a:rPr>
              <a:t>、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执行部分</a:t>
            </a:r>
            <a:r>
              <a:rPr lang="zh-CN" altLang="en-US" sz="2000" dirty="0" smtClean="0">
                <a:latin typeface="+mj-ea"/>
                <a:ea typeface="+mj-ea"/>
              </a:rPr>
              <a:t>、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异常处理</a:t>
            </a:r>
            <a:r>
              <a:rPr lang="zh-CN" altLang="en-US" sz="2000" dirty="0" smtClean="0">
                <a:latin typeface="+mj-ea"/>
                <a:ea typeface="+mj-ea"/>
              </a:rPr>
              <a:t>部分。</a:t>
            </a:r>
          </a:p>
          <a:p>
            <a:pPr eaLnBrk="1" hangingPunct="1"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PL/SQL</a:t>
            </a:r>
            <a:r>
              <a:rPr lang="zh-CN" altLang="en-US" sz="2000" dirty="0" smtClean="0">
                <a:latin typeface="+mj-ea"/>
                <a:ea typeface="+mj-ea"/>
              </a:rPr>
              <a:t>程序的结构如下：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DECLARE  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/* 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声明部分</a:t>
            </a: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: 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在此声明</a:t>
            </a: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PL/SQL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用到的变量</a:t>
            </a: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,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类型及游标，以及局部的存储过程和函数 *</a:t>
            </a: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/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BEGIN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    /*</a:t>
            </a:r>
            <a:r>
              <a:rPr lang="zh-CN" altLang="en-US" sz="2000" dirty="0" smtClean="0">
                <a:latin typeface="+mj-ea"/>
                <a:ea typeface="+mj-ea"/>
              </a:rPr>
              <a:t>执行部分</a:t>
            </a:r>
            <a:r>
              <a:rPr lang="en-US" altLang="zh-CN" sz="2000" dirty="0" smtClean="0">
                <a:latin typeface="+mj-ea"/>
                <a:ea typeface="+mj-ea"/>
              </a:rPr>
              <a:t>: </a:t>
            </a:r>
            <a:r>
              <a:rPr lang="zh-CN" altLang="en-US" sz="2000" dirty="0" smtClean="0">
                <a:latin typeface="+mj-ea"/>
                <a:ea typeface="+mj-ea"/>
              </a:rPr>
              <a:t>过程及</a:t>
            </a:r>
            <a:r>
              <a:rPr lang="en-US" altLang="zh-CN" sz="2000" dirty="0" smtClean="0">
                <a:latin typeface="+mj-ea"/>
                <a:ea typeface="+mj-ea"/>
              </a:rPr>
              <a:t>SQL</a:t>
            </a:r>
            <a:r>
              <a:rPr lang="zh-CN" altLang="en-US" sz="2000" dirty="0" smtClean="0">
                <a:latin typeface="+mj-ea"/>
                <a:ea typeface="+mj-ea"/>
              </a:rPr>
              <a:t>语句</a:t>
            </a:r>
            <a:r>
              <a:rPr lang="en-US" altLang="zh-CN" sz="2000" dirty="0" smtClean="0">
                <a:latin typeface="+mj-ea"/>
                <a:ea typeface="+mj-ea"/>
              </a:rPr>
              <a:t>,</a:t>
            </a:r>
            <a:r>
              <a:rPr lang="zh-CN" altLang="en-US" sz="2000" dirty="0" smtClean="0">
                <a:latin typeface="+mj-ea"/>
                <a:ea typeface="+mj-ea"/>
              </a:rPr>
              <a:t>即程序的主要部分*</a:t>
            </a:r>
            <a:r>
              <a:rPr lang="en-US" altLang="zh-CN" sz="2000" dirty="0" smtClean="0">
                <a:latin typeface="+mj-ea"/>
                <a:ea typeface="+mj-ea"/>
              </a:rPr>
              <a:t>/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EXCEPTION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   /* </a:t>
            </a:r>
            <a:r>
              <a:rPr lang="zh-CN" altLang="en-US" sz="2000" dirty="0" smtClean="0">
                <a:latin typeface="+mj-ea"/>
                <a:ea typeface="+mj-ea"/>
              </a:rPr>
              <a:t>执行异常部分</a:t>
            </a:r>
            <a:r>
              <a:rPr lang="en-US" altLang="zh-CN" sz="2000" dirty="0" smtClean="0">
                <a:latin typeface="+mj-ea"/>
                <a:ea typeface="+mj-ea"/>
              </a:rPr>
              <a:t>: </a:t>
            </a:r>
            <a:r>
              <a:rPr lang="zh-CN" altLang="en-US" sz="2000" dirty="0" smtClean="0">
                <a:latin typeface="+mj-ea"/>
                <a:ea typeface="+mj-ea"/>
              </a:rPr>
              <a:t>错误处理*</a:t>
            </a:r>
            <a:r>
              <a:rPr lang="en-US" altLang="zh-CN" sz="2000" dirty="0" smtClean="0">
                <a:latin typeface="+mj-ea"/>
                <a:ea typeface="+mj-ea"/>
              </a:rPr>
              <a:t>/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END;</a:t>
            </a:r>
          </a:p>
        </p:txBody>
      </p: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1331913" y="2565400"/>
            <a:ext cx="6985000" cy="1079500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  <a:endParaRPr lang="en-US" altLang="zh-CN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7924800" cy="5029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1.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简介</a:t>
            </a:r>
            <a:endParaRPr lang="en-US" altLang="zh-CN" sz="2000" dirty="0" smtClean="0"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PL/SQL</a:t>
            </a:r>
            <a:r>
              <a:rPr lang="zh-CN" altLang="en-US" sz="2000" dirty="0" smtClean="0">
                <a:latin typeface="+mj-ea"/>
                <a:ea typeface="+mj-ea"/>
              </a:rPr>
              <a:t>程序由三个</a:t>
            </a:r>
            <a:r>
              <a:rPr lang="zh-CN" altLang="en-US" sz="2000" dirty="0">
                <a:latin typeface="+mj-ea"/>
                <a:ea typeface="+mj-ea"/>
              </a:rPr>
              <a:t>部分</a:t>
            </a:r>
            <a:r>
              <a:rPr lang="zh-CN" altLang="en-US" sz="2000" dirty="0" smtClean="0">
                <a:latin typeface="+mj-ea"/>
                <a:ea typeface="+mj-ea"/>
              </a:rPr>
              <a:t>组成，即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声明部分</a:t>
            </a:r>
            <a:r>
              <a:rPr lang="zh-CN" altLang="en-US" sz="2000" dirty="0" smtClean="0">
                <a:latin typeface="+mj-ea"/>
                <a:ea typeface="+mj-ea"/>
              </a:rPr>
              <a:t>、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执行部分</a:t>
            </a:r>
            <a:r>
              <a:rPr lang="zh-CN" altLang="en-US" sz="2000" dirty="0" smtClean="0">
                <a:latin typeface="+mj-ea"/>
                <a:ea typeface="+mj-ea"/>
              </a:rPr>
              <a:t>、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异常处理</a:t>
            </a:r>
            <a:r>
              <a:rPr lang="zh-CN" altLang="en-US" sz="2000" dirty="0" smtClean="0">
                <a:latin typeface="+mj-ea"/>
                <a:ea typeface="+mj-ea"/>
              </a:rPr>
              <a:t>部分。</a:t>
            </a:r>
          </a:p>
          <a:p>
            <a:pPr eaLnBrk="1" hangingPunct="1"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PL/SQL</a:t>
            </a:r>
            <a:r>
              <a:rPr lang="zh-CN" altLang="en-US" sz="2000" dirty="0" smtClean="0">
                <a:latin typeface="+mj-ea"/>
                <a:ea typeface="+mj-ea"/>
              </a:rPr>
              <a:t>程序的结构如下：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DECLARE  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/* </a:t>
            </a:r>
            <a:r>
              <a:rPr lang="zh-CN" altLang="en-US" sz="2000" dirty="0" smtClean="0">
                <a:latin typeface="+mj-ea"/>
                <a:ea typeface="+mj-ea"/>
              </a:rPr>
              <a:t>声明部分</a:t>
            </a:r>
            <a:r>
              <a:rPr lang="en-US" altLang="zh-CN" sz="2000" dirty="0" smtClean="0">
                <a:latin typeface="+mj-ea"/>
                <a:ea typeface="+mj-ea"/>
              </a:rPr>
              <a:t>: </a:t>
            </a:r>
            <a:r>
              <a:rPr lang="zh-CN" altLang="en-US" sz="2000" dirty="0" smtClean="0">
                <a:latin typeface="+mj-ea"/>
                <a:ea typeface="+mj-ea"/>
              </a:rPr>
              <a:t>在此声明</a:t>
            </a:r>
            <a:r>
              <a:rPr lang="en-US" altLang="zh-CN" sz="2000" dirty="0" smtClean="0">
                <a:latin typeface="+mj-ea"/>
                <a:ea typeface="+mj-ea"/>
              </a:rPr>
              <a:t>PL/SQL</a:t>
            </a:r>
            <a:r>
              <a:rPr lang="zh-CN" altLang="en-US" sz="2000" dirty="0" smtClean="0">
                <a:latin typeface="+mj-ea"/>
                <a:ea typeface="+mj-ea"/>
              </a:rPr>
              <a:t>用到的变量</a:t>
            </a:r>
            <a:r>
              <a:rPr lang="en-US" altLang="zh-CN" sz="2000" dirty="0" smtClean="0">
                <a:latin typeface="+mj-ea"/>
                <a:ea typeface="+mj-ea"/>
              </a:rPr>
              <a:t>,</a:t>
            </a:r>
            <a:r>
              <a:rPr lang="zh-CN" altLang="en-US" sz="2000" dirty="0" smtClean="0">
                <a:latin typeface="+mj-ea"/>
                <a:ea typeface="+mj-ea"/>
              </a:rPr>
              <a:t>类型及游标，以及局部的存储过程和函数 *</a:t>
            </a:r>
            <a:r>
              <a:rPr lang="en-US" altLang="zh-CN" sz="2000" dirty="0" smtClean="0">
                <a:latin typeface="+mj-ea"/>
                <a:ea typeface="+mj-ea"/>
              </a:rPr>
              <a:t>/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BEGIN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    /*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执行部分</a:t>
            </a: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: 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过程及</a:t>
            </a: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SQL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语句</a:t>
            </a: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,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即程序的主要部分*</a:t>
            </a: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/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EXCEPTION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   /* </a:t>
            </a:r>
            <a:r>
              <a:rPr lang="zh-CN" altLang="en-US" sz="2000" dirty="0" smtClean="0">
                <a:latin typeface="+mj-ea"/>
                <a:ea typeface="+mj-ea"/>
              </a:rPr>
              <a:t>执行异常部分</a:t>
            </a:r>
            <a:r>
              <a:rPr lang="en-US" altLang="zh-CN" sz="2000" dirty="0" smtClean="0">
                <a:latin typeface="+mj-ea"/>
                <a:ea typeface="+mj-ea"/>
              </a:rPr>
              <a:t>: </a:t>
            </a:r>
            <a:r>
              <a:rPr lang="zh-CN" altLang="en-US" sz="2000" dirty="0" smtClean="0">
                <a:latin typeface="+mj-ea"/>
                <a:ea typeface="+mj-ea"/>
              </a:rPr>
              <a:t>错误处理*</a:t>
            </a:r>
            <a:r>
              <a:rPr lang="en-US" altLang="zh-CN" sz="2000" dirty="0" smtClean="0">
                <a:latin typeface="+mj-ea"/>
                <a:ea typeface="+mj-ea"/>
              </a:rPr>
              <a:t>/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END;</a:t>
            </a:r>
          </a:p>
        </p:txBody>
      </p:sp>
      <p:sp>
        <p:nvSpPr>
          <p:cNvPr id="9220" name="矩形 1"/>
          <p:cNvSpPr>
            <a:spLocks noChangeArrowheads="1"/>
          </p:cNvSpPr>
          <p:nvPr/>
        </p:nvSpPr>
        <p:spPr bwMode="auto">
          <a:xfrm>
            <a:off x="1322388" y="3592513"/>
            <a:ext cx="6985000" cy="792162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  <a:endParaRPr lang="en-US" altLang="zh-CN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7924800" cy="5029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1.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简介</a:t>
            </a:r>
            <a:endParaRPr lang="en-US" altLang="zh-CN" sz="2000" dirty="0" smtClean="0"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PL/SQL</a:t>
            </a:r>
            <a:r>
              <a:rPr lang="zh-CN" altLang="en-US" sz="2000" dirty="0" smtClean="0">
                <a:latin typeface="+mj-ea"/>
                <a:ea typeface="+mj-ea"/>
              </a:rPr>
              <a:t>程序由三个</a:t>
            </a:r>
            <a:r>
              <a:rPr lang="zh-CN" altLang="en-US" sz="2000" dirty="0">
                <a:latin typeface="+mj-ea"/>
                <a:ea typeface="+mj-ea"/>
              </a:rPr>
              <a:t>部分</a:t>
            </a:r>
            <a:r>
              <a:rPr lang="zh-CN" altLang="en-US" sz="2000" dirty="0" smtClean="0">
                <a:latin typeface="+mj-ea"/>
                <a:ea typeface="+mj-ea"/>
              </a:rPr>
              <a:t>组成，即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声明部分</a:t>
            </a:r>
            <a:r>
              <a:rPr lang="zh-CN" altLang="en-US" sz="2000" dirty="0" smtClean="0">
                <a:latin typeface="+mj-ea"/>
                <a:ea typeface="+mj-ea"/>
              </a:rPr>
              <a:t>、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执行部分</a:t>
            </a:r>
            <a:r>
              <a:rPr lang="zh-CN" altLang="en-US" sz="2000" dirty="0" smtClean="0">
                <a:latin typeface="+mj-ea"/>
                <a:ea typeface="+mj-ea"/>
              </a:rPr>
              <a:t>、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异常处理</a:t>
            </a:r>
            <a:r>
              <a:rPr lang="zh-CN" altLang="en-US" sz="2000" dirty="0" smtClean="0">
                <a:latin typeface="+mj-ea"/>
                <a:ea typeface="+mj-ea"/>
              </a:rPr>
              <a:t>部分。</a:t>
            </a:r>
          </a:p>
          <a:p>
            <a:pPr eaLnBrk="1" hangingPunct="1"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PL/SQL</a:t>
            </a:r>
            <a:r>
              <a:rPr lang="zh-CN" altLang="en-US" sz="2000" dirty="0" smtClean="0">
                <a:latin typeface="+mj-ea"/>
                <a:ea typeface="+mj-ea"/>
              </a:rPr>
              <a:t>程序的结构如下：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DECLARE  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/* </a:t>
            </a:r>
            <a:r>
              <a:rPr lang="zh-CN" altLang="en-US" sz="2000" dirty="0" smtClean="0">
                <a:latin typeface="+mj-ea"/>
                <a:ea typeface="+mj-ea"/>
              </a:rPr>
              <a:t>声明部分</a:t>
            </a:r>
            <a:r>
              <a:rPr lang="en-US" altLang="zh-CN" sz="2000" dirty="0" smtClean="0">
                <a:latin typeface="+mj-ea"/>
                <a:ea typeface="+mj-ea"/>
              </a:rPr>
              <a:t>: </a:t>
            </a:r>
            <a:r>
              <a:rPr lang="zh-CN" altLang="en-US" sz="2000" dirty="0" smtClean="0">
                <a:latin typeface="+mj-ea"/>
                <a:ea typeface="+mj-ea"/>
              </a:rPr>
              <a:t>在此声明</a:t>
            </a:r>
            <a:r>
              <a:rPr lang="en-US" altLang="zh-CN" sz="2000" dirty="0" smtClean="0">
                <a:latin typeface="+mj-ea"/>
                <a:ea typeface="+mj-ea"/>
              </a:rPr>
              <a:t>PL/SQL</a:t>
            </a:r>
            <a:r>
              <a:rPr lang="zh-CN" altLang="en-US" sz="2000" dirty="0" smtClean="0">
                <a:latin typeface="+mj-ea"/>
                <a:ea typeface="+mj-ea"/>
              </a:rPr>
              <a:t>用到的变量</a:t>
            </a:r>
            <a:r>
              <a:rPr lang="en-US" altLang="zh-CN" sz="2000" dirty="0" smtClean="0">
                <a:latin typeface="+mj-ea"/>
                <a:ea typeface="+mj-ea"/>
              </a:rPr>
              <a:t>,</a:t>
            </a:r>
            <a:r>
              <a:rPr lang="zh-CN" altLang="en-US" sz="2000" dirty="0" smtClean="0">
                <a:latin typeface="+mj-ea"/>
                <a:ea typeface="+mj-ea"/>
              </a:rPr>
              <a:t>类型及游标，以及局部的存储过程和函数 *</a:t>
            </a:r>
            <a:r>
              <a:rPr lang="en-US" altLang="zh-CN" sz="2000" dirty="0" smtClean="0">
                <a:latin typeface="+mj-ea"/>
                <a:ea typeface="+mj-ea"/>
              </a:rPr>
              <a:t>/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BEGIN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    /*</a:t>
            </a:r>
            <a:r>
              <a:rPr lang="zh-CN" altLang="en-US" sz="2000" dirty="0" smtClean="0">
                <a:latin typeface="+mj-ea"/>
                <a:ea typeface="+mj-ea"/>
              </a:rPr>
              <a:t>执行部分</a:t>
            </a:r>
            <a:r>
              <a:rPr lang="en-US" altLang="zh-CN" sz="2000" dirty="0" smtClean="0">
                <a:latin typeface="+mj-ea"/>
                <a:ea typeface="+mj-ea"/>
              </a:rPr>
              <a:t>: </a:t>
            </a:r>
            <a:r>
              <a:rPr lang="zh-CN" altLang="en-US" sz="2000" dirty="0" smtClean="0">
                <a:latin typeface="+mj-ea"/>
                <a:ea typeface="+mj-ea"/>
              </a:rPr>
              <a:t>过程及</a:t>
            </a:r>
            <a:r>
              <a:rPr lang="en-US" altLang="zh-CN" sz="2000" dirty="0" smtClean="0">
                <a:latin typeface="+mj-ea"/>
                <a:ea typeface="+mj-ea"/>
              </a:rPr>
              <a:t>SQL</a:t>
            </a:r>
            <a:r>
              <a:rPr lang="zh-CN" altLang="en-US" sz="2000" dirty="0" smtClean="0">
                <a:latin typeface="+mj-ea"/>
                <a:ea typeface="+mj-ea"/>
              </a:rPr>
              <a:t>语句</a:t>
            </a:r>
            <a:r>
              <a:rPr lang="en-US" altLang="zh-CN" sz="2000" dirty="0" smtClean="0">
                <a:latin typeface="+mj-ea"/>
                <a:ea typeface="+mj-ea"/>
              </a:rPr>
              <a:t>,</a:t>
            </a:r>
            <a:r>
              <a:rPr lang="zh-CN" altLang="en-US" sz="2000" dirty="0" smtClean="0">
                <a:latin typeface="+mj-ea"/>
                <a:ea typeface="+mj-ea"/>
              </a:rPr>
              <a:t>即程序的主要部分*</a:t>
            </a:r>
            <a:r>
              <a:rPr lang="en-US" altLang="zh-CN" sz="2000" dirty="0" smtClean="0">
                <a:latin typeface="+mj-ea"/>
                <a:ea typeface="+mj-ea"/>
              </a:rPr>
              <a:t>/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EXCEPTION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   /* 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执行异常部分</a:t>
            </a: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: 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错误处理*</a:t>
            </a: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/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END;</a:t>
            </a:r>
          </a:p>
        </p:txBody>
      </p:sp>
      <p:sp>
        <p:nvSpPr>
          <p:cNvPr id="10244" name="矩形 1"/>
          <p:cNvSpPr>
            <a:spLocks noChangeArrowheads="1"/>
          </p:cNvSpPr>
          <p:nvPr/>
        </p:nvSpPr>
        <p:spPr bwMode="auto">
          <a:xfrm>
            <a:off x="1331913" y="4292600"/>
            <a:ext cx="6985000" cy="792163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  <a:endParaRPr lang="en-US" altLang="zh-CN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7924800" cy="5029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1.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简介</a:t>
            </a:r>
            <a:endParaRPr lang="en-US" altLang="zh-CN" sz="2000" dirty="0" smtClean="0"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PL/SQL</a:t>
            </a:r>
            <a:r>
              <a:rPr lang="zh-CN" altLang="en-US" sz="2000" dirty="0" smtClean="0">
                <a:latin typeface="+mj-ea"/>
                <a:ea typeface="+mj-ea"/>
              </a:rPr>
              <a:t>程序由三个</a:t>
            </a:r>
            <a:r>
              <a:rPr lang="zh-CN" altLang="en-US" sz="2000" dirty="0">
                <a:latin typeface="+mj-ea"/>
                <a:ea typeface="+mj-ea"/>
              </a:rPr>
              <a:t>部分</a:t>
            </a:r>
            <a:r>
              <a:rPr lang="zh-CN" altLang="en-US" sz="2000" dirty="0" smtClean="0">
                <a:latin typeface="+mj-ea"/>
                <a:ea typeface="+mj-ea"/>
              </a:rPr>
              <a:t>组成，即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声明部分</a:t>
            </a:r>
            <a:r>
              <a:rPr lang="zh-CN" altLang="en-US" sz="2000" dirty="0" smtClean="0">
                <a:latin typeface="+mj-ea"/>
                <a:ea typeface="+mj-ea"/>
              </a:rPr>
              <a:t>、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执行部分</a:t>
            </a:r>
            <a:r>
              <a:rPr lang="zh-CN" altLang="en-US" sz="2000" dirty="0" smtClean="0">
                <a:latin typeface="+mj-ea"/>
                <a:ea typeface="+mj-ea"/>
              </a:rPr>
              <a:t>、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异常处理</a:t>
            </a:r>
            <a:r>
              <a:rPr lang="zh-CN" altLang="en-US" sz="2000" dirty="0" smtClean="0">
                <a:latin typeface="+mj-ea"/>
                <a:ea typeface="+mj-ea"/>
              </a:rPr>
              <a:t>部分。</a:t>
            </a:r>
          </a:p>
          <a:p>
            <a:pPr eaLnBrk="1" hangingPunct="1"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PL/SQL</a:t>
            </a:r>
            <a:r>
              <a:rPr lang="zh-CN" altLang="en-US" sz="2000" dirty="0" smtClean="0">
                <a:latin typeface="+mj-ea"/>
                <a:ea typeface="+mj-ea"/>
              </a:rPr>
              <a:t>程序的结构如下：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DECLARE  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/* </a:t>
            </a:r>
            <a:r>
              <a:rPr lang="zh-CN" altLang="en-US" sz="2000" dirty="0" smtClean="0">
                <a:latin typeface="+mj-ea"/>
                <a:ea typeface="+mj-ea"/>
              </a:rPr>
              <a:t>声明部分</a:t>
            </a:r>
            <a:r>
              <a:rPr lang="en-US" altLang="zh-CN" sz="2000" dirty="0" smtClean="0">
                <a:latin typeface="+mj-ea"/>
                <a:ea typeface="+mj-ea"/>
              </a:rPr>
              <a:t>: </a:t>
            </a:r>
            <a:r>
              <a:rPr lang="zh-CN" altLang="en-US" sz="2000" dirty="0" smtClean="0">
                <a:latin typeface="+mj-ea"/>
                <a:ea typeface="+mj-ea"/>
              </a:rPr>
              <a:t>在此声明</a:t>
            </a:r>
            <a:r>
              <a:rPr lang="en-US" altLang="zh-CN" sz="2000" dirty="0" smtClean="0">
                <a:latin typeface="+mj-ea"/>
                <a:ea typeface="+mj-ea"/>
              </a:rPr>
              <a:t>PL/SQL</a:t>
            </a:r>
            <a:r>
              <a:rPr lang="zh-CN" altLang="en-US" sz="2000" dirty="0" smtClean="0">
                <a:latin typeface="+mj-ea"/>
                <a:ea typeface="+mj-ea"/>
              </a:rPr>
              <a:t>用到的变量</a:t>
            </a:r>
            <a:r>
              <a:rPr lang="en-US" altLang="zh-CN" sz="2000" dirty="0" smtClean="0">
                <a:latin typeface="+mj-ea"/>
                <a:ea typeface="+mj-ea"/>
              </a:rPr>
              <a:t>,</a:t>
            </a:r>
            <a:r>
              <a:rPr lang="zh-CN" altLang="en-US" sz="2000" dirty="0" smtClean="0">
                <a:latin typeface="+mj-ea"/>
                <a:ea typeface="+mj-ea"/>
              </a:rPr>
              <a:t>类型及游标，以及局部的存储过程和函数 *</a:t>
            </a:r>
            <a:r>
              <a:rPr lang="en-US" altLang="zh-CN" sz="2000" dirty="0" smtClean="0">
                <a:latin typeface="+mj-ea"/>
                <a:ea typeface="+mj-ea"/>
              </a:rPr>
              <a:t>/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BEGIN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    /*</a:t>
            </a:r>
            <a:r>
              <a:rPr lang="zh-CN" altLang="en-US" sz="2000" dirty="0" smtClean="0">
                <a:latin typeface="+mj-ea"/>
                <a:ea typeface="+mj-ea"/>
              </a:rPr>
              <a:t>执行部分</a:t>
            </a:r>
            <a:r>
              <a:rPr lang="en-US" altLang="zh-CN" sz="2000" dirty="0" smtClean="0">
                <a:latin typeface="+mj-ea"/>
                <a:ea typeface="+mj-ea"/>
              </a:rPr>
              <a:t>: </a:t>
            </a:r>
            <a:r>
              <a:rPr lang="zh-CN" altLang="en-US" sz="2000" dirty="0" smtClean="0">
                <a:latin typeface="+mj-ea"/>
                <a:ea typeface="+mj-ea"/>
              </a:rPr>
              <a:t>过程及</a:t>
            </a:r>
            <a:r>
              <a:rPr lang="en-US" altLang="zh-CN" sz="2000" dirty="0" smtClean="0">
                <a:latin typeface="+mj-ea"/>
                <a:ea typeface="+mj-ea"/>
              </a:rPr>
              <a:t>SQL</a:t>
            </a:r>
            <a:r>
              <a:rPr lang="zh-CN" altLang="en-US" sz="2000" dirty="0" smtClean="0">
                <a:latin typeface="+mj-ea"/>
                <a:ea typeface="+mj-ea"/>
              </a:rPr>
              <a:t>语句</a:t>
            </a:r>
            <a:r>
              <a:rPr lang="en-US" altLang="zh-CN" sz="2000" dirty="0" smtClean="0">
                <a:latin typeface="+mj-ea"/>
                <a:ea typeface="+mj-ea"/>
              </a:rPr>
              <a:t>,</a:t>
            </a:r>
            <a:r>
              <a:rPr lang="zh-CN" altLang="en-US" sz="2000" dirty="0" smtClean="0">
                <a:latin typeface="+mj-ea"/>
                <a:ea typeface="+mj-ea"/>
              </a:rPr>
              <a:t>即程序的主要部分*</a:t>
            </a:r>
            <a:r>
              <a:rPr lang="en-US" altLang="zh-CN" sz="2000" dirty="0" smtClean="0">
                <a:latin typeface="+mj-ea"/>
                <a:ea typeface="+mj-ea"/>
              </a:rPr>
              <a:t>/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EXCEPTION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   /* </a:t>
            </a:r>
            <a:r>
              <a:rPr lang="zh-CN" altLang="en-US" sz="2000" dirty="0" smtClean="0">
                <a:latin typeface="+mj-ea"/>
                <a:ea typeface="+mj-ea"/>
              </a:rPr>
              <a:t>执行异常部分</a:t>
            </a:r>
            <a:r>
              <a:rPr lang="en-US" altLang="zh-CN" sz="2000" dirty="0" smtClean="0">
                <a:latin typeface="+mj-ea"/>
                <a:ea typeface="+mj-ea"/>
              </a:rPr>
              <a:t>: </a:t>
            </a:r>
            <a:r>
              <a:rPr lang="zh-CN" altLang="en-US" sz="2000" dirty="0" smtClean="0">
                <a:latin typeface="+mj-ea"/>
                <a:ea typeface="+mj-ea"/>
              </a:rPr>
              <a:t>错误处理*</a:t>
            </a:r>
            <a:r>
              <a:rPr lang="en-US" altLang="zh-CN" sz="2000" dirty="0" smtClean="0">
                <a:latin typeface="+mj-ea"/>
                <a:ea typeface="+mj-ea"/>
              </a:rPr>
              <a:t>/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END;</a:t>
            </a:r>
          </a:p>
          <a:p>
            <a:pPr eaLnBrk="1" hangingPunct="1">
              <a:defRPr/>
            </a:pP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其中执行部分是必须的。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268413"/>
            <a:ext cx="8077200" cy="50292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>
                <a:solidFill>
                  <a:srgbClr val="FF0000"/>
                </a:solidFill>
                <a:latin typeface="+mj-ea"/>
                <a:ea typeface="+mj-ea"/>
              </a:rPr>
              <a:t>2.</a:t>
            </a:r>
            <a:r>
              <a:rPr lang="zh-CN" altLang="en-US" sz="2200" dirty="0" smtClean="0">
                <a:solidFill>
                  <a:srgbClr val="FF0000"/>
                </a:solidFill>
                <a:latin typeface="+mj-ea"/>
                <a:ea typeface="+mj-ea"/>
              </a:rPr>
              <a:t>变量及数据类型</a:t>
            </a:r>
            <a:endParaRPr lang="en-US" altLang="zh-CN" sz="22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（</a:t>
            </a:r>
            <a:r>
              <a:rPr lang="en-US" altLang="zh-CN" sz="2200" dirty="0" smtClean="0">
                <a:latin typeface="+mj-ea"/>
                <a:ea typeface="+mj-ea"/>
              </a:rPr>
              <a:t>1</a:t>
            </a:r>
            <a:r>
              <a:rPr lang="zh-CN" altLang="en-US" sz="2200" dirty="0" smtClean="0">
                <a:latin typeface="+mj-ea"/>
                <a:ea typeface="+mj-ea"/>
              </a:rPr>
              <a:t>）变量声明</a:t>
            </a:r>
          </a:p>
          <a:p>
            <a:pPr lvl="2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在</a:t>
            </a:r>
            <a:r>
              <a:rPr lang="en-US" altLang="zh-CN" sz="2200" dirty="0" smtClean="0">
                <a:latin typeface="+mj-ea"/>
                <a:ea typeface="+mj-ea"/>
              </a:rPr>
              <a:t>declare</a:t>
            </a:r>
            <a:r>
              <a:rPr lang="zh-CN" altLang="en-US" sz="2200" dirty="0" smtClean="0">
                <a:latin typeface="+mj-ea"/>
                <a:ea typeface="+mj-ea"/>
              </a:rPr>
              <a:t>部分声明变量，格式如下：</a:t>
            </a:r>
          </a:p>
          <a:p>
            <a:pPr lvl="2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  </a:t>
            </a:r>
            <a:r>
              <a:rPr lang="en-US" altLang="zh-CN" sz="2200" dirty="0" smtClean="0">
                <a:latin typeface="+mj-ea"/>
                <a:ea typeface="+mj-ea"/>
              </a:rPr>
              <a:t>declare</a:t>
            </a:r>
          </a:p>
          <a:p>
            <a:pPr lvl="2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>
                <a:latin typeface="+mj-ea"/>
                <a:ea typeface="+mj-ea"/>
              </a:rPr>
              <a:t>        </a:t>
            </a:r>
            <a:r>
              <a:rPr lang="zh-CN" altLang="en-US" sz="2200" dirty="0" smtClean="0">
                <a:latin typeface="+mj-ea"/>
                <a:ea typeface="+mj-ea"/>
              </a:rPr>
              <a:t>变量名   数据类型；</a:t>
            </a:r>
          </a:p>
          <a:p>
            <a:pPr lvl="2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       </a:t>
            </a:r>
            <a:r>
              <a:rPr lang="en-US" altLang="zh-CN" sz="2200" dirty="0" smtClean="0">
                <a:latin typeface="+mj-ea"/>
                <a:ea typeface="+mj-ea"/>
              </a:rPr>
              <a:t>[</a:t>
            </a:r>
            <a:r>
              <a:rPr lang="zh-CN" altLang="en-US" sz="2200" dirty="0" smtClean="0">
                <a:latin typeface="+mj-ea"/>
                <a:ea typeface="+mj-ea"/>
              </a:rPr>
              <a:t>变量名   数据类型；</a:t>
            </a:r>
            <a:r>
              <a:rPr lang="en-US" altLang="zh-CN" sz="2200" dirty="0" smtClean="0">
                <a:latin typeface="+mj-ea"/>
                <a:ea typeface="+mj-ea"/>
              </a:rPr>
              <a:t>……]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（</a:t>
            </a:r>
            <a:r>
              <a:rPr lang="en-US" altLang="zh-CN" sz="2200" dirty="0" smtClean="0">
                <a:latin typeface="+mj-ea"/>
                <a:ea typeface="+mj-ea"/>
              </a:rPr>
              <a:t>2</a:t>
            </a:r>
            <a:r>
              <a:rPr lang="zh-CN" altLang="en-US" sz="2200" dirty="0" smtClean="0">
                <a:latin typeface="+mj-ea"/>
                <a:ea typeface="+mj-ea"/>
              </a:rPr>
              <a:t>）变量赋值</a:t>
            </a:r>
          </a:p>
          <a:p>
            <a:pPr lvl="2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  变量赋值格式如下：</a:t>
            </a:r>
          </a:p>
          <a:p>
            <a:pPr lvl="2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         变量名</a:t>
            </a:r>
            <a:r>
              <a:rPr lang="en-US" altLang="zh-CN" sz="2200" dirty="0" smtClean="0">
                <a:latin typeface="+mj-ea"/>
                <a:ea typeface="+mj-ea"/>
              </a:rPr>
              <a:t>:</a:t>
            </a:r>
            <a:r>
              <a:rPr lang="zh-CN" altLang="en-US" sz="2200" dirty="0" smtClean="0">
                <a:latin typeface="+mj-ea"/>
                <a:ea typeface="+mj-ea"/>
              </a:rPr>
              <a:t>＝常量或表达式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可以在声明变量的同时给变量赋值，也可以在执行部分单独给变量赋值。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  <a:endParaRPr lang="zh-CN" altLang="zh-CN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196975"/>
            <a:ext cx="7924800" cy="5029200"/>
          </a:xfrm>
        </p:spPr>
        <p:txBody>
          <a:bodyPr/>
          <a:lstStyle/>
          <a:p>
            <a:pPr eaLnBrk="1" hangingPunct="1">
              <a:lnSpc>
                <a:spcPts val="35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200" dirty="0" smtClean="0">
                <a:solidFill>
                  <a:srgbClr val="FF0000"/>
                </a:solidFill>
                <a:latin typeface="+mj-ea"/>
                <a:ea typeface="+mj-ea"/>
              </a:rPr>
              <a:t>2.</a:t>
            </a:r>
            <a:r>
              <a:rPr lang="zh-CN" altLang="en-US" sz="2200" dirty="0" smtClean="0">
                <a:solidFill>
                  <a:srgbClr val="FF0000"/>
                </a:solidFill>
                <a:latin typeface="+mj-ea"/>
                <a:ea typeface="+mj-ea"/>
              </a:rPr>
              <a:t>变量及数据类型</a:t>
            </a:r>
            <a:endParaRPr lang="en-US" altLang="zh-CN" sz="22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eaLnBrk="1" hangingPunct="1">
              <a:lnSpc>
                <a:spcPts val="3500"/>
              </a:lnSpc>
              <a:spcBef>
                <a:spcPts val="0"/>
              </a:spcBef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除了常用的数据类型外，在</a:t>
            </a:r>
            <a:r>
              <a:rPr lang="en-US" altLang="zh-CN" sz="2200" dirty="0" smtClean="0">
                <a:latin typeface="+mj-ea"/>
                <a:ea typeface="+mj-ea"/>
              </a:rPr>
              <a:t>Oracle</a:t>
            </a:r>
            <a:r>
              <a:rPr lang="zh-CN" altLang="en-US" sz="2200" dirty="0" smtClean="0">
                <a:latin typeface="+mj-ea"/>
                <a:ea typeface="+mj-ea"/>
              </a:rPr>
              <a:t>中还有两个比较特殊的数据类型：</a:t>
            </a:r>
            <a:r>
              <a:rPr lang="en-US" altLang="zh-CN" sz="2200" dirty="0" smtClean="0">
                <a:solidFill>
                  <a:srgbClr val="FF0000"/>
                </a:solidFill>
                <a:latin typeface="+mj-ea"/>
                <a:ea typeface="+mj-ea"/>
              </a:rPr>
              <a:t>%TYPE </a:t>
            </a:r>
            <a:r>
              <a:rPr lang="zh-CN" altLang="en-US" sz="2200" dirty="0" smtClean="0">
                <a:solidFill>
                  <a:srgbClr val="FF0000"/>
                </a:solidFill>
                <a:latin typeface="+mj-ea"/>
                <a:ea typeface="+mj-ea"/>
              </a:rPr>
              <a:t>和</a:t>
            </a:r>
            <a:r>
              <a:rPr lang="en-US" altLang="zh-CN" sz="2200" dirty="0" smtClean="0">
                <a:solidFill>
                  <a:srgbClr val="FF0000"/>
                </a:solidFill>
                <a:latin typeface="+mj-ea"/>
                <a:ea typeface="+mj-ea"/>
              </a:rPr>
              <a:t>%ROWTYPE </a:t>
            </a:r>
            <a:r>
              <a:rPr lang="zh-CN" altLang="en-US" sz="2200" dirty="0" smtClean="0">
                <a:latin typeface="+mj-ea"/>
                <a:ea typeface="+mj-ea"/>
              </a:rPr>
              <a:t>。</a:t>
            </a:r>
          </a:p>
          <a:p>
            <a:pPr eaLnBrk="1" hangingPunct="1">
              <a:lnSpc>
                <a:spcPts val="3500"/>
              </a:lnSpc>
              <a:spcBef>
                <a:spcPts val="0"/>
              </a:spcBef>
              <a:defRPr/>
            </a:pPr>
            <a:r>
              <a:rPr lang="en-US" altLang="zh-CN" sz="2200" b="1" dirty="0" smtClean="0">
                <a:latin typeface="+mj-ea"/>
                <a:ea typeface="+mj-ea"/>
              </a:rPr>
              <a:t>%TYPE</a:t>
            </a:r>
          </a:p>
          <a:p>
            <a:pPr lvl="1" eaLnBrk="1" hangingPunct="1">
              <a:lnSpc>
                <a:spcPts val="3500"/>
              </a:lnSpc>
              <a:spcBef>
                <a:spcPts val="0"/>
              </a:spcBef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定义一个变量，其数据类型与已经定义的某个数据变量的类型相同，或者与数据库表的某个列的数据类型相同，这时可以使用</a:t>
            </a:r>
            <a:r>
              <a:rPr lang="en-US" altLang="zh-CN" sz="2200" dirty="0" smtClean="0">
                <a:latin typeface="+mj-ea"/>
                <a:ea typeface="+mj-ea"/>
              </a:rPr>
              <a:t>%TYPE</a:t>
            </a:r>
            <a:r>
              <a:rPr lang="zh-CN" altLang="en-US" sz="2200" dirty="0" smtClean="0">
                <a:latin typeface="+mj-ea"/>
                <a:ea typeface="+mj-ea"/>
              </a:rPr>
              <a:t>。</a:t>
            </a:r>
          </a:p>
          <a:p>
            <a:pPr lvl="1" eaLnBrk="1" hangingPunct="1">
              <a:lnSpc>
                <a:spcPts val="3500"/>
              </a:lnSpc>
              <a:spcBef>
                <a:spcPts val="0"/>
              </a:spcBef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使用</a:t>
            </a:r>
            <a:r>
              <a:rPr lang="en-US" altLang="zh-CN" sz="2200" dirty="0" smtClean="0">
                <a:latin typeface="+mj-ea"/>
                <a:ea typeface="+mj-ea"/>
              </a:rPr>
              <a:t>%TYPE</a:t>
            </a:r>
            <a:r>
              <a:rPr lang="zh-CN" altLang="en-US" sz="2200" dirty="0" smtClean="0">
                <a:latin typeface="+mj-ea"/>
                <a:ea typeface="+mj-ea"/>
              </a:rPr>
              <a:t>特性的优点在于：</a:t>
            </a:r>
          </a:p>
          <a:p>
            <a:pPr lvl="2" eaLnBrk="1" hangingPunct="1">
              <a:lnSpc>
                <a:spcPts val="3500"/>
              </a:lnSpc>
              <a:spcBef>
                <a:spcPts val="0"/>
              </a:spcBef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所引用的数据库列的数据类型可以不必知道；</a:t>
            </a:r>
          </a:p>
          <a:p>
            <a:pPr lvl="2" eaLnBrk="1" hangingPunct="1">
              <a:lnSpc>
                <a:spcPts val="3500"/>
              </a:lnSpc>
              <a:spcBef>
                <a:spcPts val="0"/>
              </a:spcBef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所引用的数据库列的数据类型可以实时改变。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  <a:endParaRPr lang="zh-CN" altLang="zh-CN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268413"/>
            <a:ext cx="7467600" cy="4572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>
                <a:solidFill>
                  <a:srgbClr val="FF0000"/>
                </a:solidFill>
                <a:latin typeface="+mj-ea"/>
                <a:ea typeface="+mj-ea"/>
              </a:rPr>
              <a:t>2.</a:t>
            </a:r>
            <a:r>
              <a:rPr lang="zh-CN" altLang="en-US" sz="2200" dirty="0" smtClean="0">
                <a:solidFill>
                  <a:srgbClr val="FF0000"/>
                </a:solidFill>
                <a:latin typeface="+mj-ea"/>
                <a:ea typeface="+mj-ea"/>
              </a:rPr>
              <a:t>变量及数据类型</a:t>
            </a:r>
            <a:endParaRPr lang="en-US" altLang="zh-CN" sz="2200" b="1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200" b="1" dirty="0" smtClean="0">
                <a:latin typeface="+mj-ea"/>
                <a:ea typeface="+mj-ea"/>
              </a:rPr>
              <a:t>%ROWTYPE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200" dirty="0" smtClean="0">
                <a:latin typeface="+mj-ea"/>
                <a:ea typeface="+mj-ea"/>
              </a:rPr>
              <a:t>PL/SQL</a:t>
            </a:r>
            <a:r>
              <a:rPr lang="zh-CN" altLang="en-US" sz="2200" dirty="0" smtClean="0">
                <a:latin typeface="+mj-ea"/>
                <a:ea typeface="+mj-ea"/>
              </a:rPr>
              <a:t>提供</a:t>
            </a:r>
            <a:r>
              <a:rPr lang="en-US" altLang="zh-CN" sz="2200" dirty="0" smtClean="0">
                <a:latin typeface="+mj-ea"/>
                <a:ea typeface="+mj-ea"/>
              </a:rPr>
              <a:t>%ROWTYPE</a:t>
            </a:r>
            <a:r>
              <a:rPr lang="zh-CN" altLang="en-US" sz="2200" dirty="0" smtClean="0">
                <a:latin typeface="+mj-ea"/>
                <a:ea typeface="+mj-ea"/>
              </a:rPr>
              <a:t>操作符</a:t>
            </a:r>
            <a:r>
              <a:rPr lang="en-US" altLang="zh-CN" sz="2200" dirty="0" smtClean="0">
                <a:latin typeface="+mj-ea"/>
                <a:ea typeface="+mj-ea"/>
              </a:rPr>
              <a:t>, </a:t>
            </a:r>
            <a:r>
              <a:rPr lang="zh-CN" altLang="en-US" sz="2200" dirty="0" smtClean="0">
                <a:latin typeface="+mj-ea"/>
                <a:ea typeface="+mj-ea"/>
              </a:rPr>
              <a:t>返回一个记录类型</a:t>
            </a:r>
            <a:r>
              <a:rPr lang="en-US" altLang="zh-CN" sz="2200" dirty="0" smtClean="0">
                <a:latin typeface="+mj-ea"/>
                <a:ea typeface="+mj-ea"/>
              </a:rPr>
              <a:t>, </a:t>
            </a:r>
            <a:r>
              <a:rPr lang="zh-CN" altLang="en-US" sz="2200" dirty="0" smtClean="0">
                <a:latin typeface="+mj-ea"/>
                <a:ea typeface="+mj-ea"/>
              </a:rPr>
              <a:t>其数据类型和数据库表的数据结构相一致。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使用</a:t>
            </a:r>
            <a:r>
              <a:rPr lang="en-US" altLang="zh-CN" sz="2200" dirty="0" smtClean="0">
                <a:latin typeface="+mj-ea"/>
                <a:ea typeface="+mj-ea"/>
              </a:rPr>
              <a:t>%ROWTYPE</a:t>
            </a:r>
            <a:r>
              <a:rPr lang="zh-CN" altLang="en-US" sz="2200" dirty="0" smtClean="0">
                <a:latin typeface="+mj-ea"/>
                <a:ea typeface="+mj-ea"/>
              </a:rPr>
              <a:t>特性的优点在于：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所引用的数据库中列的个数和数据类型可以不必知道；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所引用的数据库中列的个数和数据类型可以实时改变。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052736"/>
            <a:ext cx="8229600" cy="547238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dirty="0" smtClean="0">
                <a:solidFill>
                  <a:srgbClr val="FF0000"/>
                </a:solidFill>
                <a:latin typeface="+mj-ea"/>
                <a:ea typeface="+mj-ea"/>
              </a:rPr>
              <a:t>2.</a:t>
            </a:r>
            <a:r>
              <a:rPr lang="zh-CN" altLang="en-US" sz="2200" dirty="0" smtClean="0">
                <a:solidFill>
                  <a:srgbClr val="FF0000"/>
                </a:solidFill>
                <a:latin typeface="+mj-ea"/>
                <a:ea typeface="+mj-ea"/>
              </a:rPr>
              <a:t>变量及数据类型</a:t>
            </a:r>
            <a:endParaRPr lang="en-US" altLang="zh-CN" sz="22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16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lvl="1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declare</a:t>
            </a:r>
            <a:endParaRPr lang="en-US" altLang="zh-CN" sz="2000" dirty="0">
              <a:latin typeface="+mj-ea"/>
              <a:ea typeface="+mj-ea"/>
            </a:endParaRPr>
          </a:p>
          <a:p>
            <a:pPr lvl="1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 m </a:t>
            </a:r>
            <a:r>
              <a:rPr lang="en-US" altLang="zh-CN" sz="2000" dirty="0" err="1">
                <a:latin typeface="+mj-ea"/>
                <a:ea typeface="+mj-ea"/>
              </a:rPr>
              <a:t>sc.sno%type</a:t>
            </a:r>
            <a:r>
              <a:rPr lang="en-US" altLang="zh-CN" sz="2000" dirty="0">
                <a:latin typeface="+mj-ea"/>
                <a:ea typeface="+mj-ea"/>
              </a:rPr>
              <a:t>:='04005';</a:t>
            </a:r>
          </a:p>
          <a:p>
            <a:pPr lvl="1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 n </a:t>
            </a:r>
            <a:r>
              <a:rPr lang="en-US" altLang="zh-CN" sz="2000" dirty="0" err="1">
                <a:latin typeface="+mj-ea"/>
                <a:ea typeface="+mj-ea"/>
              </a:rPr>
              <a:t>sc.cno%type</a:t>
            </a:r>
            <a:r>
              <a:rPr lang="en-US" altLang="zh-CN" sz="2000" dirty="0">
                <a:latin typeface="+mj-ea"/>
                <a:ea typeface="+mj-ea"/>
              </a:rPr>
              <a:t>:='002';</a:t>
            </a:r>
          </a:p>
          <a:p>
            <a:pPr lvl="1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 t </a:t>
            </a:r>
            <a:r>
              <a:rPr lang="en-US" altLang="zh-CN" sz="2000" dirty="0" err="1">
                <a:latin typeface="+mj-ea"/>
                <a:ea typeface="+mj-ea"/>
              </a:rPr>
              <a:t>sc.grade%type</a:t>
            </a:r>
            <a:r>
              <a:rPr lang="en-US" altLang="zh-CN" sz="2000" dirty="0">
                <a:latin typeface="+mj-ea"/>
                <a:ea typeface="+mj-ea"/>
              </a:rPr>
              <a:t>;</a:t>
            </a:r>
          </a:p>
          <a:p>
            <a:pPr lvl="1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begin</a:t>
            </a:r>
          </a:p>
          <a:p>
            <a:pPr lvl="1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 t:=100;</a:t>
            </a:r>
          </a:p>
          <a:p>
            <a:pPr lvl="1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 </a:t>
            </a:r>
            <a:r>
              <a:rPr lang="en-US" altLang="zh-CN" sz="2000" dirty="0" smtClean="0">
                <a:latin typeface="+mj-ea"/>
                <a:ea typeface="+mj-ea"/>
              </a:rPr>
              <a:t>insert into </a:t>
            </a:r>
            <a:r>
              <a:rPr lang="en-US" altLang="zh-CN" sz="2000" dirty="0" err="1" smtClean="0">
                <a:latin typeface="+mj-ea"/>
                <a:ea typeface="+mj-ea"/>
              </a:rPr>
              <a:t>sc</a:t>
            </a:r>
            <a:r>
              <a:rPr lang="en-US" altLang="zh-CN" sz="2000" dirty="0" smtClean="0">
                <a:latin typeface="+mj-ea"/>
                <a:ea typeface="+mj-ea"/>
              </a:rPr>
              <a:t> </a:t>
            </a:r>
            <a:r>
              <a:rPr lang="en-US" altLang="zh-CN" sz="2000" dirty="0">
                <a:latin typeface="+mj-ea"/>
                <a:ea typeface="+mj-ea"/>
              </a:rPr>
              <a:t>values(</a:t>
            </a:r>
            <a:r>
              <a:rPr lang="en-US" altLang="zh-CN" sz="2000" dirty="0" err="1">
                <a:latin typeface="+mj-ea"/>
                <a:ea typeface="+mj-ea"/>
              </a:rPr>
              <a:t>m,n,t</a:t>
            </a:r>
            <a:r>
              <a:rPr lang="en-US" altLang="zh-CN" sz="2000" dirty="0">
                <a:latin typeface="+mj-ea"/>
                <a:ea typeface="+mj-ea"/>
              </a:rPr>
              <a:t>);</a:t>
            </a:r>
          </a:p>
          <a:p>
            <a:pPr lvl="1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 commit;</a:t>
            </a:r>
          </a:p>
          <a:p>
            <a:pPr lvl="1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 DBMS_OUTPUT.PUT_LINE('</a:t>
            </a:r>
            <a:r>
              <a:rPr lang="zh-CN" altLang="en-US" sz="2000" dirty="0">
                <a:latin typeface="+mj-ea"/>
                <a:ea typeface="+mj-ea"/>
              </a:rPr>
              <a:t>插入成功！</a:t>
            </a:r>
            <a:r>
              <a:rPr lang="en-US" altLang="zh-CN" sz="2000" dirty="0">
                <a:latin typeface="+mj-ea"/>
                <a:ea typeface="+mj-ea"/>
              </a:rPr>
              <a:t>');</a:t>
            </a:r>
          </a:p>
          <a:p>
            <a:pPr lvl="1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exception</a:t>
            </a:r>
          </a:p>
          <a:p>
            <a:pPr lvl="1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 when </a:t>
            </a:r>
            <a:r>
              <a:rPr lang="en-US" altLang="zh-CN" sz="2000" dirty="0" err="1">
                <a:latin typeface="+mj-ea"/>
                <a:ea typeface="+mj-ea"/>
              </a:rPr>
              <a:t>Dup_val_on_index</a:t>
            </a:r>
            <a:r>
              <a:rPr lang="en-US" altLang="zh-CN" sz="2000" dirty="0">
                <a:latin typeface="+mj-ea"/>
                <a:ea typeface="+mj-ea"/>
              </a:rPr>
              <a:t> then</a:t>
            </a:r>
          </a:p>
          <a:p>
            <a:pPr lvl="1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   DBMS_OUTPUT.PUT_LINE('</a:t>
            </a:r>
            <a:r>
              <a:rPr lang="zh-CN" altLang="en-US" sz="2000" dirty="0">
                <a:latin typeface="+mj-ea"/>
                <a:ea typeface="+mj-ea"/>
              </a:rPr>
              <a:t>主码取值重复！</a:t>
            </a:r>
            <a:r>
              <a:rPr lang="en-US" altLang="zh-CN" sz="2000" dirty="0">
                <a:latin typeface="+mj-ea"/>
                <a:ea typeface="+mj-ea"/>
              </a:rPr>
              <a:t>');</a:t>
            </a:r>
          </a:p>
          <a:p>
            <a:pPr lvl="1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 when others then</a:t>
            </a:r>
          </a:p>
          <a:p>
            <a:pPr lvl="1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   DBMS_OUTPUT.PUT_LINE('</a:t>
            </a:r>
            <a:r>
              <a:rPr lang="zh-CN" altLang="en-US" sz="2000" dirty="0">
                <a:latin typeface="+mj-ea"/>
                <a:ea typeface="+mj-ea"/>
              </a:rPr>
              <a:t>其他错误！</a:t>
            </a:r>
            <a:r>
              <a:rPr lang="en-US" altLang="zh-CN" sz="2000" dirty="0">
                <a:latin typeface="+mj-ea"/>
                <a:ea typeface="+mj-ea"/>
              </a:rPr>
              <a:t>');</a:t>
            </a:r>
          </a:p>
          <a:p>
            <a:pPr lvl="1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end;</a:t>
            </a:r>
            <a:endParaRPr lang="en-US" altLang="zh-CN" sz="2000" dirty="0" smtClean="0"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115888"/>
            <a:ext cx="7031037" cy="914400"/>
          </a:xfrm>
        </p:spPr>
        <p:txBody>
          <a:bodyPr/>
          <a:lstStyle/>
          <a:p>
            <a:pPr eaLnBrk="1" hangingPunct="1"/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341438"/>
            <a:ext cx="38100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3.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运算符与表达式</a:t>
            </a:r>
            <a:endParaRPr lang="en-US" altLang="zh-CN" sz="24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一般运算符</a:t>
            </a:r>
          </a:p>
          <a:p>
            <a:pPr eaLnBrk="1" hangingPunct="1">
              <a:defRPr/>
            </a:pPr>
            <a:endParaRPr lang="en-US" altLang="zh-CN" sz="2400" dirty="0" smtClean="0">
              <a:latin typeface="+mj-ea"/>
              <a:ea typeface="+mj-ea"/>
            </a:endParaRPr>
          </a:p>
        </p:txBody>
      </p:sp>
      <p:graphicFrame>
        <p:nvGraphicFramePr>
          <p:cNvPr id="34870" name="Group 54"/>
          <p:cNvGraphicFramePr>
            <a:graphicFrameLocks noGrp="1"/>
          </p:cNvGraphicFramePr>
          <p:nvPr>
            <p:ph sz="half" idx="2"/>
          </p:nvPr>
        </p:nvGraphicFramePr>
        <p:xfrm>
          <a:off x="2895600" y="2209800"/>
          <a:ext cx="5257800" cy="3962402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</a:tblGrid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运算符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意义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+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加号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减号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乘号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/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除号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:=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赋值号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=&gt;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关系号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..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范围运算符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||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字符连接符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1"/>
          <p:cNvSpPr>
            <a:spLocks noGrp="1" noChangeArrowheads="1"/>
          </p:cNvSpPr>
          <p:nvPr>
            <p:ph type="title"/>
          </p:nvPr>
        </p:nvSpPr>
        <p:spPr>
          <a:xfrm>
            <a:off x="900113" y="44450"/>
            <a:ext cx="7031037" cy="914400"/>
          </a:xfrm>
        </p:spPr>
        <p:txBody>
          <a:bodyPr/>
          <a:lstStyle/>
          <a:p>
            <a:pPr eaLnBrk="1" hangingPunct="1"/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268413"/>
            <a:ext cx="38100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3.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运算符与表达式</a:t>
            </a:r>
            <a:endParaRPr lang="en-US" altLang="zh-CN" sz="24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关系运算符</a:t>
            </a:r>
          </a:p>
          <a:p>
            <a:pPr eaLnBrk="1" hangingPunct="1">
              <a:defRPr/>
            </a:pPr>
            <a:endParaRPr lang="en-US" altLang="zh-CN" sz="2400" dirty="0" smtClean="0">
              <a:latin typeface="+mj-ea"/>
              <a:ea typeface="+mj-ea"/>
            </a:endParaRPr>
          </a:p>
        </p:txBody>
      </p:sp>
      <p:graphicFrame>
        <p:nvGraphicFramePr>
          <p:cNvPr id="36917" name="Group 53"/>
          <p:cNvGraphicFramePr>
            <a:graphicFrameLocks noGrp="1"/>
          </p:cNvGraphicFramePr>
          <p:nvPr>
            <p:ph sz="half" idx="2"/>
          </p:nvPr>
        </p:nvGraphicFramePr>
        <p:xfrm>
          <a:off x="1676400" y="2743200"/>
          <a:ext cx="6400800" cy="3159126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运算符</a:t>
                      </a:r>
                      <a:endParaRPr kumimoji="0" lang="zh-CN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意义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等于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&lt;&gt; , != , ~= 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, ^=</a:t>
                      </a:r>
                      <a:endParaRPr kumimoji="0" lang="en-US" altLang="zh-CN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不等于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&lt;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小于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大于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&lt;=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小于或等于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&gt;=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大于或等于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0"/>
          <p:cNvSpPr>
            <a:spLocks noGrp="1" noChangeArrowheads="1"/>
          </p:cNvSpPr>
          <p:nvPr>
            <p:ph type="title"/>
          </p:nvPr>
        </p:nvSpPr>
        <p:spPr>
          <a:xfrm>
            <a:off x="539750" y="66675"/>
            <a:ext cx="7031038" cy="914400"/>
          </a:xfrm>
        </p:spPr>
        <p:txBody>
          <a:bodyPr/>
          <a:lstStyle/>
          <a:p>
            <a:pPr eaLnBrk="1" hangingPunct="1"/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341438"/>
            <a:ext cx="38100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3.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运算符与表达式</a:t>
            </a:r>
            <a:endParaRPr lang="en-US" altLang="zh-CN" sz="24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逻辑运算符</a:t>
            </a:r>
          </a:p>
        </p:txBody>
      </p:sp>
      <p:graphicFrame>
        <p:nvGraphicFramePr>
          <p:cNvPr id="38961" name="Group 49"/>
          <p:cNvGraphicFramePr>
            <a:graphicFrameLocks noGrp="1"/>
          </p:cNvGraphicFramePr>
          <p:nvPr>
            <p:ph sz="half" idx="2"/>
          </p:nvPr>
        </p:nvGraphicFramePr>
        <p:xfrm>
          <a:off x="1524000" y="2743200"/>
          <a:ext cx="6553200" cy="3101977"/>
        </p:xfrm>
        <a:graphic>
          <a:graphicData uri="http://schemas.openxmlformats.org/drawingml/2006/table">
            <a:tbl>
              <a:tblPr/>
              <a:tblGrid>
                <a:gridCol w="2590800"/>
                <a:gridCol w="3962400"/>
              </a:tblGrid>
              <a:tr h="5397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运算符</a:t>
                      </a: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意义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IS NULL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cs typeface="宋体" pitchFamily="2" charset="-122"/>
                        </a:rPr>
                        <a:t>是空值</a:t>
                      </a: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  <a:cs typeface="宋体" pitchFamily="2" charset="-122"/>
                        </a:rPr>
                        <a:t>  </a:t>
                      </a:r>
                      <a:endParaRPr kumimoji="0" lang="zh-CN" alt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BETWEEN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cs typeface="宋体" pitchFamily="2" charset="-122"/>
                        </a:rPr>
                        <a:t>介于两者之间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IN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cs typeface="宋体" pitchFamily="2" charset="-122"/>
                        </a:rPr>
                        <a:t>在一列值中间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AND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cs typeface="宋体" pitchFamily="2" charset="-122"/>
                        </a:rPr>
                        <a:t>逻辑与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OR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cs typeface="宋体" pitchFamily="2" charset="-122"/>
                        </a:rPr>
                        <a:t>逻辑或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NOT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cs typeface="宋体" pitchFamily="2" charset="-122"/>
                        </a:rPr>
                        <a:t>取返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cs typeface="宋体" pitchFamily="2" charset="-122"/>
                        </a:rPr>
                        <a:t>,</a:t>
                      </a: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cs typeface="宋体" pitchFamily="2" charset="-122"/>
                        </a:rPr>
                        <a:t>如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  <a:cs typeface="宋体" pitchFamily="2" charset="-122"/>
                        </a:rPr>
                        <a:t>IS NOT NULL, NOT IN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268413"/>
            <a:ext cx="8001000" cy="49530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Aft>
                <a:spcPts val="600"/>
              </a:spcAft>
              <a:buFont typeface="Wingdings" pitchFamily="2" charset="2"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+mj-ea"/>
                <a:ea typeface="+mj-ea"/>
              </a:rPr>
              <a:t>4.pl/</a:t>
            </a:r>
            <a:r>
              <a:rPr lang="en-US" altLang="zh-CN" sz="2000" dirty="0" err="1" smtClean="0">
                <a:solidFill>
                  <a:srgbClr val="FF0000"/>
                </a:solidFill>
                <a:latin typeface="+mj-ea"/>
                <a:ea typeface="+mj-ea"/>
              </a:rPr>
              <a:t>sql</a:t>
            </a: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流程控制语句</a:t>
            </a:r>
            <a:endParaRPr lang="en-US" altLang="zh-CN" sz="20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PL/SQL</a:t>
            </a:r>
            <a:r>
              <a:rPr lang="zh-CN" altLang="en-US" sz="2000" dirty="0" smtClean="0">
                <a:latin typeface="+mj-ea"/>
                <a:ea typeface="+mj-ea"/>
              </a:rPr>
              <a:t>的流程控制语句</a:t>
            </a:r>
            <a:r>
              <a:rPr lang="en-US" altLang="zh-CN" sz="2000" dirty="0" smtClean="0">
                <a:latin typeface="+mj-ea"/>
                <a:ea typeface="+mj-ea"/>
              </a:rPr>
              <a:t>, </a:t>
            </a:r>
            <a:r>
              <a:rPr lang="zh-CN" altLang="en-US" sz="2000" dirty="0" smtClean="0">
                <a:latin typeface="+mj-ea"/>
                <a:ea typeface="+mj-ea"/>
              </a:rPr>
              <a:t>包括如下三类</a:t>
            </a:r>
            <a:r>
              <a:rPr lang="en-US" altLang="zh-CN" sz="2000" dirty="0" smtClean="0">
                <a:latin typeface="+mj-ea"/>
                <a:ea typeface="+mj-ea"/>
              </a:rPr>
              <a:t>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000" dirty="0" smtClean="0">
                <a:latin typeface="+mj-ea"/>
                <a:ea typeface="+mj-ea"/>
              </a:rPr>
              <a:t>顺序语句</a:t>
            </a:r>
            <a:r>
              <a:rPr lang="en-US" altLang="zh-CN" sz="2000" dirty="0" smtClean="0">
                <a:latin typeface="+mj-ea"/>
                <a:ea typeface="+mj-ea"/>
              </a:rPr>
              <a:t>: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GOTO</a:t>
            </a:r>
            <a:r>
              <a:rPr lang="zh-CN" altLang="en-US" sz="2000" dirty="0" smtClean="0">
                <a:latin typeface="+mj-ea"/>
                <a:ea typeface="+mj-ea"/>
              </a:rPr>
              <a:t>语句：无条件跳转到指定的标号 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NULL</a:t>
            </a:r>
            <a:r>
              <a:rPr lang="zh-CN" altLang="en-US" sz="2000" dirty="0" smtClean="0">
                <a:latin typeface="+mj-ea"/>
                <a:ea typeface="+mj-ea"/>
              </a:rPr>
              <a:t>语句：说明“不用做任何事情”的意思，相当于一个占位符 </a:t>
            </a:r>
            <a:endParaRPr lang="en-US" altLang="zh-CN" sz="2000" dirty="0" smtClean="0">
              <a:latin typeface="+mj-ea"/>
              <a:ea typeface="+mj-ea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000" dirty="0" smtClean="0">
                <a:latin typeface="+mj-ea"/>
                <a:ea typeface="+mj-ea"/>
              </a:rPr>
              <a:t>条件语句</a:t>
            </a:r>
            <a:r>
              <a:rPr lang="en-US" altLang="zh-CN" sz="2000" dirty="0" smtClean="0">
                <a:latin typeface="+mj-ea"/>
                <a:ea typeface="+mj-ea"/>
              </a:rPr>
              <a:t>: IF </a:t>
            </a:r>
            <a:r>
              <a:rPr lang="zh-CN" altLang="en-US" sz="2000" dirty="0" smtClean="0">
                <a:latin typeface="+mj-ea"/>
                <a:ea typeface="+mj-ea"/>
              </a:rPr>
              <a:t>语句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000" dirty="0" smtClean="0">
                <a:latin typeface="+mj-ea"/>
                <a:ea typeface="+mj-ea"/>
              </a:rPr>
              <a:t>循环语句</a:t>
            </a:r>
            <a:r>
              <a:rPr lang="en-US" altLang="zh-CN" sz="2000" dirty="0" smtClean="0">
                <a:latin typeface="+mj-ea"/>
                <a:ea typeface="+mj-ea"/>
              </a:rPr>
              <a:t>: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LOOP…END LOOP</a:t>
            </a:r>
            <a:r>
              <a:rPr lang="zh-CN" altLang="en-US" sz="2000" dirty="0" smtClean="0">
                <a:latin typeface="+mj-ea"/>
                <a:ea typeface="+mj-ea"/>
              </a:rPr>
              <a:t>语句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WHILE</a:t>
            </a:r>
            <a:r>
              <a:rPr lang="zh-CN" altLang="en-US" sz="2000" dirty="0" smtClean="0">
                <a:latin typeface="+mj-ea"/>
                <a:ea typeface="+mj-ea"/>
              </a:rPr>
              <a:t>语句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FOR</a:t>
            </a:r>
            <a:r>
              <a:rPr lang="zh-CN" altLang="en-US" sz="2000" dirty="0" smtClean="0">
                <a:latin typeface="+mj-ea"/>
                <a:ea typeface="+mj-ea"/>
              </a:rPr>
              <a:t>循环语句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</a:p>
        </p:txBody>
      </p:sp>
      <p:sp>
        <p:nvSpPr>
          <p:cNvPr id="20483" name="内容占位符 2"/>
          <p:cNvSpPr>
            <a:spLocks noGrp="1"/>
          </p:cNvSpPr>
          <p:nvPr>
            <p:ph sz="half" idx="1"/>
          </p:nvPr>
        </p:nvSpPr>
        <p:spPr>
          <a:xfrm>
            <a:off x="990600" y="2057400"/>
            <a:ext cx="3581400" cy="1828800"/>
          </a:xfrm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endParaRPr lang="en-US" altLang="zh-CN" sz="2000" b="1" smtClean="0"/>
          </a:p>
          <a:p>
            <a:pPr>
              <a:buFont typeface="Wingdings" pitchFamily="2" charset="2"/>
              <a:buNone/>
            </a:pPr>
            <a:r>
              <a:rPr lang="en-US" altLang="zh-CN" sz="2000" b="1" smtClean="0"/>
              <a:t>IF &lt;</a:t>
            </a:r>
            <a:r>
              <a:rPr lang="zh-CN" altLang="en-US" sz="2000" b="1" smtClean="0"/>
              <a:t>布尔表达式</a:t>
            </a:r>
            <a:r>
              <a:rPr lang="en-US" altLang="zh-CN" sz="2000" b="1" smtClean="0"/>
              <a:t>&gt; THEN</a:t>
            </a:r>
            <a:endParaRPr lang="zh-CN" altLang="zh-CN" sz="2000" b="1" smtClean="0"/>
          </a:p>
          <a:p>
            <a:pPr>
              <a:buFont typeface="Wingdings" pitchFamily="2" charset="2"/>
              <a:buNone/>
            </a:pPr>
            <a:r>
              <a:rPr lang="en-US" altLang="zh-CN" sz="2000" b="1" smtClean="0"/>
              <a:t>	PL/SQL </a:t>
            </a:r>
            <a:r>
              <a:rPr lang="zh-CN" altLang="en-US" sz="2000" b="1" smtClean="0"/>
              <a:t>和</a:t>
            </a:r>
            <a:r>
              <a:rPr lang="en-US" altLang="zh-CN" sz="2000" b="1" smtClean="0"/>
              <a:t> SQL</a:t>
            </a:r>
            <a:r>
              <a:rPr lang="zh-CN" altLang="en-US" sz="2000" b="1" smtClean="0"/>
              <a:t>语句</a:t>
            </a:r>
          </a:p>
          <a:p>
            <a:pPr>
              <a:buFont typeface="Wingdings" pitchFamily="2" charset="2"/>
              <a:buNone/>
            </a:pPr>
            <a:r>
              <a:rPr lang="en-US" altLang="zh-CN" sz="2000" b="1" smtClean="0"/>
              <a:t>END IF;</a:t>
            </a:r>
            <a:endParaRPr lang="zh-CN" altLang="zh-CN" sz="2000" b="1" smtClean="0"/>
          </a:p>
          <a:p>
            <a:pPr>
              <a:buFont typeface="Wingdings" pitchFamily="2" charset="2"/>
              <a:buNone/>
            </a:pPr>
            <a:r>
              <a:rPr lang="en-US" altLang="zh-CN" sz="2000" b="1" smtClean="0"/>
              <a:t> </a:t>
            </a:r>
            <a:endParaRPr lang="zh-CN" altLang="zh-CN" sz="2000" b="1" smtClean="0"/>
          </a:p>
          <a:p>
            <a:endParaRPr lang="zh-CN" altLang="en-US" sz="2000" b="1" smtClean="0"/>
          </a:p>
        </p:txBody>
      </p:sp>
      <p:sp>
        <p:nvSpPr>
          <p:cNvPr id="20484" name="内容占位符 4"/>
          <p:cNvSpPr>
            <a:spLocks noGrp="1"/>
          </p:cNvSpPr>
          <p:nvPr>
            <p:ph sz="half" idx="2"/>
          </p:nvPr>
        </p:nvSpPr>
        <p:spPr>
          <a:xfrm>
            <a:off x="4648200" y="2057400"/>
            <a:ext cx="4114800" cy="4343400"/>
          </a:xfrm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endParaRPr lang="en-US" altLang="zh-CN" sz="2000" b="1" smtClean="0"/>
          </a:p>
          <a:p>
            <a:pPr>
              <a:buFont typeface="Wingdings" pitchFamily="2" charset="2"/>
              <a:buNone/>
            </a:pPr>
            <a:r>
              <a:rPr lang="en-US" altLang="zh-CN" sz="2000" b="1" smtClean="0"/>
              <a:t>IF &lt;</a:t>
            </a:r>
            <a:r>
              <a:rPr lang="zh-CN" altLang="en-US" sz="2000" b="1" smtClean="0"/>
              <a:t>布尔表达式</a:t>
            </a:r>
            <a:r>
              <a:rPr lang="en-US" altLang="zh-CN" sz="2000" b="1" smtClean="0"/>
              <a:t>&gt; THEN</a:t>
            </a:r>
            <a:endParaRPr lang="zh-CN" altLang="en-US" sz="2000" b="1" smtClean="0"/>
          </a:p>
          <a:p>
            <a:pPr>
              <a:buFont typeface="Wingdings" pitchFamily="2" charset="2"/>
              <a:buNone/>
            </a:pPr>
            <a:r>
              <a:rPr lang="en-US" altLang="zh-CN" sz="2000" b="1" smtClean="0"/>
              <a:t>	PL/SQL </a:t>
            </a:r>
            <a:r>
              <a:rPr lang="zh-CN" altLang="en-US" sz="2000" b="1" smtClean="0"/>
              <a:t>和</a:t>
            </a:r>
            <a:r>
              <a:rPr lang="en-US" altLang="zh-CN" sz="2000" b="1" smtClean="0"/>
              <a:t> SQL</a:t>
            </a:r>
            <a:r>
              <a:rPr lang="zh-CN" altLang="en-US" sz="2000" b="1" smtClean="0"/>
              <a:t>语句</a:t>
            </a:r>
          </a:p>
          <a:p>
            <a:pPr>
              <a:buFont typeface="Wingdings" pitchFamily="2" charset="2"/>
              <a:buNone/>
            </a:pPr>
            <a:r>
              <a:rPr lang="en-US" altLang="zh-CN" sz="2000" b="1" smtClean="0"/>
              <a:t>ELSIF &lt; </a:t>
            </a:r>
            <a:r>
              <a:rPr lang="zh-CN" altLang="en-US" sz="2000" b="1" smtClean="0"/>
              <a:t>其它布尔表达式</a:t>
            </a:r>
            <a:r>
              <a:rPr lang="en-US" altLang="zh-CN" sz="2000" b="1" smtClean="0"/>
              <a:t>&gt; THEN</a:t>
            </a:r>
            <a:endParaRPr lang="zh-CN" altLang="en-US" sz="2000" b="1" smtClean="0"/>
          </a:p>
          <a:p>
            <a:pPr>
              <a:buFont typeface="Wingdings" pitchFamily="2" charset="2"/>
              <a:buNone/>
            </a:pPr>
            <a:r>
              <a:rPr lang="en-US" altLang="zh-CN" sz="2000" b="1" smtClean="0"/>
              <a:t>	</a:t>
            </a:r>
            <a:r>
              <a:rPr lang="zh-CN" altLang="en-US" sz="2000" b="1" smtClean="0"/>
              <a:t>其它语句</a:t>
            </a:r>
          </a:p>
          <a:p>
            <a:pPr>
              <a:buFont typeface="Wingdings" pitchFamily="2" charset="2"/>
              <a:buNone/>
            </a:pPr>
            <a:r>
              <a:rPr lang="en-US" altLang="zh-CN" sz="2000" b="1" smtClean="0"/>
              <a:t>ELSIF &lt; </a:t>
            </a:r>
            <a:r>
              <a:rPr lang="zh-CN" altLang="en-US" sz="2000" b="1" smtClean="0"/>
              <a:t>其它布尔表达式</a:t>
            </a:r>
            <a:r>
              <a:rPr lang="en-US" altLang="zh-CN" sz="2000" b="1" smtClean="0"/>
              <a:t>&gt; THEN</a:t>
            </a:r>
            <a:endParaRPr lang="zh-CN" altLang="en-US" sz="2000" b="1" smtClean="0"/>
          </a:p>
          <a:p>
            <a:pPr>
              <a:buFont typeface="Wingdings" pitchFamily="2" charset="2"/>
              <a:buNone/>
            </a:pPr>
            <a:r>
              <a:rPr lang="en-US" altLang="zh-CN" sz="2000" b="1" smtClean="0"/>
              <a:t>	</a:t>
            </a:r>
            <a:r>
              <a:rPr lang="zh-CN" altLang="en-US" sz="2000" b="1" smtClean="0"/>
              <a:t>其它语句</a:t>
            </a:r>
          </a:p>
          <a:p>
            <a:pPr>
              <a:buFont typeface="Wingdings" pitchFamily="2" charset="2"/>
              <a:buNone/>
            </a:pPr>
            <a:r>
              <a:rPr lang="en-US" altLang="zh-CN" sz="2000" b="1" smtClean="0"/>
              <a:t>ELSE</a:t>
            </a:r>
            <a:endParaRPr lang="zh-CN" altLang="en-US" sz="2000" b="1" smtClean="0"/>
          </a:p>
          <a:p>
            <a:pPr>
              <a:buFont typeface="Wingdings" pitchFamily="2" charset="2"/>
              <a:buNone/>
            </a:pPr>
            <a:r>
              <a:rPr lang="en-US" altLang="zh-CN" sz="2000" b="1" smtClean="0"/>
              <a:t>	</a:t>
            </a:r>
            <a:r>
              <a:rPr lang="zh-CN" altLang="en-US" sz="2000" b="1" smtClean="0"/>
              <a:t>其它语句</a:t>
            </a:r>
          </a:p>
          <a:p>
            <a:pPr>
              <a:buFont typeface="Wingdings" pitchFamily="2" charset="2"/>
              <a:buNone/>
            </a:pPr>
            <a:r>
              <a:rPr lang="en-US" altLang="zh-CN" sz="2000" b="1" smtClean="0"/>
              <a:t>END IF;</a:t>
            </a:r>
            <a:endParaRPr lang="zh-CN" altLang="en-US" sz="2000" b="1" smtClean="0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990600" y="3962400"/>
            <a:ext cx="3581400" cy="2438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endParaRPr lang="en-US" sz="2000" kern="0" dirty="0">
              <a:latin typeface="+mn-lt"/>
              <a:ea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latin typeface="+mn-lt"/>
                <a:ea typeface="+mn-ea"/>
              </a:rPr>
              <a:t> IF &lt;</a:t>
            </a:r>
            <a:r>
              <a:rPr lang="zh-CN" sz="2000" kern="0" dirty="0">
                <a:latin typeface="+mn-lt"/>
                <a:ea typeface="+mn-ea"/>
              </a:rPr>
              <a:t>布尔表达式</a:t>
            </a:r>
            <a:r>
              <a:rPr lang="en-US" sz="2000" kern="0" dirty="0">
                <a:latin typeface="+mn-lt"/>
                <a:ea typeface="+mn-ea"/>
              </a:rPr>
              <a:t>&gt; THEN</a:t>
            </a:r>
            <a:endParaRPr lang="zh-CN" sz="2000" kern="0" dirty="0">
              <a:latin typeface="+mn-lt"/>
              <a:ea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latin typeface="+mn-lt"/>
                <a:ea typeface="+mn-ea"/>
              </a:rPr>
              <a:t>	PL/SQL </a:t>
            </a:r>
            <a:r>
              <a:rPr lang="zh-CN" sz="2000" kern="0" dirty="0">
                <a:latin typeface="+mn-lt"/>
                <a:ea typeface="+mn-ea"/>
              </a:rPr>
              <a:t>和</a:t>
            </a:r>
            <a:r>
              <a:rPr lang="en-US" sz="2000" kern="0" dirty="0">
                <a:latin typeface="+mn-lt"/>
                <a:ea typeface="+mn-ea"/>
              </a:rPr>
              <a:t> SQL</a:t>
            </a:r>
            <a:r>
              <a:rPr lang="zh-CN" sz="2000" kern="0" dirty="0">
                <a:latin typeface="+mn-lt"/>
                <a:ea typeface="+mn-ea"/>
              </a:rPr>
              <a:t>语句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latin typeface="+mn-lt"/>
                <a:ea typeface="+mn-ea"/>
              </a:rPr>
              <a:t>ELSE</a:t>
            </a:r>
            <a:endParaRPr lang="zh-CN" sz="2000" kern="0" dirty="0">
              <a:latin typeface="+mn-lt"/>
              <a:ea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kern="0" dirty="0">
                <a:latin typeface="+mn-lt"/>
                <a:ea typeface="+mn-ea"/>
              </a:rPr>
              <a:t>	</a:t>
            </a:r>
            <a:r>
              <a:rPr lang="zh-CN" sz="2000" kern="0" dirty="0">
                <a:latin typeface="+mn-lt"/>
                <a:ea typeface="+mn-ea"/>
              </a:rPr>
              <a:t>其它语句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latin typeface="+mn-lt"/>
                <a:ea typeface="+mn-ea"/>
              </a:rPr>
              <a:t>END IF;</a:t>
            </a:r>
            <a:endParaRPr lang="zh-CN" sz="2000" kern="0" dirty="0">
              <a:latin typeface="+mn-lt"/>
              <a:ea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latin typeface="+mn-lt"/>
                <a:ea typeface="+mn-ea"/>
              </a:rPr>
              <a:t> </a:t>
            </a:r>
            <a:endParaRPr lang="zh-CN" sz="2000" kern="0" dirty="0">
              <a:latin typeface="+mn-lt"/>
              <a:ea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zh-CN" sz="2000" kern="0" dirty="0">
              <a:latin typeface="+mn-lt"/>
              <a:ea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zh-CN" altLang="en-US" sz="2000" kern="0" dirty="0">
              <a:latin typeface="+mn-lt"/>
              <a:ea typeface="+mn-ea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1196975"/>
            <a:ext cx="38100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2400" kern="0" dirty="0">
                <a:latin typeface="+mn-lt"/>
                <a:ea typeface="+mn-ea"/>
              </a:rPr>
              <a:t>条件语句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2"/>
          <p:cNvSpPr>
            <a:spLocks noGrp="1"/>
          </p:cNvSpPr>
          <p:nvPr>
            <p:ph sz="half" idx="1"/>
          </p:nvPr>
        </p:nvSpPr>
        <p:spPr>
          <a:xfrm>
            <a:off x="539750" y="1557338"/>
            <a:ext cx="4427538" cy="5148262"/>
          </a:xfrm>
        </p:spPr>
        <p:txBody>
          <a:bodyPr/>
          <a:lstStyle/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000" b="1" dirty="0" smtClean="0"/>
              <a:t>declare 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000" b="1" dirty="0" smtClean="0"/>
              <a:t>m </a:t>
            </a:r>
            <a:r>
              <a:rPr lang="en-US" altLang="zh-CN" sz="2000" b="1" dirty="0" err="1" smtClean="0"/>
              <a:t>sc.grade%type</a:t>
            </a:r>
            <a:r>
              <a:rPr lang="en-US" altLang="zh-CN" sz="2000" b="1" dirty="0" smtClean="0"/>
              <a:t>;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000" b="1" dirty="0" smtClean="0"/>
              <a:t>begin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000" b="1" dirty="0" smtClean="0"/>
              <a:t>      select grade into m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000" b="1" dirty="0" smtClean="0"/>
              <a:t>      from </a:t>
            </a:r>
            <a:r>
              <a:rPr lang="en-US" altLang="zh-CN" sz="2000" b="1" dirty="0" err="1" smtClean="0"/>
              <a:t>sc</a:t>
            </a:r>
            <a:endParaRPr lang="en-US" altLang="zh-CN" sz="2000" b="1" dirty="0" smtClean="0"/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000" b="1" dirty="0" smtClean="0"/>
              <a:t>      where </a:t>
            </a:r>
            <a:r>
              <a:rPr lang="en-US" altLang="zh-CN" sz="2000" b="1" dirty="0" err="1" smtClean="0"/>
              <a:t>sno</a:t>
            </a:r>
            <a:r>
              <a:rPr lang="en-US" altLang="zh-CN" sz="2000" b="1" dirty="0" smtClean="0"/>
              <a:t>='04001' and </a:t>
            </a:r>
            <a:r>
              <a:rPr lang="en-US" altLang="zh-CN" sz="2000" b="1" dirty="0" err="1" smtClean="0"/>
              <a:t>cno</a:t>
            </a:r>
            <a:r>
              <a:rPr lang="en-US" altLang="zh-CN" sz="2000" b="1" dirty="0" smtClean="0"/>
              <a:t>='005';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000" b="1" dirty="0" smtClean="0"/>
              <a:t>      if m&lt;60 then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000" b="1" dirty="0" smtClean="0"/>
              <a:t>          </a:t>
            </a:r>
            <a:r>
              <a:rPr lang="en-US" altLang="zh-CN" sz="2000" b="1" dirty="0" err="1" smtClean="0"/>
              <a:t>dbms_output.put_line</a:t>
            </a:r>
            <a:r>
              <a:rPr lang="en-US" altLang="zh-CN" sz="2000" b="1" dirty="0" smtClean="0"/>
              <a:t>('</a:t>
            </a:r>
            <a:r>
              <a:rPr lang="zh-CN" altLang="en-US" sz="2000" b="1" dirty="0" smtClean="0"/>
              <a:t>不及格</a:t>
            </a:r>
            <a:r>
              <a:rPr lang="en-US" altLang="zh-CN" sz="2000" b="1" dirty="0" smtClean="0"/>
              <a:t>');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000" b="1" dirty="0" smtClean="0"/>
              <a:t>      </a:t>
            </a:r>
            <a:r>
              <a:rPr lang="en-US" altLang="zh-CN" sz="2000" b="1" dirty="0" err="1" smtClean="0"/>
              <a:t>elsif</a:t>
            </a:r>
            <a:r>
              <a:rPr lang="en-US" altLang="zh-CN" sz="2000" b="1" dirty="0" smtClean="0"/>
              <a:t> m&gt;=60 and m&lt;80 then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000" b="1" dirty="0" smtClean="0"/>
              <a:t>          </a:t>
            </a:r>
            <a:r>
              <a:rPr lang="en-US" altLang="zh-CN" sz="2000" b="1" dirty="0" err="1" smtClean="0"/>
              <a:t>dbms_output.put_line</a:t>
            </a:r>
            <a:r>
              <a:rPr lang="en-US" altLang="zh-CN" sz="2000" b="1" dirty="0" smtClean="0"/>
              <a:t>('</a:t>
            </a:r>
            <a:r>
              <a:rPr lang="zh-CN" altLang="en-US" sz="2000" b="1" dirty="0" smtClean="0"/>
              <a:t>及格</a:t>
            </a:r>
            <a:r>
              <a:rPr lang="en-US" altLang="zh-CN" sz="2000" b="1" dirty="0" smtClean="0"/>
              <a:t>');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000" b="1" dirty="0" smtClean="0"/>
              <a:t>      </a:t>
            </a:r>
            <a:r>
              <a:rPr lang="en-US" altLang="zh-CN" sz="2000" b="1" dirty="0" err="1" smtClean="0"/>
              <a:t>elsif</a:t>
            </a:r>
            <a:r>
              <a:rPr lang="en-US" altLang="zh-CN" sz="2000" b="1" dirty="0" smtClean="0"/>
              <a:t> m&gt;=80 and m&lt;90 then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000" b="1" dirty="0" smtClean="0"/>
              <a:t>          </a:t>
            </a:r>
            <a:r>
              <a:rPr lang="en-US" altLang="zh-CN" sz="2000" b="1" dirty="0" err="1" smtClean="0"/>
              <a:t>dbms_output.put_line</a:t>
            </a:r>
            <a:r>
              <a:rPr lang="en-US" altLang="zh-CN" sz="2000" b="1" dirty="0" smtClean="0"/>
              <a:t>('</a:t>
            </a:r>
            <a:r>
              <a:rPr lang="zh-CN" altLang="en-US" sz="2000" b="1" dirty="0" smtClean="0"/>
              <a:t>良好</a:t>
            </a:r>
            <a:r>
              <a:rPr lang="en-US" altLang="zh-CN" sz="2000" b="1" dirty="0" smtClean="0"/>
              <a:t>');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000" b="1" dirty="0" smtClean="0"/>
              <a:t>      else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000" b="1" dirty="0" smtClean="0"/>
              <a:t>          </a:t>
            </a:r>
            <a:r>
              <a:rPr lang="en-US" altLang="zh-CN" sz="2000" b="1" dirty="0" err="1" smtClean="0"/>
              <a:t>dbms_output.put_line</a:t>
            </a:r>
            <a:r>
              <a:rPr lang="en-US" altLang="zh-CN" sz="2000" b="1" dirty="0" smtClean="0"/>
              <a:t>('</a:t>
            </a:r>
            <a:r>
              <a:rPr lang="zh-CN" altLang="en-US" sz="2000" b="1" dirty="0" smtClean="0"/>
              <a:t>优秀</a:t>
            </a:r>
            <a:r>
              <a:rPr lang="en-US" altLang="zh-CN" sz="2000" b="1" dirty="0" smtClean="0"/>
              <a:t>');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000" b="1" dirty="0" smtClean="0"/>
              <a:t>      end if;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000" b="1" dirty="0" smtClean="0"/>
              <a:t>end;</a:t>
            </a:r>
            <a:endParaRPr lang="zh-CN" altLang="en-US" sz="2000" b="1" dirty="0" smtClean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5800" y="1125538"/>
            <a:ext cx="38100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2400" kern="0" dirty="0">
                <a:latin typeface="+mn-lt"/>
                <a:ea typeface="+mn-ea"/>
              </a:rPr>
              <a:t>条件语句</a:t>
            </a:r>
          </a:p>
        </p:txBody>
      </p:sp>
      <p:sp>
        <p:nvSpPr>
          <p:cNvPr id="21508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</a:p>
        </p:txBody>
      </p:sp>
      <p:sp>
        <p:nvSpPr>
          <p:cNvPr id="21509" name="内容占位符 2"/>
          <p:cNvSpPr>
            <a:spLocks noGrp="1"/>
          </p:cNvSpPr>
          <p:nvPr>
            <p:ph sz="half" idx="1"/>
          </p:nvPr>
        </p:nvSpPr>
        <p:spPr>
          <a:xfrm>
            <a:off x="5076825" y="1916113"/>
            <a:ext cx="3887788" cy="1652587"/>
          </a:xfrm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marL="0" indent="0">
              <a:lnSpc>
                <a:spcPts val="3300"/>
              </a:lnSpc>
              <a:spcBef>
                <a:spcPct val="0"/>
              </a:spcBef>
              <a:buFontTx/>
              <a:buNone/>
            </a:pPr>
            <a:r>
              <a:rPr lang="zh-CN" altLang="en-US" sz="2000" b="1" smtClean="0"/>
              <a:t>编写</a:t>
            </a:r>
            <a:r>
              <a:rPr lang="en-US" altLang="zh-CN" sz="2000" b="1" smtClean="0"/>
              <a:t>PL/SQL</a:t>
            </a:r>
            <a:r>
              <a:rPr lang="zh-CN" altLang="en-US" sz="2000" b="1" smtClean="0"/>
              <a:t>程序，查询姓名为陈旭的学生所选所有课程的成绩，根据成绩输出成绩等级。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</a:p>
        </p:txBody>
      </p:sp>
      <p:sp>
        <p:nvSpPr>
          <p:cNvPr id="16387" name="内容占位符 2"/>
          <p:cNvSpPr>
            <a:spLocks noGrp="1"/>
          </p:cNvSpPr>
          <p:nvPr>
            <p:ph sz="half" idx="1"/>
          </p:nvPr>
        </p:nvSpPr>
        <p:spPr>
          <a:xfrm>
            <a:off x="1042988" y="1125538"/>
            <a:ext cx="7315200" cy="4343400"/>
          </a:xfrm>
        </p:spPr>
        <p:txBody>
          <a:bodyPr/>
          <a:lstStyle/>
          <a:p>
            <a:pPr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循环语句</a:t>
            </a:r>
            <a:endParaRPr lang="en-US" altLang="zh-CN" sz="2400" dirty="0" smtClean="0">
              <a:latin typeface="+mj-ea"/>
              <a:ea typeface="+mj-ea"/>
            </a:endParaRP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LOOP</a:t>
            </a:r>
            <a:endParaRPr lang="zh-CN" altLang="en-US" dirty="0" smtClean="0">
              <a:latin typeface="+mj-ea"/>
              <a:ea typeface="+mj-ea"/>
            </a:endParaRP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      </a:t>
            </a:r>
            <a:r>
              <a:rPr lang="zh-CN" altLang="en-US" dirty="0" smtClean="0">
                <a:latin typeface="+mj-ea"/>
                <a:ea typeface="+mj-ea"/>
              </a:rPr>
              <a:t>要执行的语句</a:t>
            </a:r>
            <a:r>
              <a:rPr lang="en-US" altLang="zh-CN" dirty="0" smtClean="0">
                <a:latin typeface="+mj-ea"/>
                <a:ea typeface="+mj-ea"/>
              </a:rPr>
              <a:t>;</a:t>
            </a:r>
            <a:endParaRPr lang="zh-CN" altLang="en-US" dirty="0" smtClean="0">
              <a:latin typeface="+mj-ea"/>
              <a:ea typeface="+mj-ea"/>
            </a:endParaRP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      EXIT WHEN &lt;</a:t>
            </a:r>
            <a:r>
              <a:rPr lang="zh-CN" altLang="en-US" dirty="0" smtClean="0">
                <a:latin typeface="+mj-ea"/>
                <a:ea typeface="+mj-ea"/>
              </a:rPr>
              <a:t>条件语句</a:t>
            </a:r>
            <a:r>
              <a:rPr lang="en-US" altLang="zh-CN" dirty="0" smtClean="0">
                <a:latin typeface="+mj-ea"/>
                <a:ea typeface="+mj-ea"/>
              </a:rPr>
              <a:t>&gt;</a:t>
            </a:r>
            <a:endParaRPr lang="zh-CN" altLang="en-US" dirty="0" smtClean="0">
              <a:latin typeface="+mj-ea"/>
              <a:ea typeface="+mj-ea"/>
            </a:endParaRP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END LOOP;</a:t>
            </a:r>
          </a:p>
          <a:p>
            <a:pPr lvl="1">
              <a:buFont typeface="Wingdings" pitchFamily="2" charset="2"/>
              <a:buNone/>
              <a:defRPr/>
            </a:pPr>
            <a:endParaRPr lang="en-US" altLang="zh-CN" dirty="0" smtClean="0">
              <a:latin typeface="+mj-ea"/>
              <a:ea typeface="+mj-ea"/>
            </a:endParaRP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WHILE &lt;</a:t>
            </a:r>
            <a:r>
              <a:rPr lang="zh-CN" altLang="en-US" dirty="0" smtClean="0">
                <a:latin typeface="+mj-ea"/>
                <a:ea typeface="+mj-ea"/>
              </a:rPr>
              <a:t>布尔表达式</a:t>
            </a:r>
            <a:r>
              <a:rPr lang="en-US" altLang="zh-CN" dirty="0" smtClean="0">
                <a:latin typeface="+mj-ea"/>
                <a:ea typeface="+mj-ea"/>
              </a:rPr>
              <a:t>&gt; LOOP</a:t>
            </a:r>
            <a:endParaRPr lang="zh-CN" altLang="en-US" dirty="0" smtClean="0">
              <a:latin typeface="+mj-ea"/>
              <a:ea typeface="+mj-ea"/>
            </a:endParaRP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    </a:t>
            </a:r>
            <a:r>
              <a:rPr lang="zh-CN" altLang="en-US" dirty="0" smtClean="0">
                <a:latin typeface="+mj-ea"/>
                <a:ea typeface="+mj-ea"/>
              </a:rPr>
              <a:t>要执行的语句</a:t>
            </a:r>
            <a:r>
              <a:rPr lang="en-US" altLang="zh-CN" dirty="0" smtClean="0">
                <a:latin typeface="+mj-ea"/>
                <a:ea typeface="+mj-ea"/>
              </a:rPr>
              <a:t>;</a:t>
            </a:r>
            <a:endParaRPr lang="zh-CN" altLang="en-US" dirty="0" smtClean="0">
              <a:latin typeface="+mj-ea"/>
              <a:ea typeface="+mj-ea"/>
            </a:endParaRP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END LOOP;</a:t>
            </a:r>
            <a:endParaRPr lang="zh-CN" altLang="en-US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b="1" dirty="0" smtClean="0">
                <a:latin typeface="+mj-ea"/>
                <a:ea typeface="+mj-ea"/>
              </a:rPr>
              <a:t> </a:t>
            </a:r>
            <a:endParaRPr lang="zh-CN" altLang="en-US" sz="2400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None/>
              <a:defRPr/>
            </a:pPr>
            <a:endParaRPr lang="zh-CN" altLang="en-US" sz="2400" dirty="0" smtClean="0"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2"/>
          <p:cNvSpPr>
            <a:spLocks noGrp="1"/>
          </p:cNvSpPr>
          <p:nvPr>
            <p:ph sz="half" idx="1"/>
          </p:nvPr>
        </p:nvSpPr>
        <p:spPr>
          <a:xfrm>
            <a:off x="1763713" y="1989138"/>
            <a:ext cx="5761037" cy="3455987"/>
          </a:xfrm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CN" sz="2000" b="1" smtClean="0"/>
              <a:t>declare</a:t>
            </a:r>
          </a:p>
          <a:p>
            <a:pPr marL="0" indent="0">
              <a:buFontTx/>
              <a:buNone/>
            </a:pPr>
            <a:r>
              <a:rPr lang="en-US" altLang="zh-CN" sz="2000" b="1" smtClean="0"/>
              <a:t>    x number(2):=0;</a:t>
            </a:r>
          </a:p>
          <a:p>
            <a:pPr marL="0" indent="0">
              <a:buFontTx/>
              <a:buNone/>
            </a:pPr>
            <a:r>
              <a:rPr lang="en-US" altLang="zh-CN" sz="2000" b="1" smtClean="0"/>
              <a:t>begin</a:t>
            </a:r>
          </a:p>
          <a:p>
            <a:pPr marL="0" indent="0">
              <a:buFontTx/>
              <a:buNone/>
            </a:pPr>
            <a:r>
              <a:rPr lang="en-US" altLang="zh-CN" sz="2000" b="1" smtClean="0"/>
              <a:t>   loop</a:t>
            </a:r>
          </a:p>
          <a:p>
            <a:pPr marL="0" indent="0">
              <a:buFontTx/>
              <a:buNone/>
            </a:pPr>
            <a:r>
              <a:rPr lang="en-US" altLang="zh-CN" sz="2000" b="1" smtClean="0"/>
              <a:t>      x:=x+1;</a:t>
            </a:r>
          </a:p>
          <a:p>
            <a:pPr marL="0" indent="0">
              <a:buFontTx/>
              <a:buNone/>
            </a:pPr>
            <a:r>
              <a:rPr lang="en-US" altLang="zh-CN" sz="2000" b="1" smtClean="0"/>
              <a:t>      dbms_output.put_line('x </a:t>
            </a:r>
            <a:r>
              <a:rPr lang="zh-CN" altLang="en-US" sz="2000" b="1" smtClean="0"/>
              <a:t>的当前值为</a:t>
            </a:r>
            <a:r>
              <a:rPr lang="en-US" altLang="zh-CN" sz="2000" b="1" smtClean="0"/>
              <a:t>:'||x);</a:t>
            </a:r>
          </a:p>
          <a:p>
            <a:pPr marL="0" indent="0">
              <a:buFontTx/>
              <a:buNone/>
            </a:pPr>
            <a:r>
              <a:rPr lang="en-US" altLang="zh-CN" sz="2000" b="1" smtClean="0"/>
              <a:t>      exit when x=10;</a:t>
            </a:r>
          </a:p>
          <a:p>
            <a:pPr marL="0" indent="0">
              <a:buFontTx/>
              <a:buNone/>
            </a:pPr>
            <a:r>
              <a:rPr lang="en-US" altLang="zh-CN" sz="2000" b="1" smtClean="0"/>
              <a:t>   end loop;</a:t>
            </a:r>
          </a:p>
          <a:p>
            <a:pPr marL="0" indent="0">
              <a:buFontTx/>
              <a:buNone/>
            </a:pPr>
            <a:r>
              <a:rPr lang="en-US" altLang="zh-CN" sz="2000" b="1" smtClean="0"/>
              <a:t>end;</a:t>
            </a:r>
            <a:endParaRPr lang="zh-CN" altLang="en-US" sz="2000" b="1" smtClean="0"/>
          </a:p>
        </p:txBody>
      </p:sp>
      <p:sp>
        <p:nvSpPr>
          <p:cNvPr id="2355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835150" y="1844675"/>
            <a:ext cx="5761038" cy="3671888"/>
          </a:xfrm>
          <a:ln w="25400">
            <a:solidFill>
              <a:srgbClr val="FF0000"/>
            </a:solidFill>
          </a:ln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altLang="zh-CN" sz="2000" b="1" dirty="0"/>
              <a:t>declare</a:t>
            </a:r>
          </a:p>
          <a:p>
            <a:pPr marL="0" indent="0">
              <a:buFontTx/>
              <a:buNone/>
              <a:defRPr/>
            </a:pPr>
            <a:r>
              <a:rPr lang="en-US" altLang="zh-CN" sz="2000" b="1" dirty="0"/>
              <a:t>    x number:=0;</a:t>
            </a:r>
          </a:p>
          <a:p>
            <a:pPr marL="0" indent="0">
              <a:buFontTx/>
              <a:buNone/>
              <a:defRPr/>
            </a:pPr>
            <a:r>
              <a:rPr lang="en-US" altLang="zh-CN" sz="2000" b="1" dirty="0"/>
              <a:t>begin</a:t>
            </a:r>
          </a:p>
          <a:p>
            <a:pPr marL="0" indent="0">
              <a:buFontTx/>
              <a:buNone/>
              <a:defRPr/>
            </a:pPr>
            <a:r>
              <a:rPr lang="en-US" altLang="zh-CN" sz="2000" b="1" dirty="0"/>
              <a:t>   x:=1;</a:t>
            </a:r>
          </a:p>
          <a:p>
            <a:pPr marL="0" indent="0">
              <a:buFontTx/>
              <a:buNone/>
              <a:defRPr/>
            </a:pPr>
            <a:r>
              <a:rPr lang="en-US" altLang="zh-CN" sz="2000" b="1" dirty="0"/>
              <a:t>   while x&lt;10 loop</a:t>
            </a:r>
          </a:p>
          <a:p>
            <a:pPr marL="0" indent="0">
              <a:buFontTx/>
              <a:buNone/>
              <a:defRPr/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dbms_output.put_line</a:t>
            </a:r>
            <a:r>
              <a:rPr lang="en-US" altLang="zh-CN" sz="2000" b="1" dirty="0"/>
              <a:t>('x </a:t>
            </a:r>
            <a:r>
              <a:rPr lang="zh-CN" altLang="en-US" sz="2000" b="1" dirty="0"/>
              <a:t>的当前值为</a:t>
            </a:r>
            <a:r>
              <a:rPr lang="en-US" altLang="zh-CN" sz="2000" b="1" dirty="0"/>
              <a:t>:'||x);</a:t>
            </a:r>
          </a:p>
          <a:p>
            <a:pPr marL="0" indent="0">
              <a:buFontTx/>
              <a:buNone/>
              <a:defRPr/>
            </a:pPr>
            <a:r>
              <a:rPr lang="en-US" altLang="zh-CN" sz="2000" b="1" dirty="0"/>
              <a:t>      x:=x+1;</a:t>
            </a:r>
          </a:p>
          <a:p>
            <a:pPr marL="0" indent="0">
              <a:buFontTx/>
              <a:buNone/>
              <a:defRPr/>
            </a:pPr>
            <a:r>
              <a:rPr lang="en-US" altLang="zh-CN" sz="2000" b="1" dirty="0"/>
              <a:t>   end loop;</a:t>
            </a:r>
          </a:p>
          <a:p>
            <a:pPr marL="0" indent="0">
              <a:buFontTx/>
              <a:buNone/>
              <a:defRPr/>
            </a:pPr>
            <a:r>
              <a:rPr lang="en-US" altLang="zh-CN" sz="2000" b="1" dirty="0"/>
              <a:t>end;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2457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8.1   PL/SQL</a:t>
            </a:r>
            <a:r>
              <a:rPr lang="zh-CN" altLang="en-US" smtClean="0"/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5113338"/>
          </a:xfrm>
        </p:spPr>
        <p:txBody>
          <a:bodyPr/>
          <a:lstStyle/>
          <a:p>
            <a:pPr>
              <a:lnSpc>
                <a:spcPts val="4000"/>
              </a:lnSpc>
              <a:spcBef>
                <a:spcPts val="0"/>
              </a:spcBef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循环语句</a:t>
            </a:r>
            <a:endParaRPr lang="en-US" altLang="zh-CN" sz="2200" dirty="0" smtClean="0">
              <a:latin typeface="+mj-ea"/>
              <a:ea typeface="+mj-ea"/>
            </a:endParaRPr>
          </a:p>
          <a:p>
            <a:pPr>
              <a:spcBef>
                <a:spcPts val="0"/>
              </a:spcBef>
              <a:defRPr/>
            </a:pPr>
            <a:endParaRPr lang="en-US" sz="1100" dirty="0" smtClean="0">
              <a:latin typeface="+mj-ea"/>
              <a:ea typeface="+mj-ea"/>
            </a:endParaRPr>
          </a:p>
          <a:p>
            <a:pPr lvl="1">
              <a:lnSpc>
                <a:spcPts val="4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dirty="0" smtClean="0">
                <a:latin typeface="+mj-ea"/>
                <a:ea typeface="+mj-ea"/>
              </a:rPr>
              <a:t>FOR </a:t>
            </a:r>
            <a:r>
              <a:rPr lang="zh-CN" sz="2200" dirty="0" smtClean="0">
                <a:latin typeface="+mj-ea"/>
                <a:ea typeface="+mj-ea"/>
              </a:rPr>
              <a:t>循环</a:t>
            </a:r>
            <a:r>
              <a:rPr lang="zh-CN" altLang="en-US" sz="2200" dirty="0" smtClean="0">
                <a:latin typeface="+mj-ea"/>
                <a:ea typeface="+mj-ea"/>
              </a:rPr>
              <a:t>变量</a:t>
            </a:r>
            <a:r>
              <a:rPr lang="en-US" sz="2200" dirty="0" smtClean="0">
                <a:latin typeface="+mj-ea"/>
                <a:ea typeface="+mj-ea"/>
              </a:rPr>
              <a:t> IN </a:t>
            </a:r>
            <a:r>
              <a:rPr lang="zh-CN" sz="2200" dirty="0" smtClean="0">
                <a:latin typeface="+mj-ea"/>
                <a:ea typeface="+mj-ea"/>
              </a:rPr>
              <a:t>下限</a:t>
            </a:r>
            <a:r>
              <a:rPr lang="en-US" sz="2200" dirty="0" smtClean="0">
                <a:latin typeface="+mj-ea"/>
                <a:ea typeface="+mj-ea"/>
              </a:rPr>
              <a:t> .. </a:t>
            </a:r>
            <a:r>
              <a:rPr lang="zh-CN" sz="2200" dirty="0" smtClean="0">
                <a:latin typeface="+mj-ea"/>
                <a:ea typeface="+mj-ea"/>
              </a:rPr>
              <a:t>上限 </a:t>
            </a:r>
            <a:r>
              <a:rPr lang="en-US" sz="2200" dirty="0" smtClean="0">
                <a:latin typeface="+mj-ea"/>
                <a:ea typeface="+mj-ea"/>
              </a:rPr>
              <a:t>LOOP</a:t>
            </a:r>
            <a:endParaRPr lang="zh-CN" sz="2200" dirty="0" smtClean="0">
              <a:latin typeface="+mj-ea"/>
              <a:ea typeface="+mj-ea"/>
            </a:endParaRPr>
          </a:p>
          <a:p>
            <a:pPr lvl="1">
              <a:lnSpc>
                <a:spcPts val="4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dirty="0" smtClean="0">
                <a:latin typeface="+mj-ea"/>
                <a:ea typeface="+mj-ea"/>
              </a:rPr>
              <a:t>      </a:t>
            </a:r>
            <a:r>
              <a:rPr lang="zh-CN" sz="2200" dirty="0" smtClean="0">
                <a:latin typeface="+mj-ea"/>
                <a:ea typeface="+mj-ea"/>
              </a:rPr>
              <a:t>要执行的语句</a:t>
            </a:r>
            <a:r>
              <a:rPr lang="en-US" sz="2200" dirty="0" smtClean="0">
                <a:latin typeface="+mj-ea"/>
                <a:ea typeface="+mj-ea"/>
              </a:rPr>
              <a:t>;</a:t>
            </a:r>
            <a:endParaRPr lang="zh-CN" sz="2200" dirty="0" smtClean="0">
              <a:latin typeface="+mj-ea"/>
              <a:ea typeface="+mj-ea"/>
            </a:endParaRPr>
          </a:p>
          <a:p>
            <a:pPr lvl="1">
              <a:lnSpc>
                <a:spcPts val="4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dirty="0" smtClean="0">
                <a:latin typeface="+mj-ea"/>
                <a:ea typeface="+mj-ea"/>
              </a:rPr>
              <a:t>END LOOP;</a:t>
            </a:r>
          </a:p>
          <a:p>
            <a:pPr lvl="1">
              <a:spcBef>
                <a:spcPts val="0"/>
              </a:spcBef>
              <a:buFont typeface="Wingdings" pitchFamily="2" charset="2"/>
              <a:buNone/>
              <a:defRPr/>
            </a:pPr>
            <a:endParaRPr lang="zh-CN" sz="2200" dirty="0" smtClean="0">
              <a:latin typeface="+mj-ea"/>
              <a:ea typeface="+mj-ea"/>
            </a:endParaRPr>
          </a:p>
          <a:p>
            <a:pPr marL="446088" lvl="1" indent="11113">
              <a:lnSpc>
                <a:spcPts val="4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200" cap="all" dirty="0" smtClean="0">
                <a:latin typeface="+mj-ea"/>
                <a:ea typeface="+mj-ea"/>
              </a:rPr>
              <a:t>    </a:t>
            </a:r>
            <a:r>
              <a:rPr lang="zh-CN" sz="2200" cap="all" dirty="0" smtClean="0">
                <a:latin typeface="+mj-ea"/>
                <a:ea typeface="+mj-ea"/>
              </a:rPr>
              <a:t>每循环一次，循环变量自动加</a:t>
            </a:r>
            <a:r>
              <a:rPr lang="en-US" sz="2200" cap="all" dirty="0" smtClean="0">
                <a:latin typeface="+mj-ea"/>
                <a:ea typeface="+mj-ea"/>
              </a:rPr>
              <a:t>1</a:t>
            </a:r>
            <a:r>
              <a:rPr lang="zh-CN" sz="2200" cap="all" dirty="0" smtClean="0">
                <a:latin typeface="+mj-ea"/>
                <a:ea typeface="+mj-ea"/>
              </a:rPr>
              <a:t>；跟在</a:t>
            </a:r>
            <a:r>
              <a:rPr lang="en-US" sz="2200" cap="all" dirty="0" smtClean="0">
                <a:latin typeface="+mj-ea"/>
                <a:ea typeface="+mj-ea"/>
              </a:rPr>
              <a:t>IN </a:t>
            </a:r>
            <a:r>
              <a:rPr lang="zh-CN" sz="2200" cap="all" dirty="0" smtClean="0">
                <a:latin typeface="+mj-ea"/>
                <a:ea typeface="+mj-ea"/>
              </a:rPr>
              <a:t>后面的数字必须是从小到大的顺序，而且必须是整数，不能是变量或表达式。可以使用</a:t>
            </a:r>
            <a:r>
              <a:rPr lang="en-US" sz="2200" cap="all" dirty="0" smtClean="0">
                <a:latin typeface="+mj-ea"/>
                <a:ea typeface="+mj-ea"/>
              </a:rPr>
              <a:t>EXIT </a:t>
            </a:r>
            <a:r>
              <a:rPr lang="zh-CN" sz="2200" cap="all" dirty="0" smtClean="0">
                <a:latin typeface="+mj-ea"/>
                <a:ea typeface="+mj-ea"/>
              </a:rPr>
              <a:t>退出循环。</a:t>
            </a:r>
          </a:p>
          <a:p>
            <a:pPr marL="446088" indent="11113">
              <a:lnSpc>
                <a:spcPts val="4000"/>
              </a:lnSpc>
              <a:spcBef>
                <a:spcPts val="0"/>
              </a:spcBef>
              <a:defRPr/>
            </a:pPr>
            <a:endParaRPr lang="zh-CN" altLang="en-US" sz="2200" dirty="0">
              <a:latin typeface="+mj-ea"/>
              <a:ea typeface="+mj-ea"/>
            </a:endParaRPr>
          </a:p>
        </p:txBody>
      </p:sp>
      <p:sp>
        <p:nvSpPr>
          <p:cNvPr id="25604" name="内容占位符 2"/>
          <p:cNvSpPr txBox="1">
            <a:spLocks/>
          </p:cNvSpPr>
          <p:nvPr/>
        </p:nvSpPr>
        <p:spPr bwMode="auto">
          <a:xfrm>
            <a:off x="827088" y="3500438"/>
            <a:ext cx="7705725" cy="2449512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/>
              <a:t>     begin</a:t>
            </a:r>
          </a:p>
          <a:p>
            <a:pPr>
              <a:spcBef>
                <a:spcPct val="20000"/>
              </a:spcBef>
            </a:pPr>
            <a:r>
              <a:rPr lang="en-US" altLang="zh-CN" sz="2400"/>
              <a:t>   	for  x  in 1..10 loop</a:t>
            </a:r>
          </a:p>
          <a:p>
            <a:pPr>
              <a:spcBef>
                <a:spcPct val="20000"/>
              </a:spcBef>
            </a:pPr>
            <a:r>
              <a:rPr lang="en-US" altLang="zh-CN" sz="2400"/>
              <a:t>       	       dbms_output.put_line('x </a:t>
            </a:r>
            <a:r>
              <a:rPr lang="zh-CN" altLang="en-US" sz="2400"/>
              <a:t>的当前值为</a:t>
            </a:r>
            <a:r>
              <a:rPr lang="en-US" altLang="zh-CN" sz="2400"/>
              <a:t>:'||x);</a:t>
            </a:r>
          </a:p>
          <a:p>
            <a:pPr>
              <a:spcBef>
                <a:spcPct val="20000"/>
              </a:spcBef>
            </a:pPr>
            <a:r>
              <a:rPr lang="en-US" altLang="zh-CN" sz="2400"/>
              <a:t>   	end loop;</a:t>
            </a:r>
          </a:p>
          <a:p>
            <a:pPr>
              <a:spcBef>
                <a:spcPct val="20000"/>
              </a:spcBef>
            </a:pPr>
            <a:r>
              <a:rPr lang="en-US" altLang="zh-CN" sz="2400"/>
              <a:t>     end;</a:t>
            </a:r>
            <a:endParaRPr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395288" y="0"/>
            <a:ext cx="8229600" cy="1125538"/>
          </a:xfrm>
        </p:spPr>
        <p:txBody>
          <a:bodyPr/>
          <a:lstStyle/>
          <a:p>
            <a:r>
              <a:rPr lang="zh-CN" altLang="en-US" sz="3200" smtClean="0">
                <a:latin typeface="黑体" pitchFamily="49" charset="-122"/>
              </a:rPr>
              <a:t>第</a:t>
            </a:r>
            <a:r>
              <a:rPr lang="en-US" altLang="zh-CN" sz="3200" smtClean="0">
                <a:latin typeface="黑体" pitchFamily="49" charset="-122"/>
              </a:rPr>
              <a:t>8</a:t>
            </a:r>
            <a:r>
              <a:rPr lang="zh-CN" altLang="en-US" sz="3200" smtClean="0">
                <a:latin typeface="黑体" pitchFamily="49" charset="-122"/>
              </a:rPr>
              <a:t>章 </a:t>
            </a:r>
            <a:r>
              <a:rPr lang="en-US" altLang="zh-CN" sz="3200" smtClean="0">
                <a:latin typeface="黑体" pitchFamily="49" charset="-122"/>
              </a:rPr>
              <a:t>Oracle</a:t>
            </a:r>
            <a:r>
              <a:rPr lang="zh-CN" altLang="en-US" sz="3200" smtClean="0">
                <a:latin typeface="黑体" pitchFamily="49" charset="-122"/>
              </a:rPr>
              <a:t>数据库编程</a:t>
            </a:r>
            <a:endParaRPr lang="zh-CN" altLang="en-US" sz="3200" smtClean="0"/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xfrm>
            <a:off x="2268538" y="1628775"/>
            <a:ext cx="4267200" cy="37338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latin typeface="+mj-ea"/>
                <a:ea typeface="+mj-ea"/>
              </a:rPr>
              <a:t>8.1 PL/SQL</a:t>
            </a:r>
            <a:r>
              <a:rPr lang="zh-CN" altLang="en-US" sz="2800" dirty="0" smtClean="0">
                <a:latin typeface="+mj-ea"/>
                <a:ea typeface="+mj-ea"/>
              </a:rPr>
              <a:t>简介</a:t>
            </a:r>
            <a:endParaRPr lang="en-US" altLang="zh-CN" sz="2800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solidFill>
                  <a:srgbClr val="FF0000"/>
                </a:solidFill>
                <a:latin typeface="+mj-ea"/>
                <a:ea typeface="+mj-ea"/>
              </a:rPr>
              <a:t>8.2 </a:t>
            </a:r>
            <a:r>
              <a:rPr lang="zh-CN" altLang="en-US" sz="2800" dirty="0" smtClean="0">
                <a:solidFill>
                  <a:srgbClr val="FF0000"/>
                </a:solidFill>
                <a:latin typeface="+mj-ea"/>
                <a:ea typeface="+mj-ea"/>
              </a:rPr>
              <a:t>游标</a:t>
            </a:r>
            <a:endParaRPr lang="en-US" altLang="zh-CN" sz="28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latin typeface="+mj-ea"/>
                <a:ea typeface="+mj-ea"/>
              </a:rPr>
              <a:t>8.3 </a:t>
            </a:r>
            <a:r>
              <a:rPr lang="zh-CN" altLang="en-US" sz="2800" dirty="0" smtClean="0">
                <a:latin typeface="+mj-ea"/>
                <a:ea typeface="+mj-ea"/>
              </a:rPr>
              <a:t>存储过程</a:t>
            </a:r>
            <a:endParaRPr lang="en-US" altLang="zh-CN" sz="2800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latin typeface="+mj-ea"/>
                <a:ea typeface="+mj-ea"/>
              </a:rPr>
              <a:t>8.4 </a:t>
            </a:r>
            <a:r>
              <a:rPr lang="zh-CN" altLang="en-US" sz="2800" dirty="0" smtClean="0">
                <a:latin typeface="+mj-ea"/>
                <a:ea typeface="+mj-ea"/>
              </a:rPr>
              <a:t>触发器</a:t>
            </a:r>
            <a:endParaRPr lang="en-US" altLang="zh-CN" sz="2800" dirty="0" smtClean="0"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1. </a:t>
            </a:r>
            <a:r>
              <a:rPr lang="zh-CN" altLang="en-US" smtClean="0"/>
              <a:t>问题提出</a:t>
            </a:r>
          </a:p>
        </p:txBody>
      </p:sp>
      <p:sp>
        <p:nvSpPr>
          <p:cNvPr id="27651" name="TextBox 3"/>
          <p:cNvSpPr txBox="1">
            <a:spLocks noChangeArrowheads="1"/>
          </p:cNvSpPr>
          <p:nvPr/>
        </p:nvSpPr>
        <p:spPr bwMode="auto">
          <a:xfrm>
            <a:off x="496888" y="1230313"/>
            <a:ext cx="3473450" cy="188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zh-CN" sz="2000" b="0"/>
              <a:t>Select s.sno,sname,cname,grade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From s,sc,c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Where   s.sno=sc.sno 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        and c.cno=sc.cno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	 and college='</a:t>
            </a:r>
            <a:r>
              <a:rPr lang="zh-CN" altLang="en-US" sz="2000" b="0"/>
              <a:t>信息</a:t>
            </a:r>
            <a:r>
              <a:rPr lang="en-US" altLang="zh-CN" sz="2000" b="0"/>
              <a:t>'</a:t>
            </a:r>
          </a:p>
        </p:txBody>
      </p:sp>
      <p:sp>
        <p:nvSpPr>
          <p:cNvPr id="27652" name="圆角矩形 11"/>
          <p:cNvSpPr>
            <a:spLocks noChangeArrowheads="1"/>
          </p:cNvSpPr>
          <p:nvPr/>
        </p:nvSpPr>
        <p:spPr bwMode="auto">
          <a:xfrm>
            <a:off x="468313" y="1196975"/>
            <a:ext cx="3592512" cy="1919288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000"/>
          </a:p>
        </p:txBody>
      </p:sp>
      <p:pic>
        <p:nvPicPr>
          <p:cNvPr id="5125" name="Picture 10" descr="C:\Users\Administrator\AppData\Roaming\Tencent\Users\147829947\QQ\WinTemp\RichOle\XP})B[I7X5OCP]RVE`_NS7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3752850"/>
            <a:ext cx="3154362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8049031">
            <a:off x="2045049" y="3209824"/>
            <a:ext cx="455802" cy="446499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圆角矩形 9"/>
          <p:cNvSpPr/>
          <p:nvPr/>
        </p:nvSpPr>
        <p:spPr>
          <a:xfrm>
            <a:off x="468313" y="5949950"/>
            <a:ext cx="3595687" cy="647700"/>
          </a:xfrm>
          <a:prstGeom prst="roundRect">
            <a:avLst/>
          </a:prstGeom>
          <a:solidFill>
            <a:srgbClr val="8AB9E7">
              <a:lumMod val="75000"/>
            </a:srgbClr>
          </a:solidFill>
          <a:ln w="25400" cap="flat" cmpd="sng" algn="ctr">
            <a:solidFill>
              <a:srgbClr val="FFFFFF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defRPr/>
            </a:pPr>
            <a:r>
              <a:rPr lang="en-US" altLang="zh-CN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SQL</a:t>
            </a:r>
            <a:r>
              <a:rPr lang="zh-CN" altLang="en-US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操作数据特点：</a:t>
            </a:r>
            <a:r>
              <a:rPr lang="zh-CN" altLang="en-US" sz="2000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集合</a:t>
            </a:r>
            <a:r>
              <a:rPr lang="zh-CN" altLang="en-US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操作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1. </a:t>
            </a:r>
            <a:r>
              <a:rPr lang="zh-CN" altLang="en-US" smtClean="0"/>
              <a:t>问题提出</a:t>
            </a:r>
          </a:p>
        </p:txBody>
      </p:sp>
      <p:sp>
        <p:nvSpPr>
          <p:cNvPr id="28675" name="TextBox 3"/>
          <p:cNvSpPr txBox="1">
            <a:spLocks noChangeArrowheads="1"/>
          </p:cNvSpPr>
          <p:nvPr/>
        </p:nvSpPr>
        <p:spPr bwMode="auto">
          <a:xfrm>
            <a:off x="496888" y="1230313"/>
            <a:ext cx="3473450" cy="188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zh-CN" sz="2000" b="0"/>
              <a:t>Select s.sno,sname,cname,grade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From s,sc,c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Where   s.sno=sc.sno 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        and c.cno=sc.cno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	 and college='</a:t>
            </a:r>
            <a:r>
              <a:rPr lang="zh-CN" altLang="en-US" sz="2000" b="0"/>
              <a:t>信息</a:t>
            </a:r>
            <a:r>
              <a:rPr lang="en-US" altLang="zh-CN" sz="2000" b="0"/>
              <a:t>'</a:t>
            </a:r>
          </a:p>
        </p:txBody>
      </p:sp>
      <p:sp>
        <p:nvSpPr>
          <p:cNvPr id="28676" name="圆角矩形 11"/>
          <p:cNvSpPr>
            <a:spLocks noChangeArrowheads="1"/>
          </p:cNvSpPr>
          <p:nvPr/>
        </p:nvSpPr>
        <p:spPr bwMode="auto">
          <a:xfrm>
            <a:off x="468313" y="1196975"/>
            <a:ext cx="3592512" cy="1919288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000"/>
          </a:p>
        </p:txBody>
      </p:sp>
      <p:pic>
        <p:nvPicPr>
          <p:cNvPr id="28677" name="Picture 10" descr="C:\Users\Administrator\AppData\Roaming\Tencent\Users\147829947\QQ\WinTemp\RichOle\XP})B[I7X5OCP]RVE`_NS7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3752850"/>
            <a:ext cx="3154362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8049031">
            <a:off x="2045049" y="3209824"/>
            <a:ext cx="455802" cy="446499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679" name="TextBox 2"/>
          <p:cNvSpPr txBox="1">
            <a:spLocks noChangeArrowheads="1"/>
          </p:cNvSpPr>
          <p:nvPr/>
        </p:nvSpPr>
        <p:spPr bwMode="auto">
          <a:xfrm>
            <a:off x="4502150" y="1195388"/>
            <a:ext cx="3968750" cy="437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declare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a varchar2(10);  b varchar2(20);  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c varchar2(40);  d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m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begin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a:=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04023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 b:=</a:t>
            </a:r>
            <a:r>
              <a:rPr lang="en-US" altLang="zh-CN" sz="2000" b="0"/>
              <a:t>'</a:t>
            </a:r>
            <a:r>
              <a:rPr lang="zh-CN" altLang="en-US" sz="2000" b="0">
                <a:ea typeface="黑体" pitchFamily="49" charset="-122"/>
              </a:rPr>
              <a:t>段希飞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c:=</a:t>
            </a:r>
            <a:r>
              <a:rPr lang="en-US" altLang="zh-CN" sz="2000" b="0"/>
              <a:t>'</a:t>
            </a:r>
            <a:r>
              <a:rPr lang="zh-CN" altLang="en-US" sz="2000" b="0">
                <a:ea typeface="黑体" pitchFamily="49" charset="-122"/>
              </a:rPr>
              <a:t>形式与政策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 d:=100; m:=0;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if (d&gt;60) then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  m:=m+d;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 dbms_output.put_line(a||b||c||d||m);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end if;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end;</a:t>
            </a:r>
            <a:endParaRPr lang="zh-CN" altLang="en-US" sz="2000" b="0">
              <a:ea typeface="黑体" pitchFamily="49" charset="-122"/>
            </a:endParaRPr>
          </a:p>
        </p:txBody>
      </p:sp>
      <p:sp>
        <p:nvSpPr>
          <p:cNvPr id="28680" name="圆角矩形 4"/>
          <p:cNvSpPr>
            <a:spLocks noChangeArrowheads="1"/>
          </p:cNvSpPr>
          <p:nvPr/>
        </p:nvSpPr>
        <p:spPr bwMode="auto">
          <a:xfrm>
            <a:off x="4368800" y="1125538"/>
            <a:ext cx="4235450" cy="4441825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468313" y="5949950"/>
            <a:ext cx="3595687" cy="647700"/>
          </a:xfrm>
          <a:prstGeom prst="roundRect">
            <a:avLst/>
          </a:prstGeom>
          <a:solidFill>
            <a:srgbClr val="8AB9E7">
              <a:lumMod val="75000"/>
            </a:srgbClr>
          </a:solidFill>
          <a:ln w="25400" cap="flat" cmpd="sng" algn="ctr">
            <a:solidFill>
              <a:srgbClr val="FFFFFF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defRPr/>
            </a:pPr>
            <a:r>
              <a:rPr lang="en-US" altLang="zh-CN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SQL</a:t>
            </a:r>
            <a:r>
              <a:rPr lang="zh-CN" altLang="en-US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操作数据特点：</a:t>
            </a:r>
            <a:r>
              <a:rPr lang="zh-CN" altLang="en-US" sz="2000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集合</a:t>
            </a:r>
            <a:r>
              <a:rPr lang="zh-CN" altLang="en-US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操作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1. </a:t>
            </a:r>
            <a:r>
              <a:rPr lang="zh-CN" altLang="en-US" smtClean="0"/>
              <a:t>问题提出</a:t>
            </a:r>
          </a:p>
        </p:txBody>
      </p:sp>
      <p:sp>
        <p:nvSpPr>
          <p:cNvPr id="29699" name="TextBox 3"/>
          <p:cNvSpPr txBox="1">
            <a:spLocks noChangeArrowheads="1"/>
          </p:cNvSpPr>
          <p:nvPr/>
        </p:nvSpPr>
        <p:spPr bwMode="auto">
          <a:xfrm>
            <a:off x="496888" y="1230313"/>
            <a:ext cx="3473450" cy="188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zh-CN" sz="2000" b="0"/>
              <a:t>Select s.sno,sname,cname,grade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From s,sc,c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Where   s.sno=sc.sno 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        and c.cno=sc.cno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	 and college='</a:t>
            </a:r>
            <a:r>
              <a:rPr lang="zh-CN" altLang="en-US" sz="2000" b="0"/>
              <a:t>信息</a:t>
            </a:r>
            <a:r>
              <a:rPr lang="en-US" altLang="zh-CN" sz="2000" b="0"/>
              <a:t>'</a:t>
            </a:r>
          </a:p>
        </p:txBody>
      </p:sp>
      <p:sp>
        <p:nvSpPr>
          <p:cNvPr id="29700" name="圆角矩形 11"/>
          <p:cNvSpPr>
            <a:spLocks noChangeArrowheads="1"/>
          </p:cNvSpPr>
          <p:nvPr/>
        </p:nvSpPr>
        <p:spPr bwMode="auto">
          <a:xfrm>
            <a:off x="468313" y="1196975"/>
            <a:ext cx="3592512" cy="1919288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000"/>
          </a:p>
        </p:txBody>
      </p:sp>
      <p:pic>
        <p:nvPicPr>
          <p:cNvPr id="29701" name="Picture 10" descr="C:\Users\Administrator\AppData\Roaming\Tencent\Users\147829947\QQ\WinTemp\RichOle\XP})B[I7X5OCP]RVE`_NS7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3752850"/>
            <a:ext cx="3154362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8049031">
            <a:off x="2045049" y="3209824"/>
            <a:ext cx="455802" cy="446499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703" name="TextBox 2"/>
          <p:cNvSpPr txBox="1">
            <a:spLocks noChangeArrowheads="1"/>
          </p:cNvSpPr>
          <p:nvPr/>
        </p:nvSpPr>
        <p:spPr bwMode="auto">
          <a:xfrm>
            <a:off x="4502150" y="1195388"/>
            <a:ext cx="3968750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declare</a:t>
            </a:r>
          </a:p>
          <a:p>
            <a:pPr>
              <a:lnSpc>
                <a:spcPts val="2700"/>
              </a:lnSpc>
            </a:pPr>
            <a:r>
              <a:rPr lang="en-US" altLang="zh-CN" sz="2000">
                <a:solidFill>
                  <a:srgbClr val="FF0000"/>
                </a:solidFill>
                <a:ea typeface="黑体" pitchFamily="49" charset="-122"/>
              </a:rPr>
              <a:t>  a varchar2(10);  b varchar2(20);  </a:t>
            </a:r>
          </a:p>
          <a:p>
            <a:pPr>
              <a:lnSpc>
                <a:spcPts val="2700"/>
              </a:lnSpc>
            </a:pPr>
            <a:r>
              <a:rPr lang="en-US" altLang="zh-CN" sz="2000">
                <a:solidFill>
                  <a:srgbClr val="FF0000"/>
                </a:solidFill>
                <a:ea typeface="黑体" pitchFamily="49" charset="-122"/>
              </a:rPr>
              <a:t>  c varchar2(40);  d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</a:t>
            </a:r>
            <a:r>
              <a:rPr lang="en-US" altLang="zh-CN" sz="2000">
                <a:solidFill>
                  <a:srgbClr val="FF0000"/>
                </a:solidFill>
                <a:ea typeface="黑体" pitchFamily="49" charset="-122"/>
              </a:rPr>
              <a:t>m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begin</a:t>
            </a:r>
          </a:p>
          <a:p>
            <a:pPr>
              <a:lnSpc>
                <a:spcPts val="2700"/>
              </a:lnSpc>
            </a:pPr>
            <a:r>
              <a:rPr lang="en-US" altLang="zh-CN" sz="2000">
                <a:ea typeface="黑体" pitchFamily="49" charset="-122"/>
              </a:rPr>
              <a:t>  </a:t>
            </a:r>
            <a:r>
              <a:rPr lang="en-US" altLang="zh-CN" sz="2000" b="0">
                <a:ea typeface="黑体" pitchFamily="49" charset="-122"/>
              </a:rPr>
              <a:t>a:=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04023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 b:=</a:t>
            </a:r>
            <a:r>
              <a:rPr lang="en-US" altLang="zh-CN" sz="2000" b="0"/>
              <a:t>'</a:t>
            </a:r>
            <a:r>
              <a:rPr lang="zh-CN" altLang="en-US" sz="2000" b="0">
                <a:ea typeface="黑体" pitchFamily="49" charset="-122"/>
              </a:rPr>
              <a:t>段希飞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c:=</a:t>
            </a:r>
            <a:r>
              <a:rPr lang="en-US" altLang="zh-CN" sz="2000" b="0"/>
              <a:t>'</a:t>
            </a:r>
            <a:r>
              <a:rPr lang="zh-CN" altLang="en-US" sz="2000" b="0">
                <a:ea typeface="黑体" pitchFamily="49" charset="-122"/>
              </a:rPr>
              <a:t>形式与政策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 d:=100; m:=0;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if (d&gt;60) then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  m:=m+d;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 dbms_output.put_line(a||b||c||d||m);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end if;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end;</a:t>
            </a:r>
            <a:endParaRPr lang="zh-CN" altLang="en-US" sz="2000" b="0">
              <a:ea typeface="黑体" pitchFamily="49" charset="-122"/>
            </a:endParaRPr>
          </a:p>
        </p:txBody>
      </p:sp>
      <p:sp>
        <p:nvSpPr>
          <p:cNvPr id="29704" name="圆角矩形 4"/>
          <p:cNvSpPr>
            <a:spLocks noChangeArrowheads="1"/>
          </p:cNvSpPr>
          <p:nvPr/>
        </p:nvSpPr>
        <p:spPr bwMode="auto">
          <a:xfrm>
            <a:off x="4368800" y="1125538"/>
            <a:ext cx="4235450" cy="4441825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468313" y="5949950"/>
            <a:ext cx="3595687" cy="647700"/>
          </a:xfrm>
          <a:prstGeom prst="roundRect">
            <a:avLst/>
          </a:prstGeom>
          <a:solidFill>
            <a:srgbClr val="8AB9E7">
              <a:lumMod val="75000"/>
            </a:srgbClr>
          </a:solidFill>
          <a:ln w="25400" cap="flat" cmpd="sng" algn="ctr">
            <a:solidFill>
              <a:srgbClr val="FFFFFF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defRPr/>
            </a:pPr>
            <a:r>
              <a:rPr lang="en-US" altLang="zh-CN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SQL</a:t>
            </a:r>
            <a:r>
              <a:rPr lang="zh-CN" altLang="en-US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操作数据特点：</a:t>
            </a:r>
            <a:r>
              <a:rPr lang="zh-CN" altLang="en-US" sz="2000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集合</a:t>
            </a:r>
            <a:r>
              <a:rPr lang="zh-CN" altLang="en-US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操作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1. </a:t>
            </a:r>
            <a:r>
              <a:rPr lang="zh-CN" altLang="en-US" smtClean="0"/>
              <a:t>问题提出</a:t>
            </a:r>
          </a:p>
        </p:txBody>
      </p:sp>
      <p:sp>
        <p:nvSpPr>
          <p:cNvPr id="30723" name="TextBox 3"/>
          <p:cNvSpPr txBox="1">
            <a:spLocks noChangeArrowheads="1"/>
          </p:cNvSpPr>
          <p:nvPr/>
        </p:nvSpPr>
        <p:spPr bwMode="auto">
          <a:xfrm>
            <a:off x="496888" y="1230313"/>
            <a:ext cx="3473450" cy="188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zh-CN" sz="2000" b="0"/>
              <a:t>Select s.sno,sname,cname,grade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From s,sc,c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Where   s.sno=sc.sno 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        and c.cno=sc.cno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	 and college='</a:t>
            </a:r>
            <a:r>
              <a:rPr lang="zh-CN" altLang="en-US" sz="2000" b="0"/>
              <a:t>信息</a:t>
            </a:r>
            <a:r>
              <a:rPr lang="en-US" altLang="zh-CN" sz="2000" b="0"/>
              <a:t>'</a:t>
            </a:r>
          </a:p>
        </p:txBody>
      </p:sp>
      <p:sp>
        <p:nvSpPr>
          <p:cNvPr id="30724" name="圆角矩形 11"/>
          <p:cNvSpPr>
            <a:spLocks noChangeArrowheads="1"/>
          </p:cNvSpPr>
          <p:nvPr/>
        </p:nvSpPr>
        <p:spPr bwMode="auto">
          <a:xfrm>
            <a:off x="468313" y="1196975"/>
            <a:ext cx="3592512" cy="1919288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000"/>
          </a:p>
        </p:txBody>
      </p:sp>
      <p:pic>
        <p:nvPicPr>
          <p:cNvPr id="30725" name="Picture 10" descr="C:\Users\Administrator\AppData\Roaming\Tencent\Users\147829947\QQ\WinTemp\RichOle\XP})B[I7X5OCP]RVE`_NS7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3752850"/>
            <a:ext cx="3154362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8049031">
            <a:off x="2045049" y="3209824"/>
            <a:ext cx="455802" cy="446499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27" name="TextBox 2"/>
          <p:cNvSpPr txBox="1">
            <a:spLocks noChangeArrowheads="1"/>
          </p:cNvSpPr>
          <p:nvPr/>
        </p:nvSpPr>
        <p:spPr bwMode="auto">
          <a:xfrm>
            <a:off x="4502150" y="1195388"/>
            <a:ext cx="3968750" cy="437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declare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a varchar2(10);  b varchar2(20);  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c varchar2(40);  d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m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begin</a:t>
            </a:r>
          </a:p>
          <a:p>
            <a:pPr>
              <a:lnSpc>
                <a:spcPts val="2700"/>
              </a:lnSpc>
            </a:pPr>
            <a:r>
              <a:rPr lang="en-US" altLang="zh-CN" sz="2000">
                <a:solidFill>
                  <a:srgbClr val="FF0000"/>
                </a:solidFill>
                <a:ea typeface="黑体" pitchFamily="49" charset="-122"/>
              </a:rPr>
              <a:t>  a:=</a:t>
            </a:r>
            <a:r>
              <a:rPr lang="en-US" altLang="zh-CN" sz="2000">
                <a:solidFill>
                  <a:srgbClr val="FF0000"/>
                </a:solidFill>
              </a:rPr>
              <a:t>'</a:t>
            </a:r>
            <a:r>
              <a:rPr lang="en-US" altLang="zh-CN" sz="2000">
                <a:solidFill>
                  <a:srgbClr val="FF0000"/>
                </a:solidFill>
                <a:ea typeface="黑体" pitchFamily="49" charset="-122"/>
              </a:rPr>
              <a:t>04023</a:t>
            </a:r>
            <a:r>
              <a:rPr lang="en-US" altLang="zh-CN" sz="2000">
                <a:solidFill>
                  <a:srgbClr val="FF0000"/>
                </a:solidFill>
              </a:rPr>
              <a:t>'</a:t>
            </a:r>
            <a:r>
              <a:rPr lang="en-US" altLang="zh-CN" sz="2000">
                <a:solidFill>
                  <a:srgbClr val="FF0000"/>
                </a:solidFill>
                <a:ea typeface="黑体" pitchFamily="49" charset="-122"/>
              </a:rPr>
              <a:t>; b:=</a:t>
            </a:r>
            <a:r>
              <a:rPr lang="en-US" altLang="zh-CN" sz="2000">
                <a:solidFill>
                  <a:srgbClr val="FF0000"/>
                </a:solidFill>
              </a:rPr>
              <a:t>'</a:t>
            </a:r>
            <a:r>
              <a:rPr lang="zh-CN" altLang="en-US" sz="2000">
                <a:solidFill>
                  <a:srgbClr val="FF0000"/>
                </a:solidFill>
                <a:ea typeface="黑体" pitchFamily="49" charset="-122"/>
              </a:rPr>
              <a:t>段希飞</a:t>
            </a:r>
            <a:r>
              <a:rPr lang="en-US" altLang="zh-CN" sz="2000">
                <a:solidFill>
                  <a:srgbClr val="FF0000"/>
                </a:solidFill>
              </a:rPr>
              <a:t>'</a:t>
            </a:r>
            <a:r>
              <a:rPr lang="en-US" altLang="zh-CN" sz="2000">
                <a:solidFill>
                  <a:srgbClr val="FF0000"/>
                </a:solidFill>
                <a:ea typeface="黑体" pitchFamily="49" charset="-122"/>
              </a:rPr>
              <a:t>;</a:t>
            </a:r>
          </a:p>
          <a:p>
            <a:pPr>
              <a:lnSpc>
                <a:spcPts val="2700"/>
              </a:lnSpc>
            </a:pPr>
            <a:r>
              <a:rPr lang="en-US" altLang="zh-CN" sz="2000">
                <a:solidFill>
                  <a:srgbClr val="FF0000"/>
                </a:solidFill>
                <a:ea typeface="黑体" pitchFamily="49" charset="-122"/>
              </a:rPr>
              <a:t>  c:=</a:t>
            </a:r>
            <a:r>
              <a:rPr lang="en-US" altLang="zh-CN" sz="2000">
                <a:solidFill>
                  <a:srgbClr val="FF0000"/>
                </a:solidFill>
              </a:rPr>
              <a:t>'</a:t>
            </a:r>
            <a:r>
              <a:rPr lang="zh-CN" altLang="en-US" sz="2000">
                <a:solidFill>
                  <a:srgbClr val="FF0000"/>
                </a:solidFill>
                <a:ea typeface="黑体" pitchFamily="49" charset="-122"/>
              </a:rPr>
              <a:t>形式与政策</a:t>
            </a:r>
            <a:r>
              <a:rPr lang="en-US" altLang="zh-CN" sz="2000">
                <a:solidFill>
                  <a:srgbClr val="FF0000"/>
                </a:solidFill>
              </a:rPr>
              <a:t>'</a:t>
            </a:r>
            <a:r>
              <a:rPr lang="en-US" altLang="zh-CN" sz="2000">
                <a:solidFill>
                  <a:srgbClr val="FF0000"/>
                </a:solidFill>
                <a:ea typeface="黑体" pitchFamily="49" charset="-122"/>
              </a:rPr>
              <a:t>; d:=100; m:=0;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if (d&gt;60) then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  m:=m+d;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 dbms_output.put_line(a||b||c||d||m);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end if;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end;</a:t>
            </a:r>
            <a:endParaRPr lang="zh-CN" altLang="en-US" sz="2000" b="0">
              <a:ea typeface="黑体" pitchFamily="49" charset="-122"/>
            </a:endParaRPr>
          </a:p>
        </p:txBody>
      </p:sp>
      <p:sp>
        <p:nvSpPr>
          <p:cNvPr id="30728" name="圆角矩形 4"/>
          <p:cNvSpPr>
            <a:spLocks noChangeArrowheads="1"/>
          </p:cNvSpPr>
          <p:nvPr/>
        </p:nvSpPr>
        <p:spPr bwMode="auto">
          <a:xfrm>
            <a:off x="4368800" y="1125538"/>
            <a:ext cx="4235450" cy="4441825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468313" y="5949950"/>
            <a:ext cx="3595687" cy="647700"/>
          </a:xfrm>
          <a:prstGeom prst="roundRect">
            <a:avLst/>
          </a:prstGeom>
          <a:solidFill>
            <a:srgbClr val="8AB9E7">
              <a:lumMod val="75000"/>
            </a:srgbClr>
          </a:solidFill>
          <a:ln w="25400" cap="flat" cmpd="sng" algn="ctr">
            <a:solidFill>
              <a:srgbClr val="FFFFFF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defRPr/>
            </a:pPr>
            <a:r>
              <a:rPr lang="en-US" altLang="zh-CN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SQL</a:t>
            </a:r>
            <a:r>
              <a:rPr lang="zh-CN" altLang="en-US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操作数据特点：</a:t>
            </a:r>
            <a:r>
              <a:rPr lang="zh-CN" altLang="en-US" sz="2000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集合</a:t>
            </a:r>
            <a:r>
              <a:rPr lang="zh-CN" altLang="en-US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操作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1. </a:t>
            </a:r>
            <a:r>
              <a:rPr lang="zh-CN" altLang="en-US" smtClean="0"/>
              <a:t>问题提出</a:t>
            </a:r>
          </a:p>
        </p:txBody>
      </p:sp>
      <p:sp>
        <p:nvSpPr>
          <p:cNvPr id="31747" name="TextBox 3"/>
          <p:cNvSpPr txBox="1">
            <a:spLocks noChangeArrowheads="1"/>
          </p:cNvSpPr>
          <p:nvPr/>
        </p:nvSpPr>
        <p:spPr bwMode="auto">
          <a:xfrm>
            <a:off x="496888" y="1230313"/>
            <a:ext cx="3473450" cy="188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zh-CN" sz="2000" b="0"/>
              <a:t>Select s.sno,sname,cname,grade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From s,sc,c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Where   s.sno=sc.sno 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        and c.cno=sc.cno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	 and college='</a:t>
            </a:r>
            <a:r>
              <a:rPr lang="zh-CN" altLang="en-US" sz="2000" b="0"/>
              <a:t>信息</a:t>
            </a:r>
            <a:r>
              <a:rPr lang="en-US" altLang="zh-CN" sz="2000" b="0"/>
              <a:t>'</a:t>
            </a:r>
          </a:p>
        </p:txBody>
      </p:sp>
      <p:sp>
        <p:nvSpPr>
          <p:cNvPr id="31748" name="圆角矩形 11"/>
          <p:cNvSpPr>
            <a:spLocks noChangeArrowheads="1"/>
          </p:cNvSpPr>
          <p:nvPr/>
        </p:nvSpPr>
        <p:spPr bwMode="auto">
          <a:xfrm>
            <a:off x="468313" y="1196975"/>
            <a:ext cx="3592512" cy="1919288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000"/>
          </a:p>
        </p:txBody>
      </p:sp>
      <p:pic>
        <p:nvPicPr>
          <p:cNvPr id="31749" name="Picture 10" descr="C:\Users\Administrator\AppData\Roaming\Tencent\Users\147829947\QQ\WinTemp\RichOle\XP})B[I7X5OCP]RVE`_NS7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3752850"/>
            <a:ext cx="3154362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8049031">
            <a:off x="2045049" y="3209824"/>
            <a:ext cx="455802" cy="446499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751" name="TextBox 2"/>
          <p:cNvSpPr txBox="1">
            <a:spLocks noChangeArrowheads="1"/>
          </p:cNvSpPr>
          <p:nvPr/>
        </p:nvSpPr>
        <p:spPr bwMode="auto">
          <a:xfrm>
            <a:off x="4502150" y="1195388"/>
            <a:ext cx="4391025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declare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a varchar2(10);  b varchar2(20);  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c varchar2(40);  d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m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begin</a:t>
            </a:r>
          </a:p>
          <a:p>
            <a:pPr>
              <a:lnSpc>
                <a:spcPts val="2700"/>
              </a:lnSpc>
            </a:pPr>
            <a:r>
              <a:rPr lang="en-US" altLang="zh-CN" sz="2000">
                <a:ea typeface="黑体" pitchFamily="49" charset="-122"/>
              </a:rPr>
              <a:t>  </a:t>
            </a:r>
            <a:r>
              <a:rPr lang="en-US" altLang="zh-CN" sz="2000" b="0">
                <a:ea typeface="黑体" pitchFamily="49" charset="-122"/>
              </a:rPr>
              <a:t>a:=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04023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 b:=</a:t>
            </a:r>
            <a:r>
              <a:rPr lang="en-US" altLang="zh-CN" sz="2000" b="0"/>
              <a:t>'</a:t>
            </a:r>
            <a:r>
              <a:rPr lang="zh-CN" altLang="en-US" sz="2000" b="0">
                <a:ea typeface="黑体" pitchFamily="49" charset="-122"/>
              </a:rPr>
              <a:t>段希飞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c:=</a:t>
            </a:r>
            <a:r>
              <a:rPr lang="en-US" altLang="zh-CN" sz="2000" b="0"/>
              <a:t>'</a:t>
            </a:r>
            <a:r>
              <a:rPr lang="zh-CN" altLang="en-US" sz="2000" b="0">
                <a:ea typeface="黑体" pitchFamily="49" charset="-122"/>
              </a:rPr>
              <a:t>形式与政策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 d:=100; m:=0;</a:t>
            </a:r>
          </a:p>
          <a:p>
            <a:pPr>
              <a:lnSpc>
                <a:spcPts val="2700"/>
              </a:lnSpc>
            </a:pPr>
            <a:r>
              <a:rPr lang="en-US" altLang="zh-CN" sz="2000">
                <a:solidFill>
                  <a:srgbClr val="FF0000"/>
                </a:solidFill>
                <a:ea typeface="黑体" pitchFamily="49" charset="-122"/>
              </a:rPr>
              <a:t>  if (d&gt;60) then</a:t>
            </a:r>
          </a:p>
          <a:p>
            <a:pPr>
              <a:lnSpc>
                <a:spcPts val="2700"/>
              </a:lnSpc>
            </a:pPr>
            <a:r>
              <a:rPr lang="en-US" altLang="zh-CN" sz="2000">
                <a:solidFill>
                  <a:srgbClr val="FF0000"/>
                </a:solidFill>
                <a:ea typeface="黑体" pitchFamily="49" charset="-122"/>
              </a:rPr>
              <a:t>    m:=m+d;</a:t>
            </a:r>
          </a:p>
          <a:p>
            <a:pPr>
              <a:lnSpc>
                <a:spcPts val="2700"/>
              </a:lnSpc>
            </a:pPr>
            <a:r>
              <a:rPr lang="en-US" altLang="zh-CN" sz="2000">
                <a:solidFill>
                  <a:srgbClr val="FF0000"/>
                </a:solidFill>
                <a:ea typeface="黑体" pitchFamily="49" charset="-122"/>
              </a:rPr>
              <a:t>   dbms_output.put_line(a||b||c||d||m);</a:t>
            </a:r>
          </a:p>
          <a:p>
            <a:pPr>
              <a:lnSpc>
                <a:spcPts val="2700"/>
              </a:lnSpc>
            </a:pPr>
            <a:r>
              <a:rPr lang="en-US" altLang="zh-CN" sz="2000">
                <a:solidFill>
                  <a:srgbClr val="FF0000"/>
                </a:solidFill>
                <a:ea typeface="黑体" pitchFamily="49" charset="-122"/>
              </a:rPr>
              <a:t>  end if;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end;</a:t>
            </a:r>
            <a:endParaRPr lang="zh-CN" altLang="en-US" sz="2000" b="0">
              <a:ea typeface="黑体" pitchFamily="49" charset="-122"/>
            </a:endParaRPr>
          </a:p>
        </p:txBody>
      </p:sp>
      <p:sp>
        <p:nvSpPr>
          <p:cNvPr id="31752" name="圆角矩形 4"/>
          <p:cNvSpPr>
            <a:spLocks noChangeArrowheads="1"/>
          </p:cNvSpPr>
          <p:nvPr/>
        </p:nvSpPr>
        <p:spPr bwMode="auto">
          <a:xfrm>
            <a:off x="4368800" y="1125538"/>
            <a:ext cx="4235450" cy="4441825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468313" y="5949950"/>
            <a:ext cx="3595687" cy="647700"/>
          </a:xfrm>
          <a:prstGeom prst="roundRect">
            <a:avLst/>
          </a:prstGeom>
          <a:solidFill>
            <a:srgbClr val="8AB9E7">
              <a:lumMod val="75000"/>
            </a:srgbClr>
          </a:solidFill>
          <a:ln w="25400" cap="flat" cmpd="sng" algn="ctr">
            <a:solidFill>
              <a:srgbClr val="FFFFFF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defRPr/>
            </a:pPr>
            <a:r>
              <a:rPr lang="en-US" altLang="zh-CN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SQL</a:t>
            </a:r>
            <a:r>
              <a:rPr lang="zh-CN" altLang="en-US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操作数据特点：</a:t>
            </a:r>
            <a:r>
              <a:rPr lang="zh-CN" altLang="en-US" sz="2000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集合</a:t>
            </a:r>
            <a:r>
              <a:rPr lang="zh-CN" altLang="en-US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操作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1. </a:t>
            </a:r>
            <a:r>
              <a:rPr lang="zh-CN" altLang="en-US" smtClean="0"/>
              <a:t>问题提出</a:t>
            </a:r>
          </a:p>
        </p:txBody>
      </p:sp>
      <p:sp>
        <p:nvSpPr>
          <p:cNvPr id="32771" name="TextBox 3"/>
          <p:cNvSpPr txBox="1">
            <a:spLocks noChangeArrowheads="1"/>
          </p:cNvSpPr>
          <p:nvPr/>
        </p:nvSpPr>
        <p:spPr bwMode="auto">
          <a:xfrm>
            <a:off x="496888" y="1230313"/>
            <a:ext cx="3473450" cy="188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zh-CN" sz="2000" b="0"/>
              <a:t>Select s.sno,sname,cname,grade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From s,sc,c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Where   s.sno=sc.sno 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        and c.cno=sc.cno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	 and college='</a:t>
            </a:r>
            <a:r>
              <a:rPr lang="zh-CN" altLang="en-US" sz="2000" b="0"/>
              <a:t>信息</a:t>
            </a:r>
            <a:r>
              <a:rPr lang="en-US" altLang="zh-CN" sz="2000" b="0"/>
              <a:t>'</a:t>
            </a:r>
          </a:p>
        </p:txBody>
      </p:sp>
      <p:sp>
        <p:nvSpPr>
          <p:cNvPr id="32772" name="圆角矩形 11"/>
          <p:cNvSpPr>
            <a:spLocks noChangeArrowheads="1"/>
          </p:cNvSpPr>
          <p:nvPr/>
        </p:nvSpPr>
        <p:spPr bwMode="auto">
          <a:xfrm>
            <a:off x="468313" y="1196975"/>
            <a:ext cx="3592512" cy="1919288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000"/>
          </a:p>
        </p:txBody>
      </p:sp>
      <p:pic>
        <p:nvPicPr>
          <p:cNvPr id="32773" name="Picture 10" descr="C:\Users\Administrator\AppData\Roaming\Tencent\Users\147829947\QQ\WinTemp\RichOle\XP})B[I7X5OCP]RVE`_NS7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3752850"/>
            <a:ext cx="3154362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8049031">
            <a:off x="2045049" y="3209824"/>
            <a:ext cx="455802" cy="446499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775" name="TextBox 2"/>
          <p:cNvSpPr txBox="1">
            <a:spLocks noChangeArrowheads="1"/>
          </p:cNvSpPr>
          <p:nvPr/>
        </p:nvSpPr>
        <p:spPr bwMode="auto">
          <a:xfrm>
            <a:off x="4502150" y="1195388"/>
            <a:ext cx="3968750" cy="437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declare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a varchar2(10);  b varchar2(20);  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c varchar2(40);  d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m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begin</a:t>
            </a:r>
          </a:p>
          <a:p>
            <a:pPr>
              <a:lnSpc>
                <a:spcPts val="2700"/>
              </a:lnSpc>
            </a:pPr>
            <a:r>
              <a:rPr lang="en-US" altLang="zh-CN" sz="2000">
                <a:ea typeface="黑体" pitchFamily="49" charset="-122"/>
              </a:rPr>
              <a:t>  a:=</a:t>
            </a:r>
            <a:r>
              <a:rPr lang="en-US" altLang="zh-CN" sz="2000"/>
              <a:t>'</a:t>
            </a:r>
            <a:r>
              <a:rPr lang="en-US" altLang="zh-CN" sz="2000">
                <a:ea typeface="黑体" pitchFamily="49" charset="-122"/>
              </a:rPr>
              <a:t>04023</a:t>
            </a:r>
            <a:r>
              <a:rPr lang="en-US" altLang="zh-CN" sz="2000"/>
              <a:t>'</a:t>
            </a:r>
            <a:r>
              <a:rPr lang="en-US" altLang="zh-CN" sz="2000">
                <a:ea typeface="黑体" pitchFamily="49" charset="-122"/>
              </a:rPr>
              <a:t>;  b:=</a:t>
            </a:r>
            <a:r>
              <a:rPr lang="en-US" altLang="zh-CN" sz="2000"/>
              <a:t>'</a:t>
            </a:r>
            <a:r>
              <a:rPr lang="zh-CN" altLang="en-US" sz="2000">
                <a:ea typeface="黑体" pitchFamily="49" charset="-122"/>
              </a:rPr>
              <a:t>段希飞</a:t>
            </a:r>
            <a:r>
              <a:rPr lang="en-US" altLang="zh-CN" sz="2000"/>
              <a:t>'</a:t>
            </a:r>
            <a:r>
              <a:rPr lang="en-US" altLang="zh-CN" sz="2000">
                <a:ea typeface="黑体" pitchFamily="49" charset="-122"/>
              </a:rPr>
              <a:t>;</a:t>
            </a:r>
          </a:p>
          <a:p>
            <a:pPr>
              <a:lnSpc>
                <a:spcPts val="2700"/>
              </a:lnSpc>
            </a:pPr>
            <a:r>
              <a:rPr lang="en-US" altLang="zh-CN" sz="2000">
                <a:ea typeface="黑体" pitchFamily="49" charset="-122"/>
              </a:rPr>
              <a:t>  c:=</a:t>
            </a:r>
            <a:r>
              <a:rPr lang="en-US" altLang="zh-CN" sz="2000"/>
              <a:t>'</a:t>
            </a:r>
            <a:r>
              <a:rPr lang="zh-CN" altLang="en-US" sz="2000">
                <a:ea typeface="黑体" pitchFamily="49" charset="-122"/>
              </a:rPr>
              <a:t>形式与政策</a:t>
            </a:r>
            <a:r>
              <a:rPr lang="en-US" altLang="zh-CN" sz="2000"/>
              <a:t>'</a:t>
            </a:r>
            <a:r>
              <a:rPr lang="en-US" altLang="zh-CN" sz="2000">
                <a:ea typeface="黑体" pitchFamily="49" charset="-122"/>
              </a:rPr>
              <a:t>; d:=100;  </a:t>
            </a:r>
            <a:r>
              <a:rPr lang="en-US" altLang="zh-CN" sz="2000" b="0">
                <a:ea typeface="黑体" pitchFamily="49" charset="-122"/>
              </a:rPr>
              <a:t>m:=0;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if (d&gt;60) then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  m:=m+d;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 dbms_output.put_line(a||b||c||d||m);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end if;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end;</a:t>
            </a:r>
            <a:endParaRPr lang="zh-CN" altLang="en-US" sz="2000" b="0">
              <a:ea typeface="黑体" pitchFamily="49" charset="-122"/>
            </a:endParaRPr>
          </a:p>
        </p:txBody>
      </p:sp>
      <p:sp>
        <p:nvSpPr>
          <p:cNvPr id="32776" name="圆角矩形 4"/>
          <p:cNvSpPr>
            <a:spLocks noChangeArrowheads="1"/>
          </p:cNvSpPr>
          <p:nvPr/>
        </p:nvSpPr>
        <p:spPr bwMode="auto">
          <a:xfrm>
            <a:off x="4368800" y="1125538"/>
            <a:ext cx="4235450" cy="4441825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468313" y="5949950"/>
            <a:ext cx="3595687" cy="647700"/>
          </a:xfrm>
          <a:prstGeom prst="roundRect">
            <a:avLst/>
          </a:prstGeom>
          <a:solidFill>
            <a:srgbClr val="8AB9E7">
              <a:lumMod val="75000"/>
            </a:srgbClr>
          </a:solidFill>
          <a:ln w="25400" cap="flat" cmpd="sng" algn="ctr">
            <a:solidFill>
              <a:srgbClr val="FFFFFF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defRPr/>
            </a:pPr>
            <a:r>
              <a:rPr lang="en-US" altLang="zh-CN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SQL</a:t>
            </a:r>
            <a:r>
              <a:rPr lang="zh-CN" altLang="en-US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操作数据特点：</a:t>
            </a:r>
            <a:r>
              <a:rPr lang="zh-CN" altLang="en-US" sz="2000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集合</a:t>
            </a:r>
            <a:r>
              <a:rPr lang="zh-CN" altLang="en-US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操作</a:t>
            </a:r>
          </a:p>
        </p:txBody>
      </p:sp>
      <p:sp>
        <p:nvSpPr>
          <p:cNvPr id="11" name="圆角矩形 4"/>
          <p:cNvSpPr>
            <a:spLocks noChangeArrowheads="1"/>
          </p:cNvSpPr>
          <p:nvPr/>
        </p:nvSpPr>
        <p:spPr bwMode="auto">
          <a:xfrm>
            <a:off x="4502150" y="2935288"/>
            <a:ext cx="3022600" cy="715962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4421188" y="5805488"/>
            <a:ext cx="4132262" cy="647700"/>
          </a:xfrm>
          <a:prstGeom prst="roundRect">
            <a:avLst/>
          </a:prstGeom>
          <a:solidFill>
            <a:srgbClr val="8AB9E7">
              <a:lumMod val="75000"/>
            </a:srgbClr>
          </a:solidFill>
          <a:ln w="25400" cap="flat" cmpd="sng" algn="ctr">
            <a:solidFill>
              <a:srgbClr val="FFFFFF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defRPr/>
            </a:pPr>
            <a:r>
              <a:rPr lang="zh-CN" altLang="en-US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编程语言操作数据特点：</a:t>
            </a:r>
            <a:r>
              <a:rPr lang="zh-CN" altLang="en-US" sz="2000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记录</a:t>
            </a:r>
            <a:r>
              <a:rPr lang="zh-CN" altLang="en-US" sz="2000" kern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操作</a:t>
            </a:r>
          </a:p>
        </p:txBody>
      </p:sp>
      <p:sp>
        <p:nvSpPr>
          <p:cNvPr id="15" name="圆角矩形 4"/>
          <p:cNvSpPr>
            <a:spLocks noChangeArrowheads="1"/>
          </p:cNvSpPr>
          <p:nvPr/>
        </p:nvSpPr>
        <p:spPr bwMode="auto">
          <a:xfrm>
            <a:off x="647700" y="3902075"/>
            <a:ext cx="3235325" cy="247650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cxnSp>
        <p:nvCxnSpPr>
          <p:cNvPr id="3" name="直接箭头连接符 2"/>
          <p:cNvCxnSpPr>
            <a:cxnSpLocks noChangeShapeType="1"/>
            <a:stCxn id="32775" idx="1"/>
          </p:cNvCxnSpPr>
          <p:nvPr/>
        </p:nvCxnSpPr>
        <p:spPr bwMode="auto">
          <a:xfrm flipH="1">
            <a:off x="3883025" y="3381375"/>
            <a:ext cx="619125" cy="520700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1. </a:t>
            </a:r>
            <a:r>
              <a:rPr lang="zh-CN" altLang="en-US" smtClean="0"/>
              <a:t>问题提出</a:t>
            </a:r>
          </a:p>
        </p:txBody>
      </p:sp>
      <p:pic>
        <p:nvPicPr>
          <p:cNvPr id="4103" name="Picture 10" descr="C:\Users\Administrator\AppData\Roaming\Tencent\Users\147829947\QQ\WinTemp\RichOle\XP})B[I7X5OCP]RVE`_NS7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1268413"/>
            <a:ext cx="315595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4502150" y="1195388"/>
            <a:ext cx="3968750" cy="437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declare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a varchar2(10);  b varchar2(20);  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c varchar2(40);  d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m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begin</a:t>
            </a:r>
          </a:p>
          <a:p>
            <a:pPr>
              <a:lnSpc>
                <a:spcPts val="2700"/>
              </a:lnSpc>
            </a:pPr>
            <a:r>
              <a:rPr lang="en-US" altLang="zh-CN" sz="2000">
                <a:ea typeface="黑体" pitchFamily="49" charset="-122"/>
              </a:rPr>
              <a:t>  </a:t>
            </a:r>
            <a:r>
              <a:rPr lang="en-US" altLang="zh-CN" sz="2000" b="0">
                <a:ea typeface="黑体" pitchFamily="49" charset="-122"/>
              </a:rPr>
              <a:t>a:=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04023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  b:=</a:t>
            </a:r>
            <a:r>
              <a:rPr lang="en-US" altLang="zh-CN" sz="2000" b="0"/>
              <a:t>'</a:t>
            </a:r>
            <a:r>
              <a:rPr lang="zh-CN" altLang="en-US" sz="2000" b="0">
                <a:ea typeface="黑体" pitchFamily="49" charset="-122"/>
              </a:rPr>
              <a:t>段希飞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c:=</a:t>
            </a:r>
            <a:r>
              <a:rPr lang="en-US" altLang="zh-CN" sz="2000" b="0"/>
              <a:t>'</a:t>
            </a:r>
            <a:r>
              <a:rPr lang="zh-CN" altLang="en-US" sz="2000" b="0">
                <a:ea typeface="黑体" pitchFamily="49" charset="-122"/>
              </a:rPr>
              <a:t>形式与政策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 d:=100;  m:=0</a:t>
            </a:r>
            <a:r>
              <a:rPr lang="en-US" altLang="zh-CN" sz="2000">
                <a:ea typeface="黑体" pitchFamily="49" charset="-122"/>
              </a:rPr>
              <a:t>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if (d&gt;60) then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  m:=m+d;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 dbms_output.put_line(a||b||c||d||m);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end if;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end;</a:t>
            </a:r>
            <a:endParaRPr lang="zh-CN" altLang="en-US" sz="2000" b="0">
              <a:ea typeface="黑体" pitchFamily="49" charset="-122"/>
            </a:endParaRPr>
          </a:p>
        </p:txBody>
      </p:sp>
      <p:sp>
        <p:nvSpPr>
          <p:cNvPr id="13" name="圆角矩形 4"/>
          <p:cNvSpPr>
            <a:spLocks noChangeArrowheads="1"/>
          </p:cNvSpPr>
          <p:nvPr/>
        </p:nvSpPr>
        <p:spPr bwMode="auto">
          <a:xfrm>
            <a:off x="4368800" y="1125538"/>
            <a:ext cx="4235450" cy="4441825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" name="圆角矩形 4"/>
          <p:cNvSpPr>
            <a:spLocks noChangeArrowheads="1"/>
          </p:cNvSpPr>
          <p:nvPr/>
        </p:nvSpPr>
        <p:spPr bwMode="auto">
          <a:xfrm>
            <a:off x="4502150" y="2935288"/>
            <a:ext cx="2878138" cy="715962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15" name="圆角矩形 4"/>
          <p:cNvSpPr>
            <a:spLocks noChangeArrowheads="1"/>
          </p:cNvSpPr>
          <p:nvPr/>
        </p:nvSpPr>
        <p:spPr bwMode="auto">
          <a:xfrm>
            <a:off x="514350" y="1417638"/>
            <a:ext cx="3194050" cy="1974850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cxnSp>
        <p:nvCxnSpPr>
          <p:cNvPr id="3" name="直接箭头连接符 2"/>
          <p:cNvCxnSpPr>
            <a:cxnSpLocks noChangeShapeType="1"/>
            <a:stCxn id="11" idx="1"/>
            <a:endCxn id="15" idx="3"/>
          </p:cNvCxnSpPr>
          <p:nvPr/>
        </p:nvCxnSpPr>
        <p:spPr bwMode="auto">
          <a:xfrm flipH="1" flipV="1">
            <a:off x="3708400" y="2405063"/>
            <a:ext cx="793750" cy="887412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380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66" t="6013" r="15234" b="9154"/>
          <a:stretch>
            <a:fillRect/>
          </a:stretch>
        </p:blipFill>
        <p:spPr bwMode="auto">
          <a:xfrm>
            <a:off x="0" y="5168900"/>
            <a:ext cx="1331913" cy="153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900113" y="3716338"/>
            <a:ext cx="316706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如何在一段程序中处理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所有</a:t>
            </a:r>
            <a:r>
              <a:rPr lang="zh-CN" altLang="en-US" sz="2400" dirty="0" smtClean="0">
                <a:latin typeface="+mj-ea"/>
                <a:ea typeface="+mj-ea"/>
              </a:rPr>
              <a:t>的查询结果？</a:t>
            </a:r>
          </a:p>
        </p:txBody>
      </p:sp>
      <p:sp>
        <p:nvSpPr>
          <p:cNvPr id="33803" name="圆角矩形 5"/>
          <p:cNvSpPr>
            <a:spLocks noChangeArrowheads="1"/>
          </p:cNvSpPr>
          <p:nvPr/>
        </p:nvSpPr>
        <p:spPr bwMode="auto">
          <a:xfrm>
            <a:off x="768350" y="3716338"/>
            <a:ext cx="3228975" cy="1260475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lnSpc>
                <a:spcPct val="150000"/>
              </a:lnSpc>
              <a:spcBef>
                <a:spcPct val="20000"/>
              </a:spcBef>
            </a:pPr>
            <a:endParaRPr lang="zh-CN" altLang="en-US"/>
          </a:p>
        </p:txBody>
      </p:sp>
      <p:sp>
        <p:nvSpPr>
          <p:cNvPr id="33804" name="椭圆 15"/>
          <p:cNvSpPr>
            <a:spLocks noChangeArrowheads="1"/>
          </p:cNvSpPr>
          <p:nvPr/>
        </p:nvSpPr>
        <p:spPr bwMode="auto">
          <a:xfrm>
            <a:off x="1073150" y="5476875"/>
            <a:ext cx="227013" cy="166688"/>
          </a:xfrm>
          <a:prstGeom prst="ellipse">
            <a:avLst/>
          </a:prstGeom>
          <a:noFill/>
          <a:ln w="25400" algn="ctr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33805" name="椭圆 22"/>
          <p:cNvSpPr>
            <a:spLocks noChangeArrowheads="1"/>
          </p:cNvSpPr>
          <p:nvPr/>
        </p:nvSpPr>
        <p:spPr bwMode="auto">
          <a:xfrm>
            <a:off x="1292225" y="5280025"/>
            <a:ext cx="282575" cy="196850"/>
          </a:xfrm>
          <a:prstGeom prst="ellipse">
            <a:avLst/>
          </a:prstGeom>
          <a:noFill/>
          <a:ln w="25400" algn="ctr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33806" name="椭圆 23"/>
          <p:cNvSpPr>
            <a:spLocks noChangeArrowheads="1"/>
          </p:cNvSpPr>
          <p:nvPr/>
        </p:nvSpPr>
        <p:spPr bwMode="auto">
          <a:xfrm>
            <a:off x="1530350" y="5049838"/>
            <a:ext cx="358775" cy="257175"/>
          </a:xfrm>
          <a:prstGeom prst="ellipse">
            <a:avLst/>
          </a:prstGeom>
          <a:noFill/>
          <a:ln w="25400" algn="ctr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1" grpId="0" animBg="1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2. </a:t>
            </a:r>
            <a:r>
              <a:rPr lang="zh-CN" altLang="en-US" smtClean="0"/>
              <a:t>问题分析</a:t>
            </a:r>
          </a:p>
        </p:txBody>
      </p:sp>
      <p:pic>
        <p:nvPicPr>
          <p:cNvPr id="4103" name="Picture 10" descr="C:\Users\Administrator\AppData\Roaming\Tencent\Users\147829947\QQ\WinTemp\RichOle\XP})B[I7X5OCP]RVE`_NS7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1793875"/>
            <a:ext cx="315595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4502150" y="1722438"/>
            <a:ext cx="3968750" cy="437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declare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a varchar2(10);  b varchar2(20);  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c varchar2(40);  d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m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begin</a:t>
            </a:r>
          </a:p>
          <a:p>
            <a:pPr>
              <a:lnSpc>
                <a:spcPts val="2700"/>
              </a:lnSpc>
            </a:pPr>
            <a:r>
              <a:rPr lang="en-US" altLang="zh-CN" sz="2000">
                <a:ea typeface="黑体" pitchFamily="49" charset="-122"/>
              </a:rPr>
              <a:t>  </a:t>
            </a:r>
            <a:r>
              <a:rPr lang="en-US" altLang="zh-CN" sz="2000" b="0">
                <a:ea typeface="黑体" pitchFamily="49" charset="-122"/>
              </a:rPr>
              <a:t>a:=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04023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  b:=</a:t>
            </a:r>
            <a:r>
              <a:rPr lang="en-US" altLang="zh-CN" sz="2000" b="0"/>
              <a:t>'</a:t>
            </a:r>
            <a:r>
              <a:rPr lang="zh-CN" altLang="en-US" sz="2000" b="0">
                <a:ea typeface="黑体" pitchFamily="49" charset="-122"/>
              </a:rPr>
              <a:t>段希飞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c:=</a:t>
            </a:r>
            <a:r>
              <a:rPr lang="en-US" altLang="zh-CN" sz="2000" b="0"/>
              <a:t>'</a:t>
            </a:r>
            <a:r>
              <a:rPr lang="zh-CN" altLang="en-US" sz="2000" b="0">
                <a:ea typeface="黑体" pitchFamily="49" charset="-122"/>
              </a:rPr>
              <a:t>形式与政策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 d:=100;  m:=0</a:t>
            </a:r>
            <a:r>
              <a:rPr lang="en-US" altLang="zh-CN" sz="2000">
                <a:ea typeface="黑体" pitchFamily="49" charset="-122"/>
              </a:rPr>
              <a:t>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if (d&gt;60) then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  m:=m+d;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 dbms_output.put_line(a||b||c||d||m);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end if;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end;</a:t>
            </a:r>
            <a:endParaRPr lang="zh-CN" altLang="en-US" sz="2000" b="0">
              <a:ea typeface="黑体" pitchFamily="49" charset="-122"/>
            </a:endParaRPr>
          </a:p>
        </p:txBody>
      </p:sp>
      <p:sp>
        <p:nvSpPr>
          <p:cNvPr id="13" name="圆角矩形 4"/>
          <p:cNvSpPr>
            <a:spLocks noChangeArrowheads="1"/>
          </p:cNvSpPr>
          <p:nvPr/>
        </p:nvSpPr>
        <p:spPr bwMode="auto">
          <a:xfrm>
            <a:off x="4368800" y="1651000"/>
            <a:ext cx="4235450" cy="4441825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" name="圆角矩形 4"/>
          <p:cNvSpPr>
            <a:spLocks noChangeArrowheads="1"/>
          </p:cNvSpPr>
          <p:nvPr/>
        </p:nvSpPr>
        <p:spPr bwMode="auto">
          <a:xfrm>
            <a:off x="4502150" y="3460750"/>
            <a:ext cx="2878138" cy="715963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15" name="圆角矩形 4"/>
          <p:cNvSpPr>
            <a:spLocks noChangeArrowheads="1"/>
          </p:cNvSpPr>
          <p:nvPr/>
        </p:nvSpPr>
        <p:spPr bwMode="auto">
          <a:xfrm>
            <a:off x="514350" y="1943100"/>
            <a:ext cx="3194050" cy="1974850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cxnSp>
        <p:nvCxnSpPr>
          <p:cNvPr id="3" name="直接箭头连接符 2"/>
          <p:cNvCxnSpPr>
            <a:cxnSpLocks noChangeShapeType="1"/>
            <a:stCxn id="11" idx="1"/>
            <a:endCxn id="15" idx="3"/>
          </p:cNvCxnSpPr>
          <p:nvPr/>
        </p:nvCxnSpPr>
        <p:spPr bwMode="auto">
          <a:xfrm flipH="1" flipV="1">
            <a:off x="3708400" y="2930525"/>
            <a:ext cx="793750" cy="887413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extBox 1"/>
          <p:cNvSpPr txBox="1"/>
          <p:nvPr/>
        </p:nvSpPr>
        <p:spPr>
          <a:xfrm>
            <a:off x="671513" y="1093788"/>
            <a:ext cx="3697287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0" dirty="0">
                <a:solidFill>
                  <a:srgbClr val="FF0000"/>
                </a:solidFill>
                <a:latin typeface="+mj-ea"/>
                <a:ea typeface="+mj-ea"/>
              </a:rPr>
              <a:t>方案</a:t>
            </a:r>
            <a:r>
              <a:rPr lang="en-US" altLang="zh-CN" sz="2800" b="0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lang="zh-CN" altLang="en-US" sz="2800" b="0" dirty="0">
                <a:latin typeface="+mj-ea"/>
                <a:ea typeface="+mj-ea"/>
              </a:rPr>
              <a:t>：使用多个变量</a:t>
            </a:r>
          </a:p>
        </p:txBody>
      </p:sp>
      <p:sp>
        <p:nvSpPr>
          <p:cNvPr id="19" name="圆角矩形 4"/>
          <p:cNvSpPr>
            <a:spLocks noChangeArrowheads="1"/>
          </p:cNvSpPr>
          <p:nvPr/>
        </p:nvSpPr>
        <p:spPr bwMode="auto">
          <a:xfrm>
            <a:off x="4502150" y="3460750"/>
            <a:ext cx="3598863" cy="715963"/>
          </a:xfrm>
          <a:prstGeom prst="roundRect">
            <a:avLst>
              <a:gd name="adj" fmla="val 10116"/>
            </a:avLst>
          </a:prstGeom>
          <a:solidFill>
            <a:schemeClr val="bg1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005388" y="3543300"/>
            <a:ext cx="25923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400"/>
              <a:t>v</a:t>
            </a:r>
            <a:r>
              <a:rPr lang="en-US" altLang="zh-CN" sz="2400" baseline="-25000"/>
              <a:t>1 </a:t>
            </a:r>
            <a:r>
              <a:rPr lang="en-US" altLang="zh-CN" sz="2400"/>
              <a:t>, v</a:t>
            </a:r>
            <a:r>
              <a:rPr lang="en-US" altLang="zh-CN" sz="2400" baseline="-25000"/>
              <a:t>2 </a:t>
            </a:r>
            <a:r>
              <a:rPr lang="en-US" altLang="zh-CN" sz="2400"/>
              <a:t>, v</a:t>
            </a:r>
            <a:r>
              <a:rPr lang="en-US" altLang="zh-CN" sz="2400" baseline="-25000"/>
              <a:t>3 </a:t>
            </a:r>
            <a:r>
              <a:rPr lang="en-US" altLang="zh-CN" sz="2400"/>
              <a:t>,……, v</a:t>
            </a:r>
            <a:r>
              <a:rPr lang="en-US" altLang="zh-CN" sz="2400" baseline="-25000"/>
              <a:t>n</a:t>
            </a:r>
            <a:endParaRPr lang="zh-CN" altLang="en-US" sz="2400" baseline="-25000"/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768350" y="4292600"/>
            <a:ext cx="3011488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查询结果数据</a:t>
            </a:r>
            <a:r>
              <a:rPr lang="zh-CN" altLang="en-US" sz="2400" dirty="0" smtClean="0">
                <a:solidFill>
                  <a:srgbClr val="0505EB"/>
                </a:solidFill>
                <a:latin typeface="+mj-ea"/>
                <a:ea typeface="+mj-ea"/>
              </a:rPr>
              <a:t>量大</a:t>
            </a:r>
            <a:r>
              <a:rPr lang="zh-CN" altLang="en-US" sz="2400" dirty="0" smtClean="0">
                <a:latin typeface="+mj-ea"/>
                <a:ea typeface="+mj-ea"/>
              </a:rPr>
              <a:t>，</a:t>
            </a:r>
            <a:endParaRPr lang="en-US" altLang="zh-CN" sz="2400" dirty="0" smtClean="0">
              <a:latin typeface="+mj-ea"/>
              <a:ea typeface="+mj-ea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不断</a:t>
            </a:r>
            <a:r>
              <a:rPr lang="zh-CN" altLang="en-US" sz="2400" dirty="0" smtClean="0">
                <a:solidFill>
                  <a:srgbClr val="0505EB"/>
                </a:solidFill>
                <a:latin typeface="+mj-ea"/>
                <a:ea typeface="+mj-ea"/>
              </a:rPr>
              <a:t>变化</a:t>
            </a:r>
            <a:r>
              <a:rPr lang="zh-CN" altLang="en-US" sz="2400" dirty="0" smtClean="0">
                <a:latin typeface="+mj-ea"/>
                <a:ea typeface="+mj-ea"/>
              </a:rPr>
              <a:t>，</a:t>
            </a:r>
            <a:r>
              <a:rPr lang="zh-CN" altLang="en-US" dirty="0" smtClean="0">
                <a:solidFill>
                  <a:srgbClr val="FF0000"/>
                </a:solidFill>
                <a:latin typeface="+mj-ea"/>
                <a:ea typeface="+mj-ea"/>
              </a:rPr>
              <a:t>不可行！</a:t>
            </a:r>
          </a:p>
        </p:txBody>
      </p:sp>
      <p:sp>
        <p:nvSpPr>
          <p:cNvPr id="21" name="圆角矩形 20"/>
          <p:cNvSpPr>
            <a:spLocks noChangeArrowheads="1"/>
          </p:cNvSpPr>
          <p:nvPr/>
        </p:nvSpPr>
        <p:spPr bwMode="auto">
          <a:xfrm>
            <a:off x="684213" y="4311650"/>
            <a:ext cx="3167062" cy="1420813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lnSpc>
                <a:spcPct val="150000"/>
              </a:lnSpc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1" grpId="0" animBg="1"/>
      <p:bldP spid="15" grpId="0" animBg="1"/>
      <p:bldP spid="19" grpId="0" animBg="1"/>
      <p:bldP spid="5" grpId="0"/>
      <p:bldP spid="20" grpId="0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2. </a:t>
            </a:r>
            <a:r>
              <a:rPr lang="zh-CN" altLang="en-US" smtClean="0"/>
              <a:t>问题分析</a:t>
            </a:r>
          </a:p>
        </p:txBody>
      </p:sp>
      <p:pic>
        <p:nvPicPr>
          <p:cNvPr id="4103" name="Picture 10" descr="C:\Users\Administrator\AppData\Roaming\Tencent\Users\147829947\QQ\WinTemp\RichOle\XP})B[I7X5OCP]RVE`_NS7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1793875"/>
            <a:ext cx="315595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4502150" y="1722438"/>
            <a:ext cx="3968750" cy="437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declare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a varchar2(10);  b varchar2(20);  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c varchar2(40);  d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m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begin</a:t>
            </a:r>
          </a:p>
          <a:p>
            <a:pPr>
              <a:lnSpc>
                <a:spcPts val="2700"/>
              </a:lnSpc>
            </a:pPr>
            <a:r>
              <a:rPr lang="en-US" altLang="zh-CN" sz="2000">
                <a:ea typeface="黑体" pitchFamily="49" charset="-122"/>
              </a:rPr>
              <a:t>  </a:t>
            </a:r>
            <a:r>
              <a:rPr lang="en-US" altLang="zh-CN" sz="2000" b="0">
                <a:ea typeface="黑体" pitchFamily="49" charset="-122"/>
              </a:rPr>
              <a:t>a:=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04023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  b:=</a:t>
            </a:r>
            <a:r>
              <a:rPr lang="en-US" altLang="zh-CN" sz="2000" b="0"/>
              <a:t>'</a:t>
            </a:r>
            <a:r>
              <a:rPr lang="zh-CN" altLang="en-US" sz="2000" b="0">
                <a:ea typeface="黑体" pitchFamily="49" charset="-122"/>
              </a:rPr>
              <a:t>段希飞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c:=</a:t>
            </a:r>
            <a:r>
              <a:rPr lang="en-US" altLang="zh-CN" sz="2000" b="0"/>
              <a:t>'</a:t>
            </a:r>
            <a:r>
              <a:rPr lang="zh-CN" altLang="en-US" sz="2000" b="0">
                <a:ea typeface="黑体" pitchFamily="49" charset="-122"/>
              </a:rPr>
              <a:t>形式与政策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 d:=100;  m:=0</a:t>
            </a:r>
            <a:r>
              <a:rPr lang="en-US" altLang="zh-CN" sz="2000">
                <a:ea typeface="黑体" pitchFamily="49" charset="-122"/>
              </a:rPr>
              <a:t>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if (d&gt;60) then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  m:=m+d;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 dbms_output.put_line(a||b||c||d||m);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end if;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end;</a:t>
            </a:r>
            <a:endParaRPr lang="zh-CN" altLang="en-US" sz="2000" b="0">
              <a:ea typeface="黑体" pitchFamily="49" charset="-122"/>
            </a:endParaRPr>
          </a:p>
        </p:txBody>
      </p:sp>
      <p:sp>
        <p:nvSpPr>
          <p:cNvPr id="13" name="圆角矩形 4"/>
          <p:cNvSpPr>
            <a:spLocks noChangeArrowheads="1"/>
          </p:cNvSpPr>
          <p:nvPr/>
        </p:nvSpPr>
        <p:spPr bwMode="auto">
          <a:xfrm>
            <a:off x="4368800" y="1651000"/>
            <a:ext cx="4235450" cy="4441825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" name="圆角矩形 4"/>
          <p:cNvSpPr>
            <a:spLocks noChangeArrowheads="1"/>
          </p:cNvSpPr>
          <p:nvPr/>
        </p:nvSpPr>
        <p:spPr bwMode="auto">
          <a:xfrm>
            <a:off x="4502150" y="3460750"/>
            <a:ext cx="2878138" cy="715963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15" name="圆角矩形 4"/>
          <p:cNvSpPr>
            <a:spLocks noChangeArrowheads="1"/>
          </p:cNvSpPr>
          <p:nvPr/>
        </p:nvSpPr>
        <p:spPr bwMode="auto">
          <a:xfrm>
            <a:off x="514350" y="1943100"/>
            <a:ext cx="3194050" cy="1974850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71513" y="1093788"/>
            <a:ext cx="43338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0" dirty="0">
                <a:solidFill>
                  <a:srgbClr val="FF0000"/>
                </a:solidFill>
                <a:latin typeface="+mj-ea"/>
                <a:ea typeface="+mj-ea"/>
              </a:rPr>
              <a:t>方案</a:t>
            </a:r>
            <a:r>
              <a:rPr lang="en-US" altLang="zh-CN" sz="2800" b="0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lang="zh-CN" altLang="en-US" sz="2800" b="0" dirty="0">
                <a:latin typeface="+mj-ea"/>
                <a:ea typeface="+mj-ea"/>
              </a:rPr>
              <a:t>：临时存储查询结果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50963" y="4687888"/>
            <a:ext cx="1673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800"/>
              <a:t>临时存储</a:t>
            </a:r>
          </a:p>
        </p:txBody>
      </p:sp>
      <p:sp>
        <p:nvSpPr>
          <p:cNvPr id="17" name="圆角矩形 4"/>
          <p:cNvSpPr>
            <a:spLocks noChangeArrowheads="1"/>
          </p:cNvSpPr>
          <p:nvPr/>
        </p:nvSpPr>
        <p:spPr bwMode="auto">
          <a:xfrm>
            <a:off x="1243013" y="4568825"/>
            <a:ext cx="1889125" cy="762000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 sz="2800"/>
          </a:p>
        </p:txBody>
      </p:sp>
      <p:cxnSp>
        <p:nvCxnSpPr>
          <p:cNvPr id="18" name="直接箭头连接符 17"/>
          <p:cNvCxnSpPr>
            <a:cxnSpLocks noChangeShapeType="1"/>
            <a:stCxn id="15" idx="2"/>
          </p:cNvCxnSpPr>
          <p:nvPr/>
        </p:nvCxnSpPr>
        <p:spPr bwMode="auto">
          <a:xfrm flipH="1">
            <a:off x="2111375" y="3917950"/>
            <a:ext cx="0" cy="650875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直接箭头连接符 21"/>
          <p:cNvCxnSpPr>
            <a:cxnSpLocks noChangeShapeType="1"/>
            <a:endCxn id="17" idx="3"/>
          </p:cNvCxnSpPr>
          <p:nvPr/>
        </p:nvCxnSpPr>
        <p:spPr bwMode="auto">
          <a:xfrm flipH="1">
            <a:off x="3132138" y="3817938"/>
            <a:ext cx="1370012" cy="1131887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圆角矩形 23"/>
          <p:cNvSpPr>
            <a:spLocks noChangeArrowheads="1"/>
          </p:cNvSpPr>
          <p:nvPr/>
        </p:nvSpPr>
        <p:spPr bwMode="auto">
          <a:xfrm>
            <a:off x="971550" y="4540250"/>
            <a:ext cx="2154238" cy="10350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algn="ctr">
            <a:solidFill>
              <a:srgbClr val="00B0F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50000"/>
              </a:lnSpc>
              <a:spcBef>
                <a:spcPct val="20000"/>
              </a:spcBef>
            </a:pPr>
            <a:endParaRPr lang="zh-CN" altLang="en-US"/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1155700" y="4752975"/>
            <a:ext cx="1785938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 algn="ctr" eaLnBrk="1" hangingPunct="1">
              <a:spcBef>
                <a:spcPts val="0"/>
              </a:spcBef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内存空间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1" grpId="0" animBg="1"/>
      <p:bldP spid="15" grpId="0" animBg="1"/>
      <p:bldP spid="4" grpId="0"/>
      <p:bldP spid="17" grpId="0" animBg="1"/>
      <p:bldP spid="24" grpId="0" animBg="1"/>
      <p:bldP spid="2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0"/>
            <a:ext cx="7869238" cy="1125538"/>
          </a:xfrm>
        </p:spPr>
        <p:txBody>
          <a:bodyPr/>
          <a:lstStyle/>
          <a:p>
            <a:pPr eaLnBrk="1" hangingPunct="1"/>
            <a:r>
              <a:rPr lang="en-US" altLang="zh-CN" smtClean="0"/>
              <a:t>3. </a:t>
            </a:r>
            <a:r>
              <a:rPr lang="zh-CN" altLang="en-US" smtClean="0"/>
              <a:t>游标概念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052513"/>
            <a:ext cx="7772400" cy="52562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在 </a:t>
            </a:r>
            <a:r>
              <a:rPr lang="en-US" altLang="zh-CN" sz="2400" dirty="0" smtClean="0">
                <a:latin typeface="+mj-ea"/>
                <a:ea typeface="+mj-ea"/>
              </a:rPr>
              <a:t>PL/SQL </a:t>
            </a:r>
            <a:r>
              <a:rPr lang="zh-CN" altLang="en-US" sz="2400" dirty="0" smtClean="0">
                <a:latin typeface="+mj-ea"/>
                <a:ea typeface="+mj-ea"/>
              </a:rPr>
              <a:t>程序中，对于处理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多行记录</a:t>
            </a:r>
            <a:r>
              <a:rPr lang="zh-CN" altLang="en-US" sz="2400" dirty="0" smtClean="0">
                <a:latin typeface="+mj-ea"/>
                <a:ea typeface="+mj-ea"/>
              </a:rPr>
              <a:t>的事务</a:t>
            </a:r>
            <a:endParaRPr lang="en-US" altLang="zh-CN" sz="2400" dirty="0" smtClean="0">
              <a:latin typeface="+mj-ea"/>
              <a:ea typeface="+mj-ea"/>
            </a:endParaRPr>
          </a:p>
          <a:p>
            <a:pPr marL="355600" indent="0" eaLnBrk="1" hangingPunct="1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经常使用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游标</a:t>
            </a:r>
            <a:r>
              <a:rPr lang="zh-CN" altLang="en-US" sz="2400" dirty="0" smtClean="0">
                <a:latin typeface="+mj-ea"/>
                <a:ea typeface="+mj-ea"/>
              </a:rPr>
              <a:t>来实现。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游标是系统为用户开设的一个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数据缓冲区</a:t>
            </a:r>
            <a:r>
              <a:rPr lang="zh-CN" altLang="en-US" sz="2400" dirty="0" smtClean="0">
                <a:latin typeface="+mj-ea"/>
                <a:ea typeface="+mj-ea"/>
              </a:rPr>
              <a:t>，内存中一段连续的存储单元，存放</a:t>
            </a:r>
            <a:r>
              <a:rPr lang="en-US" altLang="zh-CN" sz="2400" dirty="0" smtClean="0">
                <a:latin typeface="+mj-ea"/>
                <a:ea typeface="+mj-ea"/>
              </a:rPr>
              <a:t>SQL</a:t>
            </a:r>
            <a:r>
              <a:rPr lang="zh-CN" altLang="en-US" sz="2400" dirty="0" smtClean="0">
                <a:latin typeface="+mj-ea"/>
                <a:ea typeface="+mj-ea"/>
              </a:rPr>
              <a:t>语句的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执行结果</a:t>
            </a:r>
            <a:r>
              <a:rPr lang="zh-CN" altLang="en-US" sz="2400" dirty="0" smtClean="0">
                <a:latin typeface="+mj-ea"/>
                <a:ea typeface="+mj-ea"/>
              </a:rPr>
              <a:t>。每个游标区都有一个名字。</a:t>
            </a:r>
            <a:endParaRPr lang="en-US" altLang="zh-CN" sz="2400" dirty="0" smtClean="0">
              <a:latin typeface="+mj-ea"/>
              <a:ea typeface="+mj-ea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PL/SQL</a:t>
            </a:r>
            <a:r>
              <a:rPr lang="zh-CN" altLang="en-US" sz="2400" dirty="0" smtClean="0">
                <a:latin typeface="+mj-ea"/>
                <a:ea typeface="+mj-ea"/>
              </a:rPr>
              <a:t>通过游标提供了一个对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结果集进行逐行处理的能力</a:t>
            </a:r>
            <a:r>
              <a:rPr lang="zh-CN" altLang="en-US" sz="2400" dirty="0" smtClean="0">
                <a:latin typeface="+mj-ea"/>
                <a:ea typeface="+mj-ea"/>
              </a:rPr>
              <a:t>，游标可以看作一种特殊的指针，它与某个查询结果相联系，可以指向结果集的任意位置，以便对指定位置的数据进行处理。</a:t>
            </a:r>
            <a:endParaRPr lang="en-US" altLang="zh-CN" sz="2400" dirty="0" smtClean="0">
              <a:latin typeface="+mj-ea"/>
              <a:ea typeface="+mj-ea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使用游标可以在查询数据的同时对数据进行处理。</a:t>
            </a:r>
            <a:endParaRPr lang="en-US" altLang="zh-CN" sz="2400" dirty="0" smtClean="0"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组合 15"/>
          <p:cNvGrpSpPr>
            <a:grpSpLocks/>
          </p:cNvGrpSpPr>
          <p:nvPr/>
        </p:nvGrpSpPr>
        <p:grpSpPr bwMode="auto">
          <a:xfrm>
            <a:off x="2801938" y="1844675"/>
            <a:ext cx="3390900" cy="673100"/>
            <a:chOff x="2695998" y="4385"/>
            <a:chExt cx="2029386" cy="379983"/>
          </a:xfrm>
        </p:grpSpPr>
        <p:sp>
          <p:nvSpPr>
            <p:cNvPr id="37901" name="矩形 25"/>
            <p:cNvSpPr>
              <a:spLocks noChangeArrowheads="1"/>
            </p:cNvSpPr>
            <p:nvPr/>
          </p:nvSpPr>
          <p:spPr bwMode="auto">
            <a:xfrm>
              <a:off x="2695998" y="4385"/>
              <a:ext cx="2029386" cy="379983"/>
            </a:xfrm>
            <a:prstGeom prst="rect">
              <a:avLst/>
            </a:prstGeom>
            <a:solidFill>
              <a:srgbClr val="3D8BD7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2" name="矩形 26"/>
            <p:cNvSpPr>
              <a:spLocks noChangeArrowheads="1"/>
            </p:cNvSpPr>
            <p:nvPr/>
          </p:nvSpPr>
          <p:spPr bwMode="auto">
            <a:xfrm>
              <a:off x="2764476" y="4385"/>
              <a:ext cx="1960907" cy="379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60" tIns="10160" rIns="10160" bIns="10160" anchor="ctr"/>
            <a:lstStyle/>
            <a:p>
              <a:pPr defTabSz="711200" eaLnBrk="1" hangingPunct="1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</a:t>
              </a:r>
              <a:r>
                <a:rPr lang="en-US" altLang="zh-CN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zh-CN" altLang="en-US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步  声明游标</a:t>
              </a:r>
            </a:p>
          </p:txBody>
        </p:sp>
      </p:grpSp>
      <p:grpSp>
        <p:nvGrpSpPr>
          <p:cNvPr id="37891" name="组合 16"/>
          <p:cNvGrpSpPr>
            <a:grpSpLocks/>
          </p:cNvGrpSpPr>
          <p:nvPr/>
        </p:nvGrpSpPr>
        <p:grpSpPr bwMode="auto">
          <a:xfrm>
            <a:off x="2801938" y="2708275"/>
            <a:ext cx="3390900" cy="701675"/>
            <a:chOff x="2713176" y="340605"/>
            <a:chExt cx="2029386" cy="395986"/>
          </a:xfrm>
        </p:grpSpPr>
        <p:sp>
          <p:nvSpPr>
            <p:cNvPr id="37899" name="矩形 23"/>
            <p:cNvSpPr>
              <a:spLocks noChangeArrowheads="1"/>
            </p:cNvSpPr>
            <p:nvPr/>
          </p:nvSpPr>
          <p:spPr bwMode="auto">
            <a:xfrm>
              <a:off x="2713176" y="340605"/>
              <a:ext cx="2029386" cy="379983"/>
            </a:xfrm>
            <a:prstGeom prst="rect">
              <a:avLst/>
            </a:prstGeom>
            <a:solidFill>
              <a:srgbClr val="3D8BD7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0" name="矩形 24"/>
            <p:cNvSpPr>
              <a:spLocks noChangeArrowheads="1"/>
            </p:cNvSpPr>
            <p:nvPr/>
          </p:nvSpPr>
          <p:spPr bwMode="auto">
            <a:xfrm>
              <a:off x="2781654" y="356608"/>
              <a:ext cx="1960907" cy="379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60" tIns="10160" rIns="10160" bIns="10160" anchor="ctr"/>
            <a:lstStyle/>
            <a:p>
              <a:pPr defTabSz="711200" eaLnBrk="1" hangingPunct="1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</a:t>
              </a:r>
              <a:r>
                <a:rPr lang="en-US" altLang="zh-CN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zh-CN" altLang="en-US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步  打开游标</a:t>
              </a:r>
            </a:p>
          </p:txBody>
        </p:sp>
      </p:grpSp>
      <p:grpSp>
        <p:nvGrpSpPr>
          <p:cNvPr id="37892" name="组合 17"/>
          <p:cNvGrpSpPr>
            <a:grpSpLocks/>
          </p:cNvGrpSpPr>
          <p:nvPr/>
        </p:nvGrpSpPr>
        <p:grpSpPr bwMode="auto">
          <a:xfrm>
            <a:off x="2771775" y="3621088"/>
            <a:ext cx="3390900" cy="673100"/>
            <a:chOff x="2695998" y="954343"/>
            <a:chExt cx="2029386" cy="379983"/>
          </a:xfrm>
        </p:grpSpPr>
        <p:sp>
          <p:nvSpPr>
            <p:cNvPr id="37897" name="矩形 21"/>
            <p:cNvSpPr>
              <a:spLocks noChangeArrowheads="1"/>
            </p:cNvSpPr>
            <p:nvPr/>
          </p:nvSpPr>
          <p:spPr bwMode="auto">
            <a:xfrm>
              <a:off x="2695998" y="954343"/>
              <a:ext cx="2029386" cy="379983"/>
            </a:xfrm>
            <a:prstGeom prst="rect">
              <a:avLst/>
            </a:prstGeom>
            <a:solidFill>
              <a:srgbClr val="3D8BD7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8" name="矩形 22"/>
            <p:cNvSpPr>
              <a:spLocks noChangeArrowheads="1"/>
            </p:cNvSpPr>
            <p:nvPr/>
          </p:nvSpPr>
          <p:spPr bwMode="auto">
            <a:xfrm>
              <a:off x="2782186" y="954343"/>
              <a:ext cx="1943197" cy="379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60" tIns="10160" rIns="10160" bIns="10160" anchor="ctr"/>
            <a:lstStyle/>
            <a:p>
              <a:pPr defTabSz="711200" eaLnBrk="1" hangingPunct="1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</a:t>
              </a:r>
              <a:r>
                <a:rPr lang="en-US" altLang="zh-CN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r>
                <a:rPr lang="zh-CN" altLang="en-US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步  提取游标数据</a:t>
              </a:r>
              <a:endPara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7893" name="组合 18"/>
          <p:cNvGrpSpPr>
            <a:grpSpLocks/>
          </p:cNvGrpSpPr>
          <p:nvPr/>
        </p:nvGrpSpPr>
        <p:grpSpPr bwMode="auto">
          <a:xfrm>
            <a:off x="2762250" y="4505325"/>
            <a:ext cx="3390900" cy="671513"/>
            <a:chOff x="2702017" y="1508447"/>
            <a:chExt cx="2029386" cy="379983"/>
          </a:xfrm>
        </p:grpSpPr>
        <p:sp>
          <p:nvSpPr>
            <p:cNvPr id="37895" name="矩形 19"/>
            <p:cNvSpPr>
              <a:spLocks noChangeArrowheads="1"/>
            </p:cNvSpPr>
            <p:nvPr/>
          </p:nvSpPr>
          <p:spPr bwMode="auto">
            <a:xfrm>
              <a:off x="2702017" y="1508447"/>
              <a:ext cx="2029386" cy="379983"/>
            </a:xfrm>
            <a:prstGeom prst="rect">
              <a:avLst/>
            </a:prstGeom>
            <a:solidFill>
              <a:srgbClr val="3D8BD7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6" name="矩形 20"/>
            <p:cNvSpPr>
              <a:spLocks noChangeArrowheads="1"/>
            </p:cNvSpPr>
            <p:nvPr/>
          </p:nvSpPr>
          <p:spPr bwMode="auto">
            <a:xfrm>
              <a:off x="2793817" y="1556699"/>
              <a:ext cx="1931567" cy="300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60" tIns="10160" rIns="10160" bIns="10160" anchor="ctr"/>
            <a:lstStyle/>
            <a:p>
              <a:pPr defTabSz="711200" eaLnBrk="1" hangingPunct="1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第</a:t>
              </a:r>
              <a:r>
                <a:rPr lang="en-US" altLang="zh-CN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r>
                <a:rPr lang="zh-CN" altLang="en-US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步  关闭游标</a:t>
              </a:r>
              <a:endPara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7894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  <p:sp>
        <p:nvSpPr>
          <p:cNvPr id="2" name="圆角矩形标注 1"/>
          <p:cNvSpPr/>
          <p:nvPr/>
        </p:nvSpPr>
        <p:spPr bwMode="auto">
          <a:xfrm>
            <a:off x="696913" y="1989138"/>
            <a:ext cx="3241675" cy="1079500"/>
          </a:xfrm>
          <a:prstGeom prst="wedgeRoundRectCallout">
            <a:avLst>
              <a:gd name="adj1" fmla="val 61342"/>
              <a:gd name="adj2" fmla="val -44714"/>
              <a:gd name="adj3" fmla="val 16667"/>
            </a:avLst>
          </a:prstGeom>
          <a:solidFill>
            <a:srgbClr val="4B9DE1"/>
          </a:solidFill>
          <a:ln w="254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  <a:defRPr/>
            </a:pPr>
            <a:endParaRPr lang="zh-CN" altLang="en-US" sz="2000" b="0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4502150" y="1722438"/>
            <a:ext cx="3968750" cy="437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declare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a varchar2(10);  b varchar2(20);  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c varchar2(40);  d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m number;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begin</a:t>
            </a:r>
          </a:p>
          <a:p>
            <a:pPr>
              <a:lnSpc>
                <a:spcPts val="2700"/>
              </a:lnSpc>
            </a:pPr>
            <a:r>
              <a:rPr lang="en-US" altLang="zh-CN" sz="2000">
                <a:ea typeface="黑体" pitchFamily="49" charset="-122"/>
              </a:rPr>
              <a:t>  </a:t>
            </a:r>
            <a:r>
              <a:rPr lang="en-US" altLang="zh-CN" sz="2000" b="0">
                <a:ea typeface="黑体" pitchFamily="49" charset="-122"/>
              </a:rPr>
              <a:t>a:=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04023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  b:=</a:t>
            </a:r>
            <a:r>
              <a:rPr lang="en-US" altLang="zh-CN" sz="2000" b="0"/>
              <a:t>'</a:t>
            </a:r>
            <a:r>
              <a:rPr lang="zh-CN" altLang="en-US" sz="2000" b="0">
                <a:ea typeface="黑体" pitchFamily="49" charset="-122"/>
              </a:rPr>
              <a:t>段希飞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c:=</a:t>
            </a:r>
            <a:r>
              <a:rPr lang="en-US" altLang="zh-CN" sz="2000" b="0"/>
              <a:t>'</a:t>
            </a:r>
            <a:r>
              <a:rPr lang="zh-CN" altLang="en-US" sz="2000" b="0">
                <a:ea typeface="黑体" pitchFamily="49" charset="-122"/>
              </a:rPr>
              <a:t>形式与政策</a:t>
            </a:r>
            <a:r>
              <a:rPr lang="en-US" altLang="zh-CN" sz="2000" b="0"/>
              <a:t>'</a:t>
            </a:r>
            <a:r>
              <a:rPr lang="en-US" altLang="zh-CN" sz="2000" b="0">
                <a:ea typeface="黑体" pitchFamily="49" charset="-122"/>
              </a:rPr>
              <a:t>; d:=100;  m:=0</a:t>
            </a:r>
            <a:r>
              <a:rPr lang="en-US" altLang="zh-CN" sz="2000">
                <a:ea typeface="黑体" pitchFamily="49" charset="-122"/>
              </a:rPr>
              <a:t>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if (d&gt;60) then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  m:=m+d;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 dbms_output.put_line(a||b||c||d||m);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  end if;</a:t>
            </a:r>
          </a:p>
          <a:p>
            <a:pPr>
              <a:lnSpc>
                <a:spcPts val="2700"/>
              </a:lnSpc>
            </a:pPr>
            <a:r>
              <a:rPr lang="en-US" altLang="zh-CN" sz="2000" b="0">
                <a:ea typeface="黑体" pitchFamily="49" charset="-122"/>
              </a:rPr>
              <a:t>end;</a:t>
            </a:r>
            <a:endParaRPr lang="zh-CN" altLang="en-US" sz="2000" b="0">
              <a:ea typeface="黑体" pitchFamily="49" charset="-122"/>
            </a:endParaRPr>
          </a:p>
        </p:txBody>
      </p:sp>
      <p:sp>
        <p:nvSpPr>
          <p:cNvPr id="9" name="圆角矩形 4"/>
          <p:cNvSpPr>
            <a:spLocks noChangeArrowheads="1"/>
          </p:cNvSpPr>
          <p:nvPr/>
        </p:nvSpPr>
        <p:spPr bwMode="auto">
          <a:xfrm>
            <a:off x="4368800" y="1651000"/>
            <a:ext cx="4235450" cy="4441825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755650" y="1989138"/>
            <a:ext cx="3182938" cy="1016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0" dirty="0">
                <a:solidFill>
                  <a:schemeClr val="bg1"/>
                </a:solidFill>
                <a:latin typeface="+mj-ea"/>
                <a:ea typeface="+mj-ea"/>
              </a:rPr>
              <a:t>请在内存中给我分配一段连续的存储空间，我要用来存放*查询的执行结果。</a:t>
            </a:r>
          </a:p>
        </p:txBody>
      </p:sp>
      <p:grpSp>
        <p:nvGrpSpPr>
          <p:cNvPr id="38919" name="组合 11"/>
          <p:cNvGrpSpPr>
            <a:grpSpLocks/>
          </p:cNvGrpSpPr>
          <p:nvPr/>
        </p:nvGrpSpPr>
        <p:grpSpPr bwMode="auto">
          <a:xfrm>
            <a:off x="671513" y="1125538"/>
            <a:ext cx="3181350" cy="574675"/>
            <a:chOff x="4974653" y="4385"/>
            <a:chExt cx="2663177" cy="379983"/>
          </a:xfrm>
        </p:grpSpPr>
        <p:sp>
          <p:nvSpPr>
            <p:cNvPr id="38924" name="矩形 12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8AB9E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5" name="矩形 13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0" tIns="8890" rIns="8890" bIns="8890" anchor="ctr"/>
            <a:lstStyle/>
            <a:p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 第</a:t>
              </a:r>
              <a:r>
                <a:rPr lang="en-US" altLang="zh-CN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1</a:t>
              </a:r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步：声明游标</a:t>
              </a:r>
            </a:p>
          </p:txBody>
        </p:sp>
      </p:grpSp>
      <p:sp>
        <p:nvSpPr>
          <p:cNvPr id="15" name="TextBox 3"/>
          <p:cNvSpPr txBox="1">
            <a:spLocks noChangeArrowheads="1"/>
          </p:cNvSpPr>
          <p:nvPr/>
        </p:nvSpPr>
        <p:spPr bwMode="auto">
          <a:xfrm>
            <a:off x="347663" y="3703638"/>
            <a:ext cx="3754437" cy="260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zh-CN" sz="2000">
                <a:solidFill>
                  <a:srgbClr val="FF0000"/>
                </a:solidFill>
              </a:rPr>
              <a:t>Declare </a:t>
            </a:r>
          </a:p>
          <a:p>
            <a:pPr>
              <a:lnSpc>
                <a:spcPts val="2800"/>
              </a:lnSpc>
            </a:pPr>
            <a:r>
              <a:rPr lang="en-US" altLang="zh-CN" sz="2000">
                <a:solidFill>
                  <a:srgbClr val="FF0000"/>
                </a:solidFill>
              </a:rPr>
              <a:t>Cursor  c1 is 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Select s.sno,sname,cname,grade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From s,sc,c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Where   s.sno=sc.sno 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          and c.cno=sc.cno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	 and college='</a:t>
            </a:r>
            <a:r>
              <a:rPr lang="zh-CN" altLang="en-US" sz="2000" b="0"/>
              <a:t>信息</a:t>
            </a:r>
            <a:r>
              <a:rPr lang="en-US" altLang="zh-CN" sz="2000" b="0"/>
              <a:t>'</a:t>
            </a:r>
          </a:p>
        </p:txBody>
      </p:sp>
      <p:sp>
        <p:nvSpPr>
          <p:cNvPr id="16" name="圆角矩形 11"/>
          <p:cNvSpPr>
            <a:spLocks noChangeArrowheads="1"/>
          </p:cNvSpPr>
          <p:nvPr/>
        </p:nvSpPr>
        <p:spPr bwMode="auto">
          <a:xfrm>
            <a:off x="319088" y="3670300"/>
            <a:ext cx="3884612" cy="2592388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000"/>
          </a:p>
        </p:txBody>
      </p:sp>
      <p:cxnSp>
        <p:nvCxnSpPr>
          <p:cNvPr id="23" name="直接箭头连接符 22"/>
          <p:cNvCxnSpPr>
            <a:cxnSpLocks noChangeShapeType="1"/>
          </p:cNvCxnSpPr>
          <p:nvPr/>
        </p:nvCxnSpPr>
        <p:spPr bwMode="auto">
          <a:xfrm flipH="1">
            <a:off x="2317750" y="3076575"/>
            <a:ext cx="0" cy="61595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1619250" y="3182938"/>
            <a:ext cx="1368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400" b="0">
                <a:latin typeface="华文新魏" pitchFamily="2" charset="-122"/>
                <a:ea typeface="华文新魏" pitchFamily="2" charset="-122"/>
              </a:rPr>
              <a:t>翻 译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9" grpId="0" animBg="1"/>
      <p:bldP spid="3" grpId="0"/>
      <p:bldP spid="15" grpId="0"/>
      <p:bldP spid="16" grpId="0" animBg="1"/>
      <p:bldP spid="2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  <p:sp>
        <p:nvSpPr>
          <p:cNvPr id="39939" name="TextBox 2"/>
          <p:cNvSpPr txBox="1">
            <a:spLocks noChangeArrowheads="1"/>
          </p:cNvSpPr>
          <p:nvPr/>
        </p:nvSpPr>
        <p:spPr bwMode="auto">
          <a:xfrm>
            <a:off x="4633913" y="1196975"/>
            <a:ext cx="4041775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declare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a varchar2(10);  b varchar2(20);  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c varchar2(40);  d number; m number;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cursor  c1 is 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 Select s.sno,sname,cname,grade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 From s,sc,c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 Where   s.sno=sc.sno 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              and c.cno=sc.cno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	 and college='</a:t>
            </a:r>
            <a:r>
              <a:rPr lang="zh-CN" altLang="en-US" sz="1800">
                <a:solidFill>
                  <a:srgbClr val="FF0000"/>
                </a:solidFill>
                <a:ea typeface="黑体" pitchFamily="49" charset="-122"/>
              </a:rPr>
              <a:t>信息</a:t>
            </a: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';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begin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ea typeface="黑体" pitchFamily="49" charset="-122"/>
              </a:rPr>
              <a:t>  </a:t>
            </a:r>
            <a:r>
              <a:rPr lang="en-US" altLang="zh-CN" sz="1800" b="0">
                <a:ea typeface="黑体" pitchFamily="49" charset="-122"/>
              </a:rPr>
              <a:t>a:=</a:t>
            </a:r>
            <a:r>
              <a:rPr lang="en-US" altLang="zh-CN" sz="1800" b="0"/>
              <a:t>'</a:t>
            </a:r>
            <a:r>
              <a:rPr lang="en-US" altLang="zh-CN" sz="1800" b="0">
                <a:ea typeface="黑体" pitchFamily="49" charset="-122"/>
              </a:rPr>
              <a:t>04023</a:t>
            </a:r>
            <a:r>
              <a:rPr lang="en-US" altLang="zh-CN" sz="1800" b="0"/>
              <a:t>'</a:t>
            </a:r>
            <a:r>
              <a:rPr lang="en-US" altLang="zh-CN" sz="1800" b="0">
                <a:ea typeface="黑体" pitchFamily="49" charset="-122"/>
              </a:rPr>
              <a:t>;  b:=</a:t>
            </a:r>
            <a:r>
              <a:rPr lang="en-US" altLang="zh-CN" sz="1800" b="0"/>
              <a:t>'</a:t>
            </a:r>
            <a:r>
              <a:rPr lang="zh-CN" altLang="en-US" sz="1800" b="0">
                <a:ea typeface="黑体" pitchFamily="49" charset="-122"/>
              </a:rPr>
              <a:t>段希飞</a:t>
            </a:r>
            <a:r>
              <a:rPr lang="en-US" altLang="zh-CN" sz="1800" b="0"/>
              <a:t>'</a:t>
            </a:r>
            <a:r>
              <a:rPr lang="en-US" altLang="zh-CN" sz="1800" b="0">
                <a:ea typeface="黑体" pitchFamily="49" charset="-122"/>
              </a:rPr>
              <a:t>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c:=</a:t>
            </a:r>
            <a:r>
              <a:rPr lang="en-US" altLang="zh-CN" sz="1800" b="0"/>
              <a:t>'</a:t>
            </a:r>
            <a:r>
              <a:rPr lang="zh-CN" altLang="en-US" sz="1800" b="0">
                <a:ea typeface="黑体" pitchFamily="49" charset="-122"/>
              </a:rPr>
              <a:t>形式与政策</a:t>
            </a:r>
            <a:r>
              <a:rPr lang="en-US" altLang="zh-CN" sz="1800" b="0"/>
              <a:t>'</a:t>
            </a:r>
            <a:r>
              <a:rPr lang="en-US" altLang="zh-CN" sz="1800" b="0">
                <a:ea typeface="黑体" pitchFamily="49" charset="-122"/>
              </a:rPr>
              <a:t>; d:=100;  m:=0</a:t>
            </a:r>
            <a:r>
              <a:rPr lang="en-US" altLang="zh-CN" sz="1800">
                <a:ea typeface="黑体" pitchFamily="49" charset="-122"/>
              </a:rPr>
              <a:t>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if (d&gt;60) then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m:=m+d;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dbms_output.put_line(a||b||c||d||m);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end if;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end;</a:t>
            </a:r>
            <a:endParaRPr lang="zh-CN" altLang="en-US" sz="1800" b="0">
              <a:ea typeface="黑体" pitchFamily="49" charset="-122"/>
            </a:endParaRPr>
          </a:p>
        </p:txBody>
      </p:sp>
      <p:sp>
        <p:nvSpPr>
          <p:cNvPr id="39940" name="圆角矩形 4"/>
          <p:cNvSpPr>
            <a:spLocks noChangeArrowheads="1"/>
          </p:cNvSpPr>
          <p:nvPr/>
        </p:nvSpPr>
        <p:spPr bwMode="auto">
          <a:xfrm>
            <a:off x="4344988" y="1125538"/>
            <a:ext cx="4392612" cy="5256212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39941" name="圆角矩形 4"/>
          <p:cNvSpPr>
            <a:spLocks noChangeArrowheads="1"/>
          </p:cNvSpPr>
          <p:nvPr/>
        </p:nvSpPr>
        <p:spPr bwMode="auto">
          <a:xfrm>
            <a:off x="4633913" y="2133600"/>
            <a:ext cx="3887787" cy="1727200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417638" y="2117725"/>
          <a:ext cx="2520950" cy="296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950"/>
              </a:tblGrid>
              <a:tr h="37088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9962" name="TextBox 3"/>
          <p:cNvSpPr txBox="1">
            <a:spLocks noChangeArrowheads="1"/>
          </p:cNvSpPr>
          <p:nvPr/>
        </p:nvSpPr>
        <p:spPr bwMode="auto">
          <a:xfrm>
            <a:off x="209550" y="2133600"/>
            <a:ext cx="13065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/>
              <a:t>0x00000018 </a:t>
            </a:r>
          </a:p>
        </p:txBody>
      </p:sp>
      <p:sp>
        <p:nvSpPr>
          <p:cNvPr id="39963" name="TextBox 14"/>
          <p:cNvSpPr txBox="1">
            <a:spLocks noChangeArrowheads="1"/>
          </p:cNvSpPr>
          <p:nvPr/>
        </p:nvSpPr>
        <p:spPr bwMode="auto">
          <a:xfrm>
            <a:off x="179388" y="3219450"/>
            <a:ext cx="13065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/>
              <a:t>0x0000001B</a:t>
            </a:r>
          </a:p>
        </p:txBody>
      </p:sp>
      <p:sp>
        <p:nvSpPr>
          <p:cNvPr id="39964" name="TextBox 15"/>
          <p:cNvSpPr txBox="1">
            <a:spLocks noChangeArrowheads="1"/>
          </p:cNvSpPr>
          <p:nvPr/>
        </p:nvSpPr>
        <p:spPr bwMode="auto">
          <a:xfrm>
            <a:off x="179388" y="3589338"/>
            <a:ext cx="13065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/>
              <a:t>0x0000001C</a:t>
            </a:r>
          </a:p>
        </p:txBody>
      </p:sp>
      <p:sp>
        <p:nvSpPr>
          <p:cNvPr id="39965" name="TextBox 21"/>
          <p:cNvSpPr txBox="1">
            <a:spLocks noChangeArrowheads="1"/>
          </p:cNvSpPr>
          <p:nvPr/>
        </p:nvSpPr>
        <p:spPr bwMode="auto">
          <a:xfrm>
            <a:off x="179388" y="3946525"/>
            <a:ext cx="1290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/>
              <a:t>0x0000001D</a:t>
            </a:r>
          </a:p>
        </p:txBody>
      </p:sp>
      <p:sp>
        <p:nvSpPr>
          <p:cNvPr id="39966" name="TextBox 22"/>
          <p:cNvSpPr txBox="1">
            <a:spLocks noChangeArrowheads="1"/>
          </p:cNvSpPr>
          <p:nvPr/>
        </p:nvSpPr>
        <p:spPr bwMode="auto">
          <a:xfrm>
            <a:off x="179388" y="4332288"/>
            <a:ext cx="1306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/>
              <a:t>0x0000001E</a:t>
            </a:r>
          </a:p>
        </p:txBody>
      </p:sp>
      <p:sp>
        <p:nvSpPr>
          <p:cNvPr id="39967" name="TextBox 23"/>
          <p:cNvSpPr txBox="1">
            <a:spLocks noChangeArrowheads="1"/>
          </p:cNvSpPr>
          <p:nvPr/>
        </p:nvSpPr>
        <p:spPr bwMode="auto">
          <a:xfrm>
            <a:off x="179388" y="4672013"/>
            <a:ext cx="13065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/>
              <a:t>0x0000001F</a:t>
            </a:r>
          </a:p>
        </p:txBody>
      </p:sp>
      <p:sp>
        <p:nvSpPr>
          <p:cNvPr id="39968" name="TextBox 24"/>
          <p:cNvSpPr txBox="1">
            <a:spLocks noChangeArrowheads="1"/>
          </p:cNvSpPr>
          <p:nvPr/>
        </p:nvSpPr>
        <p:spPr bwMode="auto">
          <a:xfrm>
            <a:off x="179388" y="2471738"/>
            <a:ext cx="13065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/>
              <a:t>0x00000019</a:t>
            </a:r>
          </a:p>
        </p:txBody>
      </p:sp>
      <p:sp>
        <p:nvSpPr>
          <p:cNvPr id="39969" name="TextBox 25"/>
          <p:cNvSpPr txBox="1">
            <a:spLocks noChangeArrowheads="1"/>
          </p:cNvSpPr>
          <p:nvPr/>
        </p:nvSpPr>
        <p:spPr bwMode="auto">
          <a:xfrm>
            <a:off x="179388" y="2833688"/>
            <a:ext cx="13065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/>
              <a:t>0x0000001A</a:t>
            </a:r>
          </a:p>
        </p:txBody>
      </p:sp>
      <p:grpSp>
        <p:nvGrpSpPr>
          <p:cNvPr id="39970" name="组合 16"/>
          <p:cNvGrpSpPr>
            <a:grpSpLocks/>
          </p:cNvGrpSpPr>
          <p:nvPr/>
        </p:nvGrpSpPr>
        <p:grpSpPr bwMode="auto">
          <a:xfrm>
            <a:off x="671513" y="1125538"/>
            <a:ext cx="3181350" cy="574675"/>
            <a:chOff x="4974653" y="4385"/>
            <a:chExt cx="2663177" cy="379983"/>
          </a:xfrm>
        </p:grpSpPr>
        <p:sp>
          <p:nvSpPr>
            <p:cNvPr id="39971" name="矩形 12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8AB9E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2" name="矩形 13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0" tIns="8890" rIns="8890" bIns="8890" anchor="ctr"/>
            <a:lstStyle/>
            <a:p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 第</a:t>
              </a:r>
              <a:r>
                <a:rPr lang="en-US" altLang="zh-CN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1</a:t>
              </a:r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步：声明游标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  <p:sp>
        <p:nvSpPr>
          <p:cNvPr id="40963" name="TextBox 2"/>
          <p:cNvSpPr txBox="1">
            <a:spLocks noChangeArrowheads="1"/>
          </p:cNvSpPr>
          <p:nvPr/>
        </p:nvSpPr>
        <p:spPr bwMode="auto">
          <a:xfrm>
            <a:off x="4633913" y="1196975"/>
            <a:ext cx="4041775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declare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a varchar2(10);  b varchar2(20);  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c varchar2(40);  d number; m number;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</a:t>
            </a:r>
            <a:r>
              <a:rPr lang="en-US" altLang="zh-CN" sz="1800" b="0">
                <a:ea typeface="黑体" pitchFamily="49" charset="-122"/>
              </a:rPr>
              <a:t>cursor  c1 is 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Select s.sno,sname,cname,grade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From s,sc,c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Where   s.sno=sc.sno 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            and c.cno=sc.cno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	 and college='</a:t>
            </a:r>
            <a:r>
              <a:rPr lang="zh-CN" altLang="en-US" sz="1800" b="0">
                <a:ea typeface="黑体" pitchFamily="49" charset="-122"/>
              </a:rPr>
              <a:t>信息</a:t>
            </a:r>
            <a:r>
              <a:rPr lang="en-US" altLang="zh-CN" sz="1800" b="0">
                <a:ea typeface="黑体" pitchFamily="49" charset="-122"/>
              </a:rPr>
              <a:t>';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begin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ea typeface="黑体" pitchFamily="49" charset="-122"/>
              </a:rPr>
              <a:t>  </a:t>
            </a:r>
            <a:r>
              <a:rPr lang="en-US" altLang="zh-CN" sz="1800" b="0">
                <a:ea typeface="黑体" pitchFamily="49" charset="-122"/>
              </a:rPr>
              <a:t>a:=</a:t>
            </a:r>
            <a:r>
              <a:rPr lang="en-US" altLang="zh-CN" sz="1800" b="0"/>
              <a:t>'</a:t>
            </a:r>
            <a:r>
              <a:rPr lang="en-US" altLang="zh-CN" sz="1800" b="0">
                <a:ea typeface="黑体" pitchFamily="49" charset="-122"/>
              </a:rPr>
              <a:t>04023</a:t>
            </a:r>
            <a:r>
              <a:rPr lang="en-US" altLang="zh-CN" sz="1800" b="0"/>
              <a:t>'</a:t>
            </a:r>
            <a:r>
              <a:rPr lang="en-US" altLang="zh-CN" sz="1800" b="0">
                <a:ea typeface="黑体" pitchFamily="49" charset="-122"/>
              </a:rPr>
              <a:t>;  b:=</a:t>
            </a:r>
            <a:r>
              <a:rPr lang="en-US" altLang="zh-CN" sz="1800" b="0"/>
              <a:t>'</a:t>
            </a:r>
            <a:r>
              <a:rPr lang="zh-CN" altLang="en-US" sz="1800" b="0">
                <a:ea typeface="黑体" pitchFamily="49" charset="-122"/>
              </a:rPr>
              <a:t>段希飞</a:t>
            </a:r>
            <a:r>
              <a:rPr lang="en-US" altLang="zh-CN" sz="1800" b="0"/>
              <a:t>'</a:t>
            </a:r>
            <a:r>
              <a:rPr lang="en-US" altLang="zh-CN" sz="1800" b="0">
                <a:ea typeface="黑体" pitchFamily="49" charset="-122"/>
              </a:rPr>
              <a:t>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c:=</a:t>
            </a:r>
            <a:r>
              <a:rPr lang="en-US" altLang="zh-CN" sz="1800" b="0"/>
              <a:t>'</a:t>
            </a:r>
            <a:r>
              <a:rPr lang="zh-CN" altLang="en-US" sz="1800" b="0">
                <a:ea typeface="黑体" pitchFamily="49" charset="-122"/>
              </a:rPr>
              <a:t>形式与政策</a:t>
            </a:r>
            <a:r>
              <a:rPr lang="en-US" altLang="zh-CN" sz="1800" b="0"/>
              <a:t>'</a:t>
            </a:r>
            <a:r>
              <a:rPr lang="en-US" altLang="zh-CN" sz="1800" b="0">
                <a:ea typeface="黑体" pitchFamily="49" charset="-122"/>
              </a:rPr>
              <a:t>; d:=100;  m:=0</a:t>
            </a:r>
            <a:r>
              <a:rPr lang="en-US" altLang="zh-CN" sz="1800">
                <a:ea typeface="黑体" pitchFamily="49" charset="-122"/>
              </a:rPr>
              <a:t>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if (d&gt;60) then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m:=m+d;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dbms_output.put_line(a||b||c||d||m);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end if;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end;</a:t>
            </a:r>
            <a:endParaRPr lang="zh-CN" altLang="en-US" sz="1800" b="0">
              <a:ea typeface="黑体" pitchFamily="49" charset="-122"/>
            </a:endParaRPr>
          </a:p>
        </p:txBody>
      </p:sp>
      <p:sp>
        <p:nvSpPr>
          <p:cNvPr id="40964" name="圆角矩形 4"/>
          <p:cNvSpPr>
            <a:spLocks noChangeArrowheads="1"/>
          </p:cNvSpPr>
          <p:nvPr/>
        </p:nvSpPr>
        <p:spPr bwMode="auto">
          <a:xfrm>
            <a:off x="4344988" y="1125538"/>
            <a:ext cx="4392612" cy="5256212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417638" y="2117725"/>
          <a:ext cx="2520950" cy="296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950"/>
              </a:tblGrid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形式与政策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100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体育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65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1, 87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71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2, 89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83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大学物理实验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96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大学计算机基础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6409" name="直接连接符 4"/>
          <p:cNvCxnSpPr>
            <a:cxnSpLocks noChangeShapeType="1"/>
          </p:cNvCxnSpPr>
          <p:nvPr/>
        </p:nvCxnSpPr>
        <p:spPr bwMode="auto">
          <a:xfrm>
            <a:off x="468313" y="2046288"/>
            <a:ext cx="935037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0986" name="组合 6"/>
          <p:cNvGrpSpPr>
            <a:grpSpLocks/>
          </p:cNvGrpSpPr>
          <p:nvPr/>
        </p:nvGrpSpPr>
        <p:grpSpPr bwMode="auto">
          <a:xfrm>
            <a:off x="671513" y="1125538"/>
            <a:ext cx="3181350" cy="574675"/>
            <a:chOff x="4974653" y="4385"/>
            <a:chExt cx="2663177" cy="379983"/>
          </a:xfrm>
        </p:grpSpPr>
        <p:sp>
          <p:nvSpPr>
            <p:cNvPr id="40998" name="矩形 12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8AB9E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9" name="矩形 13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0" tIns="8890" rIns="8890" bIns="8890" anchor="ctr"/>
            <a:lstStyle/>
            <a:p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 第</a:t>
              </a:r>
              <a:r>
                <a:rPr lang="en-US" altLang="zh-CN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2</a:t>
              </a:r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步：打开游标</a:t>
              </a:r>
            </a:p>
          </p:txBody>
        </p:sp>
      </p:grpSp>
      <p:sp>
        <p:nvSpPr>
          <p:cNvPr id="40987" name="TextBox 3"/>
          <p:cNvSpPr txBox="1">
            <a:spLocks noChangeArrowheads="1"/>
          </p:cNvSpPr>
          <p:nvPr/>
        </p:nvSpPr>
        <p:spPr bwMode="auto">
          <a:xfrm>
            <a:off x="209550" y="2133600"/>
            <a:ext cx="13065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/>
              <a:t>0x00000018 </a:t>
            </a:r>
          </a:p>
        </p:txBody>
      </p:sp>
      <p:sp>
        <p:nvSpPr>
          <p:cNvPr id="40988" name="TextBox 14"/>
          <p:cNvSpPr txBox="1">
            <a:spLocks noChangeArrowheads="1"/>
          </p:cNvSpPr>
          <p:nvPr/>
        </p:nvSpPr>
        <p:spPr bwMode="auto">
          <a:xfrm>
            <a:off x="179388" y="3219450"/>
            <a:ext cx="13065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/>
              <a:t>0x0000001B</a:t>
            </a:r>
          </a:p>
        </p:txBody>
      </p:sp>
      <p:sp>
        <p:nvSpPr>
          <p:cNvPr id="40989" name="TextBox 15"/>
          <p:cNvSpPr txBox="1">
            <a:spLocks noChangeArrowheads="1"/>
          </p:cNvSpPr>
          <p:nvPr/>
        </p:nvSpPr>
        <p:spPr bwMode="auto">
          <a:xfrm>
            <a:off x="179388" y="3589338"/>
            <a:ext cx="13065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/>
              <a:t>0x0000001C</a:t>
            </a:r>
          </a:p>
        </p:txBody>
      </p:sp>
      <p:sp>
        <p:nvSpPr>
          <p:cNvPr id="40990" name="TextBox 21"/>
          <p:cNvSpPr txBox="1">
            <a:spLocks noChangeArrowheads="1"/>
          </p:cNvSpPr>
          <p:nvPr/>
        </p:nvSpPr>
        <p:spPr bwMode="auto">
          <a:xfrm>
            <a:off x="179388" y="3946525"/>
            <a:ext cx="1290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/>
              <a:t>0x0000001D</a:t>
            </a:r>
          </a:p>
        </p:txBody>
      </p:sp>
      <p:sp>
        <p:nvSpPr>
          <p:cNvPr id="40991" name="TextBox 22"/>
          <p:cNvSpPr txBox="1">
            <a:spLocks noChangeArrowheads="1"/>
          </p:cNvSpPr>
          <p:nvPr/>
        </p:nvSpPr>
        <p:spPr bwMode="auto">
          <a:xfrm>
            <a:off x="179388" y="4332288"/>
            <a:ext cx="1306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/>
              <a:t>0x0000001E</a:t>
            </a:r>
          </a:p>
        </p:txBody>
      </p:sp>
      <p:sp>
        <p:nvSpPr>
          <p:cNvPr id="40992" name="TextBox 23"/>
          <p:cNvSpPr txBox="1">
            <a:spLocks noChangeArrowheads="1"/>
          </p:cNvSpPr>
          <p:nvPr/>
        </p:nvSpPr>
        <p:spPr bwMode="auto">
          <a:xfrm>
            <a:off x="179388" y="4672013"/>
            <a:ext cx="13065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/>
              <a:t>0x0000001F</a:t>
            </a:r>
          </a:p>
        </p:txBody>
      </p:sp>
      <p:sp>
        <p:nvSpPr>
          <p:cNvPr id="40993" name="TextBox 24"/>
          <p:cNvSpPr txBox="1">
            <a:spLocks noChangeArrowheads="1"/>
          </p:cNvSpPr>
          <p:nvPr/>
        </p:nvSpPr>
        <p:spPr bwMode="auto">
          <a:xfrm>
            <a:off x="179388" y="2471738"/>
            <a:ext cx="13065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/>
              <a:t>0x00000019</a:t>
            </a:r>
          </a:p>
        </p:txBody>
      </p:sp>
      <p:sp>
        <p:nvSpPr>
          <p:cNvPr id="40994" name="TextBox 25"/>
          <p:cNvSpPr txBox="1">
            <a:spLocks noChangeArrowheads="1"/>
          </p:cNvSpPr>
          <p:nvPr/>
        </p:nvSpPr>
        <p:spPr bwMode="auto">
          <a:xfrm>
            <a:off x="179388" y="2833688"/>
            <a:ext cx="13065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/>
              <a:t>0x0000001A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4925" y="2133600"/>
            <a:ext cx="1327150" cy="2886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19" name="TextBox 3"/>
          <p:cNvSpPr txBox="1">
            <a:spLocks noChangeArrowheads="1"/>
          </p:cNvSpPr>
          <p:nvPr/>
        </p:nvSpPr>
        <p:spPr bwMode="auto">
          <a:xfrm>
            <a:off x="1346200" y="5430838"/>
            <a:ext cx="183197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zh-CN" sz="2000" b="0"/>
              <a:t>open c1;</a:t>
            </a:r>
          </a:p>
        </p:txBody>
      </p:sp>
      <p:sp>
        <p:nvSpPr>
          <p:cNvPr id="20" name="圆角矩形 11"/>
          <p:cNvSpPr>
            <a:spLocks noChangeArrowheads="1"/>
          </p:cNvSpPr>
          <p:nvPr/>
        </p:nvSpPr>
        <p:spPr bwMode="auto">
          <a:xfrm>
            <a:off x="887413" y="5364163"/>
            <a:ext cx="2965450" cy="585787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/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  <p:sp>
        <p:nvSpPr>
          <p:cNvPr id="41987" name="TextBox 2"/>
          <p:cNvSpPr txBox="1">
            <a:spLocks noChangeArrowheads="1"/>
          </p:cNvSpPr>
          <p:nvPr/>
        </p:nvSpPr>
        <p:spPr bwMode="auto">
          <a:xfrm>
            <a:off x="4633913" y="1196975"/>
            <a:ext cx="4041775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declare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a varchar2(10);  b varchar2(20);  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c varchar2(40);  d number; m number;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</a:t>
            </a:r>
            <a:r>
              <a:rPr lang="en-US" altLang="zh-CN" sz="1800" b="0">
                <a:ea typeface="黑体" pitchFamily="49" charset="-122"/>
              </a:rPr>
              <a:t>cursor  c1 is 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Select s.sno,sname,cname,grade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From s,sc,c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Where   s.sno=sc.sno 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            and c.cno=sc.cno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	 and college='</a:t>
            </a:r>
            <a:r>
              <a:rPr lang="zh-CN" altLang="en-US" sz="1800" b="0">
                <a:ea typeface="黑体" pitchFamily="49" charset="-122"/>
              </a:rPr>
              <a:t>信息</a:t>
            </a:r>
            <a:r>
              <a:rPr lang="en-US" altLang="zh-CN" sz="1800" b="0">
                <a:ea typeface="黑体" pitchFamily="49" charset="-122"/>
              </a:rPr>
              <a:t>';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begin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solidFill>
                  <a:srgbClr val="FF0000"/>
                </a:solidFill>
                <a:ea typeface="黑体" pitchFamily="49" charset="-122"/>
              </a:rPr>
              <a:t>  </a:t>
            </a: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open c1;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ea typeface="黑体" pitchFamily="49" charset="-122"/>
              </a:rPr>
              <a:t>  </a:t>
            </a:r>
            <a:r>
              <a:rPr lang="en-US" altLang="zh-CN" sz="1800" b="0">
                <a:ea typeface="黑体" pitchFamily="49" charset="-122"/>
              </a:rPr>
              <a:t>a:=</a:t>
            </a:r>
            <a:r>
              <a:rPr lang="en-US" altLang="zh-CN" sz="1800" b="0"/>
              <a:t>'</a:t>
            </a:r>
            <a:r>
              <a:rPr lang="en-US" altLang="zh-CN" sz="1800" b="0">
                <a:ea typeface="黑体" pitchFamily="49" charset="-122"/>
              </a:rPr>
              <a:t>04023</a:t>
            </a:r>
            <a:r>
              <a:rPr lang="en-US" altLang="zh-CN" sz="1800" b="0"/>
              <a:t>'</a:t>
            </a:r>
            <a:r>
              <a:rPr lang="en-US" altLang="zh-CN" sz="1800" b="0">
                <a:ea typeface="黑体" pitchFamily="49" charset="-122"/>
              </a:rPr>
              <a:t>;  b:=</a:t>
            </a:r>
            <a:r>
              <a:rPr lang="en-US" altLang="zh-CN" sz="1800" b="0"/>
              <a:t>'</a:t>
            </a:r>
            <a:r>
              <a:rPr lang="zh-CN" altLang="en-US" sz="1800" b="0">
                <a:ea typeface="黑体" pitchFamily="49" charset="-122"/>
              </a:rPr>
              <a:t>段希飞</a:t>
            </a:r>
            <a:r>
              <a:rPr lang="en-US" altLang="zh-CN" sz="1800" b="0"/>
              <a:t>'</a:t>
            </a:r>
            <a:r>
              <a:rPr lang="en-US" altLang="zh-CN" sz="1800" b="0">
                <a:ea typeface="黑体" pitchFamily="49" charset="-122"/>
              </a:rPr>
              <a:t>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c:=</a:t>
            </a:r>
            <a:r>
              <a:rPr lang="en-US" altLang="zh-CN" sz="1800" b="0"/>
              <a:t>'</a:t>
            </a:r>
            <a:r>
              <a:rPr lang="zh-CN" altLang="en-US" sz="1800" b="0">
                <a:ea typeface="黑体" pitchFamily="49" charset="-122"/>
              </a:rPr>
              <a:t>形式与政策</a:t>
            </a:r>
            <a:r>
              <a:rPr lang="en-US" altLang="zh-CN" sz="1800" b="0"/>
              <a:t>'</a:t>
            </a:r>
            <a:r>
              <a:rPr lang="en-US" altLang="zh-CN" sz="1800" b="0">
                <a:ea typeface="黑体" pitchFamily="49" charset="-122"/>
              </a:rPr>
              <a:t>; d:=100;  m:=0</a:t>
            </a:r>
            <a:r>
              <a:rPr lang="en-US" altLang="zh-CN" sz="1800">
                <a:ea typeface="黑体" pitchFamily="49" charset="-122"/>
              </a:rPr>
              <a:t>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if (d&gt;60) then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m:=m+d;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dbms_output.put_line(a||b||c||d||m);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end if;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end;</a:t>
            </a:r>
            <a:endParaRPr lang="zh-CN" altLang="en-US" sz="1800" b="0">
              <a:ea typeface="黑体" pitchFamily="49" charset="-122"/>
            </a:endParaRPr>
          </a:p>
        </p:txBody>
      </p:sp>
      <p:sp>
        <p:nvSpPr>
          <p:cNvPr id="41988" name="圆角矩形 4"/>
          <p:cNvSpPr>
            <a:spLocks noChangeArrowheads="1"/>
          </p:cNvSpPr>
          <p:nvPr/>
        </p:nvSpPr>
        <p:spPr bwMode="auto">
          <a:xfrm>
            <a:off x="4344988" y="1123950"/>
            <a:ext cx="4392612" cy="5473700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cxnSp>
        <p:nvCxnSpPr>
          <p:cNvPr id="41989" name="直接连接符 4"/>
          <p:cNvCxnSpPr>
            <a:cxnSpLocks noChangeShapeType="1"/>
          </p:cNvCxnSpPr>
          <p:nvPr/>
        </p:nvCxnSpPr>
        <p:spPr bwMode="auto">
          <a:xfrm>
            <a:off x="468313" y="2028825"/>
            <a:ext cx="935037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990" name="组合 10"/>
          <p:cNvGrpSpPr>
            <a:grpSpLocks/>
          </p:cNvGrpSpPr>
          <p:nvPr/>
        </p:nvGrpSpPr>
        <p:grpSpPr bwMode="auto">
          <a:xfrm>
            <a:off x="671513" y="1125538"/>
            <a:ext cx="3181350" cy="574675"/>
            <a:chOff x="4974653" y="4385"/>
            <a:chExt cx="2663177" cy="379983"/>
          </a:xfrm>
        </p:grpSpPr>
        <p:sp>
          <p:nvSpPr>
            <p:cNvPr id="42012" name="矩形 12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8AB9E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3" name="矩形 13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0" tIns="8890" rIns="8890" bIns="8890" anchor="ctr"/>
            <a:lstStyle/>
            <a:p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 第</a:t>
              </a:r>
              <a:r>
                <a:rPr lang="en-US" altLang="zh-CN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2</a:t>
              </a:r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步：打开游标</a:t>
              </a:r>
            </a:p>
          </p:txBody>
        </p:sp>
      </p:grpSp>
      <p:sp>
        <p:nvSpPr>
          <p:cNvPr id="41991" name="圆角矩形 4"/>
          <p:cNvSpPr>
            <a:spLocks noChangeArrowheads="1"/>
          </p:cNvSpPr>
          <p:nvPr/>
        </p:nvSpPr>
        <p:spPr bwMode="auto">
          <a:xfrm>
            <a:off x="4633913" y="4149725"/>
            <a:ext cx="3683000" cy="287338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417638" y="2117725"/>
          <a:ext cx="2520950" cy="296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950"/>
              </a:tblGrid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形式与政策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100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体育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65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1, 87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71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2, 89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83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大学物理实验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96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大学计算机基础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  <p:cxnSp>
        <p:nvCxnSpPr>
          <p:cNvPr id="5" name="直接连接符 4"/>
          <p:cNvCxnSpPr>
            <a:cxnSpLocks noChangeShapeType="1"/>
          </p:cNvCxnSpPr>
          <p:nvPr/>
        </p:nvCxnSpPr>
        <p:spPr bwMode="auto">
          <a:xfrm>
            <a:off x="468313" y="1787525"/>
            <a:ext cx="935037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423988" y="1905000"/>
            <a:ext cx="25003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300">
                <a:solidFill>
                  <a:srgbClr val="FF0000"/>
                </a:solidFill>
              </a:rPr>
              <a:t>04023, </a:t>
            </a:r>
            <a:r>
              <a:rPr lang="zh-CN" altLang="en-US" sz="1300">
                <a:solidFill>
                  <a:srgbClr val="FF0000"/>
                </a:solidFill>
              </a:rPr>
              <a:t>段希飞</a:t>
            </a:r>
            <a:r>
              <a:rPr lang="en-US" altLang="zh-CN" sz="1300">
                <a:solidFill>
                  <a:srgbClr val="FF0000"/>
                </a:solidFill>
              </a:rPr>
              <a:t>, </a:t>
            </a:r>
            <a:r>
              <a:rPr lang="zh-CN" altLang="en-US" sz="1300">
                <a:solidFill>
                  <a:srgbClr val="FF0000"/>
                </a:solidFill>
              </a:rPr>
              <a:t>形式与政策</a:t>
            </a:r>
            <a:r>
              <a:rPr lang="en-US" altLang="zh-CN" sz="1300">
                <a:solidFill>
                  <a:srgbClr val="FF0000"/>
                </a:solidFill>
              </a:rPr>
              <a:t>, 100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921250" y="3140075"/>
            <a:ext cx="3241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800">
                <a:solidFill>
                  <a:srgbClr val="FF0000"/>
                </a:solidFill>
              </a:rPr>
              <a:t>   a       b            c         d</a:t>
            </a:r>
            <a:endParaRPr lang="zh-CN" altLang="en-US" sz="1800">
              <a:solidFill>
                <a:srgbClr val="FF0000"/>
              </a:solidFill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417638" y="1901825"/>
          <a:ext cx="2520950" cy="296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950"/>
              </a:tblGrid>
              <a:tr h="370880">
                <a:tc>
                  <a:txBody>
                    <a:bodyPr/>
                    <a:lstStyle/>
                    <a:p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体育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65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1, 87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71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2, 89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83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大学物理实验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96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大学计算机基础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7" name="直接连接符 16"/>
          <p:cNvCxnSpPr>
            <a:cxnSpLocks noChangeShapeType="1"/>
          </p:cNvCxnSpPr>
          <p:nvPr/>
        </p:nvCxnSpPr>
        <p:spPr bwMode="auto">
          <a:xfrm>
            <a:off x="5240338" y="3078163"/>
            <a:ext cx="0" cy="185737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连接符 17"/>
          <p:cNvCxnSpPr>
            <a:cxnSpLocks noChangeShapeType="1"/>
          </p:cNvCxnSpPr>
          <p:nvPr/>
        </p:nvCxnSpPr>
        <p:spPr bwMode="auto">
          <a:xfrm>
            <a:off x="5724525" y="3078163"/>
            <a:ext cx="0" cy="185737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连接符 18"/>
          <p:cNvCxnSpPr>
            <a:cxnSpLocks noChangeShapeType="1"/>
          </p:cNvCxnSpPr>
          <p:nvPr/>
        </p:nvCxnSpPr>
        <p:spPr bwMode="auto">
          <a:xfrm>
            <a:off x="6567488" y="3108325"/>
            <a:ext cx="0" cy="185738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>
            <a:off x="7194550" y="3078163"/>
            <a:ext cx="0" cy="185737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extBox 3"/>
          <p:cNvSpPr txBox="1">
            <a:spLocks noChangeArrowheads="1"/>
          </p:cNvSpPr>
          <p:nvPr/>
        </p:nvSpPr>
        <p:spPr bwMode="auto">
          <a:xfrm>
            <a:off x="4643438" y="3856038"/>
            <a:ext cx="3673475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zh-CN" sz="2000" b="0"/>
              <a:t>fetch c1 into a, b, c, d;</a:t>
            </a:r>
          </a:p>
        </p:txBody>
      </p:sp>
      <p:sp>
        <p:nvSpPr>
          <p:cNvPr id="23" name="圆角矩形 11"/>
          <p:cNvSpPr>
            <a:spLocks noChangeArrowheads="1"/>
          </p:cNvSpPr>
          <p:nvPr/>
        </p:nvSpPr>
        <p:spPr bwMode="auto">
          <a:xfrm>
            <a:off x="4356100" y="3787775"/>
            <a:ext cx="4032250" cy="585788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000"/>
          </a:p>
        </p:txBody>
      </p:sp>
      <p:grpSp>
        <p:nvGrpSpPr>
          <p:cNvPr id="43040" name="组合 12"/>
          <p:cNvGrpSpPr>
            <a:grpSpLocks/>
          </p:cNvGrpSpPr>
          <p:nvPr/>
        </p:nvGrpSpPr>
        <p:grpSpPr bwMode="auto">
          <a:xfrm>
            <a:off x="671513" y="1052513"/>
            <a:ext cx="3829050" cy="574675"/>
            <a:chOff x="4974653" y="4385"/>
            <a:chExt cx="2663177" cy="379983"/>
          </a:xfrm>
        </p:grpSpPr>
        <p:sp>
          <p:nvSpPr>
            <p:cNvPr id="43043" name="矩形 12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8AB9E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4" name="矩形 13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0" tIns="8890" rIns="8890" bIns="8890" anchor="ctr"/>
            <a:lstStyle/>
            <a:p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 第</a:t>
              </a:r>
              <a:r>
                <a:rPr lang="en-US" altLang="zh-CN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3</a:t>
              </a:r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步：提取游标数据</a:t>
              </a:r>
            </a:p>
          </p:txBody>
        </p:sp>
      </p:grp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1423988" y="1906588"/>
            <a:ext cx="25003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300">
                <a:solidFill>
                  <a:srgbClr val="FF0000"/>
                </a:solidFill>
              </a:rPr>
              <a:t>04023, </a:t>
            </a:r>
            <a:r>
              <a:rPr lang="zh-CN" altLang="en-US" sz="1300">
                <a:solidFill>
                  <a:srgbClr val="FF0000"/>
                </a:solidFill>
              </a:rPr>
              <a:t>段希飞</a:t>
            </a:r>
            <a:r>
              <a:rPr lang="en-US" altLang="zh-CN" sz="1300">
                <a:solidFill>
                  <a:srgbClr val="FF0000"/>
                </a:solidFill>
              </a:rPr>
              <a:t>, </a:t>
            </a:r>
            <a:r>
              <a:rPr lang="zh-CN" altLang="en-US" sz="1300">
                <a:solidFill>
                  <a:srgbClr val="FF0000"/>
                </a:solidFill>
              </a:rPr>
              <a:t>形式与政策</a:t>
            </a:r>
            <a:r>
              <a:rPr lang="en-US" altLang="zh-CN" sz="1300">
                <a:solidFill>
                  <a:srgbClr val="FF0000"/>
                </a:solidFill>
              </a:rPr>
              <a:t>, 100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1427163" y="1905000"/>
            <a:ext cx="25003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300"/>
              <a:t>04023, </a:t>
            </a:r>
            <a:r>
              <a:rPr lang="zh-CN" altLang="en-US" sz="1300"/>
              <a:t>段希飞</a:t>
            </a:r>
            <a:r>
              <a:rPr lang="en-US" altLang="zh-CN" sz="1300"/>
              <a:t>, </a:t>
            </a:r>
            <a:r>
              <a:rPr lang="zh-CN" altLang="en-US" sz="1300"/>
              <a:t>形式与政策</a:t>
            </a:r>
            <a:r>
              <a:rPr lang="en-US" altLang="zh-CN" sz="1300"/>
              <a:t>, 100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00069 L 0.00295 0.04352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48148E-6 L 0.38767 0.1437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375" y="7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22" grpId="0"/>
      <p:bldP spid="23" grpId="0" animBg="1"/>
      <p:bldP spid="24" grpId="0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  <p:cxnSp>
        <p:nvCxnSpPr>
          <p:cNvPr id="44035" name="直接连接符 4"/>
          <p:cNvCxnSpPr>
            <a:cxnSpLocks noChangeShapeType="1"/>
          </p:cNvCxnSpPr>
          <p:nvPr/>
        </p:nvCxnSpPr>
        <p:spPr bwMode="auto">
          <a:xfrm>
            <a:off x="468313" y="2035175"/>
            <a:ext cx="935037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36" name="TextBox 2"/>
          <p:cNvSpPr txBox="1">
            <a:spLocks noChangeArrowheads="1"/>
          </p:cNvSpPr>
          <p:nvPr/>
        </p:nvSpPr>
        <p:spPr bwMode="auto">
          <a:xfrm>
            <a:off x="4953000" y="2782888"/>
            <a:ext cx="24987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300">
                <a:solidFill>
                  <a:srgbClr val="FF0000"/>
                </a:solidFill>
              </a:rPr>
              <a:t>04023, </a:t>
            </a:r>
            <a:r>
              <a:rPr lang="zh-CN" altLang="en-US" sz="1300">
                <a:solidFill>
                  <a:srgbClr val="FF0000"/>
                </a:solidFill>
              </a:rPr>
              <a:t>段希飞</a:t>
            </a:r>
            <a:r>
              <a:rPr lang="en-US" altLang="zh-CN" sz="1300">
                <a:solidFill>
                  <a:srgbClr val="FF0000"/>
                </a:solidFill>
              </a:rPr>
              <a:t>, </a:t>
            </a:r>
            <a:r>
              <a:rPr lang="zh-CN" altLang="en-US" sz="1300">
                <a:solidFill>
                  <a:srgbClr val="FF0000"/>
                </a:solidFill>
              </a:rPr>
              <a:t>形式与政策</a:t>
            </a:r>
            <a:r>
              <a:rPr lang="en-US" altLang="zh-CN" sz="1300">
                <a:solidFill>
                  <a:srgbClr val="FF0000"/>
                </a:solidFill>
              </a:rPr>
              <a:t>, 100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4037" name="TextBox 14"/>
          <p:cNvSpPr txBox="1">
            <a:spLocks noChangeArrowheads="1"/>
          </p:cNvSpPr>
          <p:nvPr/>
        </p:nvSpPr>
        <p:spPr bwMode="auto">
          <a:xfrm>
            <a:off x="4921250" y="3082925"/>
            <a:ext cx="3241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800">
                <a:solidFill>
                  <a:srgbClr val="FF0000"/>
                </a:solidFill>
              </a:rPr>
              <a:t>   a       b            c         d</a:t>
            </a:r>
            <a:endParaRPr lang="zh-CN" altLang="en-US" sz="1800">
              <a:solidFill>
                <a:srgbClr val="FF0000"/>
              </a:solidFill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417638" y="1844675"/>
          <a:ext cx="2520950" cy="296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950"/>
              </a:tblGrid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rgbClr val="FF0000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rgbClr val="FF0000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rgbClr val="FF0000"/>
                          </a:solidFill>
                        </a:rPr>
                        <a:t>形式与政策</a:t>
                      </a:r>
                      <a:r>
                        <a:rPr lang="en-US" altLang="zh-CN" sz="1300" b="1" dirty="0" smtClean="0">
                          <a:solidFill>
                            <a:srgbClr val="FF0000"/>
                          </a:solidFill>
                        </a:rPr>
                        <a:t>, 100</a:t>
                      </a:r>
                      <a:endParaRPr lang="zh-CN" altLang="en-US" sz="13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体育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65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1, 87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71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2, 89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83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大学物理实验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96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大学计算机基础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4058" name="直接连接符 16"/>
          <p:cNvCxnSpPr>
            <a:cxnSpLocks noChangeShapeType="1"/>
          </p:cNvCxnSpPr>
          <p:nvPr/>
        </p:nvCxnSpPr>
        <p:spPr bwMode="auto">
          <a:xfrm>
            <a:off x="5240338" y="3021013"/>
            <a:ext cx="0" cy="185737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9" name="直接连接符 17"/>
          <p:cNvCxnSpPr>
            <a:cxnSpLocks noChangeShapeType="1"/>
          </p:cNvCxnSpPr>
          <p:nvPr/>
        </p:nvCxnSpPr>
        <p:spPr bwMode="auto">
          <a:xfrm>
            <a:off x="5724525" y="3021013"/>
            <a:ext cx="0" cy="185737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60" name="直接连接符 18"/>
          <p:cNvCxnSpPr>
            <a:cxnSpLocks noChangeShapeType="1"/>
          </p:cNvCxnSpPr>
          <p:nvPr/>
        </p:nvCxnSpPr>
        <p:spPr bwMode="auto">
          <a:xfrm>
            <a:off x="6567488" y="3052763"/>
            <a:ext cx="0" cy="184150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61" name="直接连接符 19"/>
          <p:cNvCxnSpPr>
            <a:cxnSpLocks noChangeShapeType="1"/>
          </p:cNvCxnSpPr>
          <p:nvPr/>
        </p:nvCxnSpPr>
        <p:spPr bwMode="auto">
          <a:xfrm>
            <a:off x="7194550" y="3021013"/>
            <a:ext cx="0" cy="185737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62" name="TextBox 3"/>
          <p:cNvSpPr txBox="1">
            <a:spLocks noChangeArrowheads="1"/>
          </p:cNvSpPr>
          <p:nvPr/>
        </p:nvSpPr>
        <p:spPr bwMode="auto">
          <a:xfrm>
            <a:off x="4643438" y="3711575"/>
            <a:ext cx="41052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zh-CN" sz="2000" b="0"/>
              <a:t> fetch c1 into a, b, c, d;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if (d&gt;60) then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m:=m+d;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dbms_output.put_line(a||b||c||d||m);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end if;</a:t>
            </a:r>
          </a:p>
        </p:txBody>
      </p:sp>
      <p:sp>
        <p:nvSpPr>
          <p:cNvPr id="44063" name="圆角矩形 11"/>
          <p:cNvSpPr>
            <a:spLocks noChangeArrowheads="1"/>
          </p:cNvSpPr>
          <p:nvPr/>
        </p:nvSpPr>
        <p:spPr bwMode="auto">
          <a:xfrm>
            <a:off x="4356100" y="3644900"/>
            <a:ext cx="4392613" cy="1954213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000"/>
          </a:p>
        </p:txBody>
      </p:sp>
      <p:grpSp>
        <p:nvGrpSpPr>
          <p:cNvPr id="44064" name="组合 12"/>
          <p:cNvGrpSpPr>
            <a:grpSpLocks/>
          </p:cNvGrpSpPr>
          <p:nvPr/>
        </p:nvGrpSpPr>
        <p:grpSpPr bwMode="auto">
          <a:xfrm>
            <a:off x="671513" y="1052513"/>
            <a:ext cx="3829050" cy="574675"/>
            <a:chOff x="4974653" y="4385"/>
            <a:chExt cx="2663177" cy="379983"/>
          </a:xfrm>
        </p:grpSpPr>
        <p:sp>
          <p:nvSpPr>
            <p:cNvPr id="44065" name="矩形 12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8AB9E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6" name="矩形 13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0" tIns="8890" rIns="8890" bIns="8890" anchor="ctr"/>
            <a:lstStyle/>
            <a:p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 第</a:t>
              </a:r>
              <a:r>
                <a:rPr lang="en-US" altLang="zh-CN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3</a:t>
              </a:r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步：提取游标数据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425575" y="2214563"/>
            <a:ext cx="2500313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300">
                <a:solidFill>
                  <a:srgbClr val="FF0000"/>
                </a:solidFill>
              </a:rPr>
              <a:t>04023, </a:t>
            </a:r>
            <a:r>
              <a:rPr lang="zh-CN" altLang="en-US" sz="1300">
                <a:solidFill>
                  <a:srgbClr val="FF0000"/>
                </a:solidFill>
              </a:rPr>
              <a:t>段希飞</a:t>
            </a:r>
            <a:r>
              <a:rPr lang="en-US" altLang="zh-CN" sz="1300">
                <a:solidFill>
                  <a:srgbClr val="FF0000"/>
                </a:solidFill>
              </a:rPr>
              <a:t>, </a:t>
            </a:r>
            <a:r>
              <a:rPr lang="zh-CN" altLang="en-US" sz="1300">
                <a:solidFill>
                  <a:srgbClr val="FF0000"/>
                </a:solidFill>
              </a:rPr>
              <a:t>体育</a:t>
            </a:r>
            <a:r>
              <a:rPr lang="en-US" altLang="zh-CN" sz="1300">
                <a:solidFill>
                  <a:srgbClr val="FF0000"/>
                </a:solidFill>
              </a:rPr>
              <a:t>, 65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5059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  <p:sp>
        <p:nvSpPr>
          <p:cNvPr id="20485" name="TextBox 14"/>
          <p:cNvSpPr txBox="1">
            <a:spLocks noChangeArrowheads="1"/>
          </p:cNvSpPr>
          <p:nvPr/>
        </p:nvSpPr>
        <p:spPr bwMode="auto">
          <a:xfrm>
            <a:off x="4921250" y="3082925"/>
            <a:ext cx="3241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800">
                <a:solidFill>
                  <a:srgbClr val="FF0000"/>
                </a:solidFill>
              </a:rPr>
              <a:t>     a        b      c    d</a:t>
            </a:r>
            <a:endParaRPr lang="zh-CN" altLang="en-US" sz="1800">
              <a:solidFill>
                <a:srgbClr val="FF0000"/>
              </a:solidFill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417638" y="1844675"/>
          <a:ext cx="2520950" cy="296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950"/>
              </a:tblGrid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形式与政策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100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体育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65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1, 87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71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2, 89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83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大学物理实验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96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大学计算机基础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0506" name="直接连接符 16"/>
          <p:cNvCxnSpPr>
            <a:cxnSpLocks noChangeShapeType="1"/>
          </p:cNvCxnSpPr>
          <p:nvPr/>
        </p:nvCxnSpPr>
        <p:spPr bwMode="auto">
          <a:xfrm>
            <a:off x="5364163" y="3021013"/>
            <a:ext cx="0" cy="185737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7" name="直接连接符 17"/>
          <p:cNvCxnSpPr>
            <a:cxnSpLocks noChangeShapeType="1"/>
          </p:cNvCxnSpPr>
          <p:nvPr/>
        </p:nvCxnSpPr>
        <p:spPr bwMode="auto">
          <a:xfrm>
            <a:off x="5910263" y="3021013"/>
            <a:ext cx="0" cy="185737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8" name="直接连接符 18"/>
          <p:cNvCxnSpPr>
            <a:cxnSpLocks noChangeShapeType="1"/>
          </p:cNvCxnSpPr>
          <p:nvPr/>
        </p:nvCxnSpPr>
        <p:spPr bwMode="auto">
          <a:xfrm>
            <a:off x="6413500" y="3043238"/>
            <a:ext cx="0" cy="184150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9" name="直接连接符 19"/>
          <p:cNvCxnSpPr>
            <a:cxnSpLocks noChangeShapeType="1"/>
          </p:cNvCxnSpPr>
          <p:nvPr/>
        </p:nvCxnSpPr>
        <p:spPr bwMode="auto">
          <a:xfrm>
            <a:off x="6732588" y="3021013"/>
            <a:ext cx="0" cy="185737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0" name="TextBox 3"/>
          <p:cNvSpPr txBox="1">
            <a:spLocks noChangeArrowheads="1"/>
          </p:cNvSpPr>
          <p:nvPr/>
        </p:nvSpPr>
        <p:spPr bwMode="auto">
          <a:xfrm>
            <a:off x="4643438" y="3711575"/>
            <a:ext cx="41052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zh-CN" sz="2000" b="0"/>
              <a:t> fetch c1 into a, b, c, d;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if (d&gt;60) then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m:=m+d;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dbms_output.put_line(a||b||c||d||m);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end if;</a:t>
            </a:r>
          </a:p>
        </p:txBody>
      </p:sp>
      <p:sp>
        <p:nvSpPr>
          <p:cNvPr id="20511" name="圆角矩形 11"/>
          <p:cNvSpPr>
            <a:spLocks noChangeArrowheads="1"/>
          </p:cNvSpPr>
          <p:nvPr/>
        </p:nvSpPr>
        <p:spPr bwMode="auto">
          <a:xfrm>
            <a:off x="4356100" y="3644900"/>
            <a:ext cx="4392613" cy="1954213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000"/>
          </a:p>
        </p:txBody>
      </p:sp>
      <p:grpSp>
        <p:nvGrpSpPr>
          <p:cNvPr id="45087" name="组合 12"/>
          <p:cNvGrpSpPr>
            <a:grpSpLocks/>
          </p:cNvGrpSpPr>
          <p:nvPr/>
        </p:nvGrpSpPr>
        <p:grpSpPr bwMode="auto">
          <a:xfrm>
            <a:off x="671513" y="1052513"/>
            <a:ext cx="3829050" cy="574675"/>
            <a:chOff x="4974653" y="4385"/>
            <a:chExt cx="2663177" cy="379983"/>
          </a:xfrm>
        </p:grpSpPr>
        <p:sp>
          <p:nvSpPr>
            <p:cNvPr id="45090" name="矩形 12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8AB9E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1" name="矩形 13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0" tIns="8890" rIns="8890" bIns="8890" anchor="ctr"/>
            <a:lstStyle/>
            <a:p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 第</a:t>
              </a:r>
              <a:r>
                <a:rPr lang="en-US" altLang="zh-CN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3</a:t>
              </a:r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步：提取游标数据</a:t>
              </a:r>
            </a:p>
          </p:txBody>
        </p:sp>
      </p:grp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1423988" y="2224088"/>
            <a:ext cx="25003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300">
                <a:solidFill>
                  <a:srgbClr val="FF0000"/>
                </a:solidFill>
              </a:rPr>
              <a:t>04023, </a:t>
            </a:r>
            <a:r>
              <a:rPr lang="zh-CN" altLang="en-US" sz="1300">
                <a:solidFill>
                  <a:srgbClr val="FF0000"/>
                </a:solidFill>
              </a:rPr>
              <a:t>段希飞</a:t>
            </a:r>
            <a:r>
              <a:rPr lang="en-US" altLang="zh-CN" sz="1300">
                <a:solidFill>
                  <a:srgbClr val="FF0000"/>
                </a:solidFill>
              </a:rPr>
              <a:t>, </a:t>
            </a:r>
            <a:r>
              <a:rPr lang="zh-CN" altLang="en-US" sz="1300">
                <a:solidFill>
                  <a:srgbClr val="FF0000"/>
                </a:solidFill>
              </a:rPr>
              <a:t>体育</a:t>
            </a:r>
            <a:r>
              <a:rPr lang="en-US" altLang="zh-CN" sz="1300">
                <a:solidFill>
                  <a:srgbClr val="FF0000"/>
                </a:solidFill>
              </a:rPr>
              <a:t>, 65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9" name="直接连接符 18"/>
          <p:cNvCxnSpPr>
            <a:cxnSpLocks noChangeShapeType="1"/>
          </p:cNvCxnSpPr>
          <p:nvPr/>
        </p:nvCxnSpPr>
        <p:spPr bwMode="auto">
          <a:xfrm>
            <a:off x="468313" y="2060575"/>
            <a:ext cx="935037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00069 L 0.00295 0.04352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708 -0.00162 L 0.40069 0.08056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81" y="40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485" grpId="0"/>
      <p:bldP spid="20510" grpId="0"/>
      <p:bldP spid="20511" grpId="0" animBg="1"/>
      <p:bldP spid="1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  <p:cxnSp>
        <p:nvCxnSpPr>
          <p:cNvPr id="46083" name="直接连接符 4"/>
          <p:cNvCxnSpPr>
            <a:cxnSpLocks noChangeShapeType="1"/>
          </p:cNvCxnSpPr>
          <p:nvPr/>
        </p:nvCxnSpPr>
        <p:spPr bwMode="auto">
          <a:xfrm>
            <a:off x="468313" y="2379663"/>
            <a:ext cx="935037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084" name="TextBox 2"/>
          <p:cNvSpPr txBox="1">
            <a:spLocks noChangeArrowheads="1"/>
          </p:cNvSpPr>
          <p:nvPr/>
        </p:nvSpPr>
        <p:spPr bwMode="auto">
          <a:xfrm>
            <a:off x="4953000" y="2782888"/>
            <a:ext cx="24987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300">
                <a:solidFill>
                  <a:srgbClr val="000000"/>
                </a:solidFill>
              </a:rPr>
              <a:t>04023, </a:t>
            </a:r>
            <a:r>
              <a:rPr lang="zh-CN" altLang="en-US" sz="1300">
                <a:solidFill>
                  <a:srgbClr val="000000"/>
                </a:solidFill>
              </a:rPr>
              <a:t>段希飞</a:t>
            </a:r>
            <a:r>
              <a:rPr lang="en-US" altLang="zh-CN" sz="1300">
                <a:solidFill>
                  <a:srgbClr val="000000"/>
                </a:solidFill>
              </a:rPr>
              <a:t>, </a:t>
            </a:r>
            <a:r>
              <a:rPr lang="zh-CN" altLang="en-US" sz="1300">
                <a:solidFill>
                  <a:srgbClr val="000000"/>
                </a:solidFill>
              </a:rPr>
              <a:t>形式与政策</a:t>
            </a:r>
            <a:r>
              <a:rPr lang="en-US" altLang="zh-CN" sz="1300">
                <a:solidFill>
                  <a:srgbClr val="000000"/>
                </a:solidFill>
              </a:rPr>
              <a:t>, 100</a:t>
            </a:r>
            <a:endParaRPr lang="zh-CN" altLang="en-US"/>
          </a:p>
        </p:txBody>
      </p:sp>
      <p:sp>
        <p:nvSpPr>
          <p:cNvPr id="46085" name="TextBox 14"/>
          <p:cNvSpPr txBox="1">
            <a:spLocks noChangeArrowheads="1"/>
          </p:cNvSpPr>
          <p:nvPr/>
        </p:nvSpPr>
        <p:spPr bwMode="auto">
          <a:xfrm>
            <a:off x="4921250" y="3082925"/>
            <a:ext cx="3241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800">
                <a:solidFill>
                  <a:srgbClr val="FF0000"/>
                </a:solidFill>
              </a:rPr>
              <a:t>   a       b            c         d</a:t>
            </a:r>
            <a:endParaRPr lang="zh-CN" altLang="en-US" sz="1800">
              <a:solidFill>
                <a:srgbClr val="FF0000"/>
              </a:solidFill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417638" y="1844675"/>
          <a:ext cx="2520950" cy="296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950"/>
              </a:tblGrid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形式与政策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100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体育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65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1, 87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71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2, 89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83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大学物理实验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96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大学计算机基础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6106" name="直接连接符 16"/>
          <p:cNvCxnSpPr>
            <a:cxnSpLocks noChangeShapeType="1"/>
          </p:cNvCxnSpPr>
          <p:nvPr/>
        </p:nvCxnSpPr>
        <p:spPr bwMode="auto">
          <a:xfrm>
            <a:off x="5240338" y="3021013"/>
            <a:ext cx="0" cy="185737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7" name="直接连接符 17"/>
          <p:cNvCxnSpPr>
            <a:cxnSpLocks noChangeShapeType="1"/>
          </p:cNvCxnSpPr>
          <p:nvPr/>
        </p:nvCxnSpPr>
        <p:spPr bwMode="auto">
          <a:xfrm>
            <a:off x="5724525" y="3021013"/>
            <a:ext cx="0" cy="185737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8" name="直接连接符 18"/>
          <p:cNvCxnSpPr>
            <a:cxnSpLocks noChangeShapeType="1"/>
          </p:cNvCxnSpPr>
          <p:nvPr/>
        </p:nvCxnSpPr>
        <p:spPr bwMode="auto">
          <a:xfrm>
            <a:off x="6567488" y="3052763"/>
            <a:ext cx="0" cy="184150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9" name="直接连接符 19"/>
          <p:cNvCxnSpPr>
            <a:cxnSpLocks noChangeShapeType="1"/>
          </p:cNvCxnSpPr>
          <p:nvPr/>
        </p:nvCxnSpPr>
        <p:spPr bwMode="auto">
          <a:xfrm>
            <a:off x="7194550" y="3021013"/>
            <a:ext cx="0" cy="185737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110" name="TextBox 3"/>
          <p:cNvSpPr txBox="1">
            <a:spLocks noChangeArrowheads="1"/>
          </p:cNvSpPr>
          <p:nvPr/>
        </p:nvSpPr>
        <p:spPr bwMode="auto">
          <a:xfrm>
            <a:off x="4643438" y="3711575"/>
            <a:ext cx="4105275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zh-CN" sz="2000">
                <a:solidFill>
                  <a:srgbClr val="FF0000"/>
                </a:solidFill>
              </a:rPr>
              <a:t>loop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fetch c1 into a, b, c, d;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if (d&gt;60) then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m:=m+d;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dbms_output.put_line(a||b||c||d||m);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end if;</a:t>
            </a:r>
          </a:p>
          <a:p>
            <a:pPr>
              <a:lnSpc>
                <a:spcPts val="2800"/>
              </a:lnSpc>
            </a:pPr>
            <a:r>
              <a:rPr lang="en-US" altLang="zh-CN" sz="2000">
                <a:solidFill>
                  <a:srgbClr val="FF0000"/>
                </a:solidFill>
              </a:rPr>
              <a:t>end loop;</a:t>
            </a:r>
          </a:p>
        </p:txBody>
      </p:sp>
      <p:sp>
        <p:nvSpPr>
          <p:cNvPr id="46111" name="圆角矩形 11"/>
          <p:cNvSpPr>
            <a:spLocks noChangeArrowheads="1"/>
          </p:cNvSpPr>
          <p:nvPr/>
        </p:nvSpPr>
        <p:spPr bwMode="auto">
          <a:xfrm>
            <a:off x="4356100" y="3644900"/>
            <a:ext cx="4392613" cy="2794000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000"/>
          </a:p>
        </p:txBody>
      </p:sp>
      <p:grpSp>
        <p:nvGrpSpPr>
          <p:cNvPr id="46112" name="组合 12"/>
          <p:cNvGrpSpPr>
            <a:grpSpLocks/>
          </p:cNvGrpSpPr>
          <p:nvPr/>
        </p:nvGrpSpPr>
        <p:grpSpPr bwMode="auto">
          <a:xfrm>
            <a:off x="671513" y="1052513"/>
            <a:ext cx="3829050" cy="574675"/>
            <a:chOff x="4974653" y="4385"/>
            <a:chExt cx="2663177" cy="379983"/>
          </a:xfrm>
        </p:grpSpPr>
        <p:sp>
          <p:nvSpPr>
            <p:cNvPr id="46115" name="矩形 12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8AB9E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6" name="矩形 13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0" tIns="8890" rIns="8890" bIns="8890" anchor="ctr"/>
            <a:lstStyle/>
            <a:p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 第</a:t>
              </a:r>
              <a:r>
                <a:rPr lang="en-US" altLang="zh-CN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3</a:t>
              </a:r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步：提取游标数据</a:t>
              </a:r>
            </a:p>
          </p:txBody>
        </p:sp>
      </p:grp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828675" y="5159375"/>
            <a:ext cx="3022600" cy="132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000">
                <a:solidFill>
                  <a:srgbClr val="0505EB"/>
                </a:solidFill>
              </a:rPr>
              <a:t>c1%notfound</a:t>
            </a:r>
            <a:r>
              <a:rPr lang="zh-CN" altLang="en-US" sz="2000">
                <a:solidFill>
                  <a:srgbClr val="0505EB"/>
                </a:solidFill>
              </a:rPr>
              <a:t>：</a:t>
            </a:r>
            <a:endParaRPr lang="en-US" altLang="zh-CN" sz="2000">
              <a:solidFill>
                <a:srgbClr val="0505EB"/>
              </a:solidFill>
            </a:endParaRPr>
          </a:p>
          <a:p>
            <a:r>
              <a:rPr lang="en-US" altLang="zh-CN" sz="2000">
                <a:solidFill>
                  <a:srgbClr val="FF0000"/>
                </a:solidFill>
              </a:rPr>
              <a:t>     </a:t>
            </a:r>
            <a:r>
              <a:rPr lang="zh-CN" altLang="en-US" sz="2000"/>
              <a:t>指针指向结果集中的元组返回</a:t>
            </a:r>
            <a:r>
              <a:rPr lang="en-US" altLang="zh-CN" sz="2000">
                <a:solidFill>
                  <a:srgbClr val="FF0000"/>
                </a:solidFill>
              </a:rPr>
              <a:t>False</a:t>
            </a:r>
            <a:r>
              <a:rPr lang="zh-CN" altLang="en-US" sz="2000">
                <a:solidFill>
                  <a:srgbClr val="FF0000"/>
                </a:solidFill>
              </a:rPr>
              <a:t>，</a:t>
            </a:r>
            <a:r>
              <a:rPr lang="zh-CN" altLang="en-US" sz="2000"/>
              <a:t>否则返回</a:t>
            </a:r>
            <a:r>
              <a:rPr lang="en-US" altLang="zh-CN" sz="2000">
                <a:solidFill>
                  <a:srgbClr val="FF0000"/>
                </a:solidFill>
              </a:rPr>
              <a:t>True</a:t>
            </a:r>
            <a:r>
              <a:rPr lang="en-US" altLang="zh-CN" sz="2000"/>
              <a:t>     </a:t>
            </a:r>
            <a:endParaRPr lang="zh-CN" altLang="en-US" sz="2000"/>
          </a:p>
        </p:txBody>
      </p:sp>
      <p:sp>
        <p:nvSpPr>
          <p:cNvPr id="18" name="圆角矩形 4"/>
          <p:cNvSpPr>
            <a:spLocks noChangeArrowheads="1"/>
          </p:cNvSpPr>
          <p:nvPr/>
        </p:nvSpPr>
        <p:spPr bwMode="auto">
          <a:xfrm>
            <a:off x="798513" y="5084763"/>
            <a:ext cx="2909887" cy="1498600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  <p:cxnSp>
        <p:nvCxnSpPr>
          <p:cNvPr id="47107" name="直接连接符 4"/>
          <p:cNvCxnSpPr>
            <a:cxnSpLocks noChangeShapeType="1"/>
          </p:cNvCxnSpPr>
          <p:nvPr/>
        </p:nvCxnSpPr>
        <p:spPr bwMode="auto">
          <a:xfrm>
            <a:off x="468313" y="2420938"/>
            <a:ext cx="935037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417638" y="1830388"/>
          <a:ext cx="2520950" cy="296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950"/>
              </a:tblGrid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形式与政策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100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体育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65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1, 87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71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2, 89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83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大学物理实验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96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大学计算机基础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128" name="TextBox 3"/>
          <p:cNvSpPr txBox="1">
            <a:spLocks noChangeArrowheads="1"/>
          </p:cNvSpPr>
          <p:nvPr/>
        </p:nvSpPr>
        <p:spPr bwMode="auto">
          <a:xfrm>
            <a:off x="4611688" y="3241675"/>
            <a:ext cx="4105275" cy="296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zh-CN" sz="2000">
                <a:solidFill>
                  <a:srgbClr val="FF0000"/>
                </a:solidFill>
              </a:rPr>
              <a:t>loop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fetch c1 into a, b, c, d;</a:t>
            </a:r>
          </a:p>
          <a:p>
            <a:pPr>
              <a:lnSpc>
                <a:spcPts val="2800"/>
              </a:lnSpc>
            </a:pPr>
            <a:endParaRPr lang="en-US" altLang="zh-CN" sz="2000" b="0"/>
          </a:p>
          <a:p>
            <a:pPr>
              <a:lnSpc>
                <a:spcPts val="2800"/>
              </a:lnSpc>
            </a:pPr>
            <a:r>
              <a:rPr lang="en-US" altLang="zh-CN" sz="2000" b="0"/>
              <a:t>if (d&gt;60) then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m:=m+d;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dbms_output.put_line(a||b||c||d||m);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end if;</a:t>
            </a:r>
          </a:p>
          <a:p>
            <a:pPr>
              <a:lnSpc>
                <a:spcPts val="2800"/>
              </a:lnSpc>
            </a:pPr>
            <a:r>
              <a:rPr lang="en-US" altLang="zh-CN" sz="2000">
                <a:solidFill>
                  <a:srgbClr val="FF0000"/>
                </a:solidFill>
              </a:rPr>
              <a:t>end loop;</a:t>
            </a:r>
          </a:p>
        </p:txBody>
      </p:sp>
      <p:sp>
        <p:nvSpPr>
          <p:cNvPr id="47129" name="圆角矩形 11"/>
          <p:cNvSpPr>
            <a:spLocks noChangeArrowheads="1"/>
          </p:cNvSpPr>
          <p:nvPr/>
        </p:nvSpPr>
        <p:spPr bwMode="auto">
          <a:xfrm>
            <a:off x="4356100" y="3241675"/>
            <a:ext cx="4392613" cy="2995613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000"/>
          </a:p>
        </p:txBody>
      </p:sp>
      <p:grpSp>
        <p:nvGrpSpPr>
          <p:cNvPr id="47130" name="组合 12"/>
          <p:cNvGrpSpPr>
            <a:grpSpLocks/>
          </p:cNvGrpSpPr>
          <p:nvPr/>
        </p:nvGrpSpPr>
        <p:grpSpPr bwMode="auto">
          <a:xfrm>
            <a:off x="671513" y="1052513"/>
            <a:ext cx="3829050" cy="574675"/>
            <a:chOff x="4974653" y="4385"/>
            <a:chExt cx="2663177" cy="379983"/>
          </a:xfrm>
        </p:grpSpPr>
        <p:sp>
          <p:nvSpPr>
            <p:cNvPr id="47133" name="矩形 12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8AB9E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4" name="矩形 13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0" tIns="8890" rIns="8890" bIns="8890" anchor="ctr"/>
            <a:lstStyle/>
            <a:p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 第</a:t>
              </a:r>
              <a:r>
                <a:rPr lang="en-US" altLang="zh-CN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3</a:t>
              </a:r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步：提取游标数据</a:t>
              </a:r>
            </a:p>
          </p:txBody>
        </p:sp>
      </p:grpSp>
      <p:sp>
        <p:nvSpPr>
          <p:cNvPr id="47131" name="TextBox 1"/>
          <p:cNvSpPr txBox="1">
            <a:spLocks noChangeArrowheads="1"/>
          </p:cNvSpPr>
          <p:nvPr/>
        </p:nvSpPr>
        <p:spPr bwMode="auto">
          <a:xfrm>
            <a:off x="4675188" y="3933825"/>
            <a:ext cx="3167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000" b="0">
                <a:solidFill>
                  <a:srgbClr val="000000"/>
                </a:solidFill>
              </a:rPr>
              <a:t> </a:t>
            </a:r>
            <a:r>
              <a:rPr lang="en-US" altLang="zh-CN" sz="2000">
                <a:solidFill>
                  <a:srgbClr val="FF0000"/>
                </a:solidFill>
              </a:rPr>
              <a:t>exit</a:t>
            </a:r>
            <a:endParaRPr lang="zh-CN" altLang="en-US"/>
          </a:p>
        </p:txBody>
      </p:sp>
      <p:sp>
        <p:nvSpPr>
          <p:cNvPr id="47132" name="TextBox 10"/>
          <p:cNvSpPr txBox="1">
            <a:spLocks noChangeArrowheads="1"/>
          </p:cNvSpPr>
          <p:nvPr/>
        </p:nvSpPr>
        <p:spPr bwMode="auto">
          <a:xfrm>
            <a:off x="5292725" y="3933825"/>
            <a:ext cx="3167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000">
                <a:solidFill>
                  <a:srgbClr val="FF0000"/>
                </a:solidFill>
              </a:rPr>
              <a:t>when c1%notfound;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  <p:cxnSp>
        <p:nvCxnSpPr>
          <p:cNvPr id="48131" name="直接连接符 4"/>
          <p:cNvCxnSpPr>
            <a:cxnSpLocks noChangeShapeType="1"/>
          </p:cNvCxnSpPr>
          <p:nvPr/>
        </p:nvCxnSpPr>
        <p:spPr bwMode="auto">
          <a:xfrm>
            <a:off x="468313" y="4868863"/>
            <a:ext cx="935037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417638" y="1830388"/>
          <a:ext cx="2520950" cy="296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950"/>
              </a:tblGrid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形式与政策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100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体育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65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1, 87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71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2, 89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83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大学物理实验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96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大学计算机基础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8152" name="TextBox 3"/>
          <p:cNvSpPr txBox="1">
            <a:spLocks noChangeArrowheads="1"/>
          </p:cNvSpPr>
          <p:nvPr/>
        </p:nvSpPr>
        <p:spPr bwMode="auto">
          <a:xfrm>
            <a:off x="4611688" y="3241675"/>
            <a:ext cx="4105275" cy="296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zh-CN" sz="2000">
                <a:solidFill>
                  <a:srgbClr val="FF0000"/>
                </a:solidFill>
              </a:rPr>
              <a:t>loop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fetch c1 into a, b, c, d;</a:t>
            </a:r>
          </a:p>
          <a:p>
            <a:pPr>
              <a:lnSpc>
                <a:spcPts val="2800"/>
              </a:lnSpc>
            </a:pPr>
            <a:endParaRPr lang="en-US" altLang="zh-CN" sz="2000" b="0"/>
          </a:p>
          <a:p>
            <a:pPr>
              <a:lnSpc>
                <a:spcPts val="2800"/>
              </a:lnSpc>
            </a:pPr>
            <a:r>
              <a:rPr lang="en-US" altLang="zh-CN" sz="2000" b="0"/>
              <a:t>if (d&gt;60) then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m:=m+d;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   dbms_output.put_line(a||b||c||d||m);</a:t>
            </a:r>
          </a:p>
          <a:p>
            <a:pPr>
              <a:lnSpc>
                <a:spcPts val="2800"/>
              </a:lnSpc>
            </a:pPr>
            <a:r>
              <a:rPr lang="en-US" altLang="zh-CN" sz="2000" b="0"/>
              <a:t>   end if;</a:t>
            </a:r>
          </a:p>
          <a:p>
            <a:pPr>
              <a:lnSpc>
                <a:spcPts val="2800"/>
              </a:lnSpc>
            </a:pPr>
            <a:r>
              <a:rPr lang="en-US" altLang="zh-CN" sz="2000">
                <a:solidFill>
                  <a:srgbClr val="FF0000"/>
                </a:solidFill>
              </a:rPr>
              <a:t>end loop;</a:t>
            </a:r>
          </a:p>
        </p:txBody>
      </p:sp>
      <p:sp>
        <p:nvSpPr>
          <p:cNvPr id="48153" name="圆角矩形 11"/>
          <p:cNvSpPr>
            <a:spLocks noChangeArrowheads="1"/>
          </p:cNvSpPr>
          <p:nvPr/>
        </p:nvSpPr>
        <p:spPr bwMode="auto">
          <a:xfrm>
            <a:off x="4356100" y="3241675"/>
            <a:ext cx="4392613" cy="2995613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000"/>
          </a:p>
        </p:txBody>
      </p:sp>
      <p:grpSp>
        <p:nvGrpSpPr>
          <p:cNvPr id="48154" name="组合 12"/>
          <p:cNvGrpSpPr>
            <a:grpSpLocks/>
          </p:cNvGrpSpPr>
          <p:nvPr/>
        </p:nvGrpSpPr>
        <p:grpSpPr bwMode="auto">
          <a:xfrm>
            <a:off x="671513" y="1052513"/>
            <a:ext cx="3829050" cy="574675"/>
            <a:chOff x="4974653" y="4385"/>
            <a:chExt cx="2663177" cy="379983"/>
          </a:xfrm>
        </p:grpSpPr>
        <p:sp>
          <p:nvSpPr>
            <p:cNvPr id="48157" name="矩形 12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8AB9E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8" name="矩形 13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0" tIns="8890" rIns="8890" bIns="8890" anchor="ctr"/>
            <a:lstStyle/>
            <a:p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 第</a:t>
              </a:r>
              <a:r>
                <a:rPr lang="en-US" altLang="zh-CN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3</a:t>
              </a:r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步：提取游标数据</a:t>
              </a:r>
            </a:p>
          </p:txBody>
        </p:sp>
      </p:grpSp>
      <p:sp>
        <p:nvSpPr>
          <p:cNvPr id="48155" name="TextBox 1"/>
          <p:cNvSpPr txBox="1">
            <a:spLocks noChangeArrowheads="1"/>
          </p:cNvSpPr>
          <p:nvPr/>
        </p:nvSpPr>
        <p:spPr bwMode="auto">
          <a:xfrm>
            <a:off x="4675188" y="3933825"/>
            <a:ext cx="3167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000" b="0">
                <a:solidFill>
                  <a:srgbClr val="000000"/>
                </a:solidFill>
              </a:rPr>
              <a:t> </a:t>
            </a:r>
            <a:r>
              <a:rPr lang="en-US" altLang="zh-CN" sz="2000">
                <a:solidFill>
                  <a:srgbClr val="FF0000"/>
                </a:solidFill>
              </a:rPr>
              <a:t>exit</a:t>
            </a:r>
            <a:endParaRPr lang="zh-CN" altLang="en-US"/>
          </a:p>
        </p:txBody>
      </p:sp>
      <p:sp>
        <p:nvSpPr>
          <p:cNvPr id="48156" name="TextBox 10"/>
          <p:cNvSpPr txBox="1">
            <a:spLocks noChangeArrowheads="1"/>
          </p:cNvSpPr>
          <p:nvPr/>
        </p:nvSpPr>
        <p:spPr bwMode="auto">
          <a:xfrm>
            <a:off x="5292725" y="3933825"/>
            <a:ext cx="3167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000">
                <a:solidFill>
                  <a:srgbClr val="FF0000"/>
                </a:solidFill>
              </a:rPr>
              <a:t>when c1%notfound;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417638" y="1830388"/>
          <a:ext cx="2520950" cy="296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950"/>
              </a:tblGrid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形式与政策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100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体育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65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1, 87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04023,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段希飞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71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大学英语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2, 89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04025,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黄霞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高等数学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83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大学物理实验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96</a:t>
                      </a:r>
                      <a:endParaRPr lang="zh-CN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04026,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李翠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300" b="1" dirty="0" smtClean="0">
                          <a:solidFill>
                            <a:schemeClr val="tx1"/>
                          </a:solidFill>
                        </a:rPr>
                        <a:t>大学计算机基础</a:t>
                      </a:r>
                      <a:r>
                        <a:rPr lang="en-US" altLang="zh-CN" sz="1300" b="1" dirty="0" smtClean="0">
                          <a:solidFill>
                            <a:schemeClr val="tx1"/>
                          </a:solidFill>
                        </a:rPr>
                        <a:t>, 77</a:t>
                      </a:r>
                      <a:endParaRPr lang="zh-CN" altLang="en-US" sz="13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64" marR="91464" marT="45725" marB="4572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TextBox 3"/>
          <p:cNvSpPr txBox="1">
            <a:spLocks noChangeArrowheads="1"/>
          </p:cNvSpPr>
          <p:nvPr/>
        </p:nvSpPr>
        <p:spPr bwMode="auto">
          <a:xfrm>
            <a:off x="4470400" y="3295650"/>
            <a:ext cx="240823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zh-CN" sz="2000">
                <a:solidFill>
                  <a:srgbClr val="FF0000"/>
                </a:solidFill>
              </a:rPr>
              <a:t>Close c1;</a:t>
            </a:r>
          </a:p>
        </p:txBody>
      </p:sp>
      <p:sp>
        <p:nvSpPr>
          <p:cNvPr id="23" name="圆角矩形 11"/>
          <p:cNvSpPr>
            <a:spLocks noChangeArrowheads="1"/>
          </p:cNvSpPr>
          <p:nvPr/>
        </p:nvSpPr>
        <p:spPr bwMode="auto">
          <a:xfrm>
            <a:off x="4356100" y="3241675"/>
            <a:ext cx="2663825" cy="547688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000"/>
          </a:p>
        </p:txBody>
      </p:sp>
      <p:grpSp>
        <p:nvGrpSpPr>
          <p:cNvPr id="49177" name="组合 12"/>
          <p:cNvGrpSpPr>
            <a:grpSpLocks/>
          </p:cNvGrpSpPr>
          <p:nvPr/>
        </p:nvGrpSpPr>
        <p:grpSpPr bwMode="auto">
          <a:xfrm>
            <a:off x="671513" y="1052513"/>
            <a:ext cx="3829050" cy="574675"/>
            <a:chOff x="4974653" y="4385"/>
            <a:chExt cx="2663177" cy="379983"/>
          </a:xfrm>
        </p:grpSpPr>
        <p:sp>
          <p:nvSpPr>
            <p:cNvPr id="49178" name="矩形 12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8AB9E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9" name="矩形 13"/>
            <p:cNvSpPr>
              <a:spLocks noChangeArrowheads="1"/>
            </p:cNvSpPr>
            <p:nvPr/>
          </p:nvSpPr>
          <p:spPr bwMode="auto">
            <a:xfrm>
              <a:off x="4974653" y="4385"/>
              <a:ext cx="2663177" cy="379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0" tIns="8890" rIns="8890" bIns="8890" anchor="ctr"/>
            <a:lstStyle/>
            <a:p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 第</a:t>
              </a:r>
              <a:r>
                <a:rPr lang="en-US" altLang="zh-CN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4</a:t>
              </a:r>
              <a:r>
                <a:rPr lang="zh-CN" altLang="en-US" sz="2800" b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步：关闭游标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  <p:sp>
        <p:nvSpPr>
          <p:cNvPr id="50179" name="TextBox 2"/>
          <p:cNvSpPr txBox="1">
            <a:spLocks noChangeArrowheads="1"/>
          </p:cNvSpPr>
          <p:nvPr/>
        </p:nvSpPr>
        <p:spPr bwMode="auto">
          <a:xfrm>
            <a:off x="900113" y="1196975"/>
            <a:ext cx="7488237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300"/>
              </a:lnSpc>
            </a:pPr>
            <a:r>
              <a:rPr lang="en-US" altLang="zh-CN" sz="1800" b="0" dirty="0">
                <a:ea typeface="黑体" pitchFamily="49" charset="-122"/>
              </a:rPr>
              <a:t>declare</a:t>
            </a:r>
          </a:p>
          <a:p>
            <a:pPr>
              <a:lnSpc>
                <a:spcPts val="2300"/>
              </a:lnSpc>
            </a:pPr>
            <a:r>
              <a:rPr lang="en-US" altLang="zh-CN" sz="1800" b="0" dirty="0">
                <a:ea typeface="黑体" pitchFamily="49" charset="-122"/>
              </a:rPr>
              <a:t>  a varchar2(10);  b varchar2(20);    c varchar2(40); d number; m number;</a:t>
            </a:r>
          </a:p>
          <a:p>
            <a:pPr>
              <a:lnSpc>
                <a:spcPts val="2300"/>
              </a:lnSpc>
            </a:pPr>
            <a:r>
              <a:rPr lang="en-US" altLang="zh-CN" sz="1800" dirty="0">
                <a:solidFill>
                  <a:srgbClr val="FF0000"/>
                </a:solidFill>
                <a:ea typeface="黑体" pitchFamily="49" charset="-122"/>
              </a:rPr>
              <a:t>  </a:t>
            </a:r>
            <a:r>
              <a:rPr lang="en-US" altLang="zh-CN" sz="1800" b="0" dirty="0">
                <a:ea typeface="黑体" pitchFamily="49" charset="-122"/>
              </a:rPr>
              <a:t>cursor  c1 is select </a:t>
            </a:r>
            <a:r>
              <a:rPr lang="en-US" altLang="zh-CN" sz="1800" b="0" dirty="0" err="1">
                <a:ea typeface="黑体" pitchFamily="49" charset="-122"/>
              </a:rPr>
              <a:t>s.sno,sname,cname,grade</a:t>
            </a:r>
            <a:endParaRPr lang="en-US" altLang="zh-CN" sz="1800" b="0" dirty="0">
              <a:ea typeface="黑体" pitchFamily="49" charset="-122"/>
            </a:endParaRPr>
          </a:p>
          <a:p>
            <a:pPr>
              <a:lnSpc>
                <a:spcPts val="2300"/>
              </a:lnSpc>
            </a:pPr>
            <a:r>
              <a:rPr lang="en-US" altLang="zh-CN" sz="1800" b="0" dirty="0">
                <a:ea typeface="黑体" pitchFamily="49" charset="-122"/>
              </a:rPr>
              <a:t>                      from </a:t>
            </a:r>
            <a:r>
              <a:rPr lang="en-US" altLang="zh-CN" sz="1800" b="0" dirty="0" err="1">
                <a:ea typeface="黑体" pitchFamily="49" charset="-122"/>
              </a:rPr>
              <a:t>s,sc,c</a:t>
            </a:r>
            <a:endParaRPr lang="en-US" altLang="zh-CN" sz="1800" b="0" dirty="0">
              <a:ea typeface="黑体" pitchFamily="49" charset="-122"/>
            </a:endParaRPr>
          </a:p>
          <a:p>
            <a:pPr>
              <a:lnSpc>
                <a:spcPts val="2300"/>
              </a:lnSpc>
            </a:pPr>
            <a:r>
              <a:rPr lang="en-US" altLang="zh-CN" sz="1800" b="0" dirty="0">
                <a:ea typeface="黑体" pitchFamily="49" charset="-122"/>
              </a:rPr>
              <a:t>                      where   </a:t>
            </a:r>
            <a:r>
              <a:rPr lang="en-US" altLang="zh-CN" sz="1800" b="0" dirty="0" err="1">
                <a:ea typeface="黑体" pitchFamily="49" charset="-122"/>
              </a:rPr>
              <a:t>s.sno</a:t>
            </a:r>
            <a:r>
              <a:rPr lang="en-US" altLang="zh-CN" sz="1800" b="0" dirty="0">
                <a:ea typeface="黑体" pitchFamily="49" charset="-122"/>
              </a:rPr>
              <a:t>=</a:t>
            </a:r>
            <a:r>
              <a:rPr lang="en-US" altLang="zh-CN" sz="1800" b="0" dirty="0" err="1">
                <a:ea typeface="黑体" pitchFamily="49" charset="-122"/>
              </a:rPr>
              <a:t>sc.sno</a:t>
            </a:r>
            <a:r>
              <a:rPr lang="en-US" altLang="zh-CN" sz="1800" b="0" dirty="0">
                <a:ea typeface="黑体" pitchFamily="49" charset="-122"/>
              </a:rPr>
              <a:t> and </a:t>
            </a:r>
            <a:r>
              <a:rPr lang="en-US" altLang="zh-CN" sz="1800" b="0" dirty="0" err="1">
                <a:ea typeface="黑体" pitchFamily="49" charset="-122"/>
              </a:rPr>
              <a:t>c.cno</a:t>
            </a:r>
            <a:r>
              <a:rPr lang="en-US" altLang="zh-CN" sz="1800" b="0" dirty="0">
                <a:ea typeface="黑体" pitchFamily="49" charset="-122"/>
              </a:rPr>
              <a:t>=</a:t>
            </a:r>
            <a:r>
              <a:rPr lang="en-US" altLang="zh-CN" sz="1800" b="0" dirty="0" err="1">
                <a:ea typeface="黑体" pitchFamily="49" charset="-122"/>
              </a:rPr>
              <a:t>sc.cno</a:t>
            </a:r>
            <a:r>
              <a:rPr lang="en-US" altLang="zh-CN" sz="1800" b="0" dirty="0">
                <a:ea typeface="黑体" pitchFamily="49" charset="-122"/>
              </a:rPr>
              <a:t>  and college='</a:t>
            </a:r>
            <a:r>
              <a:rPr lang="zh-CN" altLang="en-US" sz="1800" b="0" dirty="0">
                <a:ea typeface="黑体" pitchFamily="49" charset="-122"/>
              </a:rPr>
              <a:t>信息</a:t>
            </a:r>
            <a:r>
              <a:rPr lang="en-US" altLang="zh-CN" sz="1800" b="0" dirty="0">
                <a:ea typeface="黑体" pitchFamily="49" charset="-122"/>
              </a:rPr>
              <a:t>';</a:t>
            </a:r>
          </a:p>
          <a:p>
            <a:pPr>
              <a:lnSpc>
                <a:spcPts val="2300"/>
              </a:lnSpc>
            </a:pPr>
            <a:r>
              <a:rPr lang="en-US" altLang="zh-CN" sz="1800" b="0" dirty="0">
                <a:ea typeface="黑体" pitchFamily="49" charset="-122"/>
              </a:rPr>
              <a:t>begin</a:t>
            </a:r>
          </a:p>
          <a:p>
            <a:pPr>
              <a:lnSpc>
                <a:spcPts val="2300"/>
              </a:lnSpc>
            </a:pPr>
            <a:r>
              <a:rPr lang="en-US" altLang="zh-CN" sz="1800" b="0" dirty="0">
                <a:solidFill>
                  <a:srgbClr val="FF0000"/>
                </a:solidFill>
                <a:ea typeface="黑体" pitchFamily="49" charset="-122"/>
              </a:rPr>
              <a:t>  </a:t>
            </a:r>
            <a:r>
              <a:rPr lang="en-US" altLang="zh-CN" sz="1800" b="0" dirty="0">
                <a:ea typeface="黑体" pitchFamily="49" charset="-122"/>
              </a:rPr>
              <a:t>open c1;</a:t>
            </a:r>
          </a:p>
          <a:p>
            <a:pPr>
              <a:lnSpc>
                <a:spcPts val="2300"/>
              </a:lnSpc>
            </a:pPr>
            <a:r>
              <a:rPr lang="en-US" altLang="zh-CN" sz="1800" b="0" dirty="0">
                <a:ea typeface="黑体" pitchFamily="49" charset="-122"/>
              </a:rPr>
              <a:t>  loop</a:t>
            </a:r>
          </a:p>
          <a:p>
            <a:pPr>
              <a:lnSpc>
                <a:spcPts val="2300"/>
              </a:lnSpc>
            </a:pPr>
            <a:r>
              <a:rPr lang="en-US" altLang="zh-CN" sz="1800" b="0" dirty="0">
                <a:ea typeface="黑体" pitchFamily="49" charset="-122"/>
              </a:rPr>
              <a:t>    fetch c1 into a, b, c, d;</a:t>
            </a:r>
          </a:p>
          <a:p>
            <a:pPr>
              <a:lnSpc>
                <a:spcPts val="2300"/>
              </a:lnSpc>
            </a:pPr>
            <a:r>
              <a:rPr lang="en-US" altLang="zh-CN" sz="1800" b="0" dirty="0">
                <a:ea typeface="黑体" pitchFamily="49" charset="-122"/>
              </a:rPr>
              <a:t>    exit when c1%notfound;</a:t>
            </a:r>
          </a:p>
          <a:p>
            <a:pPr>
              <a:lnSpc>
                <a:spcPts val="2300"/>
              </a:lnSpc>
            </a:pPr>
            <a:r>
              <a:rPr lang="en-US" altLang="zh-CN" sz="1800" b="0" dirty="0">
                <a:ea typeface="黑体" pitchFamily="49" charset="-122"/>
              </a:rPr>
              <a:t>    if (d&gt;60) then</a:t>
            </a:r>
          </a:p>
          <a:p>
            <a:pPr>
              <a:lnSpc>
                <a:spcPts val="2300"/>
              </a:lnSpc>
            </a:pPr>
            <a:r>
              <a:rPr lang="en-US" altLang="zh-CN" sz="1800" b="0" dirty="0">
                <a:ea typeface="黑体" pitchFamily="49" charset="-122"/>
              </a:rPr>
              <a:t>      m:=m+d;</a:t>
            </a:r>
          </a:p>
          <a:p>
            <a:pPr>
              <a:lnSpc>
                <a:spcPts val="2300"/>
              </a:lnSpc>
            </a:pPr>
            <a:r>
              <a:rPr lang="en-US" altLang="zh-CN" sz="1800" b="0" dirty="0">
                <a:ea typeface="黑体" pitchFamily="49" charset="-122"/>
              </a:rPr>
              <a:t>      </a:t>
            </a:r>
            <a:r>
              <a:rPr lang="en-US" altLang="zh-CN" sz="1800" b="0" dirty="0" err="1">
                <a:ea typeface="黑体" pitchFamily="49" charset="-122"/>
              </a:rPr>
              <a:t>dbms_output.put_line</a:t>
            </a:r>
            <a:r>
              <a:rPr lang="en-US" altLang="zh-CN" sz="1800" b="0" dirty="0">
                <a:ea typeface="黑体" pitchFamily="49" charset="-122"/>
              </a:rPr>
              <a:t>(a||b||c||d||m);</a:t>
            </a:r>
          </a:p>
          <a:p>
            <a:pPr>
              <a:lnSpc>
                <a:spcPts val="2300"/>
              </a:lnSpc>
            </a:pPr>
            <a:r>
              <a:rPr lang="en-US" altLang="zh-CN" sz="1800" b="0" dirty="0">
                <a:ea typeface="黑体" pitchFamily="49" charset="-122"/>
              </a:rPr>
              <a:t>    end if;</a:t>
            </a:r>
          </a:p>
          <a:p>
            <a:pPr>
              <a:lnSpc>
                <a:spcPts val="2300"/>
              </a:lnSpc>
            </a:pPr>
            <a:r>
              <a:rPr lang="en-US" altLang="zh-CN" sz="1800" b="0" dirty="0">
                <a:ea typeface="黑体" pitchFamily="49" charset="-122"/>
              </a:rPr>
              <a:t>  end loop;</a:t>
            </a:r>
          </a:p>
          <a:p>
            <a:pPr>
              <a:lnSpc>
                <a:spcPts val="2300"/>
              </a:lnSpc>
            </a:pPr>
            <a:r>
              <a:rPr lang="en-US" altLang="zh-CN" sz="1800" b="0" dirty="0">
                <a:ea typeface="黑体" pitchFamily="49" charset="-122"/>
              </a:rPr>
              <a:t>  close c1;  </a:t>
            </a:r>
          </a:p>
          <a:p>
            <a:pPr>
              <a:lnSpc>
                <a:spcPts val="2300"/>
              </a:lnSpc>
            </a:pPr>
            <a:r>
              <a:rPr lang="en-US" altLang="zh-CN" sz="1800" b="0" dirty="0">
                <a:ea typeface="黑体" pitchFamily="49" charset="-122"/>
              </a:rPr>
              <a:t>end;</a:t>
            </a:r>
            <a:endParaRPr lang="zh-CN" altLang="en-US" sz="1800" b="0" dirty="0">
              <a:ea typeface="黑体" pitchFamily="49" charset="-122"/>
            </a:endParaRPr>
          </a:p>
        </p:txBody>
      </p:sp>
      <p:sp>
        <p:nvSpPr>
          <p:cNvPr id="50180" name="圆角矩形 4"/>
          <p:cNvSpPr>
            <a:spLocks noChangeArrowheads="1"/>
          </p:cNvSpPr>
          <p:nvPr/>
        </p:nvSpPr>
        <p:spPr bwMode="auto">
          <a:xfrm>
            <a:off x="755650" y="1123950"/>
            <a:ext cx="7129463" cy="5257800"/>
          </a:xfrm>
          <a:prstGeom prst="roundRect">
            <a:avLst>
              <a:gd name="adj" fmla="val 6444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  <p:sp>
        <p:nvSpPr>
          <p:cNvPr id="51203" name="TextBox 2"/>
          <p:cNvSpPr txBox="1">
            <a:spLocks noChangeArrowheads="1"/>
          </p:cNvSpPr>
          <p:nvPr/>
        </p:nvSpPr>
        <p:spPr bwMode="auto">
          <a:xfrm>
            <a:off x="684213" y="1196975"/>
            <a:ext cx="7127875" cy="510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declare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a varchar2(10);  b varchar2(20);    c varchar2(40); d number; m number;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cursor  c1 is select s.sno,sname,cname,grade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                    from s,sc,c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                    where   s.sno=sc.sno and c.cno=sc.cno  and college='</a:t>
            </a:r>
            <a:r>
              <a:rPr lang="zh-CN" altLang="en-US" sz="1800">
                <a:solidFill>
                  <a:srgbClr val="FF0000"/>
                </a:solidFill>
                <a:ea typeface="黑体" pitchFamily="49" charset="-122"/>
              </a:rPr>
              <a:t>信息</a:t>
            </a: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';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begin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solidFill>
                  <a:srgbClr val="FF0000"/>
                </a:solidFill>
                <a:ea typeface="黑体" pitchFamily="49" charset="-122"/>
              </a:rPr>
              <a:t>  </a:t>
            </a:r>
            <a:r>
              <a:rPr lang="en-US" altLang="zh-CN" sz="1800" b="0">
                <a:ea typeface="黑体" pitchFamily="49" charset="-122"/>
              </a:rPr>
              <a:t>open c1;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loop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fetch c1 into a, b, c, d;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exit when c1%notfound;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if (d&gt;60) then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  m:=m+d;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  dbms_output.put_line(a||b||c||d||m);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end if;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end loop;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close c1;  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end;</a:t>
            </a:r>
            <a:endParaRPr lang="zh-CN" altLang="en-US" sz="1800" b="0">
              <a:ea typeface="黑体" pitchFamily="49" charset="-122"/>
            </a:endParaRPr>
          </a:p>
        </p:txBody>
      </p:sp>
      <p:sp>
        <p:nvSpPr>
          <p:cNvPr id="51204" name="圆角矩形 4"/>
          <p:cNvSpPr>
            <a:spLocks noChangeArrowheads="1"/>
          </p:cNvSpPr>
          <p:nvPr/>
        </p:nvSpPr>
        <p:spPr bwMode="auto">
          <a:xfrm>
            <a:off x="539750" y="1123950"/>
            <a:ext cx="7200900" cy="5400675"/>
          </a:xfrm>
          <a:prstGeom prst="roundRect">
            <a:avLst>
              <a:gd name="adj" fmla="val 6444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1205" name="圆角矩形 4"/>
          <p:cNvSpPr>
            <a:spLocks noChangeArrowheads="1"/>
          </p:cNvSpPr>
          <p:nvPr/>
        </p:nvSpPr>
        <p:spPr bwMode="auto">
          <a:xfrm>
            <a:off x="744538" y="1844675"/>
            <a:ext cx="6996112" cy="863600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1206" name="TextBox 1"/>
          <p:cNvSpPr txBox="1">
            <a:spLocks noChangeArrowheads="1"/>
          </p:cNvSpPr>
          <p:nvPr/>
        </p:nvSpPr>
        <p:spPr bwMode="auto">
          <a:xfrm>
            <a:off x="7835900" y="1989138"/>
            <a:ext cx="1223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000">
                <a:solidFill>
                  <a:srgbClr val="0505EB"/>
                </a:solidFill>
              </a:rPr>
              <a:t>声明游标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  <p:sp>
        <p:nvSpPr>
          <p:cNvPr id="52227" name="TextBox 2"/>
          <p:cNvSpPr txBox="1">
            <a:spLocks noChangeArrowheads="1"/>
          </p:cNvSpPr>
          <p:nvPr/>
        </p:nvSpPr>
        <p:spPr bwMode="auto">
          <a:xfrm>
            <a:off x="684213" y="1196975"/>
            <a:ext cx="7488237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declare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a varchar2(10);  b varchar2(20);    c varchar2(40); d number; m number;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</a:t>
            </a:r>
            <a:r>
              <a:rPr lang="en-US" altLang="zh-CN" sz="1800" b="0">
                <a:ea typeface="黑体" pitchFamily="49" charset="-122"/>
              </a:rPr>
              <a:t>cursor  c1 is select s.sno,sname,cname,grade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                  from s,sc,c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                  where   s.sno=sc.sno and c.cno=sc.cno  and college='</a:t>
            </a:r>
            <a:r>
              <a:rPr lang="zh-CN" altLang="en-US" sz="1800" b="0">
                <a:ea typeface="黑体" pitchFamily="49" charset="-122"/>
              </a:rPr>
              <a:t>信息</a:t>
            </a:r>
            <a:r>
              <a:rPr lang="en-US" altLang="zh-CN" sz="1800" b="0">
                <a:ea typeface="黑体" pitchFamily="49" charset="-122"/>
              </a:rPr>
              <a:t>';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begin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open c1;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loop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fetch c1 into a, b, c, d;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exit when c1%notfound;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if (d&gt;60) then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  m:=m+d;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  dbms_output.put_line(a||b||c||d||m);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end if;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end loop;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close c1;  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end;</a:t>
            </a:r>
            <a:endParaRPr lang="zh-CN" altLang="en-US" sz="1800" b="0">
              <a:ea typeface="黑体" pitchFamily="49" charset="-122"/>
            </a:endParaRPr>
          </a:p>
        </p:txBody>
      </p:sp>
      <p:sp>
        <p:nvSpPr>
          <p:cNvPr id="52228" name="圆角矩形 4"/>
          <p:cNvSpPr>
            <a:spLocks noChangeArrowheads="1"/>
          </p:cNvSpPr>
          <p:nvPr/>
        </p:nvSpPr>
        <p:spPr bwMode="auto">
          <a:xfrm>
            <a:off x="539750" y="1123950"/>
            <a:ext cx="7129463" cy="5257800"/>
          </a:xfrm>
          <a:prstGeom prst="roundRect">
            <a:avLst>
              <a:gd name="adj" fmla="val 6444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2229" name="圆角矩形 4"/>
          <p:cNvSpPr>
            <a:spLocks noChangeArrowheads="1"/>
          </p:cNvSpPr>
          <p:nvPr/>
        </p:nvSpPr>
        <p:spPr bwMode="auto">
          <a:xfrm>
            <a:off x="684213" y="2979738"/>
            <a:ext cx="5256212" cy="304800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2230" name="TextBox 5"/>
          <p:cNvSpPr txBox="1">
            <a:spLocks noChangeArrowheads="1"/>
          </p:cNvSpPr>
          <p:nvPr/>
        </p:nvSpPr>
        <p:spPr bwMode="auto">
          <a:xfrm>
            <a:off x="7788275" y="2884488"/>
            <a:ext cx="1223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000">
                <a:solidFill>
                  <a:srgbClr val="0505EB"/>
                </a:solidFill>
              </a:rPr>
              <a:t>打开游标</a:t>
            </a:r>
          </a:p>
        </p:txBody>
      </p:sp>
      <p:pic>
        <p:nvPicPr>
          <p:cNvPr id="7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8049031">
            <a:off x="8144587" y="2437464"/>
            <a:ext cx="455802" cy="446499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232" name="TextBox 1"/>
          <p:cNvSpPr txBox="1">
            <a:spLocks noChangeArrowheads="1"/>
          </p:cNvSpPr>
          <p:nvPr/>
        </p:nvSpPr>
        <p:spPr bwMode="auto">
          <a:xfrm>
            <a:off x="7740650" y="1989138"/>
            <a:ext cx="1223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000">
                <a:solidFill>
                  <a:srgbClr val="0505EB"/>
                </a:solidFill>
              </a:rPr>
              <a:t>声明游标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  <p:sp>
        <p:nvSpPr>
          <p:cNvPr id="53251" name="TextBox 2"/>
          <p:cNvSpPr txBox="1">
            <a:spLocks noChangeArrowheads="1"/>
          </p:cNvSpPr>
          <p:nvPr/>
        </p:nvSpPr>
        <p:spPr bwMode="auto">
          <a:xfrm>
            <a:off x="684213" y="1196975"/>
            <a:ext cx="7488237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declare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a varchar2(10);  b varchar2(20);    c varchar2(40); d number; m number;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</a:t>
            </a:r>
            <a:r>
              <a:rPr lang="en-US" altLang="zh-CN" sz="1800" b="0">
                <a:ea typeface="黑体" pitchFamily="49" charset="-122"/>
              </a:rPr>
              <a:t>cursor  c1 is select s.sno,sname,cname,grade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                  from s,sc,c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                  where   s.sno=sc.sno and c.cno=sc.cno  and college='</a:t>
            </a:r>
            <a:r>
              <a:rPr lang="zh-CN" altLang="en-US" sz="1800" b="0">
                <a:ea typeface="黑体" pitchFamily="49" charset="-122"/>
              </a:rPr>
              <a:t>信息</a:t>
            </a:r>
            <a:r>
              <a:rPr lang="en-US" altLang="zh-CN" sz="1800" b="0">
                <a:ea typeface="黑体" pitchFamily="49" charset="-122"/>
              </a:rPr>
              <a:t>';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begin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solidFill>
                  <a:srgbClr val="FF0000"/>
                </a:solidFill>
                <a:ea typeface="黑体" pitchFamily="49" charset="-122"/>
              </a:rPr>
              <a:t>  </a:t>
            </a:r>
            <a:r>
              <a:rPr lang="en-US" altLang="zh-CN" sz="1800" b="0">
                <a:ea typeface="黑体" pitchFamily="49" charset="-122"/>
              </a:rPr>
              <a:t>open c1;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</a:t>
            </a: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loop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  fetch c1 into a, b, c, d;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  exit when c1%notfound;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  if (d&gt;60) then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    m:=m+d;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    dbms_output.put_line(a||b||c||d||m);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  end if;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end loop;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close c1;  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end;</a:t>
            </a:r>
            <a:endParaRPr lang="zh-CN" altLang="en-US" sz="1800" b="0">
              <a:ea typeface="黑体" pitchFamily="49" charset="-122"/>
            </a:endParaRPr>
          </a:p>
        </p:txBody>
      </p:sp>
      <p:sp>
        <p:nvSpPr>
          <p:cNvPr id="53252" name="圆角矩形 4"/>
          <p:cNvSpPr>
            <a:spLocks noChangeArrowheads="1"/>
          </p:cNvSpPr>
          <p:nvPr/>
        </p:nvSpPr>
        <p:spPr bwMode="auto">
          <a:xfrm>
            <a:off x="539750" y="1123950"/>
            <a:ext cx="7129463" cy="5257800"/>
          </a:xfrm>
          <a:prstGeom prst="roundRect">
            <a:avLst>
              <a:gd name="adj" fmla="val 6444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3253" name="圆角矩形 4"/>
          <p:cNvSpPr>
            <a:spLocks noChangeArrowheads="1"/>
          </p:cNvSpPr>
          <p:nvPr/>
        </p:nvSpPr>
        <p:spPr bwMode="auto">
          <a:xfrm>
            <a:off x="684213" y="3284538"/>
            <a:ext cx="5256212" cy="2305050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3254" name="TextBox 5"/>
          <p:cNvSpPr txBox="1">
            <a:spLocks noChangeArrowheads="1"/>
          </p:cNvSpPr>
          <p:nvPr/>
        </p:nvSpPr>
        <p:spPr bwMode="auto">
          <a:xfrm>
            <a:off x="7827963" y="4005263"/>
            <a:ext cx="11445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000">
                <a:solidFill>
                  <a:srgbClr val="0505EB"/>
                </a:solidFill>
              </a:rPr>
              <a:t>提取游标数据</a:t>
            </a:r>
          </a:p>
        </p:txBody>
      </p:sp>
      <p:sp>
        <p:nvSpPr>
          <p:cNvPr id="53255" name="TextBox 5"/>
          <p:cNvSpPr txBox="1">
            <a:spLocks noChangeArrowheads="1"/>
          </p:cNvSpPr>
          <p:nvPr/>
        </p:nvSpPr>
        <p:spPr bwMode="auto">
          <a:xfrm>
            <a:off x="7788275" y="2884488"/>
            <a:ext cx="1223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000">
                <a:solidFill>
                  <a:srgbClr val="0505EB"/>
                </a:solidFill>
              </a:rPr>
              <a:t>打开游标</a:t>
            </a:r>
          </a:p>
        </p:txBody>
      </p:sp>
      <p:pic>
        <p:nvPicPr>
          <p:cNvPr id="8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8049031">
            <a:off x="8144587" y="2437464"/>
            <a:ext cx="455802" cy="446499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257" name="TextBox 1"/>
          <p:cNvSpPr txBox="1">
            <a:spLocks noChangeArrowheads="1"/>
          </p:cNvSpPr>
          <p:nvPr/>
        </p:nvSpPr>
        <p:spPr bwMode="auto">
          <a:xfrm>
            <a:off x="7740650" y="1989138"/>
            <a:ext cx="1223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000">
                <a:solidFill>
                  <a:srgbClr val="0505EB"/>
                </a:solidFill>
              </a:rPr>
              <a:t>声明游标</a:t>
            </a:r>
          </a:p>
        </p:txBody>
      </p:sp>
      <p:pic>
        <p:nvPicPr>
          <p:cNvPr id="10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8049031">
            <a:off x="8173104" y="3390781"/>
            <a:ext cx="455802" cy="446499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>
          <a:xfrm>
            <a:off x="755650" y="71438"/>
            <a:ext cx="6264275" cy="981075"/>
          </a:xfrm>
        </p:spPr>
        <p:txBody>
          <a:bodyPr/>
          <a:lstStyle/>
          <a:p>
            <a:r>
              <a:rPr lang="en-US" altLang="zh-CN" smtClean="0"/>
              <a:t>4. </a:t>
            </a:r>
            <a:r>
              <a:rPr lang="zh-CN" altLang="en-US" smtClean="0"/>
              <a:t>游标使用步骤</a:t>
            </a:r>
          </a:p>
        </p:txBody>
      </p:sp>
      <p:sp>
        <p:nvSpPr>
          <p:cNvPr id="54275" name="TextBox 2"/>
          <p:cNvSpPr txBox="1">
            <a:spLocks noChangeArrowheads="1"/>
          </p:cNvSpPr>
          <p:nvPr/>
        </p:nvSpPr>
        <p:spPr bwMode="auto">
          <a:xfrm>
            <a:off x="684213" y="1196975"/>
            <a:ext cx="7488237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declare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a varchar2(10);  b varchar2(20);    c varchar2(40); d number; m number;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</a:t>
            </a:r>
            <a:r>
              <a:rPr lang="en-US" altLang="zh-CN" sz="1800" b="0">
                <a:ea typeface="黑体" pitchFamily="49" charset="-122"/>
              </a:rPr>
              <a:t>cursor  c1 is select s.sno,sname,cname,grade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                  from s,sc,c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                  where   s.sno=sc.sno and c.cno=sc.cno  and college='</a:t>
            </a:r>
            <a:r>
              <a:rPr lang="zh-CN" altLang="en-US" sz="1800" b="0">
                <a:ea typeface="黑体" pitchFamily="49" charset="-122"/>
              </a:rPr>
              <a:t>信息</a:t>
            </a:r>
            <a:r>
              <a:rPr lang="en-US" altLang="zh-CN" sz="1800" b="0">
                <a:ea typeface="黑体" pitchFamily="49" charset="-122"/>
              </a:rPr>
              <a:t>';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begin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solidFill>
                  <a:srgbClr val="FF0000"/>
                </a:solidFill>
                <a:ea typeface="黑体" pitchFamily="49" charset="-122"/>
              </a:rPr>
              <a:t>  </a:t>
            </a:r>
            <a:r>
              <a:rPr lang="en-US" altLang="zh-CN" sz="1800" b="0">
                <a:ea typeface="黑体" pitchFamily="49" charset="-122"/>
              </a:rPr>
              <a:t>open c1;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loop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fetch c1 into a, b, c, d;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exit when c1%notfound;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if (d&gt;60) then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  m:=m+d;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  dbms_output.put_line(a||b||c||d||m);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  end if;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  end loop;</a:t>
            </a:r>
          </a:p>
          <a:p>
            <a:pPr>
              <a:lnSpc>
                <a:spcPts val="2300"/>
              </a:lnSpc>
            </a:pP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  close c1;  </a:t>
            </a:r>
          </a:p>
          <a:p>
            <a:pPr>
              <a:lnSpc>
                <a:spcPts val="2300"/>
              </a:lnSpc>
            </a:pPr>
            <a:r>
              <a:rPr lang="en-US" altLang="zh-CN" sz="1800" b="0">
                <a:ea typeface="黑体" pitchFamily="49" charset="-122"/>
              </a:rPr>
              <a:t>end;</a:t>
            </a:r>
            <a:endParaRPr lang="zh-CN" altLang="en-US" sz="1800" b="0">
              <a:ea typeface="黑体" pitchFamily="49" charset="-122"/>
            </a:endParaRPr>
          </a:p>
        </p:txBody>
      </p:sp>
      <p:sp>
        <p:nvSpPr>
          <p:cNvPr id="54276" name="圆角矩形 4"/>
          <p:cNvSpPr>
            <a:spLocks noChangeArrowheads="1"/>
          </p:cNvSpPr>
          <p:nvPr/>
        </p:nvSpPr>
        <p:spPr bwMode="auto">
          <a:xfrm>
            <a:off x="539750" y="1123950"/>
            <a:ext cx="7129463" cy="5257800"/>
          </a:xfrm>
          <a:prstGeom prst="roundRect">
            <a:avLst>
              <a:gd name="adj" fmla="val 6444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4277" name="TextBox 4"/>
          <p:cNvSpPr txBox="1">
            <a:spLocks noChangeArrowheads="1"/>
          </p:cNvSpPr>
          <p:nvPr/>
        </p:nvSpPr>
        <p:spPr bwMode="auto">
          <a:xfrm>
            <a:off x="7788275" y="5570538"/>
            <a:ext cx="1223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000">
                <a:solidFill>
                  <a:srgbClr val="0505EB"/>
                </a:solidFill>
              </a:rPr>
              <a:t>关闭游标</a:t>
            </a:r>
          </a:p>
        </p:txBody>
      </p:sp>
      <p:sp>
        <p:nvSpPr>
          <p:cNvPr id="54278" name="圆角矩形 5"/>
          <p:cNvSpPr>
            <a:spLocks noChangeArrowheads="1"/>
          </p:cNvSpPr>
          <p:nvPr/>
        </p:nvSpPr>
        <p:spPr bwMode="auto">
          <a:xfrm flipV="1">
            <a:off x="684213" y="5589588"/>
            <a:ext cx="5256212" cy="360362"/>
          </a:xfrm>
          <a:prstGeom prst="roundRect">
            <a:avLst>
              <a:gd name="adj" fmla="val 10116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4279" name="TextBox 5"/>
          <p:cNvSpPr txBox="1">
            <a:spLocks noChangeArrowheads="1"/>
          </p:cNvSpPr>
          <p:nvPr/>
        </p:nvSpPr>
        <p:spPr bwMode="auto">
          <a:xfrm>
            <a:off x="7827963" y="4005263"/>
            <a:ext cx="11445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000">
                <a:solidFill>
                  <a:srgbClr val="0505EB"/>
                </a:solidFill>
              </a:rPr>
              <a:t>提取游标数据</a:t>
            </a:r>
          </a:p>
        </p:txBody>
      </p:sp>
      <p:sp>
        <p:nvSpPr>
          <p:cNvPr id="54280" name="TextBox 5"/>
          <p:cNvSpPr txBox="1">
            <a:spLocks noChangeArrowheads="1"/>
          </p:cNvSpPr>
          <p:nvPr/>
        </p:nvSpPr>
        <p:spPr bwMode="auto">
          <a:xfrm>
            <a:off x="7788275" y="2884488"/>
            <a:ext cx="1223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000">
                <a:solidFill>
                  <a:srgbClr val="0505EB"/>
                </a:solidFill>
              </a:rPr>
              <a:t>打开游标</a:t>
            </a:r>
          </a:p>
        </p:txBody>
      </p:sp>
      <p:pic>
        <p:nvPicPr>
          <p:cNvPr id="9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8049031">
            <a:off x="8144587" y="2437464"/>
            <a:ext cx="455802" cy="446499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282" name="TextBox 1"/>
          <p:cNvSpPr txBox="1">
            <a:spLocks noChangeArrowheads="1"/>
          </p:cNvSpPr>
          <p:nvPr/>
        </p:nvSpPr>
        <p:spPr bwMode="auto">
          <a:xfrm>
            <a:off x="7740650" y="1989138"/>
            <a:ext cx="1223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000">
                <a:solidFill>
                  <a:srgbClr val="0505EB"/>
                </a:solidFill>
              </a:rPr>
              <a:t>声明游标</a:t>
            </a:r>
          </a:p>
        </p:txBody>
      </p:sp>
      <p:pic>
        <p:nvPicPr>
          <p:cNvPr id="11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8049031">
            <a:off x="8173104" y="3390781"/>
            <a:ext cx="455802" cy="446499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8049031">
            <a:off x="8181949" y="4870961"/>
            <a:ext cx="455802" cy="446499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8.2 </a:t>
            </a:r>
            <a:r>
              <a:rPr lang="zh-CN" altLang="en-US" smtClean="0"/>
              <a:t>游标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8229600" cy="45720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b="1" dirty="0" smtClean="0">
                <a:latin typeface="+mj-ea"/>
                <a:ea typeface="+mj-ea"/>
              </a:rPr>
              <a:t>声明游标：</a:t>
            </a:r>
            <a:r>
              <a:rPr lang="zh-CN" altLang="en-US" sz="2400" dirty="0" smtClean="0">
                <a:latin typeface="+mj-ea"/>
                <a:ea typeface="+mj-ea"/>
              </a:rPr>
              <a:t>就是定义一个游标名，以及与其相对应的</a:t>
            </a:r>
            <a:r>
              <a:rPr lang="en-US" altLang="zh-CN" sz="2400" dirty="0" smtClean="0">
                <a:latin typeface="+mj-ea"/>
                <a:ea typeface="+mj-ea"/>
              </a:rPr>
              <a:t>SELECT </a:t>
            </a:r>
            <a:r>
              <a:rPr lang="zh-CN" altLang="en-US" sz="2400" dirty="0" smtClean="0">
                <a:latin typeface="+mj-ea"/>
                <a:ea typeface="+mj-ea"/>
              </a:rPr>
              <a:t>语句。格式：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   </a:t>
            </a:r>
            <a:r>
              <a:rPr lang="en-US" altLang="zh-CN" sz="2400" dirty="0" smtClean="0">
                <a:latin typeface="+mj-ea"/>
                <a:ea typeface="+mj-ea"/>
              </a:rPr>
              <a:t>CURSOR </a:t>
            </a:r>
            <a:r>
              <a:rPr lang="en-US" altLang="zh-CN" sz="2400" dirty="0" err="1" smtClean="0">
                <a:latin typeface="+mj-ea"/>
                <a:ea typeface="+mj-ea"/>
              </a:rPr>
              <a:t>cursor_name</a:t>
            </a:r>
            <a:r>
              <a:rPr lang="en-US" altLang="zh-CN" sz="2400" dirty="0" smtClean="0">
                <a:latin typeface="+mj-ea"/>
                <a:ea typeface="+mj-ea"/>
              </a:rPr>
              <a:t>[(parameter[, parameter]…)]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+mj-ea"/>
                <a:ea typeface="+mj-ea"/>
              </a:rPr>
              <a:t> </a:t>
            </a:r>
            <a:r>
              <a:rPr lang="en-US" altLang="zh-CN" sz="2400" dirty="0" smtClean="0">
                <a:latin typeface="+mj-ea"/>
                <a:ea typeface="+mj-ea"/>
              </a:rPr>
              <a:t>           IS </a:t>
            </a:r>
            <a:r>
              <a:rPr lang="en-US" altLang="zh-CN" sz="2400" dirty="0" err="1" smtClean="0">
                <a:latin typeface="+mj-ea"/>
                <a:ea typeface="+mj-ea"/>
              </a:rPr>
              <a:t>select_statement</a:t>
            </a:r>
            <a:r>
              <a:rPr lang="en-US" altLang="zh-CN" sz="2400" dirty="0" smtClean="0">
                <a:latin typeface="+mj-ea"/>
                <a:ea typeface="+mj-ea"/>
              </a:rPr>
              <a:t>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en-US" altLang="zh-CN" sz="800" dirty="0" smtClean="0">
              <a:latin typeface="+mj-ea"/>
              <a:ea typeface="+mj-ea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游标参数只能为输入参数，其格式为：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      </a:t>
            </a:r>
            <a:r>
              <a:rPr lang="en-US" altLang="zh-CN" sz="2000" dirty="0" err="1" smtClean="0">
                <a:latin typeface="+mj-ea"/>
                <a:ea typeface="+mj-ea"/>
              </a:rPr>
              <a:t>parameter_name</a:t>
            </a:r>
            <a:r>
              <a:rPr lang="en-US" altLang="zh-CN" sz="2000" dirty="0" smtClean="0">
                <a:latin typeface="+mj-ea"/>
                <a:ea typeface="+mj-ea"/>
              </a:rPr>
              <a:t> [IN] </a:t>
            </a:r>
            <a:r>
              <a:rPr lang="en-US" altLang="zh-CN" sz="2000" dirty="0" err="1" smtClean="0">
                <a:latin typeface="+mj-ea"/>
                <a:ea typeface="+mj-ea"/>
              </a:rPr>
              <a:t>datatype</a:t>
            </a:r>
            <a:r>
              <a:rPr lang="en-US" altLang="zh-CN" sz="2000" dirty="0" smtClean="0">
                <a:latin typeface="+mj-ea"/>
                <a:ea typeface="+mj-ea"/>
              </a:rPr>
              <a:t> [{:= | DEFAULT} expression]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en-US" altLang="zh-CN" sz="900" dirty="0" smtClean="0">
              <a:latin typeface="+mj-ea"/>
              <a:ea typeface="+mj-ea"/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在指定数据类型时，不能使用长度约束。如</a:t>
            </a:r>
            <a:r>
              <a:rPr lang="en-US" altLang="zh-CN" sz="2200" dirty="0" smtClean="0">
                <a:latin typeface="+mj-ea"/>
                <a:ea typeface="+mj-ea"/>
              </a:rPr>
              <a:t>NUMBER(4)</a:t>
            </a:r>
            <a:r>
              <a:rPr lang="zh-CN" altLang="en-US" sz="2200" dirty="0" smtClean="0">
                <a:latin typeface="+mj-ea"/>
                <a:ea typeface="+mj-ea"/>
              </a:rPr>
              <a:t>、</a:t>
            </a:r>
            <a:r>
              <a:rPr lang="en-US" altLang="zh-CN" sz="2200" dirty="0" smtClean="0">
                <a:latin typeface="+mj-ea"/>
                <a:ea typeface="+mj-ea"/>
              </a:rPr>
              <a:t>CHAR(10) </a:t>
            </a:r>
            <a:r>
              <a:rPr lang="zh-CN" altLang="en-US" sz="2200" dirty="0" smtClean="0">
                <a:latin typeface="+mj-ea"/>
                <a:ea typeface="+mj-ea"/>
              </a:rPr>
              <a:t>等都是错误的。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8.2 </a:t>
            </a:r>
            <a:r>
              <a:rPr lang="zh-CN" altLang="en-US" smtClean="0"/>
              <a:t>游标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b="1" dirty="0" smtClean="0">
                <a:latin typeface="+mj-ea"/>
                <a:ea typeface="+mj-ea"/>
              </a:rPr>
              <a:t>打开游标：</a:t>
            </a:r>
            <a:r>
              <a:rPr lang="zh-CN" altLang="en-US" sz="2400" dirty="0" smtClean="0">
                <a:latin typeface="+mj-ea"/>
                <a:ea typeface="+mj-ea"/>
              </a:rPr>
              <a:t>就是执行游标所对应的</a:t>
            </a:r>
            <a:r>
              <a:rPr lang="en-US" altLang="zh-CN" sz="2400" dirty="0" smtClean="0">
                <a:latin typeface="+mj-ea"/>
                <a:ea typeface="+mj-ea"/>
              </a:rPr>
              <a:t>SELECT </a:t>
            </a:r>
            <a:r>
              <a:rPr lang="zh-CN" altLang="en-US" sz="2400" dirty="0" smtClean="0">
                <a:latin typeface="+mj-ea"/>
                <a:ea typeface="+mj-ea"/>
              </a:rPr>
              <a:t>语句，将其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查询结果</a:t>
            </a:r>
            <a:r>
              <a:rPr lang="zh-CN" altLang="en-US" sz="2400" dirty="0" smtClean="0">
                <a:latin typeface="+mj-ea"/>
                <a:ea typeface="+mj-ea"/>
              </a:rPr>
              <a:t>放入工作区，并且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游标指针</a:t>
            </a:r>
            <a:r>
              <a:rPr lang="zh-CN" altLang="en-US" sz="2400" dirty="0" smtClean="0">
                <a:latin typeface="+mj-ea"/>
                <a:ea typeface="+mj-ea"/>
              </a:rPr>
              <a:t>指向工作区的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首部</a:t>
            </a:r>
            <a:r>
              <a:rPr lang="zh-CN" altLang="en-US" sz="2400" dirty="0" smtClean="0">
                <a:latin typeface="+mj-ea"/>
                <a:ea typeface="+mj-ea"/>
              </a:rPr>
              <a:t>，标识游标结果集合。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格式：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      </a:t>
            </a:r>
            <a:r>
              <a:rPr lang="en-US" altLang="zh-CN" sz="2400" dirty="0" smtClean="0">
                <a:latin typeface="+mj-ea"/>
                <a:ea typeface="+mj-ea"/>
              </a:rPr>
              <a:t>OPEN </a:t>
            </a:r>
            <a:r>
              <a:rPr lang="en-US" altLang="zh-CN" sz="2400" dirty="0" err="1" smtClean="0">
                <a:latin typeface="+mj-ea"/>
                <a:ea typeface="+mj-ea"/>
              </a:rPr>
              <a:t>cursor_name</a:t>
            </a:r>
            <a:r>
              <a:rPr lang="en-US" altLang="zh-CN" sz="2400" dirty="0" smtClean="0">
                <a:latin typeface="+mj-ea"/>
                <a:ea typeface="+mj-ea"/>
              </a:rPr>
              <a:t>[([parameter =&gt;] value[,   [parameter =&gt;] value]…)];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8.2 </a:t>
            </a:r>
            <a:r>
              <a:rPr lang="zh-CN" altLang="en-US" smtClean="0"/>
              <a:t>游标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229600" cy="452596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zh-CN" altLang="en-US" sz="2400" b="1" dirty="0" smtClean="0">
                <a:latin typeface="+mj-ea"/>
                <a:ea typeface="+mj-ea"/>
              </a:rPr>
              <a:t>推进游标指针并取当前记录 ：</a:t>
            </a:r>
            <a:r>
              <a:rPr lang="zh-CN" altLang="en-US" sz="2400" dirty="0" smtClean="0">
                <a:latin typeface="+mj-ea"/>
                <a:ea typeface="+mj-ea"/>
              </a:rPr>
              <a:t>向后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推动</a:t>
            </a:r>
            <a:r>
              <a:rPr lang="zh-CN" altLang="en-US" sz="2400" dirty="0" smtClean="0">
                <a:latin typeface="+mj-ea"/>
                <a:ea typeface="+mj-ea"/>
              </a:rPr>
              <a:t>游标指针，</a:t>
            </a:r>
            <a:endParaRPr lang="en-US" altLang="zh-CN" sz="2400" dirty="0" smtClean="0">
              <a:latin typeface="+mj-ea"/>
              <a:ea typeface="+mj-ea"/>
            </a:endParaRPr>
          </a:p>
          <a:p>
            <a:pPr marL="355600" indent="0" eaLnBrk="1" hangingPunct="1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然后将工作区中游标指针</a:t>
            </a:r>
            <a:r>
              <a:rPr lang="zh-CN" altLang="en-US" sz="2400" dirty="0" smtClean="0">
                <a:solidFill>
                  <a:srgbClr val="F20A04"/>
                </a:solidFill>
                <a:latin typeface="+mj-ea"/>
                <a:ea typeface="+mj-ea"/>
              </a:rPr>
              <a:t>当前所指向的记录</a:t>
            </a:r>
            <a:r>
              <a:rPr lang="zh-CN" altLang="en-US" sz="2400" dirty="0" smtClean="0">
                <a:latin typeface="+mj-ea"/>
                <a:ea typeface="+mj-ea"/>
              </a:rPr>
              <a:t>取出放入指定的输出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变量</a:t>
            </a:r>
            <a:r>
              <a:rPr lang="zh-CN" altLang="en-US" sz="2400" dirty="0" smtClean="0">
                <a:latin typeface="+mj-ea"/>
                <a:ea typeface="+mj-ea"/>
              </a:rPr>
              <a:t>中。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格式：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	   </a:t>
            </a:r>
            <a:r>
              <a:rPr lang="en-US" altLang="zh-CN" sz="2400" dirty="0" smtClean="0">
                <a:latin typeface="+mj-ea"/>
                <a:ea typeface="+mj-ea"/>
              </a:rPr>
              <a:t>FETCH </a:t>
            </a:r>
            <a:r>
              <a:rPr lang="en-US" altLang="zh-CN" sz="2400" dirty="0" err="1" smtClean="0">
                <a:latin typeface="+mj-ea"/>
                <a:ea typeface="+mj-ea"/>
              </a:rPr>
              <a:t>cursor_name</a:t>
            </a:r>
            <a:r>
              <a:rPr lang="en-US" altLang="zh-CN" sz="2400" dirty="0" smtClean="0">
                <a:latin typeface="+mj-ea"/>
                <a:ea typeface="+mj-ea"/>
              </a:rPr>
              <a:t> INTO {</a:t>
            </a:r>
            <a:r>
              <a:rPr lang="en-US" altLang="zh-CN" sz="2400" dirty="0" err="1" smtClean="0">
                <a:latin typeface="+mj-ea"/>
                <a:ea typeface="+mj-ea"/>
              </a:rPr>
              <a:t>variable_list</a:t>
            </a:r>
            <a:r>
              <a:rPr lang="en-US" altLang="zh-CN" sz="2400" dirty="0" smtClean="0">
                <a:latin typeface="+mj-ea"/>
                <a:ea typeface="+mj-ea"/>
              </a:rPr>
              <a:t> | 	  	                        </a:t>
            </a:r>
            <a:r>
              <a:rPr lang="en-US" altLang="zh-CN" sz="2400" dirty="0" err="1" smtClean="0">
                <a:latin typeface="+mj-ea"/>
                <a:ea typeface="+mj-ea"/>
              </a:rPr>
              <a:t>record_variable</a:t>
            </a:r>
            <a:r>
              <a:rPr lang="en-US" altLang="zh-CN" sz="2400" dirty="0" smtClean="0">
                <a:latin typeface="+mj-ea"/>
                <a:ea typeface="+mj-ea"/>
              </a:rPr>
              <a:t> };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8.2 </a:t>
            </a:r>
            <a:r>
              <a:rPr lang="zh-CN" altLang="en-US" smtClean="0"/>
              <a:t>游标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341438"/>
            <a:ext cx="8229600" cy="452596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说明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(1) 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变量</a:t>
            </a:r>
            <a:r>
              <a:rPr lang="zh-CN" altLang="en-US" sz="2400" dirty="0" smtClean="0">
                <a:latin typeface="+mj-ea"/>
                <a:ea typeface="+mj-ea"/>
              </a:rPr>
              <a:t>必须与</a:t>
            </a:r>
            <a:r>
              <a:rPr lang="en-US" altLang="zh-CN" sz="2400" dirty="0" smtClean="0">
                <a:latin typeface="+mj-ea"/>
                <a:ea typeface="+mj-ea"/>
              </a:rPr>
              <a:t>SELECT</a:t>
            </a:r>
            <a:r>
              <a:rPr lang="zh-CN" altLang="en-US" sz="2400" dirty="0" smtClean="0">
                <a:latin typeface="+mj-ea"/>
                <a:ea typeface="+mj-ea"/>
              </a:rPr>
              <a:t>语句中的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目标列表达式</a:t>
            </a:r>
            <a:r>
              <a:rPr lang="zh-CN" altLang="en-US" sz="2400" dirty="0" smtClean="0">
                <a:latin typeface="+mj-ea"/>
                <a:ea typeface="+mj-ea"/>
              </a:rPr>
              <a:t>具有一一对应关系；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(2) FETCH</a:t>
            </a:r>
            <a:r>
              <a:rPr lang="zh-CN" altLang="en-US" sz="2400" dirty="0" smtClean="0">
                <a:latin typeface="+mj-ea"/>
                <a:ea typeface="+mj-ea"/>
              </a:rPr>
              <a:t>语句通常用在一个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循环结构中</a:t>
            </a:r>
            <a:r>
              <a:rPr lang="zh-CN" altLang="en-US" sz="2400" dirty="0" smtClean="0">
                <a:latin typeface="+mj-ea"/>
                <a:ea typeface="+mj-ea"/>
              </a:rPr>
              <a:t>，通过循环执行</a:t>
            </a:r>
            <a:r>
              <a:rPr lang="en-US" altLang="zh-CN" sz="2400" dirty="0" smtClean="0">
                <a:latin typeface="+mj-ea"/>
                <a:ea typeface="+mj-ea"/>
              </a:rPr>
              <a:t>FETCH</a:t>
            </a:r>
            <a:r>
              <a:rPr lang="zh-CN" altLang="en-US" sz="2400" dirty="0" smtClean="0">
                <a:latin typeface="+mj-ea"/>
                <a:ea typeface="+mj-ea"/>
              </a:rPr>
              <a:t>语句逐条取出结果集中的行进行处理；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(3) </a:t>
            </a:r>
            <a:r>
              <a:rPr lang="zh-CN" altLang="en-US" sz="2400" dirty="0" smtClean="0">
                <a:latin typeface="+mj-ea"/>
                <a:ea typeface="+mj-ea"/>
              </a:rPr>
              <a:t>为进一步方便用户处理数据，现在一些关系数据库管理系统对</a:t>
            </a:r>
            <a:r>
              <a:rPr lang="en-US" altLang="zh-CN" sz="2400" dirty="0" smtClean="0">
                <a:latin typeface="+mj-ea"/>
                <a:ea typeface="+mj-ea"/>
              </a:rPr>
              <a:t>FETCH</a:t>
            </a:r>
            <a:r>
              <a:rPr lang="zh-CN" altLang="en-US" sz="2400" dirty="0" smtClean="0">
                <a:latin typeface="+mj-ea"/>
                <a:ea typeface="+mj-ea"/>
              </a:rPr>
              <a:t>语句做了扩充，允许用户向任意方向以任意步长移动游标指针。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34925"/>
            <a:ext cx="7031038" cy="914400"/>
          </a:xfrm>
        </p:spPr>
        <p:txBody>
          <a:bodyPr/>
          <a:lstStyle/>
          <a:p>
            <a:pPr eaLnBrk="1" hangingPunct="1"/>
            <a:r>
              <a:rPr lang="en-US" altLang="zh-CN" smtClean="0"/>
              <a:t>8.2 </a:t>
            </a:r>
            <a:r>
              <a:rPr lang="zh-CN" altLang="en-US" smtClean="0"/>
              <a:t>游标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28775"/>
            <a:ext cx="8229600" cy="452596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zh-CN" altLang="en-US" sz="2400" b="1" dirty="0" smtClean="0">
                <a:latin typeface="+mj-ea"/>
                <a:ea typeface="+mj-ea"/>
              </a:rPr>
              <a:t>关闭游标：</a:t>
            </a:r>
            <a:r>
              <a:rPr lang="zh-CN" altLang="en-US" sz="2400" dirty="0" smtClean="0">
                <a:latin typeface="+mj-ea"/>
                <a:ea typeface="+mj-ea"/>
              </a:rPr>
              <a:t>当提取和处理完游标结果集合数据后，</a:t>
            </a:r>
            <a:endParaRPr lang="en-US" altLang="zh-CN" sz="2400" dirty="0" smtClean="0">
              <a:latin typeface="+mj-ea"/>
              <a:ea typeface="+mj-ea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应及时关闭游标，以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释放</a:t>
            </a:r>
            <a:r>
              <a:rPr lang="zh-CN" altLang="en-US" sz="2400" dirty="0" smtClean="0">
                <a:latin typeface="+mj-ea"/>
                <a:ea typeface="+mj-ea"/>
              </a:rPr>
              <a:t>该游标所占用的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系统资源</a:t>
            </a:r>
            <a:r>
              <a:rPr lang="zh-CN" altLang="en-US" sz="2400" dirty="0" smtClean="0">
                <a:latin typeface="+mj-ea"/>
                <a:ea typeface="+mj-ea"/>
              </a:rPr>
              <a:t>，并使该游标的工作区变成无效，不能再使用</a:t>
            </a:r>
            <a:r>
              <a:rPr lang="en-US" altLang="zh-CN" sz="2400" dirty="0" smtClean="0">
                <a:latin typeface="+mj-ea"/>
                <a:ea typeface="+mj-ea"/>
              </a:rPr>
              <a:t>FETCH </a:t>
            </a:r>
            <a:r>
              <a:rPr lang="zh-CN" altLang="en-US" sz="2400" dirty="0" smtClean="0">
                <a:latin typeface="+mj-ea"/>
                <a:ea typeface="+mj-ea"/>
              </a:rPr>
              <a:t>语句取其中数据。关闭后的游标可以使用</a:t>
            </a:r>
            <a:r>
              <a:rPr lang="en-US" altLang="zh-CN" sz="2400" dirty="0" smtClean="0">
                <a:latin typeface="+mj-ea"/>
                <a:ea typeface="+mj-ea"/>
              </a:rPr>
              <a:t>OPEN</a:t>
            </a:r>
            <a:r>
              <a:rPr lang="zh-CN" altLang="en-US" sz="2400" dirty="0" smtClean="0">
                <a:latin typeface="+mj-ea"/>
                <a:ea typeface="+mj-ea"/>
              </a:rPr>
              <a:t>语句重新打开。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格式：</a:t>
            </a:r>
          </a:p>
          <a:p>
            <a:pPr algn="ctr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CLOSE </a:t>
            </a:r>
            <a:r>
              <a:rPr lang="en-US" altLang="zh-CN" sz="2400" dirty="0" err="1" smtClean="0">
                <a:latin typeface="+mj-ea"/>
                <a:ea typeface="+mj-ea"/>
              </a:rPr>
              <a:t>cursor_name</a:t>
            </a:r>
            <a:r>
              <a:rPr lang="en-US" altLang="zh-CN" sz="2400" dirty="0" smtClean="0">
                <a:latin typeface="+mj-ea"/>
                <a:ea typeface="+mj-ea"/>
              </a:rPr>
              <a:t>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8.2 </a:t>
            </a:r>
            <a:r>
              <a:rPr lang="zh-CN" altLang="en-US" smtClean="0"/>
              <a:t>游标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450" y="981075"/>
            <a:ext cx="7877175" cy="5257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 smtClean="0"/>
              <a:t>declare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 smtClean="0"/>
              <a:t>    </a:t>
            </a:r>
            <a:r>
              <a:rPr lang="en-US" altLang="zh-CN" sz="2000" b="1" dirty="0" err="1" smtClean="0"/>
              <a:t>v_sno</a:t>
            </a:r>
            <a:r>
              <a:rPr lang="en-US" altLang="zh-CN" sz="2000" b="1" dirty="0" smtClean="0"/>
              <a:t> </a:t>
            </a:r>
            <a:r>
              <a:rPr lang="en-US" altLang="zh-CN" sz="2000" b="1" dirty="0" err="1" smtClean="0"/>
              <a:t>s.sno%type</a:t>
            </a:r>
            <a:r>
              <a:rPr lang="en-US" altLang="zh-CN" sz="2000" b="1" dirty="0" smtClean="0"/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 smtClean="0"/>
              <a:t>    </a:t>
            </a:r>
            <a:r>
              <a:rPr lang="en-US" altLang="zh-CN" sz="2000" b="1" dirty="0" err="1" smtClean="0"/>
              <a:t>v_sname</a:t>
            </a:r>
            <a:r>
              <a:rPr lang="en-US" altLang="zh-CN" sz="2000" b="1" dirty="0" smtClean="0"/>
              <a:t> </a:t>
            </a:r>
            <a:r>
              <a:rPr lang="en-US" altLang="zh-CN" sz="2000" b="1" dirty="0" err="1" smtClean="0"/>
              <a:t>s.sname%type</a:t>
            </a:r>
            <a:r>
              <a:rPr lang="en-US" altLang="zh-CN" sz="2000" b="1" dirty="0" smtClean="0"/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 smtClean="0"/>
              <a:t>    cursor c2(</a:t>
            </a:r>
            <a:r>
              <a:rPr lang="en-US" altLang="zh-CN" sz="2000" b="1" dirty="0" err="1" smtClean="0"/>
              <a:t>v_dept</a:t>
            </a:r>
            <a:r>
              <a:rPr lang="en-US" altLang="zh-CN" sz="2000" b="1" dirty="0" smtClean="0"/>
              <a:t> </a:t>
            </a:r>
            <a:r>
              <a:rPr lang="en-US" altLang="zh-CN" sz="2000" b="1" dirty="0" err="1" smtClean="0"/>
              <a:t>s.college%type</a:t>
            </a:r>
            <a:r>
              <a:rPr lang="en-US" altLang="zh-CN" sz="2000" b="1" dirty="0" smtClean="0"/>
              <a:t> default '</a:t>
            </a:r>
            <a:r>
              <a:rPr lang="zh-CN" altLang="en-US" sz="2000" b="1" dirty="0" smtClean="0"/>
              <a:t>信息</a:t>
            </a:r>
            <a:r>
              <a:rPr lang="en-US" altLang="zh-CN" sz="2000" b="1" dirty="0" smtClean="0"/>
              <a:t>') is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 smtClean="0"/>
              <a:t>      select </a:t>
            </a:r>
            <a:r>
              <a:rPr lang="en-US" altLang="zh-CN" sz="2000" b="1" dirty="0" err="1" smtClean="0"/>
              <a:t>sno,sname</a:t>
            </a:r>
            <a:r>
              <a:rPr lang="en-US" altLang="zh-CN" sz="2000" b="1" dirty="0" smtClean="0"/>
              <a:t> from s where college=</a:t>
            </a:r>
            <a:r>
              <a:rPr lang="en-US" altLang="zh-CN" sz="2000" b="1" dirty="0" err="1" smtClean="0"/>
              <a:t>v_dept</a:t>
            </a:r>
            <a:r>
              <a:rPr lang="en-US" altLang="zh-CN" sz="2000" b="1" dirty="0" smtClean="0"/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 smtClean="0"/>
              <a:t>begin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 smtClean="0"/>
              <a:t>    open c2(</a:t>
            </a:r>
            <a:r>
              <a:rPr lang="en-US" altLang="zh-CN" sz="2000" b="1" dirty="0" err="1" smtClean="0"/>
              <a:t>v_dept</a:t>
            </a:r>
            <a:r>
              <a:rPr lang="en-US" altLang="zh-CN" sz="2000" b="1" dirty="0" smtClean="0"/>
              <a:t>=&gt;'</a:t>
            </a:r>
            <a:r>
              <a:rPr lang="zh-CN" altLang="en-US" sz="2000" b="1" dirty="0" smtClean="0"/>
              <a:t>植保</a:t>
            </a:r>
            <a:r>
              <a:rPr lang="en-US" altLang="zh-CN" sz="2000" b="1" dirty="0" smtClean="0"/>
              <a:t>');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 smtClean="0"/>
              <a:t>    fetch c2 into </a:t>
            </a:r>
            <a:r>
              <a:rPr lang="en-US" altLang="zh-CN" sz="2000" b="1" dirty="0" err="1" smtClean="0"/>
              <a:t>v_sno,v_sname</a:t>
            </a:r>
            <a:r>
              <a:rPr lang="en-US" altLang="zh-CN" sz="2000" b="1" dirty="0" smtClean="0"/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 smtClean="0"/>
              <a:t>    while c2%found  loop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 smtClean="0"/>
              <a:t>         </a:t>
            </a:r>
            <a:r>
              <a:rPr lang="en-US" altLang="zh-CN" sz="2000" b="1" dirty="0" err="1" smtClean="0"/>
              <a:t>dbms_output.put_line</a:t>
            </a:r>
            <a:r>
              <a:rPr lang="en-US" altLang="zh-CN" sz="2000" b="1" dirty="0" smtClean="0"/>
              <a:t>(</a:t>
            </a:r>
            <a:r>
              <a:rPr lang="en-US" altLang="zh-CN" sz="2000" b="1" dirty="0" err="1" smtClean="0"/>
              <a:t>v_sno</a:t>
            </a:r>
            <a:r>
              <a:rPr lang="en-US" altLang="zh-CN" sz="2000" b="1" dirty="0" smtClean="0"/>
              <a:t>||'</a:t>
            </a:r>
            <a:r>
              <a:rPr lang="zh-CN" altLang="en-US" sz="2000" b="1" dirty="0" smtClean="0"/>
              <a:t>，  </a:t>
            </a:r>
            <a:r>
              <a:rPr lang="en-US" altLang="zh-CN" sz="2000" b="1" dirty="0" smtClean="0"/>
              <a:t>'||</a:t>
            </a:r>
            <a:r>
              <a:rPr lang="en-US" altLang="zh-CN" sz="2000" b="1" dirty="0" err="1" smtClean="0"/>
              <a:t>v_sname</a:t>
            </a:r>
            <a:r>
              <a:rPr lang="en-US" altLang="zh-CN" sz="2000" b="1" dirty="0" smtClean="0"/>
              <a:t>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 smtClean="0"/>
              <a:t>         fetch c2 into </a:t>
            </a:r>
            <a:r>
              <a:rPr lang="en-US" altLang="zh-CN" sz="2000" b="1" dirty="0" err="1" smtClean="0"/>
              <a:t>v_sno,v_sname</a:t>
            </a:r>
            <a:r>
              <a:rPr lang="en-US" altLang="zh-CN" sz="2000" b="1" dirty="0" smtClean="0"/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 smtClean="0"/>
              <a:t>    end loop;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 smtClean="0"/>
              <a:t>    close c2;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 smtClean="0"/>
              <a:t>end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8.2 </a:t>
            </a:r>
            <a:r>
              <a:rPr lang="zh-CN" altLang="en-US" smtClean="0"/>
              <a:t>游标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229600" cy="452596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b="1" dirty="0" smtClean="0">
                <a:latin typeface="+mj-ea"/>
                <a:ea typeface="+mj-ea"/>
              </a:rPr>
              <a:t>游标属性</a:t>
            </a:r>
            <a:endParaRPr lang="zh-CN" altLang="en-US" sz="2400" dirty="0" smtClean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 </a:t>
            </a:r>
            <a:r>
              <a:rPr lang="en-US" altLang="zh-CN" sz="2400" dirty="0" smtClean="0">
                <a:latin typeface="+mj-ea"/>
                <a:ea typeface="+mj-ea"/>
              </a:rPr>
              <a:t>%FOUND</a:t>
            </a:r>
            <a:r>
              <a:rPr lang="zh-CN" altLang="en-US" sz="2400" dirty="0" smtClean="0">
                <a:latin typeface="+mj-ea"/>
                <a:ea typeface="+mj-ea"/>
              </a:rPr>
              <a:t>：布尔型属性，当最近一次读记录时成功返回</a:t>
            </a:r>
            <a:r>
              <a:rPr lang="en-US" altLang="zh-CN" sz="2400" dirty="0" smtClean="0">
                <a:latin typeface="+mj-ea"/>
                <a:ea typeface="+mj-ea"/>
              </a:rPr>
              <a:t>,</a:t>
            </a:r>
            <a:r>
              <a:rPr lang="zh-CN" altLang="en-US" sz="2400" dirty="0" smtClean="0">
                <a:latin typeface="+mj-ea"/>
                <a:ea typeface="+mj-ea"/>
              </a:rPr>
              <a:t>则值为</a:t>
            </a:r>
            <a:r>
              <a:rPr lang="en-US" altLang="zh-CN" sz="2400" dirty="0" smtClean="0">
                <a:latin typeface="+mj-ea"/>
                <a:ea typeface="+mj-ea"/>
              </a:rPr>
              <a:t>TRUE</a:t>
            </a:r>
            <a:r>
              <a:rPr lang="zh-CN" altLang="en-US" sz="2400" dirty="0" smtClean="0">
                <a:latin typeface="+mj-ea"/>
                <a:ea typeface="+mj-ea"/>
              </a:rPr>
              <a:t>；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 </a:t>
            </a:r>
            <a:r>
              <a:rPr lang="en-US" altLang="zh-CN" sz="2400" dirty="0" smtClean="0">
                <a:latin typeface="+mj-ea"/>
                <a:ea typeface="+mj-ea"/>
              </a:rPr>
              <a:t>%NOTFOUND</a:t>
            </a:r>
            <a:r>
              <a:rPr lang="zh-CN" altLang="en-US" sz="2400" dirty="0" smtClean="0">
                <a:latin typeface="+mj-ea"/>
                <a:ea typeface="+mj-ea"/>
              </a:rPr>
              <a:t>：布尔型属性，与</a:t>
            </a:r>
            <a:r>
              <a:rPr lang="en-US" altLang="zh-CN" sz="2400" dirty="0" smtClean="0">
                <a:latin typeface="+mj-ea"/>
                <a:ea typeface="+mj-ea"/>
              </a:rPr>
              <a:t>%FOUND</a:t>
            </a:r>
            <a:r>
              <a:rPr lang="zh-CN" altLang="en-US" sz="2400" dirty="0" smtClean="0">
                <a:latin typeface="+mj-ea"/>
                <a:ea typeface="+mj-ea"/>
              </a:rPr>
              <a:t>相反；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 </a:t>
            </a:r>
            <a:r>
              <a:rPr lang="en-US" altLang="zh-CN" sz="2400" dirty="0" smtClean="0">
                <a:latin typeface="+mj-ea"/>
                <a:ea typeface="+mj-ea"/>
              </a:rPr>
              <a:t>%ISOPEN</a:t>
            </a:r>
            <a:r>
              <a:rPr lang="zh-CN" altLang="en-US" sz="2400" dirty="0" smtClean="0">
                <a:latin typeface="+mj-ea"/>
                <a:ea typeface="+mj-ea"/>
              </a:rPr>
              <a:t>：布尔型属性，当游标已打开时返回 </a:t>
            </a:r>
            <a:r>
              <a:rPr lang="en-US" altLang="zh-CN" sz="2400" dirty="0" smtClean="0">
                <a:latin typeface="+mj-ea"/>
                <a:ea typeface="+mj-ea"/>
              </a:rPr>
              <a:t>TRUE</a:t>
            </a:r>
            <a:r>
              <a:rPr lang="zh-CN" altLang="en-US" sz="2400" dirty="0" smtClean="0">
                <a:latin typeface="+mj-ea"/>
                <a:ea typeface="+mj-ea"/>
              </a:rPr>
              <a:t>；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 </a:t>
            </a:r>
            <a:r>
              <a:rPr lang="en-US" altLang="zh-CN" sz="2400" dirty="0" smtClean="0">
                <a:latin typeface="+mj-ea"/>
                <a:ea typeface="+mj-ea"/>
              </a:rPr>
              <a:t>%ROWCOUNT</a:t>
            </a:r>
            <a:r>
              <a:rPr lang="zh-CN" altLang="en-US" sz="2400" dirty="0" smtClean="0">
                <a:latin typeface="+mj-ea"/>
                <a:ea typeface="+mj-ea"/>
              </a:rPr>
              <a:t>：数字型属性，返回已从游标中读取的记录数 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>
          <a:xfrm>
            <a:off x="395288" y="0"/>
            <a:ext cx="8229600" cy="1125538"/>
          </a:xfrm>
        </p:spPr>
        <p:txBody>
          <a:bodyPr/>
          <a:lstStyle/>
          <a:p>
            <a:r>
              <a:rPr lang="zh-CN" altLang="en-US" sz="3200" smtClean="0">
                <a:latin typeface="黑体" pitchFamily="49" charset="-122"/>
              </a:rPr>
              <a:t>第</a:t>
            </a:r>
            <a:r>
              <a:rPr lang="en-US" altLang="zh-CN" sz="3200" smtClean="0">
                <a:latin typeface="黑体" pitchFamily="49" charset="-122"/>
              </a:rPr>
              <a:t>8</a:t>
            </a:r>
            <a:r>
              <a:rPr lang="zh-CN" altLang="en-US" sz="3200" smtClean="0">
                <a:latin typeface="黑体" pitchFamily="49" charset="-122"/>
              </a:rPr>
              <a:t>章 </a:t>
            </a:r>
            <a:r>
              <a:rPr lang="en-US" altLang="zh-CN" sz="3200" smtClean="0">
                <a:latin typeface="黑体" pitchFamily="49" charset="-122"/>
              </a:rPr>
              <a:t>Oracle</a:t>
            </a:r>
            <a:r>
              <a:rPr lang="zh-CN" altLang="en-US" sz="3200" smtClean="0">
                <a:latin typeface="黑体" pitchFamily="49" charset="-122"/>
              </a:rPr>
              <a:t>数据库编程</a:t>
            </a:r>
            <a:endParaRPr lang="zh-CN" altLang="en-US" sz="3200" smtClean="0"/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xfrm>
            <a:off x="2268538" y="1628775"/>
            <a:ext cx="4267200" cy="37338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latin typeface="+mj-ea"/>
                <a:ea typeface="+mj-ea"/>
              </a:rPr>
              <a:t>8.1 PL/SQL</a:t>
            </a:r>
            <a:r>
              <a:rPr lang="zh-CN" altLang="en-US" sz="2800" dirty="0" smtClean="0">
                <a:latin typeface="+mj-ea"/>
                <a:ea typeface="+mj-ea"/>
              </a:rPr>
              <a:t>简介</a:t>
            </a:r>
            <a:endParaRPr lang="en-US" altLang="zh-CN" sz="2800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latin typeface="+mj-ea"/>
                <a:ea typeface="+mj-ea"/>
              </a:rPr>
              <a:t>8.2 </a:t>
            </a:r>
            <a:r>
              <a:rPr lang="zh-CN" altLang="en-US" sz="2800" dirty="0" smtClean="0">
                <a:latin typeface="+mj-ea"/>
                <a:ea typeface="+mj-ea"/>
              </a:rPr>
              <a:t>游标</a:t>
            </a:r>
            <a:endParaRPr lang="en-US" altLang="zh-CN" sz="2800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solidFill>
                  <a:srgbClr val="FF0000"/>
                </a:solidFill>
                <a:latin typeface="+mj-ea"/>
                <a:ea typeface="+mj-ea"/>
              </a:rPr>
              <a:t>8.3 </a:t>
            </a:r>
            <a:r>
              <a:rPr lang="zh-CN" altLang="en-US" sz="2800" dirty="0" smtClean="0">
                <a:solidFill>
                  <a:srgbClr val="FF0000"/>
                </a:solidFill>
                <a:latin typeface="+mj-ea"/>
                <a:ea typeface="+mj-ea"/>
              </a:rPr>
              <a:t>存储过程</a:t>
            </a:r>
            <a:endParaRPr lang="en-US" altLang="zh-CN" sz="28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latin typeface="+mj-ea"/>
                <a:ea typeface="+mj-ea"/>
              </a:rPr>
              <a:t>8.4 </a:t>
            </a:r>
            <a:r>
              <a:rPr lang="zh-CN" altLang="en-US" sz="2800" dirty="0" smtClean="0">
                <a:latin typeface="+mj-ea"/>
                <a:ea typeface="+mj-ea"/>
              </a:rPr>
              <a:t>触发器</a:t>
            </a:r>
            <a:endParaRPr lang="en-US" altLang="zh-CN" sz="2800" dirty="0" smtClean="0"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dirty="0" smtClean="0"/>
              <a:t>8.3  </a:t>
            </a:r>
            <a:r>
              <a:rPr lang="zh-CN" altLang="en-US" sz="3200" dirty="0" smtClean="0"/>
              <a:t>存储过程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23988"/>
            <a:ext cx="8229600" cy="4525962"/>
          </a:xfrm>
        </p:spPr>
        <p:txBody>
          <a:bodyPr/>
          <a:lstStyle/>
          <a:p>
            <a:pPr eaLnBrk="1" hangingPunct="1">
              <a:lnSpc>
                <a:spcPct val="140000"/>
              </a:lnSpc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ORACLE </a:t>
            </a:r>
            <a:r>
              <a:rPr lang="zh-CN" altLang="en-US" sz="2400" dirty="0" smtClean="0">
                <a:latin typeface="+mj-ea"/>
                <a:ea typeface="+mj-ea"/>
              </a:rPr>
              <a:t>提供可以把</a:t>
            </a:r>
            <a:r>
              <a:rPr lang="en-US" altLang="zh-CN" sz="2400" dirty="0" smtClean="0">
                <a:latin typeface="+mj-ea"/>
                <a:ea typeface="+mj-ea"/>
              </a:rPr>
              <a:t>PL/SQL </a:t>
            </a:r>
            <a:r>
              <a:rPr lang="zh-CN" altLang="en-US" sz="2400" dirty="0" smtClean="0">
                <a:latin typeface="+mj-ea"/>
                <a:ea typeface="+mj-ea"/>
              </a:rPr>
              <a:t>程序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存储</a:t>
            </a:r>
            <a:r>
              <a:rPr lang="zh-CN" altLang="en-US" sz="2400" dirty="0" smtClean="0">
                <a:latin typeface="+mj-ea"/>
                <a:ea typeface="+mj-ea"/>
              </a:rPr>
              <a:t>在数据库中，并可以在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任何地方</a:t>
            </a:r>
            <a:r>
              <a:rPr lang="zh-CN" altLang="en-US" sz="2400" dirty="0" smtClean="0">
                <a:latin typeface="+mj-ea"/>
                <a:ea typeface="+mj-ea"/>
              </a:rPr>
              <a:t>来运行它。这样就叫存储过程或函数。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过程和函数统称为</a:t>
            </a:r>
            <a:r>
              <a:rPr lang="en-US" altLang="zh-CN" sz="2400" dirty="0" smtClean="0">
                <a:latin typeface="+mj-ea"/>
                <a:ea typeface="+mj-ea"/>
              </a:rPr>
              <a:t>PL/SQL</a:t>
            </a:r>
            <a:r>
              <a:rPr lang="zh-CN" altLang="en-US" sz="2400" dirty="0" smtClean="0">
                <a:latin typeface="+mj-ea"/>
                <a:ea typeface="+mj-ea"/>
              </a:rPr>
              <a:t>子程序，他们是被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命名</a:t>
            </a:r>
            <a:r>
              <a:rPr lang="zh-CN" altLang="en-US" sz="2400" dirty="0" smtClean="0">
                <a:latin typeface="+mj-ea"/>
                <a:ea typeface="+mj-ea"/>
              </a:rPr>
              <a:t>的</a:t>
            </a:r>
            <a:r>
              <a:rPr lang="en-US" altLang="zh-CN" sz="2400" dirty="0" smtClean="0">
                <a:latin typeface="+mj-ea"/>
                <a:ea typeface="+mj-ea"/>
              </a:rPr>
              <a:t>PL/SQL</a:t>
            </a:r>
            <a:r>
              <a:rPr lang="zh-CN" altLang="en-US" sz="2400" dirty="0" smtClean="0">
                <a:latin typeface="+mj-ea"/>
                <a:ea typeface="+mj-ea"/>
              </a:rPr>
              <a:t>块，均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存储</a:t>
            </a:r>
            <a:r>
              <a:rPr lang="zh-CN" altLang="en-US" sz="2400" dirty="0" smtClean="0">
                <a:latin typeface="+mj-ea"/>
                <a:ea typeface="+mj-ea"/>
              </a:rPr>
              <a:t>在数据库中，并通过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输入参数</a:t>
            </a:r>
            <a:r>
              <a:rPr lang="zh-CN" altLang="en-US" sz="2400" dirty="0" smtClean="0">
                <a:latin typeface="+mj-ea"/>
                <a:ea typeface="+mj-ea"/>
              </a:rPr>
              <a:t>、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输出参数</a:t>
            </a:r>
            <a:r>
              <a:rPr lang="zh-CN" altLang="en-US" sz="2400" dirty="0" smtClean="0">
                <a:latin typeface="+mj-ea"/>
                <a:ea typeface="+mj-ea"/>
              </a:rPr>
              <a:t>或输入</a:t>
            </a:r>
            <a:r>
              <a:rPr lang="en-US" altLang="zh-CN" sz="2400" dirty="0" smtClean="0">
                <a:latin typeface="+mj-ea"/>
                <a:ea typeface="+mj-ea"/>
              </a:rPr>
              <a:t>/</a:t>
            </a:r>
            <a:r>
              <a:rPr lang="zh-CN" altLang="en-US" sz="2400" dirty="0" smtClean="0">
                <a:latin typeface="+mj-ea"/>
                <a:ea typeface="+mj-ea"/>
              </a:rPr>
              <a:t>输出参数与其调用者交换信息。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过程和函数的唯一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区别</a:t>
            </a:r>
            <a:r>
              <a:rPr lang="zh-CN" altLang="en-US" sz="2400" dirty="0" smtClean="0">
                <a:latin typeface="+mj-ea"/>
                <a:ea typeface="+mj-ea"/>
              </a:rPr>
              <a:t>是函数通过函数名向调用者返回数据，而过程则不返回数据。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25538"/>
          </a:xfrm>
        </p:spPr>
        <p:txBody>
          <a:bodyPr/>
          <a:lstStyle/>
          <a:p>
            <a:r>
              <a:rPr lang="en-US" altLang="zh-CN" dirty="0"/>
              <a:t>8.3  </a:t>
            </a:r>
            <a:r>
              <a:rPr lang="zh-CN" altLang="en-US" dirty="0"/>
              <a:t>存储过程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628800"/>
            <a:ext cx="8229600" cy="4525963"/>
          </a:xfrm>
        </p:spPr>
        <p:txBody>
          <a:bodyPr/>
          <a:lstStyle/>
          <a:p>
            <a:pPr>
              <a:lnSpc>
                <a:spcPts val="4000"/>
              </a:lnSpc>
            </a:pPr>
            <a:r>
              <a:rPr lang="zh-CN" altLang="en-US" sz="2400" dirty="0" smtClean="0">
                <a:latin typeface="+mj-ea"/>
                <a:ea typeface="+mj-ea"/>
              </a:rPr>
              <a:t>存储过程就是一系列</a:t>
            </a:r>
            <a:r>
              <a:rPr lang="en-US" altLang="zh-CN" sz="2400" dirty="0" smtClean="0">
                <a:latin typeface="+mj-ea"/>
                <a:ea typeface="+mj-ea"/>
              </a:rPr>
              <a:t>PL</a:t>
            </a:r>
            <a:r>
              <a:rPr lang="en-US" altLang="zh-CN" sz="2400" dirty="0">
                <a:latin typeface="+mj-ea"/>
                <a:ea typeface="+mj-ea"/>
              </a:rPr>
              <a:t>/</a:t>
            </a:r>
            <a:r>
              <a:rPr lang="en-US" altLang="zh-CN" sz="2400" dirty="0" smtClean="0">
                <a:latin typeface="+mj-ea"/>
                <a:ea typeface="+mj-ea"/>
              </a:rPr>
              <a:t>SQL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语句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的集合</a:t>
            </a:r>
            <a:r>
              <a:rPr lang="zh-CN" altLang="en-US" sz="2400" dirty="0">
                <a:latin typeface="+mj-ea"/>
                <a:ea typeface="+mj-ea"/>
              </a:rPr>
              <a:t>，为了完成某个会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重复使用</a:t>
            </a:r>
            <a:r>
              <a:rPr lang="zh-CN" altLang="en-US" sz="2400" dirty="0">
                <a:latin typeface="+mj-ea"/>
                <a:ea typeface="+mj-ea"/>
              </a:rPr>
              <a:t>的特定功能。</a:t>
            </a:r>
          </a:p>
          <a:p>
            <a:pPr>
              <a:lnSpc>
                <a:spcPts val="4000"/>
              </a:lnSpc>
            </a:pPr>
            <a:r>
              <a:rPr lang="zh-CN" altLang="en-US" sz="2400" dirty="0">
                <a:latin typeface="+mj-ea"/>
                <a:ea typeface="+mj-ea"/>
              </a:rPr>
              <a:t>需要该功能的时候，直接调用</a:t>
            </a:r>
            <a:r>
              <a:rPr lang="zh-CN" altLang="en-US" sz="2400" dirty="0" smtClean="0">
                <a:latin typeface="+mj-ea"/>
                <a:ea typeface="+mj-ea"/>
              </a:rPr>
              <a:t>该存储过程即</a:t>
            </a:r>
            <a:r>
              <a:rPr lang="zh-CN" altLang="en-US" sz="2400" dirty="0">
                <a:latin typeface="+mj-ea"/>
                <a:ea typeface="+mj-ea"/>
              </a:rPr>
              <a:t>可，不用每次都堆叠一大堆的代码。需要修改该功能的时候，也只要修改和维护这一</a:t>
            </a:r>
            <a:r>
              <a:rPr lang="zh-CN" altLang="en-US" sz="2400" dirty="0" smtClean="0">
                <a:latin typeface="+mj-ea"/>
                <a:ea typeface="+mj-ea"/>
              </a:rPr>
              <a:t>个存储过程即</a:t>
            </a:r>
            <a:r>
              <a:rPr lang="zh-CN" altLang="en-US" sz="2400" dirty="0">
                <a:latin typeface="+mj-ea"/>
                <a:ea typeface="+mj-ea"/>
              </a:rPr>
              <a:t>可。</a:t>
            </a:r>
          </a:p>
          <a:p>
            <a:pPr>
              <a:lnSpc>
                <a:spcPts val="4000"/>
              </a:lnSpc>
            </a:pPr>
            <a:r>
              <a:rPr lang="zh-CN" altLang="en-US" sz="2400" dirty="0">
                <a:latin typeface="+mj-ea"/>
                <a:ea typeface="+mj-ea"/>
              </a:rPr>
              <a:t>总之，将语句集合</a:t>
            </a:r>
            <a:r>
              <a:rPr lang="zh-CN" altLang="en-US" sz="2400" dirty="0" smtClean="0">
                <a:latin typeface="+mj-ea"/>
                <a:ea typeface="+mj-ea"/>
              </a:rPr>
              <a:t>成存储过程，</a:t>
            </a:r>
            <a:r>
              <a:rPr lang="zh-CN" altLang="en-US" sz="2400" dirty="0">
                <a:latin typeface="+mj-ea"/>
                <a:ea typeface="+mj-ea"/>
              </a:rPr>
              <a:t>好处就是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方便代码重用</a:t>
            </a:r>
            <a:r>
              <a:rPr lang="zh-CN" altLang="en-US" sz="2400" dirty="0">
                <a:latin typeface="+mj-ea"/>
                <a:ea typeface="+mj-ea"/>
              </a:rPr>
              <a:t>。并且，一个</a:t>
            </a:r>
            <a:r>
              <a:rPr lang="zh-CN" altLang="en-US" sz="2400" dirty="0" smtClean="0">
                <a:latin typeface="+mj-ea"/>
                <a:ea typeface="+mj-ea"/>
              </a:rPr>
              <a:t>好的</a:t>
            </a:r>
            <a:r>
              <a:rPr lang="zh-CN" altLang="en-US" sz="2400" dirty="0">
                <a:latin typeface="+mj-ea"/>
                <a:ea typeface="+mj-ea"/>
              </a:rPr>
              <a:t>过程</a:t>
            </a:r>
            <a:r>
              <a:rPr lang="zh-CN" altLang="en-US" sz="2400" dirty="0" smtClean="0">
                <a:latin typeface="+mj-ea"/>
                <a:ea typeface="+mj-ea"/>
              </a:rPr>
              <a:t>名</a:t>
            </a:r>
            <a:r>
              <a:rPr lang="zh-CN" altLang="en-US" sz="2400" dirty="0">
                <a:latin typeface="+mj-ea"/>
                <a:ea typeface="+mj-ea"/>
              </a:rPr>
              <a:t>，可以让人一眼就知道</a:t>
            </a:r>
            <a:r>
              <a:rPr lang="zh-CN" altLang="en-US" sz="2400" dirty="0" smtClean="0">
                <a:latin typeface="+mj-ea"/>
                <a:ea typeface="+mj-ea"/>
              </a:rPr>
              <a:t>这个存储过程实现</a:t>
            </a:r>
            <a:r>
              <a:rPr lang="zh-CN" altLang="en-US" sz="2400" dirty="0">
                <a:latin typeface="+mj-ea"/>
                <a:ea typeface="+mj-ea"/>
              </a:rPr>
              <a:t>的是什么功能，方便维护。</a:t>
            </a:r>
          </a:p>
        </p:txBody>
      </p:sp>
    </p:spTree>
    <p:extLst>
      <p:ext uri="{BB962C8B-B14F-4D97-AF65-F5344CB8AC3E}">
        <p14:creationId xmlns:p14="http://schemas.microsoft.com/office/powerpoint/2010/main" val="1690676506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smtClean="0"/>
              <a:t>8.3  </a:t>
            </a:r>
            <a:r>
              <a:rPr lang="zh-CN" altLang="en-US" sz="3200" smtClean="0"/>
              <a:t>存储过程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96975"/>
            <a:ext cx="7848600" cy="49530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创建过程语法格式</a:t>
            </a:r>
            <a:r>
              <a:rPr lang="en-US" altLang="zh-CN" sz="2400" dirty="0" smtClean="0">
                <a:latin typeface="+mj-ea"/>
                <a:ea typeface="+mj-ea"/>
              </a:rPr>
              <a:t>: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CREATE [OR REPLACE] PROCEDURE </a:t>
            </a:r>
            <a:r>
              <a:rPr lang="en-US" altLang="zh-CN" sz="2000" dirty="0" err="1" smtClean="0">
                <a:latin typeface="+mj-ea"/>
                <a:ea typeface="+mj-ea"/>
              </a:rPr>
              <a:t>Procedure_name</a:t>
            </a:r>
            <a:endParaRPr lang="en-US" altLang="zh-CN" sz="2000" dirty="0" smtClean="0">
              <a:latin typeface="+mj-ea"/>
              <a:ea typeface="+mj-ea"/>
            </a:endParaRPr>
          </a:p>
          <a:p>
            <a:pPr marL="1371600" lvl="3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[ (</a:t>
            </a:r>
            <a:r>
              <a:rPr lang="en-US" altLang="zh-CN" dirty="0" err="1" smtClean="0">
                <a:latin typeface="+mj-ea"/>
                <a:ea typeface="+mj-ea"/>
              </a:rPr>
              <a:t>argment</a:t>
            </a:r>
            <a:r>
              <a:rPr lang="en-US" altLang="zh-CN" dirty="0" smtClean="0">
                <a:latin typeface="+mj-ea"/>
                <a:ea typeface="+mj-ea"/>
              </a:rPr>
              <a:t> [ { IN | IN OUT }] Type,</a:t>
            </a:r>
          </a:p>
          <a:p>
            <a:pPr marL="1371600" lvl="3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      </a:t>
            </a:r>
            <a:r>
              <a:rPr lang="en-US" altLang="zh-CN" dirty="0" err="1" smtClean="0">
                <a:latin typeface="+mj-ea"/>
                <a:ea typeface="+mj-ea"/>
              </a:rPr>
              <a:t>argment</a:t>
            </a:r>
            <a:r>
              <a:rPr lang="en-US" altLang="zh-CN" dirty="0" smtClean="0">
                <a:latin typeface="+mj-ea"/>
                <a:ea typeface="+mj-ea"/>
              </a:rPr>
              <a:t> [ { IN | OUT | IN OUT } ] Type ]</a:t>
            </a:r>
          </a:p>
          <a:p>
            <a:pPr marL="1371600" lvl="3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{ IS | AS }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	&lt;</a:t>
            </a:r>
            <a:r>
              <a:rPr lang="zh-CN" altLang="en-US" sz="2000" dirty="0" smtClean="0">
                <a:latin typeface="+mj-ea"/>
                <a:ea typeface="+mj-ea"/>
              </a:rPr>
              <a:t>类型</a:t>
            </a:r>
            <a:r>
              <a:rPr lang="en-US" altLang="zh-CN" sz="2000" dirty="0" smtClean="0">
                <a:latin typeface="+mj-ea"/>
                <a:ea typeface="+mj-ea"/>
              </a:rPr>
              <a:t>.</a:t>
            </a:r>
            <a:r>
              <a:rPr lang="zh-CN" altLang="en-US" sz="2000" dirty="0" smtClean="0">
                <a:latin typeface="+mj-ea"/>
                <a:ea typeface="+mj-ea"/>
              </a:rPr>
              <a:t>变量的说明</a:t>
            </a:r>
            <a:r>
              <a:rPr lang="en-US" altLang="zh-CN" sz="2000" dirty="0" smtClean="0">
                <a:latin typeface="+mj-ea"/>
                <a:ea typeface="+mj-ea"/>
              </a:rPr>
              <a:t>&gt; 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BEGIN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	&lt;</a:t>
            </a:r>
            <a:r>
              <a:rPr lang="zh-CN" altLang="en-US" sz="2000" dirty="0" smtClean="0">
                <a:latin typeface="+mj-ea"/>
                <a:ea typeface="+mj-ea"/>
              </a:rPr>
              <a:t>执行部分</a:t>
            </a:r>
            <a:r>
              <a:rPr lang="en-US" altLang="zh-CN" sz="2000" dirty="0" smtClean="0">
                <a:latin typeface="+mj-ea"/>
                <a:ea typeface="+mj-ea"/>
              </a:rPr>
              <a:t>&gt;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EXCEPTION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	&lt;</a:t>
            </a:r>
            <a:r>
              <a:rPr lang="zh-CN" altLang="en-US" sz="2000" dirty="0" smtClean="0">
                <a:latin typeface="+mj-ea"/>
                <a:ea typeface="+mj-ea"/>
              </a:rPr>
              <a:t>可选的异常错误处理程序</a:t>
            </a:r>
            <a:r>
              <a:rPr lang="en-US" altLang="zh-CN" sz="2000" dirty="0" smtClean="0">
                <a:latin typeface="+mj-ea"/>
                <a:ea typeface="+mj-ea"/>
              </a:rPr>
              <a:t>&gt;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END;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smtClean="0"/>
              <a:t>8.3  </a:t>
            </a:r>
            <a:r>
              <a:rPr lang="zh-CN" altLang="en-US" sz="3200" smtClean="0"/>
              <a:t>存储过程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96975"/>
            <a:ext cx="7848600" cy="49530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创建过程语法格式</a:t>
            </a:r>
            <a:r>
              <a:rPr lang="en-US" altLang="zh-CN" sz="2400" dirty="0" smtClean="0">
                <a:latin typeface="+mj-ea"/>
                <a:ea typeface="+mj-ea"/>
              </a:rPr>
              <a:t>: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CREATE [OR REPLACE] PROCEDURE </a:t>
            </a:r>
            <a:r>
              <a:rPr lang="en-US" altLang="zh-CN" sz="2000" dirty="0" err="1" smtClean="0">
                <a:latin typeface="+mj-ea"/>
                <a:ea typeface="+mj-ea"/>
              </a:rPr>
              <a:t>Procedure_name</a:t>
            </a:r>
            <a:endParaRPr lang="en-US" altLang="zh-CN" sz="2000" dirty="0" smtClean="0">
              <a:latin typeface="+mj-ea"/>
              <a:ea typeface="+mj-ea"/>
            </a:endParaRPr>
          </a:p>
          <a:p>
            <a:pPr marL="1371600" lvl="3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[ (</a:t>
            </a:r>
            <a:r>
              <a:rPr lang="en-US" altLang="zh-CN" dirty="0" err="1" smtClean="0">
                <a:latin typeface="+mj-ea"/>
                <a:ea typeface="+mj-ea"/>
              </a:rPr>
              <a:t>argment</a:t>
            </a:r>
            <a:r>
              <a:rPr lang="en-US" altLang="zh-CN" dirty="0" smtClean="0">
                <a:latin typeface="+mj-ea"/>
                <a:ea typeface="+mj-ea"/>
              </a:rPr>
              <a:t> [ { IN | IN OUT }] Type,</a:t>
            </a:r>
          </a:p>
          <a:p>
            <a:pPr marL="1371600" lvl="3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      </a:t>
            </a:r>
            <a:r>
              <a:rPr lang="en-US" altLang="zh-CN" dirty="0" err="1" smtClean="0">
                <a:latin typeface="+mj-ea"/>
                <a:ea typeface="+mj-ea"/>
              </a:rPr>
              <a:t>argment</a:t>
            </a:r>
            <a:r>
              <a:rPr lang="en-US" altLang="zh-CN" dirty="0" smtClean="0">
                <a:latin typeface="+mj-ea"/>
                <a:ea typeface="+mj-ea"/>
              </a:rPr>
              <a:t> [ { IN | OUT | IN OUT } ] Type ]</a:t>
            </a:r>
          </a:p>
          <a:p>
            <a:pPr marL="1371600" lvl="3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{ IS | AS }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	&lt;</a:t>
            </a:r>
            <a:r>
              <a:rPr lang="zh-CN" altLang="en-US" sz="2000" dirty="0" smtClean="0">
                <a:latin typeface="+mj-ea"/>
                <a:ea typeface="+mj-ea"/>
              </a:rPr>
              <a:t>类型</a:t>
            </a:r>
            <a:r>
              <a:rPr lang="en-US" altLang="zh-CN" sz="2000" dirty="0" smtClean="0">
                <a:latin typeface="+mj-ea"/>
                <a:ea typeface="+mj-ea"/>
              </a:rPr>
              <a:t>.</a:t>
            </a:r>
            <a:r>
              <a:rPr lang="zh-CN" altLang="en-US" sz="2000" dirty="0" smtClean="0">
                <a:latin typeface="+mj-ea"/>
                <a:ea typeface="+mj-ea"/>
              </a:rPr>
              <a:t>变量的说明</a:t>
            </a:r>
            <a:r>
              <a:rPr lang="en-US" altLang="zh-CN" sz="2000" dirty="0" smtClean="0">
                <a:latin typeface="+mj-ea"/>
                <a:ea typeface="+mj-ea"/>
              </a:rPr>
              <a:t>&gt; 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BEGIN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	&lt;</a:t>
            </a:r>
            <a:r>
              <a:rPr lang="zh-CN" altLang="en-US" sz="2000" dirty="0" smtClean="0">
                <a:latin typeface="+mj-ea"/>
                <a:ea typeface="+mj-ea"/>
              </a:rPr>
              <a:t>执行部分</a:t>
            </a:r>
            <a:r>
              <a:rPr lang="en-US" altLang="zh-CN" sz="2000" dirty="0" smtClean="0">
                <a:latin typeface="+mj-ea"/>
                <a:ea typeface="+mj-ea"/>
              </a:rPr>
              <a:t>&gt;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EXCEPTION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	&lt;</a:t>
            </a:r>
            <a:r>
              <a:rPr lang="zh-CN" altLang="en-US" sz="2000" dirty="0" smtClean="0">
                <a:latin typeface="+mj-ea"/>
                <a:ea typeface="+mj-ea"/>
              </a:rPr>
              <a:t>可选的异常错误处理程序</a:t>
            </a:r>
            <a:r>
              <a:rPr lang="en-US" altLang="zh-CN" sz="2000" dirty="0" smtClean="0">
                <a:latin typeface="+mj-ea"/>
                <a:ea typeface="+mj-ea"/>
              </a:rPr>
              <a:t>&gt;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END;</a:t>
            </a:r>
          </a:p>
        </p:txBody>
      </p:sp>
      <p:sp>
        <p:nvSpPr>
          <p:cNvPr id="65540" name="矩形 1"/>
          <p:cNvSpPr>
            <a:spLocks noChangeArrowheads="1"/>
          </p:cNvSpPr>
          <p:nvPr/>
        </p:nvSpPr>
        <p:spPr bwMode="auto">
          <a:xfrm>
            <a:off x="1403350" y="1700213"/>
            <a:ext cx="6264275" cy="433387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smtClean="0"/>
              <a:t>8.3  </a:t>
            </a:r>
            <a:r>
              <a:rPr lang="zh-CN" altLang="en-US" sz="3200" smtClean="0"/>
              <a:t>存储过程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96975"/>
            <a:ext cx="7848600" cy="49530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创建过程语法格式</a:t>
            </a:r>
            <a:r>
              <a:rPr lang="en-US" altLang="zh-CN" sz="2400" dirty="0" smtClean="0">
                <a:latin typeface="+mj-ea"/>
                <a:ea typeface="+mj-ea"/>
              </a:rPr>
              <a:t>: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CREATE [OR REPLACE] PROCEDURE </a:t>
            </a:r>
            <a:r>
              <a:rPr lang="en-US" altLang="zh-CN" sz="2000" dirty="0" err="1" smtClean="0">
                <a:latin typeface="+mj-ea"/>
                <a:ea typeface="+mj-ea"/>
              </a:rPr>
              <a:t>Procedure_name</a:t>
            </a:r>
            <a:endParaRPr lang="en-US" altLang="zh-CN" sz="2000" dirty="0" smtClean="0">
              <a:latin typeface="+mj-ea"/>
              <a:ea typeface="+mj-ea"/>
            </a:endParaRPr>
          </a:p>
          <a:p>
            <a:pPr marL="1371600" lvl="3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[ (</a:t>
            </a:r>
            <a:r>
              <a:rPr lang="en-US" altLang="zh-CN" dirty="0" err="1" smtClean="0">
                <a:latin typeface="+mj-ea"/>
                <a:ea typeface="+mj-ea"/>
              </a:rPr>
              <a:t>argment</a:t>
            </a:r>
            <a:r>
              <a:rPr lang="en-US" altLang="zh-CN" dirty="0" smtClean="0">
                <a:latin typeface="+mj-ea"/>
                <a:ea typeface="+mj-ea"/>
              </a:rPr>
              <a:t> [ { IN | IN OUT }] Type,</a:t>
            </a:r>
          </a:p>
          <a:p>
            <a:pPr marL="1371600" lvl="3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      </a:t>
            </a:r>
            <a:r>
              <a:rPr lang="en-US" altLang="zh-CN" dirty="0" err="1" smtClean="0">
                <a:latin typeface="+mj-ea"/>
                <a:ea typeface="+mj-ea"/>
              </a:rPr>
              <a:t>argment</a:t>
            </a:r>
            <a:r>
              <a:rPr lang="en-US" altLang="zh-CN" dirty="0" smtClean="0">
                <a:latin typeface="+mj-ea"/>
                <a:ea typeface="+mj-ea"/>
              </a:rPr>
              <a:t> [ { IN | OUT | IN OUT } ] Type ]</a:t>
            </a:r>
          </a:p>
          <a:p>
            <a:pPr marL="1371600" lvl="3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{ IS | AS }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	&lt;</a:t>
            </a:r>
            <a:r>
              <a:rPr lang="zh-CN" altLang="en-US" sz="2000" dirty="0" smtClean="0">
                <a:latin typeface="+mj-ea"/>
                <a:ea typeface="+mj-ea"/>
              </a:rPr>
              <a:t>类型</a:t>
            </a:r>
            <a:r>
              <a:rPr lang="en-US" altLang="zh-CN" sz="2000" dirty="0" smtClean="0">
                <a:latin typeface="+mj-ea"/>
                <a:ea typeface="+mj-ea"/>
              </a:rPr>
              <a:t>.</a:t>
            </a:r>
            <a:r>
              <a:rPr lang="zh-CN" altLang="en-US" sz="2000" dirty="0" smtClean="0">
                <a:latin typeface="+mj-ea"/>
                <a:ea typeface="+mj-ea"/>
              </a:rPr>
              <a:t>变量的说明</a:t>
            </a:r>
            <a:r>
              <a:rPr lang="en-US" altLang="zh-CN" sz="2000" dirty="0" smtClean="0">
                <a:latin typeface="+mj-ea"/>
                <a:ea typeface="+mj-ea"/>
              </a:rPr>
              <a:t>&gt; 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BEGIN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	&lt;</a:t>
            </a:r>
            <a:r>
              <a:rPr lang="zh-CN" altLang="en-US" sz="2000" dirty="0" smtClean="0">
                <a:latin typeface="+mj-ea"/>
                <a:ea typeface="+mj-ea"/>
              </a:rPr>
              <a:t>执行部分</a:t>
            </a:r>
            <a:r>
              <a:rPr lang="en-US" altLang="zh-CN" sz="2000" dirty="0" smtClean="0">
                <a:latin typeface="+mj-ea"/>
                <a:ea typeface="+mj-ea"/>
              </a:rPr>
              <a:t>&gt;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EXCEPTION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	&lt;</a:t>
            </a:r>
            <a:r>
              <a:rPr lang="zh-CN" altLang="en-US" sz="2000" dirty="0" smtClean="0">
                <a:latin typeface="+mj-ea"/>
                <a:ea typeface="+mj-ea"/>
              </a:rPr>
              <a:t>可选的异常错误处理程序</a:t>
            </a:r>
            <a:r>
              <a:rPr lang="en-US" altLang="zh-CN" sz="2000" dirty="0" smtClean="0">
                <a:latin typeface="+mj-ea"/>
                <a:ea typeface="+mj-ea"/>
              </a:rPr>
              <a:t>&gt;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END;</a:t>
            </a:r>
          </a:p>
        </p:txBody>
      </p:sp>
      <p:sp>
        <p:nvSpPr>
          <p:cNvPr id="66564" name="矩形 1"/>
          <p:cNvSpPr>
            <a:spLocks noChangeArrowheads="1"/>
          </p:cNvSpPr>
          <p:nvPr/>
        </p:nvSpPr>
        <p:spPr bwMode="auto">
          <a:xfrm>
            <a:off x="1835150" y="2139950"/>
            <a:ext cx="6265863" cy="85725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smtClean="0"/>
              <a:t>8.3  </a:t>
            </a:r>
            <a:r>
              <a:rPr lang="zh-CN" altLang="en-US" sz="3200" smtClean="0"/>
              <a:t>存储过程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96975"/>
            <a:ext cx="7848600" cy="49530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创建过程语法格式</a:t>
            </a:r>
            <a:r>
              <a:rPr lang="en-US" altLang="zh-CN" sz="2400" dirty="0" smtClean="0">
                <a:latin typeface="+mj-ea"/>
                <a:ea typeface="+mj-ea"/>
              </a:rPr>
              <a:t>: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CREATE [OR REPLACE] PROCEDURE </a:t>
            </a:r>
            <a:r>
              <a:rPr lang="en-US" altLang="zh-CN" sz="2000" dirty="0" err="1" smtClean="0">
                <a:latin typeface="+mj-ea"/>
                <a:ea typeface="+mj-ea"/>
              </a:rPr>
              <a:t>Procedure_name</a:t>
            </a:r>
            <a:endParaRPr lang="en-US" altLang="zh-CN" sz="2000" dirty="0" smtClean="0">
              <a:latin typeface="+mj-ea"/>
              <a:ea typeface="+mj-ea"/>
            </a:endParaRPr>
          </a:p>
          <a:p>
            <a:pPr marL="1371600" lvl="3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[ (</a:t>
            </a:r>
            <a:r>
              <a:rPr lang="en-US" altLang="zh-CN" dirty="0" err="1" smtClean="0">
                <a:latin typeface="+mj-ea"/>
                <a:ea typeface="+mj-ea"/>
              </a:rPr>
              <a:t>argment</a:t>
            </a:r>
            <a:r>
              <a:rPr lang="en-US" altLang="zh-CN" dirty="0" smtClean="0">
                <a:latin typeface="+mj-ea"/>
                <a:ea typeface="+mj-ea"/>
              </a:rPr>
              <a:t> [ { IN | IN OUT }] Type,</a:t>
            </a:r>
          </a:p>
          <a:p>
            <a:pPr marL="1371600" lvl="3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      </a:t>
            </a:r>
            <a:r>
              <a:rPr lang="en-US" altLang="zh-CN" dirty="0" err="1" smtClean="0">
                <a:latin typeface="+mj-ea"/>
                <a:ea typeface="+mj-ea"/>
              </a:rPr>
              <a:t>argment</a:t>
            </a:r>
            <a:r>
              <a:rPr lang="en-US" altLang="zh-CN" dirty="0" smtClean="0">
                <a:latin typeface="+mj-ea"/>
                <a:ea typeface="+mj-ea"/>
              </a:rPr>
              <a:t> [ { IN | OUT | IN OUT } ] Type ]</a:t>
            </a:r>
          </a:p>
          <a:p>
            <a:pPr marL="1371600" lvl="3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{ IS | AS }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	&lt;</a:t>
            </a:r>
            <a:r>
              <a:rPr lang="zh-CN" altLang="en-US" sz="2000" dirty="0" smtClean="0">
                <a:latin typeface="+mj-ea"/>
                <a:ea typeface="+mj-ea"/>
              </a:rPr>
              <a:t>类型</a:t>
            </a:r>
            <a:r>
              <a:rPr lang="en-US" altLang="zh-CN" sz="2000" dirty="0" smtClean="0">
                <a:latin typeface="+mj-ea"/>
                <a:ea typeface="+mj-ea"/>
              </a:rPr>
              <a:t>.</a:t>
            </a:r>
            <a:r>
              <a:rPr lang="zh-CN" altLang="en-US" sz="2000" dirty="0" smtClean="0">
                <a:latin typeface="+mj-ea"/>
                <a:ea typeface="+mj-ea"/>
              </a:rPr>
              <a:t>变量的说明</a:t>
            </a:r>
            <a:r>
              <a:rPr lang="en-US" altLang="zh-CN" sz="2000" dirty="0" smtClean="0">
                <a:latin typeface="+mj-ea"/>
                <a:ea typeface="+mj-ea"/>
              </a:rPr>
              <a:t>&gt; 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BEGIN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	&lt;</a:t>
            </a:r>
            <a:r>
              <a:rPr lang="zh-CN" altLang="en-US" sz="2000" dirty="0" smtClean="0">
                <a:latin typeface="+mj-ea"/>
                <a:ea typeface="+mj-ea"/>
              </a:rPr>
              <a:t>执行部分</a:t>
            </a:r>
            <a:r>
              <a:rPr lang="en-US" altLang="zh-CN" sz="2000" dirty="0" smtClean="0">
                <a:latin typeface="+mj-ea"/>
                <a:ea typeface="+mj-ea"/>
              </a:rPr>
              <a:t>&gt;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EXCEPTION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	&lt;</a:t>
            </a:r>
            <a:r>
              <a:rPr lang="zh-CN" altLang="en-US" sz="2000" dirty="0" smtClean="0">
                <a:latin typeface="+mj-ea"/>
                <a:ea typeface="+mj-ea"/>
              </a:rPr>
              <a:t>可选的异常错误处理程序</a:t>
            </a:r>
            <a:r>
              <a:rPr lang="en-US" altLang="zh-CN" sz="2000" dirty="0" smtClean="0">
                <a:latin typeface="+mj-ea"/>
                <a:ea typeface="+mj-ea"/>
              </a:rPr>
              <a:t>&gt;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END;</a:t>
            </a:r>
          </a:p>
        </p:txBody>
      </p:sp>
      <p:sp>
        <p:nvSpPr>
          <p:cNvPr id="67588" name="矩形 1"/>
          <p:cNvSpPr>
            <a:spLocks noChangeArrowheads="1"/>
          </p:cNvSpPr>
          <p:nvPr/>
        </p:nvSpPr>
        <p:spPr bwMode="auto">
          <a:xfrm>
            <a:off x="1547813" y="2954338"/>
            <a:ext cx="6264275" cy="85725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smtClean="0"/>
              <a:t>8.3  </a:t>
            </a:r>
            <a:r>
              <a:rPr lang="zh-CN" altLang="en-US" sz="3200" smtClean="0"/>
              <a:t>存储过程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96975"/>
            <a:ext cx="7848600" cy="49530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创建过程语法格式</a:t>
            </a:r>
            <a:r>
              <a:rPr lang="en-US" altLang="zh-CN" sz="2400" dirty="0" smtClean="0">
                <a:latin typeface="+mj-ea"/>
                <a:ea typeface="+mj-ea"/>
              </a:rPr>
              <a:t>: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CREATE [OR REPLACE] PROCEDURE </a:t>
            </a:r>
            <a:r>
              <a:rPr lang="en-US" altLang="zh-CN" sz="2000" dirty="0" err="1" smtClean="0">
                <a:latin typeface="+mj-ea"/>
                <a:ea typeface="+mj-ea"/>
              </a:rPr>
              <a:t>Procedure_name</a:t>
            </a:r>
            <a:endParaRPr lang="en-US" altLang="zh-CN" sz="2000" dirty="0" smtClean="0">
              <a:latin typeface="+mj-ea"/>
              <a:ea typeface="+mj-ea"/>
            </a:endParaRPr>
          </a:p>
          <a:p>
            <a:pPr marL="1371600" lvl="3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[ (</a:t>
            </a:r>
            <a:r>
              <a:rPr lang="en-US" altLang="zh-CN" dirty="0" err="1" smtClean="0">
                <a:latin typeface="+mj-ea"/>
                <a:ea typeface="+mj-ea"/>
              </a:rPr>
              <a:t>argment</a:t>
            </a:r>
            <a:r>
              <a:rPr lang="en-US" altLang="zh-CN" dirty="0" smtClean="0">
                <a:latin typeface="+mj-ea"/>
                <a:ea typeface="+mj-ea"/>
              </a:rPr>
              <a:t> [ { IN | IN OUT }] Type,</a:t>
            </a:r>
          </a:p>
          <a:p>
            <a:pPr marL="1371600" lvl="3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      </a:t>
            </a:r>
            <a:r>
              <a:rPr lang="en-US" altLang="zh-CN" dirty="0" err="1" smtClean="0">
                <a:latin typeface="+mj-ea"/>
                <a:ea typeface="+mj-ea"/>
              </a:rPr>
              <a:t>argment</a:t>
            </a:r>
            <a:r>
              <a:rPr lang="en-US" altLang="zh-CN" dirty="0" smtClean="0">
                <a:latin typeface="+mj-ea"/>
                <a:ea typeface="+mj-ea"/>
              </a:rPr>
              <a:t> [ { IN | OUT | IN OUT } ] Type ]</a:t>
            </a:r>
          </a:p>
          <a:p>
            <a:pPr marL="1371600" lvl="3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{ IS | AS }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	&lt;</a:t>
            </a:r>
            <a:r>
              <a:rPr lang="zh-CN" altLang="en-US" sz="2000" dirty="0" smtClean="0">
                <a:latin typeface="+mj-ea"/>
                <a:ea typeface="+mj-ea"/>
              </a:rPr>
              <a:t>类型</a:t>
            </a:r>
            <a:r>
              <a:rPr lang="en-US" altLang="zh-CN" sz="2000" dirty="0" smtClean="0">
                <a:latin typeface="+mj-ea"/>
                <a:ea typeface="+mj-ea"/>
              </a:rPr>
              <a:t>.</a:t>
            </a:r>
            <a:r>
              <a:rPr lang="zh-CN" altLang="en-US" sz="2000" dirty="0" smtClean="0">
                <a:latin typeface="+mj-ea"/>
                <a:ea typeface="+mj-ea"/>
              </a:rPr>
              <a:t>变量的说明</a:t>
            </a:r>
            <a:r>
              <a:rPr lang="en-US" altLang="zh-CN" sz="2000" dirty="0" smtClean="0">
                <a:latin typeface="+mj-ea"/>
                <a:ea typeface="+mj-ea"/>
              </a:rPr>
              <a:t>&gt; 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BEGIN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	&lt;</a:t>
            </a:r>
            <a:r>
              <a:rPr lang="zh-CN" altLang="en-US" sz="2000" dirty="0" smtClean="0">
                <a:latin typeface="+mj-ea"/>
                <a:ea typeface="+mj-ea"/>
              </a:rPr>
              <a:t>执行部分</a:t>
            </a:r>
            <a:r>
              <a:rPr lang="en-US" altLang="zh-CN" sz="2000" dirty="0" smtClean="0">
                <a:latin typeface="+mj-ea"/>
                <a:ea typeface="+mj-ea"/>
              </a:rPr>
              <a:t>&gt;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EXCEPTION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	&lt;</a:t>
            </a:r>
            <a:r>
              <a:rPr lang="zh-CN" altLang="en-US" sz="2000" dirty="0" smtClean="0">
                <a:latin typeface="+mj-ea"/>
                <a:ea typeface="+mj-ea"/>
              </a:rPr>
              <a:t>可选的异常错误处理程序</a:t>
            </a:r>
            <a:r>
              <a:rPr lang="en-US" altLang="zh-CN" sz="2000" dirty="0" smtClean="0">
                <a:latin typeface="+mj-ea"/>
                <a:ea typeface="+mj-ea"/>
              </a:rPr>
              <a:t>&gt;</a:t>
            </a:r>
          </a:p>
          <a:p>
            <a:pPr marL="914400" lvl="2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END;</a:t>
            </a:r>
          </a:p>
        </p:txBody>
      </p:sp>
      <p:sp>
        <p:nvSpPr>
          <p:cNvPr id="68612" name="矩形 1"/>
          <p:cNvSpPr>
            <a:spLocks noChangeArrowheads="1"/>
          </p:cNvSpPr>
          <p:nvPr/>
        </p:nvSpPr>
        <p:spPr bwMode="auto">
          <a:xfrm>
            <a:off x="1530350" y="3811588"/>
            <a:ext cx="6265863" cy="220980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11113"/>
            <a:ext cx="7793038" cy="1008062"/>
          </a:xfrm>
        </p:spPr>
        <p:txBody>
          <a:bodyPr/>
          <a:lstStyle/>
          <a:p>
            <a:pPr eaLnBrk="1" hangingPunct="1"/>
            <a:r>
              <a:rPr lang="en-US" altLang="zh-CN" sz="3200" smtClean="0"/>
              <a:t>8.3  </a:t>
            </a:r>
            <a:r>
              <a:rPr lang="zh-CN" altLang="en-US" sz="3200" smtClean="0"/>
              <a:t>存储过程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2060575"/>
            <a:ext cx="8083550" cy="29527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调用存储过程： 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   </a:t>
            </a:r>
            <a:r>
              <a:rPr lang="en-US" altLang="zh-CN" sz="2400" dirty="0" smtClean="0">
                <a:latin typeface="+mj-ea"/>
                <a:ea typeface="+mj-ea"/>
              </a:rPr>
              <a:t>begin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</a:t>
            </a:r>
            <a:r>
              <a:rPr lang="en-US" altLang="zh-CN" sz="2400" dirty="0" err="1" smtClean="0">
                <a:latin typeface="+mj-ea"/>
                <a:ea typeface="+mj-ea"/>
              </a:rPr>
              <a:t>Procedure_name</a:t>
            </a:r>
            <a:r>
              <a:rPr lang="en-US" altLang="zh-CN" sz="2400" dirty="0" smtClean="0">
                <a:latin typeface="+mj-ea"/>
                <a:ea typeface="+mj-ea"/>
              </a:rPr>
              <a:t>( parameter1, parameter2…);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end;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创建不带参数的存储过程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8229600" cy="4525963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000" b="1" dirty="0" smtClean="0"/>
              <a:t>例：创建存储过程，查询学号为</a:t>
            </a:r>
            <a:r>
              <a:rPr lang="en-US" altLang="zh-CN" sz="2000" b="1" dirty="0" smtClean="0"/>
              <a:t>04001</a:t>
            </a:r>
            <a:r>
              <a:rPr lang="zh-CN" altLang="en-US" sz="2000" b="1" dirty="0" smtClean="0"/>
              <a:t>的学生姓名，性别和学院，将查询结果在过程体中输出。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b="1" dirty="0" smtClean="0"/>
              <a:t>create or replace  procedure p2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b="1" dirty="0" smtClean="0"/>
              <a:t>is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b="1" dirty="0" smtClean="0"/>
              <a:t> </a:t>
            </a:r>
            <a:r>
              <a:rPr lang="en-US" altLang="zh-CN" sz="2200" b="1" dirty="0" err="1" smtClean="0"/>
              <a:t>v_sname</a:t>
            </a:r>
            <a:r>
              <a:rPr lang="en-US" altLang="zh-CN" sz="2200" b="1" dirty="0" smtClean="0"/>
              <a:t> </a:t>
            </a:r>
            <a:r>
              <a:rPr lang="en-US" altLang="zh-CN" sz="2200" b="1" dirty="0" err="1" smtClean="0"/>
              <a:t>s.sname%type</a:t>
            </a:r>
            <a:r>
              <a:rPr lang="en-US" altLang="zh-CN" sz="2200" b="1" dirty="0" smtClean="0"/>
              <a:t>;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b="1" dirty="0" smtClean="0"/>
              <a:t> </a:t>
            </a:r>
            <a:r>
              <a:rPr lang="en-US" altLang="zh-CN" sz="2200" b="1" dirty="0" err="1" smtClean="0"/>
              <a:t>v_sex</a:t>
            </a:r>
            <a:r>
              <a:rPr lang="en-US" altLang="zh-CN" sz="2200" b="1" dirty="0" smtClean="0"/>
              <a:t> </a:t>
            </a:r>
            <a:r>
              <a:rPr lang="en-US" altLang="zh-CN" sz="2200" b="1" dirty="0" err="1" smtClean="0"/>
              <a:t>s.ssex%type</a:t>
            </a:r>
            <a:r>
              <a:rPr lang="en-US" altLang="zh-CN" sz="2200" b="1" dirty="0" smtClean="0"/>
              <a:t>;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b="1" dirty="0" smtClean="0"/>
              <a:t> </a:t>
            </a:r>
            <a:r>
              <a:rPr lang="en-US" altLang="zh-CN" sz="2200" b="1" dirty="0" err="1" smtClean="0"/>
              <a:t>v_college</a:t>
            </a:r>
            <a:r>
              <a:rPr lang="en-US" altLang="zh-CN" sz="2200" b="1" dirty="0" smtClean="0"/>
              <a:t> </a:t>
            </a:r>
            <a:r>
              <a:rPr lang="en-US" altLang="zh-CN" sz="2200" b="1" dirty="0" err="1" smtClean="0"/>
              <a:t>s.college%type</a:t>
            </a:r>
            <a:r>
              <a:rPr lang="en-US" altLang="zh-CN" sz="2200" b="1" dirty="0" smtClean="0"/>
              <a:t>;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b="1" dirty="0" smtClean="0"/>
              <a:t>begin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b="1" dirty="0" smtClean="0"/>
              <a:t>  select </a:t>
            </a:r>
            <a:r>
              <a:rPr lang="en-US" altLang="zh-CN" sz="2200" b="1" dirty="0" err="1" smtClean="0"/>
              <a:t>Sname,ssex,college</a:t>
            </a:r>
            <a:endParaRPr lang="en-US" altLang="zh-CN" sz="2200" b="1" dirty="0" smtClean="0"/>
          </a:p>
          <a:p>
            <a:pPr lvl="1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b="1" dirty="0" smtClean="0"/>
              <a:t>  into </a:t>
            </a:r>
            <a:r>
              <a:rPr lang="en-US" altLang="zh-CN" sz="2200" b="1" dirty="0" err="1" smtClean="0"/>
              <a:t>v_sname,v_sex,v_college</a:t>
            </a:r>
            <a:endParaRPr lang="en-US" altLang="zh-CN" sz="2200" b="1" dirty="0" smtClean="0"/>
          </a:p>
          <a:p>
            <a:pPr lvl="1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b="1" dirty="0" smtClean="0"/>
              <a:t>  from s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b="1" dirty="0" smtClean="0"/>
              <a:t>  where </a:t>
            </a:r>
            <a:r>
              <a:rPr lang="en-US" altLang="zh-CN" sz="2200" b="1" dirty="0" err="1" smtClean="0"/>
              <a:t>sno</a:t>
            </a:r>
            <a:r>
              <a:rPr lang="en-US" altLang="zh-CN" sz="2200" b="1" dirty="0" smtClean="0"/>
              <a:t>='04001';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b="1" dirty="0" smtClean="0"/>
              <a:t>  </a:t>
            </a:r>
            <a:r>
              <a:rPr lang="en-US" altLang="zh-CN" sz="2200" b="1" dirty="0" err="1" smtClean="0"/>
              <a:t>dbms_output.put_line</a:t>
            </a:r>
            <a:r>
              <a:rPr lang="en-US" altLang="zh-CN" sz="2200" b="1" dirty="0" smtClean="0"/>
              <a:t>(</a:t>
            </a:r>
            <a:r>
              <a:rPr lang="en-US" altLang="zh-CN" sz="2200" b="1" dirty="0" err="1" smtClean="0"/>
              <a:t>v_sname</a:t>
            </a:r>
            <a:r>
              <a:rPr lang="en-US" altLang="zh-CN" sz="2200" b="1" dirty="0" smtClean="0"/>
              <a:t> ||'</a:t>
            </a:r>
            <a:r>
              <a:rPr lang="zh-CN" altLang="en-US" sz="2200" b="1" dirty="0" smtClean="0"/>
              <a:t>，</a:t>
            </a:r>
            <a:r>
              <a:rPr lang="en-US" altLang="zh-CN" sz="2200" b="1" dirty="0" smtClean="0"/>
              <a:t>'|| </a:t>
            </a:r>
            <a:r>
              <a:rPr lang="en-US" altLang="zh-CN" sz="2200" b="1" dirty="0" err="1" smtClean="0"/>
              <a:t>v_sex</a:t>
            </a:r>
            <a:r>
              <a:rPr lang="en-US" altLang="zh-CN" sz="2200" b="1" dirty="0" smtClean="0"/>
              <a:t>||'</a:t>
            </a:r>
            <a:r>
              <a:rPr lang="zh-CN" altLang="en-US" sz="2200" b="1" dirty="0" smtClean="0"/>
              <a:t>，</a:t>
            </a:r>
            <a:r>
              <a:rPr lang="en-US" altLang="zh-CN" sz="2200" b="1" dirty="0" smtClean="0"/>
              <a:t>'||</a:t>
            </a:r>
            <a:r>
              <a:rPr lang="en-US" altLang="zh-CN" sz="2200" b="1" dirty="0" err="1" smtClean="0"/>
              <a:t>v_college</a:t>
            </a:r>
            <a:r>
              <a:rPr lang="en-US" altLang="zh-CN" sz="2200" b="1" dirty="0" smtClean="0"/>
              <a:t>);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b="1" dirty="0" smtClean="0"/>
              <a:t>end;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5288" y="115888"/>
            <a:ext cx="7793037" cy="639762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黑体" pitchFamily="49" charset="-122"/>
              </a:rPr>
              <a:t>创建不带参数的存储过程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1341438"/>
            <a:ext cx="8686800" cy="539993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000" b="1" dirty="0" smtClean="0">
                <a:latin typeface="黑体" pitchFamily="49" charset="-122"/>
              </a:rPr>
              <a:t>例：</a:t>
            </a:r>
            <a:r>
              <a:rPr lang="zh-CN" altLang="en-US" sz="2000" b="1" dirty="0"/>
              <a:t>创建存储过程，</a:t>
            </a:r>
            <a:r>
              <a:rPr lang="zh-CN" altLang="en-US" sz="2000" b="1" dirty="0" smtClean="0">
                <a:latin typeface="黑体" pitchFamily="49" charset="-122"/>
              </a:rPr>
              <a:t>查询信息学院学生的考试成绩，列出学生的姓名、课程名和成绩</a:t>
            </a:r>
            <a:r>
              <a:rPr lang="zh-CN" altLang="en-US" sz="2000" b="1" dirty="0"/>
              <a:t>，将查询结果在过程体中输出</a:t>
            </a:r>
            <a:r>
              <a:rPr lang="zh-CN" altLang="en-US" sz="2000" b="1" dirty="0" smtClean="0">
                <a:latin typeface="黑体" pitchFamily="49" charset="-122"/>
              </a:rPr>
              <a:t>。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000" b="1" dirty="0" smtClean="0"/>
              <a:t>create or replace procedure p3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000" b="1" dirty="0" smtClean="0"/>
              <a:t>is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000" b="1" dirty="0" smtClean="0"/>
              <a:t>  	</a:t>
            </a:r>
            <a:r>
              <a:rPr lang="en-US" altLang="zh-CN" sz="2000" b="1" dirty="0" err="1" smtClean="0"/>
              <a:t>v_sname</a:t>
            </a:r>
            <a:r>
              <a:rPr lang="en-US" altLang="zh-CN" sz="2000" b="1" dirty="0" smtClean="0"/>
              <a:t> </a:t>
            </a:r>
            <a:r>
              <a:rPr lang="en-US" altLang="zh-CN" sz="2000" b="1" dirty="0" err="1" smtClean="0"/>
              <a:t>s.sname%type</a:t>
            </a:r>
            <a:r>
              <a:rPr lang="en-US" altLang="zh-CN" sz="2000" b="1" dirty="0" smtClean="0"/>
              <a:t>; </a:t>
            </a:r>
            <a:r>
              <a:rPr lang="en-US" altLang="zh-CN" sz="2000" b="1" dirty="0" err="1" smtClean="0"/>
              <a:t>v_cname</a:t>
            </a:r>
            <a:r>
              <a:rPr lang="en-US" altLang="zh-CN" sz="2000" b="1" dirty="0" smtClean="0"/>
              <a:t> </a:t>
            </a:r>
            <a:r>
              <a:rPr lang="en-US" altLang="zh-CN" sz="2000" b="1" dirty="0" err="1" smtClean="0"/>
              <a:t>c.cname%type</a:t>
            </a:r>
            <a:r>
              <a:rPr lang="en-US" altLang="zh-CN" sz="2000" b="1" dirty="0" smtClean="0"/>
              <a:t>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000" b="1" dirty="0" smtClean="0"/>
              <a:t>     </a:t>
            </a:r>
            <a:r>
              <a:rPr lang="en-US" altLang="zh-CN" sz="2000" b="1" dirty="0" err="1" smtClean="0"/>
              <a:t>v_grade</a:t>
            </a:r>
            <a:r>
              <a:rPr lang="en-US" altLang="zh-CN" sz="2000" b="1" dirty="0" smtClean="0"/>
              <a:t> </a:t>
            </a:r>
            <a:r>
              <a:rPr lang="en-US" altLang="zh-CN" sz="2000" b="1" dirty="0" err="1" smtClean="0"/>
              <a:t>sc.grade%type</a:t>
            </a:r>
            <a:r>
              <a:rPr lang="en-US" altLang="zh-CN" sz="2000" b="1" dirty="0" smtClean="0"/>
              <a:t>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000" b="1" dirty="0" smtClean="0"/>
              <a:t>  	cursor c1 is  select </a:t>
            </a:r>
            <a:r>
              <a:rPr lang="en-US" altLang="zh-CN" sz="2000" b="1" dirty="0" err="1" smtClean="0"/>
              <a:t>Sname</a:t>
            </a:r>
            <a:r>
              <a:rPr lang="en-US" altLang="zh-CN" sz="2000" b="1" dirty="0" smtClean="0"/>
              <a:t>, </a:t>
            </a:r>
            <a:r>
              <a:rPr lang="en-US" altLang="zh-CN" sz="2000" b="1" dirty="0" err="1" smtClean="0"/>
              <a:t>Cname,Grade</a:t>
            </a:r>
            <a:r>
              <a:rPr lang="en-US" altLang="zh-CN" sz="2000" b="1" dirty="0" smtClean="0"/>
              <a:t>  from </a:t>
            </a:r>
            <a:r>
              <a:rPr lang="en-US" altLang="zh-CN" sz="2000" b="1" dirty="0" err="1" smtClean="0"/>
              <a:t>s,sc,c</a:t>
            </a:r>
            <a:endParaRPr lang="en-US" altLang="zh-CN" sz="2000" b="1" dirty="0" smtClean="0"/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000" b="1" dirty="0" smtClean="0"/>
              <a:t>             where </a:t>
            </a:r>
            <a:r>
              <a:rPr lang="en-US" altLang="zh-CN" sz="2000" b="1" dirty="0" err="1" smtClean="0"/>
              <a:t>s.sno</a:t>
            </a:r>
            <a:r>
              <a:rPr lang="en-US" altLang="zh-CN" sz="2000" b="1" dirty="0" smtClean="0"/>
              <a:t> = </a:t>
            </a:r>
            <a:r>
              <a:rPr lang="en-US" altLang="zh-CN" sz="2000" b="1" dirty="0" err="1" smtClean="0"/>
              <a:t>sc.sno</a:t>
            </a:r>
            <a:r>
              <a:rPr lang="en-US" altLang="zh-CN" sz="2000" b="1" dirty="0" smtClean="0"/>
              <a:t> and </a:t>
            </a:r>
            <a:r>
              <a:rPr lang="en-US" altLang="zh-CN" sz="2000" b="1" dirty="0" err="1" smtClean="0"/>
              <a:t>c.cno</a:t>
            </a:r>
            <a:r>
              <a:rPr lang="en-US" altLang="zh-CN" sz="2000" b="1" dirty="0" smtClean="0"/>
              <a:t> = </a:t>
            </a:r>
            <a:r>
              <a:rPr lang="en-US" altLang="zh-CN" sz="2000" b="1" dirty="0" err="1" smtClean="0"/>
              <a:t>sc.cno</a:t>
            </a:r>
            <a:r>
              <a:rPr lang="en-US" altLang="zh-CN" sz="2000" b="1" dirty="0" smtClean="0"/>
              <a:t> and college = '</a:t>
            </a:r>
            <a:r>
              <a:rPr lang="zh-CN" altLang="en-US" sz="2000" b="1" dirty="0" smtClean="0"/>
              <a:t>信息</a:t>
            </a:r>
            <a:r>
              <a:rPr lang="en-US" altLang="zh-CN" sz="2000" b="1" dirty="0" smtClean="0"/>
              <a:t>';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000" b="1" dirty="0" smtClean="0"/>
              <a:t>begin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000" b="1" dirty="0" smtClean="0"/>
              <a:t> 	 open c1;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000" b="1" dirty="0" smtClean="0"/>
              <a:t> 	 loop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000" b="1" dirty="0" smtClean="0"/>
              <a:t>      	 fetch c1 into </a:t>
            </a:r>
            <a:r>
              <a:rPr lang="en-US" altLang="zh-CN" sz="2000" b="1" dirty="0" err="1" smtClean="0"/>
              <a:t>v_sname,v_cname,v_grade</a:t>
            </a:r>
            <a:r>
              <a:rPr lang="en-US" altLang="zh-CN" sz="2000" b="1" dirty="0" smtClean="0"/>
              <a:t>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000" b="1" dirty="0" smtClean="0"/>
              <a:t>      	 exit when c1%notfound;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000" b="1" dirty="0" smtClean="0"/>
              <a:t>      	 </a:t>
            </a:r>
            <a:r>
              <a:rPr lang="en-US" altLang="zh-CN" sz="2000" b="1" dirty="0" err="1" smtClean="0"/>
              <a:t>dbms_output.put_line</a:t>
            </a:r>
            <a:r>
              <a:rPr lang="en-US" altLang="zh-CN" sz="2000" b="1" dirty="0" smtClean="0"/>
              <a:t>(</a:t>
            </a:r>
            <a:r>
              <a:rPr lang="en-US" altLang="zh-CN" sz="2000" b="1" dirty="0" err="1" smtClean="0"/>
              <a:t>v_sname</a:t>
            </a:r>
            <a:r>
              <a:rPr lang="en-US" altLang="zh-CN" sz="2000" b="1" dirty="0" smtClean="0"/>
              <a:t>||'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'||</a:t>
            </a:r>
            <a:r>
              <a:rPr lang="en-US" altLang="zh-CN" sz="2000" b="1" dirty="0" err="1" smtClean="0"/>
              <a:t>v_cname</a:t>
            </a:r>
            <a:r>
              <a:rPr lang="en-US" altLang="zh-CN" sz="2000" b="1" dirty="0" smtClean="0"/>
              <a:t>||'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'||</a:t>
            </a:r>
            <a:r>
              <a:rPr lang="en-US" altLang="zh-CN" sz="2000" b="1" dirty="0" err="1" smtClean="0"/>
              <a:t>v_grade</a:t>
            </a:r>
            <a:r>
              <a:rPr lang="en-US" altLang="zh-CN" sz="2000" b="1" dirty="0" smtClean="0"/>
              <a:t>);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000" b="1" dirty="0" smtClean="0"/>
              <a:t>  	end loop;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000" b="1" dirty="0" smtClean="0"/>
              <a:t> 	 close c1;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000" b="1" dirty="0" smtClean="0"/>
              <a:t>end;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6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6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6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6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115888"/>
            <a:ext cx="7056438" cy="990600"/>
          </a:xfrm>
        </p:spPr>
        <p:txBody>
          <a:bodyPr/>
          <a:lstStyle/>
          <a:p>
            <a:pPr eaLnBrk="1" hangingPunct="1"/>
            <a:r>
              <a:rPr lang="zh-CN" altLang="en-US" sz="2800" smtClean="0">
                <a:latin typeface="黑体" pitchFamily="49" charset="-122"/>
              </a:rPr>
              <a:t>创建带输入参数和输出参数的存储过程 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484784"/>
            <a:ext cx="8305800" cy="5089525"/>
          </a:xfrm>
        </p:spPr>
        <p:txBody>
          <a:bodyPr/>
          <a:lstStyle/>
          <a:p>
            <a:pPr eaLnBrk="1" hangingPunct="1">
              <a:lnSpc>
                <a:spcPts val="35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zh-CN" altLang="en-US" sz="2200" b="1" dirty="0" smtClean="0">
                <a:latin typeface="黑体" pitchFamily="49" charset="-122"/>
              </a:rPr>
              <a:t>创建存储过程，统计指定课程的平均成绩和选课人数，将统计结果用输出参数返回给调用的主程序。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200" b="1" dirty="0" smtClean="0"/>
              <a:t>create or replace procedure p4(</a:t>
            </a:r>
            <a:r>
              <a:rPr lang="en-US" altLang="zh-CN" sz="2200" b="1" dirty="0" err="1" smtClean="0"/>
              <a:t>v_cno</a:t>
            </a:r>
            <a:r>
              <a:rPr lang="en-US" altLang="zh-CN" sz="2200" b="1" dirty="0" smtClean="0"/>
              <a:t> in </a:t>
            </a:r>
            <a:r>
              <a:rPr lang="en-US" altLang="zh-CN" sz="2200" b="1" dirty="0" err="1" smtClean="0"/>
              <a:t>sc.cno%type,avg_grade</a:t>
            </a:r>
            <a:r>
              <a:rPr lang="en-US" altLang="zh-CN" sz="2200" b="1" dirty="0" smtClean="0"/>
              <a:t> out number, total out number) is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200" b="1" dirty="0" smtClean="0"/>
              <a:t>begin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200" b="1" dirty="0" smtClean="0"/>
              <a:t>  select </a:t>
            </a:r>
            <a:r>
              <a:rPr lang="en-US" altLang="zh-CN" sz="2200" b="1" dirty="0" err="1" smtClean="0"/>
              <a:t>avg</a:t>
            </a:r>
            <a:r>
              <a:rPr lang="en-US" altLang="zh-CN" sz="2200" b="1" dirty="0" smtClean="0"/>
              <a:t>(grade),count(</a:t>
            </a:r>
            <a:r>
              <a:rPr lang="en-US" altLang="zh-CN" sz="2200" b="1" dirty="0" err="1" smtClean="0"/>
              <a:t>sno</a:t>
            </a:r>
            <a:r>
              <a:rPr lang="en-US" altLang="zh-CN" sz="2200" b="1" dirty="0" smtClean="0"/>
              <a:t>)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200" b="1" dirty="0" smtClean="0"/>
              <a:t>  into </a:t>
            </a:r>
            <a:r>
              <a:rPr lang="en-US" altLang="zh-CN" sz="2200" b="1" dirty="0" err="1" smtClean="0"/>
              <a:t>avg_grade,total</a:t>
            </a:r>
            <a:endParaRPr lang="en-US" altLang="zh-CN" sz="2200" b="1" dirty="0" smtClean="0"/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200" b="1" dirty="0" smtClean="0"/>
              <a:t>  from </a:t>
            </a:r>
            <a:r>
              <a:rPr lang="en-US" altLang="zh-CN" sz="2200" b="1" dirty="0" err="1" smtClean="0"/>
              <a:t>sc</a:t>
            </a:r>
            <a:endParaRPr lang="en-US" altLang="zh-CN" sz="2200" b="1" dirty="0" smtClean="0"/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200" b="1" dirty="0" smtClean="0"/>
              <a:t>  where </a:t>
            </a:r>
            <a:r>
              <a:rPr lang="en-US" altLang="zh-CN" sz="2200" b="1" dirty="0" err="1" smtClean="0"/>
              <a:t>cno</a:t>
            </a:r>
            <a:r>
              <a:rPr lang="en-US" altLang="zh-CN" sz="2200" b="1" dirty="0" smtClean="0"/>
              <a:t>=</a:t>
            </a:r>
            <a:r>
              <a:rPr lang="en-US" altLang="zh-CN" sz="2200" b="1" dirty="0" err="1" smtClean="0"/>
              <a:t>v_cno</a:t>
            </a:r>
            <a:r>
              <a:rPr lang="en-US" altLang="zh-CN" sz="2200" b="1" dirty="0" smtClean="0"/>
              <a:t>;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200" b="1" dirty="0" smtClean="0"/>
              <a:t>end 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116632"/>
            <a:ext cx="7056438" cy="504800"/>
          </a:xfrm>
        </p:spPr>
        <p:txBody>
          <a:bodyPr/>
          <a:lstStyle/>
          <a:p>
            <a:pPr eaLnBrk="1" hangingPunct="1"/>
            <a:r>
              <a:rPr lang="zh-CN" altLang="en-US" sz="2800" dirty="0" smtClean="0">
                <a:solidFill>
                  <a:schemeClr val="tx1"/>
                </a:solidFill>
                <a:latin typeface="黑体" pitchFamily="49" charset="-122"/>
              </a:rPr>
              <a:t>创建带输入参数和输出参数的存储过程 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764704"/>
            <a:ext cx="8496944" cy="5976664"/>
          </a:xfrm>
        </p:spPr>
        <p:txBody>
          <a:bodyPr/>
          <a:lstStyle/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 smtClean="0"/>
              <a:t>create </a:t>
            </a:r>
            <a:r>
              <a:rPr lang="en-US" altLang="zh-CN" sz="2000" b="1" dirty="0"/>
              <a:t>or replace procedure p3(m in </a:t>
            </a:r>
            <a:r>
              <a:rPr lang="en-US" altLang="zh-CN" sz="2000" b="1" dirty="0" err="1" smtClean="0"/>
              <a:t>s.college%type</a:t>
            </a:r>
            <a:r>
              <a:rPr lang="en-US" altLang="zh-CN" sz="2000" b="1" dirty="0" smtClean="0"/>
              <a:t> , n </a:t>
            </a:r>
            <a:r>
              <a:rPr lang="en-US" altLang="zh-CN" sz="2000" b="1" dirty="0"/>
              <a:t>out number)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is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</a:t>
            </a:r>
            <a:r>
              <a:rPr lang="en-US" altLang="zh-CN" sz="2000" b="1" dirty="0" err="1" smtClean="0"/>
              <a:t>v_sname</a:t>
            </a:r>
            <a:r>
              <a:rPr lang="en-US" altLang="zh-CN" sz="2000" b="1" dirty="0" smtClean="0"/>
              <a:t> </a:t>
            </a:r>
            <a:r>
              <a:rPr lang="en-US" altLang="zh-CN" sz="2000" b="1" dirty="0" err="1"/>
              <a:t>s.sname%type</a:t>
            </a:r>
            <a:r>
              <a:rPr lang="en-US" altLang="zh-CN" sz="2000" b="1" dirty="0"/>
              <a:t>; </a:t>
            </a:r>
            <a:r>
              <a:rPr lang="en-US" altLang="zh-CN" sz="2000" b="1" dirty="0" err="1"/>
              <a:t>v_cname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c.cname%type</a:t>
            </a:r>
            <a:r>
              <a:rPr lang="en-US" altLang="zh-CN" sz="2000" b="1" dirty="0"/>
              <a:t>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</a:t>
            </a:r>
            <a:r>
              <a:rPr lang="en-US" altLang="zh-CN" sz="2000" b="1" dirty="0" err="1" smtClean="0"/>
              <a:t>v_grade</a:t>
            </a:r>
            <a:r>
              <a:rPr lang="en-US" altLang="zh-CN" sz="2000" b="1" dirty="0" smtClean="0"/>
              <a:t> </a:t>
            </a:r>
            <a:r>
              <a:rPr lang="en-US" altLang="zh-CN" sz="2000" b="1" dirty="0" err="1"/>
              <a:t>sc.grade%type</a:t>
            </a:r>
            <a:r>
              <a:rPr lang="en-US" altLang="zh-CN" sz="2000" b="1" dirty="0"/>
              <a:t>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cursor </a:t>
            </a:r>
            <a:r>
              <a:rPr lang="en-US" altLang="zh-CN" sz="2000" b="1" dirty="0"/>
              <a:t>c1 is  select </a:t>
            </a:r>
            <a:r>
              <a:rPr lang="en-US" altLang="zh-CN" sz="2000" b="1" dirty="0" err="1"/>
              <a:t>Sname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Cname,Grade</a:t>
            </a:r>
            <a:r>
              <a:rPr lang="en-US" altLang="zh-CN" sz="2000" b="1" dirty="0"/>
              <a:t>  from </a:t>
            </a:r>
            <a:r>
              <a:rPr lang="en-US" altLang="zh-CN" sz="2000" b="1" dirty="0" err="1"/>
              <a:t>s,sc,c</a:t>
            </a:r>
            <a:endParaRPr lang="en-US" altLang="zh-CN" sz="2000" b="1" dirty="0"/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   </a:t>
            </a:r>
            <a:r>
              <a:rPr lang="en-US" altLang="zh-CN" sz="2000" b="1" dirty="0" smtClean="0"/>
              <a:t>  where </a:t>
            </a:r>
            <a:r>
              <a:rPr lang="en-US" altLang="zh-CN" sz="2000" b="1" dirty="0" err="1"/>
              <a:t>s.sno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sc.sno</a:t>
            </a:r>
            <a:r>
              <a:rPr lang="en-US" altLang="zh-CN" sz="2000" b="1" dirty="0"/>
              <a:t> and </a:t>
            </a:r>
            <a:r>
              <a:rPr lang="en-US" altLang="zh-CN" sz="2000" b="1" dirty="0" err="1"/>
              <a:t>c.cno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sc.cno</a:t>
            </a:r>
            <a:r>
              <a:rPr lang="en-US" altLang="zh-CN" sz="2000" b="1" dirty="0"/>
              <a:t> and college = m;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begin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select </a:t>
            </a:r>
            <a:r>
              <a:rPr lang="en-US" altLang="zh-CN" sz="2000" b="1" dirty="0"/>
              <a:t>count(distinct </a:t>
            </a:r>
            <a:r>
              <a:rPr lang="en-US" altLang="zh-CN" sz="2000" b="1" dirty="0" err="1"/>
              <a:t>sname</a:t>
            </a:r>
            <a:r>
              <a:rPr lang="en-US" altLang="zh-CN" sz="2000" b="1" dirty="0"/>
              <a:t>) into n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from </a:t>
            </a:r>
            <a:r>
              <a:rPr lang="en-US" altLang="zh-CN" sz="2000" b="1" dirty="0" err="1"/>
              <a:t>s,sc,c</a:t>
            </a:r>
            <a:endParaRPr lang="en-US" altLang="zh-CN" sz="2000" b="1" dirty="0"/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where </a:t>
            </a:r>
            <a:r>
              <a:rPr lang="en-US" altLang="zh-CN" sz="2000" b="1" dirty="0" err="1"/>
              <a:t>s.sno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sc.sno</a:t>
            </a:r>
            <a:r>
              <a:rPr lang="en-US" altLang="zh-CN" sz="2000" b="1" dirty="0"/>
              <a:t> and </a:t>
            </a:r>
            <a:r>
              <a:rPr lang="en-US" altLang="zh-CN" sz="2000" b="1" dirty="0" err="1"/>
              <a:t>c.cno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sc.cno</a:t>
            </a:r>
            <a:r>
              <a:rPr lang="en-US" altLang="zh-CN" sz="2000" b="1" dirty="0"/>
              <a:t> and college = m;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open </a:t>
            </a:r>
            <a:r>
              <a:rPr lang="en-US" altLang="zh-CN" sz="2000" b="1" dirty="0"/>
              <a:t>c1;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loop</a:t>
            </a:r>
            <a:endParaRPr lang="en-US" altLang="zh-CN" sz="2000" b="1" dirty="0"/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  </a:t>
            </a:r>
            <a:r>
              <a:rPr lang="en-US" altLang="zh-CN" sz="2000" b="1" dirty="0" smtClean="0"/>
              <a:t>    fetch </a:t>
            </a:r>
            <a:r>
              <a:rPr lang="en-US" altLang="zh-CN" sz="2000" b="1" dirty="0"/>
              <a:t>c1 into </a:t>
            </a:r>
            <a:r>
              <a:rPr lang="en-US" altLang="zh-CN" sz="2000" b="1" dirty="0" err="1"/>
              <a:t>v_sname,v_cname,v_grade</a:t>
            </a:r>
            <a:r>
              <a:rPr lang="en-US" altLang="zh-CN" sz="2000" b="1" dirty="0"/>
              <a:t>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  </a:t>
            </a:r>
            <a:r>
              <a:rPr lang="en-US" altLang="zh-CN" sz="2000" b="1" dirty="0" smtClean="0"/>
              <a:t>    exit </a:t>
            </a:r>
            <a:r>
              <a:rPr lang="en-US" altLang="zh-CN" sz="2000" b="1" dirty="0"/>
              <a:t>when c1%notfound;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  </a:t>
            </a:r>
            <a:r>
              <a:rPr lang="en-US" altLang="zh-CN" sz="2000" b="1" dirty="0" smtClean="0"/>
              <a:t>    </a:t>
            </a:r>
            <a:r>
              <a:rPr lang="en-US" altLang="zh-CN" sz="2000" b="1" dirty="0" err="1" smtClean="0"/>
              <a:t>dbms_output.put_line</a:t>
            </a:r>
            <a:r>
              <a:rPr lang="en-US" altLang="zh-CN" sz="2000" b="1" dirty="0" smtClean="0"/>
              <a:t>(</a:t>
            </a:r>
            <a:r>
              <a:rPr lang="en-US" altLang="zh-CN" sz="2000" b="1" dirty="0" err="1" smtClean="0"/>
              <a:t>v_sname</a:t>
            </a:r>
            <a:r>
              <a:rPr lang="en-US" altLang="zh-CN" sz="2000" b="1" dirty="0"/>
              <a:t>||'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'||</a:t>
            </a:r>
            <a:r>
              <a:rPr lang="en-US" altLang="zh-CN" sz="2000" b="1" dirty="0" err="1"/>
              <a:t>v_cname</a:t>
            </a:r>
            <a:r>
              <a:rPr lang="en-US" altLang="zh-CN" sz="2000" b="1" dirty="0"/>
              <a:t>||'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'||</a:t>
            </a:r>
            <a:r>
              <a:rPr lang="en-US" altLang="zh-CN" sz="2000" b="1" dirty="0" err="1"/>
              <a:t>v_grade</a:t>
            </a:r>
            <a:r>
              <a:rPr lang="en-US" altLang="zh-CN" sz="2000" b="1" dirty="0"/>
              <a:t>);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end </a:t>
            </a:r>
            <a:r>
              <a:rPr lang="en-US" altLang="zh-CN" sz="2000" b="1" dirty="0"/>
              <a:t>loop;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close </a:t>
            </a:r>
            <a:r>
              <a:rPr lang="en-US" altLang="zh-CN" sz="2000" b="1" dirty="0"/>
              <a:t>c1;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end;</a:t>
            </a:r>
            <a:endParaRPr lang="en-US" altLang="zh-CN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2871987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116632"/>
            <a:ext cx="7056438" cy="504800"/>
          </a:xfrm>
        </p:spPr>
        <p:txBody>
          <a:bodyPr/>
          <a:lstStyle/>
          <a:p>
            <a:pPr eaLnBrk="1" hangingPunct="1"/>
            <a:r>
              <a:rPr lang="zh-CN" altLang="en-US" sz="2800" dirty="0" smtClean="0">
                <a:solidFill>
                  <a:schemeClr val="tx1"/>
                </a:solidFill>
                <a:latin typeface="黑体" pitchFamily="49" charset="-122"/>
              </a:rPr>
              <a:t>创建带输入参数和输出参数的存储过程 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764704"/>
            <a:ext cx="8496944" cy="5976664"/>
          </a:xfrm>
        </p:spPr>
        <p:txBody>
          <a:bodyPr/>
          <a:lstStyle/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 smtClean="0"/>
              <a:t>create </a:t>
            </a:r>
            <a:r>
              <a:rPr lang="en-US" altLang="zh-CN" sz="2000" b="1" dirty="0"/>
              <a:t>or replace procedure p3(</a:t>
            </a:r>
            <a:r>
              <a:rPr lang="en-US" altLang="zh-CN" sz="2000" b="1" dirty="0">
                <a:solidFill>
                  <a:srgbClr val="FF0000"/>
                </a:solidFill>
              </a:rPr>
              <a:t>m in 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s.college%type</a:t>
            </a:r>
            <a:r>
              <a:rPr lang="en-US" altLang="zh-CN" sz="2000" b="1" dirty="0" smtClean="0"/>
              <a:t> , n </a:t>
            </a:r>
            <a:r>
              <a:rPr lang="en-US" altLang="zh-CN" sz="2000" b="1" dirty="0"/>
              <a:t>out number)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is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</a:t>
            </a:r>
            <a:r>
              <a:rPr lang="en-US" altLang="zh-CN" sz="2000" b="1" dirty="0" err="1" smtClean="0"/>
              <a:t>v_sname</a:t>
            </a:r>
            <a:r>
              <a:rPr lang="en-US" altLang="zh-CN" sz="2000" b="1" dirty="0" smtClean="0"/>
              <a:t> </a:t>
            </a:r>
            <a:r>
              <a:rPr lang="en-US" altLang="zh-CN" sz="2000" b="1" dirty="0" err="1"/>
              <a:t>s.sname%type</a:t>
            </a:r>
            <a:r>
              <a:rPr lang="en-US" altLang="zh-CN" sz="2000" b="1" dirty="0"/>
              <a:t>; </a:t>
            </a:r>
            <a:r>
              <a:rPr lang="en-US" altLang="zh-CN" sz="2000" b="1" dirty="0" err="1"/>
              <a:t>v_cname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c.cname%type</a:t>
            </a:r>
            <a:r>
              <a:rPr lang="en-US" altLang="zh-CN" sz="2000" b="1" dirty="0"/>
              <a:t>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</a:t>
            </a:r>
            <a:r>
              <a:rPr lang="en-US" altLang="zh-CN" sz="2000" b="1" dirty="0" err="1" smtClean="0"/>
              <a:t>v_grade</a:t>
            </a:r>
            <a:r>
              <a:rPr lang="en-US" altLang="zh-CN" sz="2000" b="1" dirty="0" smtClean="0"/>
              <a:t> </a:t>
            </a:r>
            <a:r>
              <a:rPr lang="en-US" altLang="zh-CN" sz="2000" b="1" dirty="0" err="1"/>
              <a:t>sc.grade%type</a:t>
            </a:r>
            <a:r>
              <a:rPr lang="en-US" altLang="zh-CN" sz="2000" b="1" dirty="0"/>
              <a:t>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cursor </a:t>
            </a:r>
            <a:r>
              <a:rPr lang="en-US" altLang="zh-CN" sz="2000" b="1" dirty="0"/>
              <a:t>c1 is  select </a:t>
            </a:r>
            <a:r>
              <a:rPr lang="en-US" altLang="zh-CN" sz="2000" b="1" dirty="0" err="1"/>
              <a:t>Sname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Cname,Grade</a:t>
            </a:r>
            <a:r>
              <a:rPr lang="en-US" altLang="zh-CN" sz="2000" b="1" dirty="0"/>
              <a:t>  from </a:t>
            </a:r>
            <a:r>
              <a:rPr lang="en-US" altLang="zh-CN" sz="2000" b="1" dirty="0" err="1"/>
              <a:t>s,sc,c</a:t>
            </a:r>
            <a:endParaRPr lang="en-US" altLang="zh-CN" sz="2000" b="1" dirty="0"/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   </a:t>
            </a:r>
            <a:r>
              <a:rPr lang="en-US" altLang="zh-CN" sz="2000" b="1" dirty="0" smtClean="0"/>
              <a:t>  where </a:t>
            </a:r>
            <a:r>
              <a:rPr lang="en-US" altLang="zh-CN" sz="2000" b="1" dirty="0" err="1"/>
              <a:t>s.sno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sc.sno</a:t>
            </a:r>
            <a:r>
              <a:rPr lang="en-US" altLang="zh-CN" sz="2000" b="1" dirty="0"/>
              <a:t> and </a:t>
            </a:r>
            <a:r>
              <a:rPr lang="en-US" altLang="zh-CN" sz="2000" b="1" dirty="0" err="1"/>
              <a:t>c.cno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sc.cno</a:t>
            </a:r>
            <a:r>
              <a:rPr lang="en-US" altLang="zh-CN" sz="2000" b="1" dirty="0"/>
              <a:t> and college = m;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begin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select </a:t>
            </a:r>
            <a:r>
              <a:rPr lang="en-US" altLang="zh-CN" sz="2000" b="1" dirty="0"/>
              <a:t>count(distinct </a:t>
            </a:r>
            <a:r>
              <a:rPr lang="en-US" altLang="zh-CN" sz="2000" b="1" dirty="0" err="1"/>
              <a:t>sname</a:t>
            </a:r>
            <a:r>
              <a:rPr lang="en-US" altLang="zh-CN" sz="2000" b="1" dirty="0"/>
              <a:t>) into n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from </a:t>
            </a:r>
            <a:r>
              <a:rPr lang="en-US" altLang="zh-CN" sz="2000" b="1" dirty="0" err="1"/>
              <a:t>s,sc,c</a:t>
            </a:r>
            <a:endParaRPr lang="en-US" altLang="zh-CN" sz="2000" b="1" dirty="0"/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where </a:t>
            </a:r>
            <a:r>
              <a:rPr lang="en-US" altLang="zh-CN" sz="2000" b="1" dirty="0" err="1"/>
              <a:t>s.sno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sc.sno</a:t>
            </a:r>
            <a:r>
              <a:rPr lang="en-US" altLang="zh-CN" sz="2000" b="1" dirty="0"/>
              <a:t> and </a:t>
            </a:r>
            <a:r>
              <a:rPr lang="en-US" altLang="zh-CN" sz="2000" b="1" dirty="0" err="1"/>
              <a:t>c.cno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sc.cno</a:t>
            </a:r>
            <a:r>
              <a:rPr lang="en-US" altLang="zh-CN" sz="2000" b="1" dirty="0"/>
              <a:t> and college = m;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open </a:t>
            </a:r>
            <a:r>
              <a:rPr lang="en-US" altLang="zh-CN" sz="2000" b="1" dirty="0"/>
              <a:t>c1;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loop</a:t>
            </a:r>
            <a:endParaRPr lang="en-US" altLang="zh-CN" sz="2000" b="1" dirty="0"/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  </a:t>
            </a:r>
            <a:r>
              <a:rPr lang="en-US" altLang="zh-CN" sz="2000" b="1" dirty="0" smtClean="0"/>
              <a:t>    fetch </a:t>
            </a:r>
            <a:r>
              <a:rPr lang="en-US" altLang="zh-CN" sz="2000" b="1" dirty="0"/>
              <a:t>c1 into </a:t>
            </a:r>
            <a:r>
              <a:rPr lang="en-US" altLang="zh-CN" sz="2000" b="1" dirty="0" err="1"/>
              <a:t>v_sname,v_cname,v_grade</a:t>
            </a:r>
            <a:r>
              <a:rPr lang="en-US" altLang="zh-CN" sz="2000" b="1" dirty="0"/>
              <a:t>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  </a:t>
            </a:r>
            <a:r>
              <a:rPr lang="en-US" altLang="zh-CN" sz="2000" b="1" dirty="0" smtClean="0"/>
              <a:t>    exit </a:t>
            </a:r>
            <a:r>
              <a:rPr lang="en-US" altLang="zh-CN" sz="2000" b="1" dirty="0"/>
              <a:t>when c1%notfound;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  </a:t>
            </a:r>
            <a:r>
              <a:rPr lang="en-US" altLang="zh-CN" sz="2000" b="1" dirty="0" smtClean="0"/>
              <a:t>    </a:t>
            </a:r>
            <a:r>
              <a:rPr lang="en-US" altLang="zh-CN" sz="2000" b="1" dirty="0" err="1" smtClean="0"/>
              <a:t>dbms_output.put_line</a:t>
            </a:r>
            <a:r>
              <a:rPr lang="en-US" altLang="zh-CN" sz="2000" b="1" dirty="0" smtClean="0"/>
              <a:t>(</a:t>
            </a:r>
            <a:r>
              <a:rPr lang="en-US" altLang="zh-CN" sz="2000" b="1" dirty="0" err="1" smtClean="0"/>
              <a:t>v_sname</a:t>
            </a:r>
            <a:r>
              <a:rPr lang="en-US" altLang="zh-CN" sz="2000" b="1" dirty="0"/>
              <a:t>||'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'||</a:t>
            </a:r>
            <a:r>
              <a:rPr lang="en-US" altLang="zh-CN" sz="2000" b="1" dirty="0" err="1"/>
              <a:t>v_cname</a:t>
            </a:r>
            <a:r>
              <a:rPr lang="en-US" altLang="zh-CN" sz="2000" b="1" dirty="0"/>
              <a:t>||'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'||</a:t>
            </a:r>
            <a:r>
              <a:rPr lang="en-US" altLang="zh-CN" sz="2000" b="1" dirty="0" err="1"/>
              <a:t>v_grade</a:t>
            </a:r>
            <a:r>
              <a:rPr lang="en-US" altLang="zh-CN" sz="2000" b="1" dirty="0"/>
              <a:t>);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end </a:t>
            </a:r>
            <a:r>
              <a:rPr lang="en-US" altLang="zh-CN" sz="2000" b="1" dirty="0"/>
              <a:t>loop;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close </a:t>
            </a:r>
            <a:r>
              <a:rPr lang="en-US" altLang="zh-CN" sz="2000" b="1" dirty="0"/>
              <a:t>c1;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end;</a:t>
            </a:r>
            <a:endParaRPr lang="en-US" altLang="zh-CN" sz="2000" b="1" dirty="0" smtClean="0"/>
          </a:p>
        </p:txBody>
      </p:sp>
      <p:sp>
        <p:nvSpPr>
          <p:cNvPr id="2" name="矩形 1"/>
          <p:cNvSpPr/>
          <p:nvPr/>
        </p:nvSpPr>
        <p:spPr bwMode="auto">
          <a:xfrm>
            <a:off x="4211960" y="836712"/>
            <a:ext cx="2304256" cy="28803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" name="线形标注 2 2"/>
          <p:cNvSpPr/>
          <p:nvPr/>
        </p:nvSpPr>
        <p:spPr bwMode="auto">
          <a:xfrm>
            <a:off x="5781067" y="1412776"/>
            <a:ext cx="2592288" cy="1296144"/>
          </a:xfrm>
          <a:prstGeom prst="borderCallout2">
            <a:avLst>
              <a:gd name="adj1" fmla="val 18750"/>
              <a:gd name="adj2" fmla="val 69"/>
              <a:gd name="adj3" fmla="val 18750"/>
              <a:gd name="adj4" fmla="val -16667"/>
              <a:gd name="adj5" fmla="val -16157"/>
              <a:gd name="adj6" fmla="val -22607"/>
            </a:avLst>
          </a:prstGeom>
          <a:solidFill>
            <a:srgbClr val="FFFF00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输入参数，向过</a:t>
            </a:r>
            <a:endParaRPr kumimoji="0" lang="en-US" altLang="zh-CN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程体中传入信息</a:t>
            </a:r>
          </a:p>
        </p:txBody>
      </p:sp>
    </p:spTree>
    <p:extLst>
      <p:ext uri="{BB962C8B-B14F-4D97-AF65-F5344CB8AC3E}">
        <p14:creationId xmlns:p14="http://schemas.microsoft.com/office/powerpoint/2010/main" val="15500196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116632"/>
            <a:ext cx="7056438" cy="504800"/>
          </a:xfrm>
        </p:spPr>
        <p:txBody>
          <a:bodyPr/>
          <a:lstStyle/>
          <a:p>
            <a:pPr eaLnBrk="1" hangingPunct="1"/>
            <a:r>
              <a:rPr lang="zh-CN" altLang="en-US" sz="2800" dirty="0" smtClean="0">
                <a:solidFill>
                  <a:schemeClr val="tx1"/>
                </a:solidFill>
                <a:latin typeface="黑体" pitchFamily="49" charset="-122"/>
              </a:rPr>
              <a:t>创建带输入参数和输出参数的存储过程 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764704"/>
            <a:ext cx="8496944" cy="5976664"/>
          </a:xfrm>
        </p:spPr>
        <p:txBody>
          <a:bodyPr/>
          <a:lstStyle/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 smtClean="0"/>
              <a:t>create </a:t>
            </a:r>
            <a:r>
              <a:rPr lang="en-US" altLang="zh-CN" sz="2000" b="1" dirty="0"/>
              <a:t>or replace procedure p3(m in </a:t>
            </a:r>
            <a:r>
              <a:rPr lang="en-US" altLang="zh-CN" sz="2000" b="1" dirty="0" err="1" smtClean="0"/>
              <a:t>s.college%type</a:t>
            </a:r>
            <a:r>
              <a:rPr lang="en-US" altLang="zh-CN" sz="2000" b="1" dirty="0" smtClean="0"/>
              <a:t> ,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n </a:t>
            </a:r>
            <a:r>
              <a:rPr lang="en-US" altLang="zh-CN" sz="2000" b="1" dirty="0">
                <a:solidFill>
                  <a:srgbClr val="FF0000"/>
                </a:solidFill>
              </a:rPr>
              <a:t>out number</a:t>
            </a:r>
            <a:r>
              <a:rPr lang="en-US" altLang="zh-CN" sz="2000" b="1" dirty="0"/>
              <a:t>)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is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</a:t>
            </a:r>
            <a:r>
              <a:rPr lang="en-US" altLang="zh-CN" sz="2000" b="1" dirty="0" err="1" smtClean="0"/>
              <a:t>v_sname</a:t>
            </a:r>
            <a:r>
              <a:rPr lang="en-US" altLang="zh-CN" sz="2000" b="1" dirty="0" smtClean="0"/>
              <a:t> </a:t>
            </a:r>
            <a:r>
              <a:rPr lang="en-US" altLang="zh-CN" sz="2000" b="1" dirty="0" err="1"/>
              <a:t>s.sname%type</a:t>
            </a:r>
            <a:r>
              <a:rPr lang="en-US" altLang="zh-CN" sz="2000" b="1" dirty="0"/>
              <a:t>; </a:t>
            </a:r>
            <a:r>
              <a:rPr lang="en-US" altLang="zh-CN" sz="2000" b="1" dirty="0" err="1"/>
              <a:t>v_cname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c.cname%type</a:t>
            </a:r>
            <a:r>
              <a:rPr lang="en-US" altLang="zh-CN" sz="2000" b="1" dirty="0"/>
              <a:t>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</a:t>
            </a:r>
            <a:r>
              <a:rPr lang="en-US" altLang="zh-CN" sz="2000" b="1" dirty="0" err="1" smtClean="0"/>
              <a:t>v_grade</a:t>
            </a:r>
            <a:r>
              <a:rPr lang="en-US" altLang="zh-CN" sz="2000" b="1" dirty="0" smtClean="0"/>
              <a:t> </a:t>
            </a:r>
            <a:r>
              <a:rPr lang="en-US" altLang="zh-CN" sz="2000" b="1" dirty="0" err="1"/>
              <a:t>sc.grade%type</a:t>
            </a:r>
            <a:r>
              <a:rPr lang="en-US" altLang="zh-CN" sz="2000" b="1" dirty="0"/>
              <a:t>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cursor </a:t>
            </a:r>
            <a:r>
              <a:rPr lang="en-US" altLang="zh-CN" sz="2000" b="1" dirty="0"/>
              <a:t>c1 is  select </a:t>
            </a:r>
            <a:r>
              <a:rPr lang="en-US" altLang="zh-CN" sz="2000" b="1" dirty="0" err="1"/>
              <a:t>Sname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Cname,Grade</a:t>
            </a:r>
            <a:r>
              <a:rPr lang="en-US" altLang="zh-CN" sz="2000" b="1" dirty="0"/>
              <a:t>  from </a:t>
            </a:r>
            <a:r>
              <a:rPr lang="en-US" altLang="zh-CN" sz="2000" b="1" dirty="0" err="1"/>
              <a:t>s,sc,c</a:t>
            </a:r>
            <a:endParaRPr lang="en-US" altLang="zh-CN" sz="2000" b="1" dirty="0"/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   </a:t>
            </a:r>
            <a:r>
              <a:rPr lang="en-US" altLang="zh-CN" sz="2000" b="1" dirty="0" smtClean="0"/>
              <a:t>  where </a:t>
            </a:r>
            <a:r>
              <a:rPr lang="en-US" altLang="zh-CN" sz="2000" b="1" dirty="0" err="1"/>
              <a:t>s.sno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sc.sno</a:t>
            </a:r>
            <a:r>
              <a:rPr lang="en-US" altLang="zh-CN" sz="2000" b="1" dirty="0"/>
              <a:t> and </a:t>
            </a:r>
            <a:r>
              <a:rPr lang="en-US" altLang="zh-CN" sz="2000" b="1" dirty="0" err="1"/>
              <a:t>c.cno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sc.cno</a:t>
            </a:r>
            <a:r>
              <a:rPr lang="en-US" altLang="zh-CN" sz="2000" b="1" dirty="0"/>
              <a:t> and college = m;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begin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select </a:t>
            </a:r>
            <a:r>
              <a:rPr lang="en-US" altLang="zh-CN" sz="2000" b="1" dirty="0"/>
              <a:t>count(distinct </a:t>
            </a:r>
            <a:r>
              <a:rPr lang="en-US" altLang="zh-CN" sz="2000" b="1" dirty="0" err="1"/>
              <a:t>sname</a:t>
            </a:r>
            <a:r>
              <a:rPr lang="en-US" altLang="zh-CN" sz="2000" b="1" dirty="0"/>
              <a:t>) into n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from </a:t>
            </a:r>
            <a:r>
              <a:rPr lang="en-US" altLang="zh-CN" sz="2000" b="1" dirty="0" err="1"/>
              <a:t>s,sc,c</a:t>
            </a:r>
            <a:endParaRPr lang="en-US" altLang="zh-CN" sz="2000" b="1" dirty="0"/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where </a:t>
            </a:r>
            <a:r>
              <a:rPr lang="en-US" altLang="zh-CN" sz="2000" b="1" dirty="0" err="1"/>
              <a:t>s.sno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sc.sno</a:t>
            </a:r>
            <a:r>
              <a:rPr lang="en-US" altLang="zh-CN" sz="2000" b="1" dirty="0"/>
              <a:t> and </a:t>
            </a:r>
            <a:r>
              <a:rPr lang="en-US" altLang="zh-CN" sz="2000" b="1" dirty="0" err="1"/>
              <a:t>c.cno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sc.cno</a:t>
            </a:r>
            <a:r>
              <a:rPr lang="en-US" altLang="zh-CN" sz="2000" b="1" dirty="0"/>
              <a:t> and college = m;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open </a:t>
            </a:r>
            <a:r>
              <a:rPr lang="en-US" altLang="zh-CN" sz="2000" b="1" dirty="0"/>
              <a:t>c1;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loop</a:t>
            </a:r>
            <a:endParaRPr lang="en-US" altLang="zh-CN" sz="2000" b="1" dirty="0"/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  </a:t>
            </a:r>
            <a:r>
              <a:rPr lang="en-US" altLang="zh-CN" sz="2000" b="1" dirty="0" smtClean="0"/>
              <a:t>    fetch </a:t>
            </a:r>
            <a:r>
              <a:rPr lang="en-US" altLang="zh-CN" sz="2000" b="1" dirty="0"/>
              <a:t>c1 into </a:t>
            </a:r>
            <a:r>
              <a:rPr lang="en-US" altLang="zh-CN" sz="2000" b="1" dirty="0" err="1"/>
              <a:t>v_sname,v_cname,v_grade</a:t>
            </a:r>
            <a:r>
              <a:rPr lang="en-US" altLang="zh-CN" sz="2000" b="1" dirty="0"/>
              <a:t>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  </a:t>
            </a:r>
            <a:r>
              <a:rPr lang="en-US" altLang="zh-CN" sz="2000" b="1" dirty="0" smtClean="0"/>
              <a:t>    exit </a:t>
            </a:r>
            <a:r>
              <a:rPr lang="en-US" altLang="zh-CN" sz="2000" b="1" dirty="0"/>
              <a:t>when c1%notfound;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  </a:t>
            </a:r>
            <a:r>
              <a:rPr lang="en-US" altLang="zh-CN" sz="2000" b="1" dirty="0" smtClean="0"/>
              <a:t>    </a:t>
            </a:r>
            <a:r>
              <a:rPr lang="en-US" altLang="zh-CN" sz="2000" b="1" dirty="0" err="1" smtClean="0"/>
              <a:t>dbms_output.put_line</a:t>
            </a:r>
            <a:r>
              <a:rPr lang="en-US" altLang="zh-CN" sz="2000" b="1" dirty="0" smtClean="0"/>
              <a:t>(</a:t>
            </a:r>
            <a:r>
              <a:rPr lang="en-US" altLang="zh-CN" sz="2000" b="1" dirty="0" err="1" smtClean="0"/>
              <a:t>v_sname</a:t>
            </a:r>
            <a:r>
              <a:rPr lang="en-US" altLang="zh-CN" sz="2000" b="1" dirty="0"/>
              <a:t>||'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'||</a:t>
            </a:r>
            <a:r>
              <a:rPr lang="en-US" altLang="zh-CN" sz="2000" b="1" dirty="0" err="1"/>
              <a:t>v_cname</a:t>
            </a:r>
            <a:r>
              <a:rPr lang="en-US" altLang="zh-CN" sz="2000" b="1" dirty="0"/>
              <a:t>||'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'||</a:t>
            </a:r>
            <a:r>
              <a:rPr lang="en-US" altLang="zh-CN" sz="2000" b="1" dirty="0" err="1"/>
              <a:t>v_grade</a:t>
            </a:r>
            <a:r>
              <a:rPr lang="en-US" altLang="zh-CN" sz="2000" b="1" dirty="0"/>
              <a:t>);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end </a:t>
            </a:r>
            <a:r>
              <a:rPr lang="en-US" altLang="zh-CN" sz="2000" b="1" dirty="0"/>
              <a:t>loop;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close </a:t>
            </a:r>
            <a:r>
              <a:rPr lang="en-US" altLang="zh-CN" sz="2000" b="1" dirty="0"/>
              <a:t>c1;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end;</a:t>
            </a:r>
            <a:endParaRPr lang="en-US" altLang="zh-CN" sz="2000" b="1" dirty="0" smtClean="0"/>
          </a:p>
        </p:txBody>
      </p:sp>
      <p:sp>
        <p:nvSpPr>
          <p:cNvPr id="2" name="矩形 1"/>
          <p:cNvSpPr/>
          <p:nvPr/>
        </p:nvSpPr>
        <p:spPr bwMode="auto">
          <a:xfrm>
            <a:off x="6588224" y="854914"/>
            <a:ext cx="1512168" cy="28803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" name="线形标注 2 2"/>
          <p:cNvSpPr/>
          <p:nvPr/>
        </p:nvSpPr>
        <p:spPr bwMode="auto">
          <a:xfrm>
            <a:off x="3995936" y="1484784"/>
            <a:ext cx="2736304" cy="1512168"/>
          </a:xfrm>
          <a:prstGeom prst="borderCallout2">
            <a:avLst>
              <a:gd name="adj1" fmla="val 18750"/>
              <a:gd name="adj2" fmla="val 100321"/>
              <a:gd name="adj3" fmla="val 14931"/>
              <a:gd name="adj4" fmla="val 121905"/>
              <a:gd name="adj5" fmla="val -21886"/>
              <a:gd name="adj6" fmla="val 123093"/>
            </a:avLst>
          </a:prstGeom>
          <a:solidFill>
            <a:srgbClr val="FFFF00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输出参数，将过程</a:t>
            </a:r>
            <a:endParaRPr kumimoji="0" lang="en-US" altLang="zh-CN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体中的数据传出给</a:t>
            </a:r>
            <a:endParaRPr kumimoji="0" lang="en-US" altLang="zh-CN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调用的程序</a:t>
            </a:r>
          </a:p>
        </p:txBody>
      </p:sp>
    </p:spTree>
    <p:extLst>
      <p:ext uri="{BB962C8B-B14F-4D97-AF65-F5344CB8AC3E}">
        <p14:creationId xmlns:p14="http://schemas.microsoft.com/office/powerpoint/2010/main" val="26073432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116632"/>
            <a:ext cx="7056438" cy="504800"/>
          </a:xfrm>
        </p:spPr>
        <p:txBody>
          <a:bodyPr/>
          <a:lstStyle/>
          <a:p>
            <a:pPr eaLnBrk="1" hangingPunct="1"/>
            <a:r>
              <a:rPr lang="zh-CN" altLang="en-US" sz="2800" dirty="0" smtClean="0">
                <a:solidFill>
                  <a:schemeClr val="tx1"/>
                </a:solidFill>
                <a:latin typeface="黑体" pitchFamily="49" charset="-122"/>
              </a:rPr>
              <a:t>创建带输入参数和输出参数的存储过程 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764704"/>
            <a:ext cx="8496944" cy="5976664"/>
          </a:xfrm>
        </p:spPr>
        <p:txBody>
          <a:bodyPr/>
          <a:lstStyle/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 smtClean="0"/>
              <a:t>create </a:t>
            </a:r>
            <a:r>
              <a:rPr lang="en-US" altLang="zh-CN" sz="2000" b="1" dirty="0"/>
              <a:t>or replace procedure p3(m in </a:t>
            </a:r>
            <a:r>
              <a:rPr lang="en-US" altLang="zh-CN" sz="2000" b="1" dirty="0" err="1" smtClean="0"/>
              <a:t>s.college%type</a:t>
            </a:r>
            <a:r>
              <a:rPr lang="en-US" altLang="zh-CN" sz="2000" b="1" dirty="0" smtClean="0"/>
              <a:t> , n </a:t>
            </a:r>
            <a:r>
              <a:rPr lang="en-US" altLang="zh-CN" sz="2000" b="1" dirty="0"/>
              <a:t>out number)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is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v_sname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</a:rPr>
              <a:t>s.sname%type</a:t>
            </a:r>
            <a:r>
              <a:rPr lang="en-US" altLang="zh-CN" sz="2000" b="1" dirty="0">
                <a:solidFill>
                  <a:srgbClr val="FF0000"/>
                </a:solidFill>
              </a:rPr>
              <a:t>; </a:t>
            </a:r>
            <a:r>
              <a:rPr lang="en-US" altLang="zh-CN" sz="2000" b="1" dirty="0" err="1">
                <a:solidFill>
                  <a:srgbClr val="FF0000"/>
                </a:solidFill>
              </a:rPr>
              <a:t>v_cname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</a:rPr>
              <a:t>c.cname%type</a:t>
            </a:r>
            <a:r>
              <a:rPr lang="en-US" altLang="zh-CN" sz="2000" b="1" dirty="0">
                <a:solidFill>
                  <a:srgbClr val="FF0000"/>
                </a:solidFill>
              </a:rPr>
              <a:t>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rgbClr val="FF0000"/>
                </a:solidFill>
              </a:rPr>
              <a:t>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  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v_grade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</a:rPr>
              <a:t>sc.grade%type</a:t>
            </a:r>
            <a:r>
              <a:rPr lang="en-US" altLang="zh-CN" sz="2000" b="1" dirty="0">
                <a:solidFill>
                  <a:srgbClr val="FF0000"/>
                </a:solidFill>
              </a:rPr>
              <a:t>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cursor </a:t>
            </a:r>
            <a:r>
              <a:rPr lang="en-US" altLang="zh-CN" sz="2000" b="1" dirty="0"/>
              <a:t>c1 is  select </a:t>
            </a:r>
            <a:r>
              <a:rPr lang="en-US" altLang="zh-CN" sz="2000" b="1" dirty="0" err="1"/>
              <a:t>Sname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Cname,Grade</a:t>
            </a:r>
            <a:r>
              <a:rPr lang="en-US" altLang="zh-CN" sz="2000" b="1" dirty="0"/>
              <a:t>  from </a:t>
            </a:r>
            <a:r>
              <a:rPr lang="en-US" altLang="zh-CN" sz="2000" b="1" dirty="0" err="1"/>
              <a:t>s,sc,c</a:t>
            </a:r>
            <a:endParaRPr lang="en-US" altLang="zh-CN" sz="2000" b="1" dirty="0"/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   </a:t>
            </a:r>
            <a:r>
              <a:rPr lang="en-US" altLang="zh-CN" sz="2000" b="1" dirty="0" smtClean="0"/>
              <a:t>  where </a:t>
            </a:r>
            <a:r>
              <a:rPr lang="en-US" altLang="zh-CN" sz="2000" b="1" dirty="0" err="1"/>
              <a:t>s.sno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sc.sno</a:t>
            </a:r>
            <a:r>
              <a:rPr lang="en-US" altLang="zh-CN" sz="2000" b="1" dirty="0"/>
              <a:t> and </a:t>
            </a:r>
            <a:r>
              <a:rPr lang="en-US" altLang="zh-CN" sz="2000" b="1" dirty="0" err="1"/>
              <a:t>c.cno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sc.cno</a:t>
            </a:r>
            <a:r>
              <a:rPr lang="en-US" altLang="zh-CN" sz="2000" b="1" dirty="0"/>
              <a:t> and college = m;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begin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select </a:t>
            </a:r>
            <a:r>
              <a:rPr lang="en-US" altLang="zh-CN" sz="2000" b="1" dirty="0"/>
              <a:t>count(distinct </a:t>
            </a:r>
            <a:r>
              <a:rPr lang="en-US" altLang="zh-CN" sz="2000" b="1" dirty="0" err="1"/>
              <a:t>sname</a:t>
            </a:r>
            <a:r>
              <a:rPr lang="en-US" altLang="zh-CN" sz="2000" b="1" dirty="0"/>
              <a:t>) into n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from </a:t>
            </a:r>
            <a:r>
              <a:rPr lang="en-US" altLang="zh-CN" sz="2000" b="1" dirty="0" err="1"/>
              <a:t>s,sc,c</a:t>
            </a:r>
            <a:endParaRPr lang="en-US" altLang="zh-CN" sz="2000" b="1" dirty="0"/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where </a:t>
            </a:r>
            <a:r>
              <a:rPr lang="en-US" altLang="zh-CN" sz="2000" b="1" dirty="0" err="1"/>
              <a:t>s.sno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sc.sno</a:t>
            </a:r>
            <a:r>
              <a:rPr lang="en-US" altLang="zh-CN" sz="2000" b="1" dirty="0"/>
              <a:t> and </a:t>
            </a:r>
            <a:r>
              <a:rPr lang="en-US" altLang="zh-CN" sz="2000" b="1" dirty="0" err="1"/>
              <a:t>c.cno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sc.cno</a:t>
            </a:r>
            <a:r>
              <a:rPr lang="en-US" altLang="zh-CN" sz="2000" b="1" dirty="0"/>
              <a:t> and college = m;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open </a:t>
            </a:r>
            <a:r>
              <a:rPr lang="en-US" altLang="zh-CN" sz="2000" b="1" dirty="0"/>
              <a:t>c1;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loop</a:t>
            </a:r>
            <a:endParaRPr lang="en-US" altLang="zh-CN" sz="2000" b="1" dirty="0"/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  </a:t>
            </a:r>
            <a:r>
              <a:rPr lang="en-US" altLang="zh-CN" sz="2000" b="1" dirty="0" smtClean="0"/>
              <a:t>    fetch </a:t>
            </a:r>
            <a:r>
              <a:rPr lang="en-US" altLang="zh-CN" sz="2000" b="1" dirty="0"/>
              <a:t>c1 into </a:t>
            </a:r>
            <a:r>
              <a:rPr lang="en-US" altLang="zh-CN" sz="2000" b="1" dirty="0" err="1"/>
              <a:t>v_sname,v_cname,v_grade</a:t>
            </a:r>
            <a:r>
              <a:rPr lang="en-US" altLang="zh-CN" sz="2000" b="1" dirty="0"/>
              <a:t>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  </a:t>
            </a:r>
            <a:r>
              <a:rPr lang="en-US" altLang="zh-CN" sz="2000" b="1" dirty="0" smtClean="0"/>
              <a:t>    exit </a:t>
            </a:r>
            <a:r>
              <a:rPr lang="en-US" altLang="zh-CN" sz="2000" b="1" dirty="0"/>
              <a:t>when c1%notfound;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  </a:t>
            </a:r>
            <a:r>
              <a:rPr lang="en-US" altLang="zh-CN" sz="2000" b="1" dirty="0" smtClean="0"/>
              <a:t>    </a:t>
            </a:r>
            <a:r>
              <a:rPr lang="en-US" altLang="zh-CN" sz="2000" b="1" dirty="0" err="1" smtClean="0"/>
              <a:t>dbms_output.put_line</a:t>
            </a:r>
            <a:r>
              <a:rPr lang="en-US" altLang="zh-CN" sz="2000" b="1" dirty="0" smtClean="0"/>
              <a:t>(</a:t>
            </a:r>
            <a:r>
              <a:rPr lang="en-US" altLang="zh-CN" sz="2000" b="1" dirty="0" err="1" smtClean="0"/>
              <a:t>v_sname</a:t>
            </a:r>
            <a:r>
              <a:rPr lang="en-US" altLang="zh-CN" sz="2000" b="1" dirty="0"/>
              <a:t>||'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'||</a:t>
            </a:r>
            <a:r>
              <a:rPr lang="en-US" altLang="zh-CN" sz="2000" b="1" dirty="0" err="1"/>
              <a:t>v_cname</a:t>
            </a:r>
            <a:r>
              <a:rPr lang="en-US" altLang="zh-CN" sz="2000" b="1" dirty="0"/>
              <a:t>||'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'||</a:t>
            </a:r>
            <a:r>
              <a:rPr lang="en-US" altLang="zh-CN" sz="2000" b="1" dirty="0" err="1"/>
              <a:t>v_grade</a:t>
            </a:r>
            <a:r>
              <a:rPr lang="en-US" altLang="zh-CN" sz="2000" b="1" dirty="0"/>
              <a:t>);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end </a:t>
            </a:r>
            <a:r>
              <a:rPr lang="en-US" altLang="zh-CN" sz="2000" b="1" dirty="0"/>
              <a:t>loop;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  </a:t>
            </a:r>
            <a:r>
              <a:rPr lang="en-US" altLang="zh-CN" sz="2000" b="1" dirty="0" smtClean="0"/>
              <a:t>  close </a:t>
            </a:r>
            <a:r>
              <a:rPr lang="en-US" altLang="zh-CN" sz="2000" b="1" dirty="0"/>
              <a:t>c1;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 b="1" dirty="0"/>
              <a:t>end;</a:t>
            </a:r>
            <a:endParaRPr lang="en-US" altLang="zh-CN" sz="2000" b="1" dirty="0" smtClean="0"/>
          </a:p>
        </p:txBody>
      </p:sp>
      <p:sp>
        <p:nvSpPr>
          <p:cNvPr id="2" name="矩形 1"/>
          <p:cNvSpPr/>
          <p:nvPr/>
        </p:nvSpPr>
        <p:spPr bwMode="auto">
          <a:xfrm>
            <a:off x="1043608" y="1484784"/>
            <a:ext cx="5976664" cy="72008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" name="线形标注 2 2"/>
          <p:cNvSpPr/>
          <p:nvPr/>
        </p:nvSpPr>
        <p:spPr bwMode="auto">
          <a:xfrm>
            <a:off x="4572000" y="2780928"/>
            <a:ext cx="2880088" cy="1368152"/>
          </a:xfrm>
          <a:prstGeom prst="borderCallout2">
            <a:avLst>
              <a:gd name="adj1" fmla="val 20861"/>
              <a:gd name="adj2" fmla="val -710"/>
              <a:gd name="adj3" fmla="val 9453"/>
              <a:gd name="adj4" fmla="val -37494"/>
              <a:gd name="adj5" fmla="val -41632"/>
              <a:gd name="adj6" fmla="val -39279"/>
            </a:avLst>
          </a:prstGeom>
          <a:solidFill>
            <a:srgbClr val="FFFF00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过程体中的变量，</a:t>
            </a:r>
            <a:endParaRPr kumimoji="0" lang="en-US" altLang="zh-CN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在过程体中存放数据</a:t>
            </a:r>
          </a:p>
        </p:txBody>
      </p:sp>
    </p:spTree>
    <p:extLst>
      <p:ext uri="{BB962C8B-B14F-4D97-AF65-F5344CB8AC3E}">
        <p14:creationId xmlns:p14="http://schemas.microsoft.com/office/powerpoint/2010/main" val="11793422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smtClean="0">
                <a:latin typeface="黑体" pitchFamily="49" charset="-122"/>
              </a:rPr>
              <a:t>创建带输入参数和输出参数的存储过程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052513"/>
            <a:ext cx="8229600" cy="45259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b="1" smtClean="0"/>
              <a:t>调用</a:t>
            </a:r>
            <a:r>
              <a:rPr lang="en-US" altLang="zh-CN" sz="2400" b="1" smtClean="0"/>
              <a:t>p4: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/>
              <a:t>declare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/>
              <a:t>	a varchar2(10):='001';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/>
              <a:t>	b number;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/>
              <a:t>	c number;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/>
              <a:t>begin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/>
              <a:t>	p4(a,b,c);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/>
              <a:t>	dbms_output.put_line(b||'</a:t>
            </a:r>
            <a:r>
              <a:rPr lang="zh-CN" altLang="en-US" sz="2400" b="1" smtClean="0"/>
              <a:t>，</a:t>
            </a:r>
            <a:r>
              <a:rPr lang="en-US" altLang="zh-CN" sz="2400" b="1" smtClean="0"/>
              <a:t>'||c);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/>
              <a:t>end;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创建插入数据的存储过程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28775"/>
            <a:ext cx="88392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创建存储过程，实现在</a:t>
            </a:r>
            <a:r>
              <a:rPr lang="en-US" altLang="zh-CN" sz="2400" dirty="0" smtClean="0">
                <a:latin typeface="+mj-ea"/>
                <a:ea typeface="+mj-ea"/>
              </a:rPr>
              <a:t>S</a:t>
            </a:r>
            <a:r>
              <a:rPr lang="zh-CN" altLang="en-US" sz="2400" dirty="0" smtClean="0">
                <a:latin typeface="+mj-ea"/>
                <a:ea typeface="+mj-ea"/>
              </a:rPr>
              <a:t>表中插入一条学生记录。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Create or replace procedure p1(</a:t>
            </a:r>
            <a:r>
              <a:rPr lang="en-US" altLang="zh-CN" sz="2400" dirty="0" err="1" smtClean="0">
                <a:latin typeface="+mj-ea"/>
                <a:ea typeface="+mj-ea"/>
              </a:rPr>
              <a:t>v_sno</a:t>
            </a:r>
            <a:r>
              <a:rPr lang="en-US" altLang="zh-CN" sz="2400" dirty="0" smtClean="0">
                <a:latin typeface="+mj-ea"/>
                <a:ea typeface="+mj-ea"/>
              </a:rPr>
              <a:t>  </a:t>
            </a:r>
            <a:r>
              <a:rPr lang="en-US" altLang="zh-CN" sz="2400" dirty="0" err="1" smtClean="0">
                <a:latin typeface="+mj-ea"/>
                <a:ea typeface="+mj-ea"/>
              </a:rPr>
              <a:t>s.sno%type</a:t>
            </a:r>
            <a:r>
              <a:rPr lang="en-US" altLang="zh-CN" sz="2400" dirty="0" smtClean="0">
                <a:latin typeface="+mj-ea"/>
                <a:ea typeface="+mj-ea"/>
              </a:rPr>
              <a:t>,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>
                <a:latin typeface="+mj-ea"/>
                <a:ea typeface="+mj-ea"/>
              </a:rPr>
              <a:t> </a:t>
            </a:r>
            <a:r>
              <a:rPr lang="en-US" altLang="zh-CN" sz="2400" dirty="0" smtClean="0">
                <a:latin typeface="+mj-ea"/>
                <a:ea typeface="+mj-ea"/>
              </a:rPr>
              <a:t>    </a:t>
            </a:r>
            <a:r>
              <a:rPr lang="en-US" altLang="zh-CN" sz="2400" dirty="0" err="1" smtClean="0">
                <a:latin typeface="+mj-ea"/>
                <a:ea typeface="+mj-ea"/>
              </a:rPr>
              <a:t>v_sname</a:t>
            </a:r>
            <a:r>
              <a:rPr lang="en-US" altLang="zh-CN" sz="2400" dirty="0" smtClean="0">
                <a:latin typeface="+mj-ea"/>
                <a:ea typeface="+mj-ea"/>
              </a:rPr>
              <a:t>  </a:t>
            </a:r>
            <a:r>
              <a:rPr lang="en-US" altLang="zh-CN" sz="2400" dirty="0" err="1" smtClean="0">
                <a:latin typeface="+mj-ea"/>
                <a:ea typeface="+mj-ea"/>
              </a:rPr>
              <a:t>s.sname%type,v_college</a:t>
            </a:r>
            <a:r>
              <a:rPr lang="en-US" altLang="zh-CN" sz="2400" dirty="0" smtClean="0">
                <a:latin typeface="+mj-ea"/>
                <a:ea typeface="+mj-ea"/>
              </a:rPr>
              <a:t>  </a:t>
            </a:r>
            <a:r>
              <a:rPr lang="en-US" altLang="zh-CN" sz="2400" dirty="0" err="1" smtClean="0">
                <a:latin typeface="+mj-ea"/>
                <a:ea typeface="+mj-ea"/>
              </a:rPr>
              <a:t>s.college%type</a:t>
            </a:r>
            <a:r>
              <a:rPr lang="en-US" altLang="zh-CN" sz="2400" dirty="0" smtClean="0">
                <a:latin typeface="+mj-ea"/>
                <a:ea typeface="+mj-ea"/>
              </a:rPr>
              <a:t>)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as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begin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 insert into s(</a:t>
            </a:r>
            <a:r>
              <a:rPr lang="en-US" altLang="zh-CN" sz="2400" dirty="0" err="1" smtClean="0">
                <a:latin typeface="+mj-ea"/>
                <a:ea typeface="+mj-ea"/>
              </a:rPr>
              <a:t>sno,sname,college</a:t>
            </a:r>
            <a:r>
              <a:rPr lang="en-US" altLang="zh-CN" sz="2400" dirty="0" smtClean="0">
                <a:latin typeface="+mj-ea"/>
                <a:ea typeface="+mj-ea"/>
              </a:rPr>
              <a:t>)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 values(</a:t>
            </a:r>
            <a:r>
              <a:rPr lang="en-US" altLang="zh-CN" sz="2400" dirty="0" err="1" smtClean="0">
                <a:latin typeface="+mj-ea"/>
                <a:ea typeface="+mj-ea"/>
              </a:rPr>
              <a:t>v_sno,v_sname,v_college</a:t>
            </a:r>
            <a:r>
              <a:rPr lang="en-US" altLang="zh-CN" sz="2400" dirty="0" smtClean="0">
                <a:latin typeface="+mj-ea"/>
                <a:ea typeface="+mj-ea"/>
              </a:rPr>
              <a:t>);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 commit;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end;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0"/>
            <a:ext cx="7793038" cy="1143000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黑体" pitchFamily="49" charset="-122"/>
              </a:rPr>
              <a:t>创建删除数据的存储过程 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773238"/>
            <a:ext cx="7772400" cy="44624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创建存储过程，实现删除考试成绩不及格学生的修课记录。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create or replace procedure p5 is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begin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delete from </a:t>
            </a:r>
            <a:r>
              <a:rPr lang="en-US" altLang="zh-CN" sz="2400" dirty="0" err="1" smtClean="0">
                <a:latin typeface="+mj-ea"/>
                <a:ea typeface="+mj-ea"/>
              </a:rPr>
              <a:t>sc</a:t>
            </a:r>
            <a:r>
              <a:rPr lang="en-US" altLang="zh-CN" sz="2400" dirty="0" smtClean="0">
                <a:latin typeface="+mj-ea"/>
                <a:ea typeface="+mj-ea"/>
              </a:rPr>
              <a:t> where grade&lt;60;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commit;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end 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0"/>
            <a:ext cx="7793037" cy="908050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黑体" pitchFamily="49" charset="-122"/>
              </a:rPr>
              <a:t>创建修改数据的存储过程 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700213"/>
            <a:ext cx="7597775" cy="429736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smtClean="0">
                <a:latin typeface="+mj-ea"/>
                <a:ea typeface="+mj-ea"/>
              </a:rPr>
              <a:t>创建存储过程，实现将</a:t>
            </a:r>
            <a:r>
              <a:rPr lang="zh-CN" altLang="en-US" sz="2400" dirty="0" smtClean="0">
                <a:latin typeface="+mj-ea"/>
                <a:ea typeface="+mj-ea"/>
              </a:rPr>
              <a:t>指定课程的学分增加</a:t>
            </a:r>
            <a:r>
              <a:rPr lang="en-US" altLang="zh-CN" sz="2400" dirty="0" smtClean="0">
                <a:latin typeface="+mj-ea"/>
                <a:ea typeface="+mj-ea"/>
              </a:rPr>
              <a:t>2</a:t>
            </a:r>
            <a:r>
              <a:rPr lang="zh-CN" altLang="en-US" sz="2400" dirty="0" smtClean="0">
                <a:latin typeface="+mj-ea"/>
                <a:ea typeface="+mj-ea"/>
              </a:rPr>
              <a:t>分。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create or replace procedure p6(</a:t>
            </a:r>
            <a:r>
              <a:rPr lang="en-US" altLang="zh-CN" sz="2400" dirty="0" err="1" smtClean="0">
                <a:latin typeface="+mj-ea"/>
                <a:ea typeface="+mj-ea"/>
              </a:rPr>
              <a:t>v_cname</a:t>
            </a:r>
            <a:r>
              <a:rPr lang="en-US" altLang="zh-CN" sz="2400" dirty="0" smtClean="0">
                <a:latin typeface="+mj-ea"/>
                <a:ea typeface="+mj-ea"/>
              </a:rPr>
              <a:t> in </a:t>
            </a:r>
            <a:r>
              <a:rPr lang="en-US" altLang="zh-CN" sz="2400" dirty="0" err="1" smtClean="0">
                <a:latin typeface="+mj-ea"/>
                <a:ea typeface="+mj-ea"/>
              </a:rPr>
              <a:t>c.cname%type</a:t>
            </a:r>
            <a:r>
              <a:rPr lang="en-US" altLang="zh-CN" sz="2400" dirty="0" smtClean="0">
                <a:latin typeface="+mj-ea"/>
                <a:ea typeface="+mj-ea"/>
              </a:rPr>
              <a:t>) is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begin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update c set </a:t>
            </a:r>
            <a:r>
              <a:rPr lang="en-US" altLang="zh-CN" sz="2400" dirty="0" err="1" smtClean="0">
                <a:latin typeface="+mj-ea"/>
                <a:ea typeface="+mj-ea"/>
              </a:rPr>
              <a:t>ccredit</a:t>
            </a:r>
            <a:r>
              <a:rPr lang="en-US" altLang="zh-CN" sz="2400" dirty="0" smtClean="0">
                <a:latin typeface="+mj-ea"/>
                <a:ea typeface="+mj-ea"/>
              </a:rPr>
              <a:t>=ccredit+2 where </a:t>
            </a:r>
            <a:r>
              <a:rPr lang="en-US" altLang="zh-CN" sz="2400" dirty="0" err="1" smtClean="0">
                <a:latin typeface="+mj-ea"/>
                <a:ea typeface="+mj-ea"/>
              </a:rPr>
              <a:t>cname</a:t>
            </a:r>
            <a:r>
              <a:rPr lang="en-US" altLang="zh-CN" sz="2400" dirty="0" smtClean="0">
                <a:latin typeface="+mj-ea"/>
                <a:ea typeface="+mj-ea"/>
              </a:rPr>
              <a:t>=</a:t>
            </a:r>
            <a:r>
              <a:rPr lang="en-US" altLang="zh-CN" sz="2400" dirty="0" err="1" smtClean="0">
                <a:latin typeface="+mj-ea"/>
                <a:ea typeface="+mj-ea"/>
              </a:rPr>
              <a:t>v_cname</a:t>
            </a:r>
            <a:r>
              <a:rPr lang="en-US" altLang="zh-CN" sz="2400" dirty="0" smtClean="0">
                <a:latin typeface="+mj-ea"/>
                <a:ea typeface="+mj-ea"/>
              </a:rPr>
              <a:t>;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commit;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end 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删除存储过程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35000"/>
              </a:lnSpc>
              <a:defRPr/>
            </a:pPr>
            <a:r>
              <a:rPr lang="zh-CN" altLang="en-US" sz="3000" dirty="0" smtClean="0">
                <a:latin typeface="+mj-ea"/>
                <a:ea typeface="+mj-ea"/>
              </a:rPr>
              <a:t>删除存储过程：</a:t>
            </a:r>
          </a:p>
          <a:p>
            <a:pPr lvl="1" eaLnBrk="1" hangingPunct="1"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en-US" altLang="zh-CN" sz="2500" dirty="0" smtClean="0">
                <a:latin typeface="+mj-ea"/>
                <a:ea typeface="+mj-ea"/>
              </a:rPr>
              <a:t>DROP PROCEDURE   </a:t>
            </a:r>
            <a:r>
              <a:rPr lang="zh-CN" altLang="en-US" sz="2500" dirty="0" smtClean="0">
                <a:latin typeface="+mj-ea"/>
                <a:ea typeface="+mj-ea"/>
              </a:rPr>
              <a:t>存储过程名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>
          <a:xfrm>
            <a:off x="395288" y="0"/>
            <a:ext cx="8229600" cy="1125538"/>
          </a:xfrm>
        </p:spPr>
        <p:txBody>
          <a:bodyPr/>
          <a:lstStyle/>
          <a:p>
            <a:r>
              <a:rPr lang="zh-CN" altLang="en-US" sz="3200" smtClean="0">
                <a:latin typeface="黑体" pitchFamily="49" charset="-122"/>
              </a:rPr>
              <a:t>第</a:t>
            </a:r>
            <a:r>
              <a:rPr lang="en-US" altLang="zh-CN" sz="3200" smtClean="0">
                <a:latin typeface="黑体" pitchFamily="49" charset="-122"/>
              </a:rPr>
              <a:t>8</a:t>
            </a:r>
            <a:r>
              <a:rPr lang="zh-CN" altLang="en-US" sz="3200" smtClean="0">
                <a:latin typeface="黑体" pitchFamily="49" charset="-122"/>
              </a:rPr>
              <a:t>章 </a:t>
            </a:r>
            <a:r>
              <a:rPr lang="en-US" altLang="zh-CN" sz="3200" smtClean="0">
                <a:latin typeface="黑体" pitchFamily="49" charset="-122"/>
              </a:rPr>
              <a:t>Oracle</a:t>
            </a:r>
            <a:r>
              <a:rPr lang="zh-CN" altLang="en-US" sz="3200" smtClean="0">
                <a:latin typeface="黑体" pitchFamily="49" charset="-122"/>
              </a:rPr>
              <a:t>数据库编程</a:t>
            </a:r>
            <a:endParaRPr lang="zh-CN" altLang="en-US" sz="3200" smtClean="0"/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xfrm>
            <a:off x="2268538" y="1773238"/>
            <a:ext cx="4267200" cy="2879725"/>
          </a:xfr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latin typeface="+mj-ea"/>
                <a:ea typeface="+mj-ea"/>
              </a:rPr>
              <a:t>8.1 PL/SQL</a:t>
            </a:r>
            <a:r>
              <a:rPr lang="zh-CN" altLang="en-US" sz="2800" dirty="0" smtClean="0">
                <a:latin typeface="+mj-ea"/>
                <a:ea typeface="+mj-ea"/>
              </a:rPr>
              <a:t>简介</a:t>
            </a:r>
            <a:endParaRPr lang="en-US" altLang="zh-CN" sz="2800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latin typeface="+mj-ea"/>
                <a:ea typeface="+mj-ea"/>
              </a:rPr>
              <a:t>8.2 </a:t>
            </a:r>
            <a:r>
              <a:rPr lang="zh-CN" altLang="en-US" sz="2800" dirty="0" smtClean="0">
                <a:latin typeface="+mj-ea"/>
                <a:ea typeface="+mj-ea"/>
              </a:rPr>
              <a:t>游标</a:t>
            </a:r>
            <a:endParaRPr lang="en-US" altLang="zh-CN" sz="2800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latin typeface="+mj-ea"/>
                <a:ea typeface="+mj-ea"/>
              </a:rPr>
              <a:t>8.3 </a:t>
            </a:r>
            <a:r>
              <a:rPr lang="zh-CN" altLang="en-US" sz="2800" dirty="0" smtClean="0">
                <a:latin typeface="+mj-ea"/>
                <a:ea typeface="+mj-ea"/>
              </a:rPr>
              <a:t>存储过程</a:t>
            </a:r>
            <a:endParaRPr lang="en-US" altLang="zh-CN" sz="2800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solidFill>
                  <a:srgbClr val="FF0000"/>
                </a:solidFill>
                <a:latin typeface="+mj-ea"/>
                <a:ea typeface="+mj-ea"/>
              </a:rPr>
              <a:t>8.4 </a:t>
            </a:r>
            <a:r>
              <a:rPr lang="zh-CN" altLang="en-US" sz="2800" dirty="0" smtClean="0">
                <a:solidFill>
                  <a:srgbClr val="FF0000"/>
                </a:solidFill>
                <a:latin typeface="+mj-ea"/>
                <a:ea typeface="+mj-ea"/>
              </a:rPr>
              <a:t>触发器</a:t>
            </a:r>
            <a:endParaRPr lang="en-US" altLang="zh-CN" sz="2800" dirty="0" smtClean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739775" y="0"/>
            <a:ext cx="6337300" cy="908050"/>
          </a:xfrm>
        </p:spPr>
        <p:txBody>
          <a:bodyPr/>
          <a:lstStyle/>
          <a:p>
            <a:r>
              <a:rPr lang="zh-CN" altLang="en-US" smtClean="0">
                <a:latin typeface="黑体" pitchFamily="49" charset="-122"/>
              </a:rPr>
              <a:t>案例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636588" y="1301750"/>
            <a:ext cx="5070475" cy="2151063"/>
            <a:chOff x="810630" y="1212749"/>
            <a:chExt cx="4752528" cy="1878524"/>
          </a:xfrm>
        </p:grpSpPr>
        <p:sp>
          <p:nvSpPr>
            <p:cNvPr id="79886" name="TextBox 4"/>
            <p:cNvSpPr txBox="1">
              <a:spLocks noChangeArrowheads="1"/>
            </p:cNvSpPr>
            <p:nvPr/>
          </p:nvSpPr>
          <p:spPr bwMode="auto">
            <a:xfrm>
              <a:off x="2412797" y="2783531"/>
              <a:ext cx="1548194" cy="3077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latin typeface="宋体" pitchFamily="2" charset="-122"/>
                </a:rPr>
                <a:t>库存表</a:t>
              </a:r>
            </a:p>
          </p:txBody>
        </p:sp>
        <p:pic>
          <p:nvPicPr>
            <p:cNvPr id="79887" name="Picture 17" descr="C:\Users\lily\AppData\Roaming\Tencent\Users\147829947\QQ\WinTemp\RichOle\(8ACUOJSLKA~M95LJMK%Z20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630" y="1212749"/>
              <a:ext cx="4752528" cy="1589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93713" y="3609975"/>
            <a:ext cx="4197350" cy="2447925"/>
            <a:chOff x="1170099" y="3230050"/>
            <a:chExt cx="3706589" cy="1983300"/>
          </a:xfrm>
        </p:grpSpPr>
        <p:sp>
          <p:nvSpPr>
            <p:cNvPr id="79884" name="TextBox 12"/>
            <p:cNvSpPr txBox="1">
              <a:spLocks noChangeArrowheads="1"/>
            </p:cNvSpPr>
            <p:nvPr/>
          </p:nvSpPr>
          <p:spPr bwMode="auto">
            <a:xfrm>
              <a:off x="2249172" y="4905517"/>
              <a:ext cx="1548444" cy="307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latin typeface="宋体" pitchFamily="2" charset="-122"/>
                </a:rPr>
                <a:t>出库表</a:t>
              </a:r>
            </a:p>
          </p:txBody>
        </p:sp>
        <p:pic>
          <p:nvPicPr>
            <p:cNvPr id="79885" name="Picture 18" descr="C:\Users\lily\AppData\Roaming\Tencent\Users\147829947\QQ\WinTemp\RichOle\VT839YH~Y2V$D){@V{G4]7A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0099" y="3230050"/>
              <a:ext cx="3706589" cy="1692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235" name="Picture 19" descr="C:\Users\lily\AppData\Roaming\Tencent\Users\147829947\QQ\WinTemp\RichOle\CDFTU$6K~57~704~S8VOCNY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26"/>
          <a:stretch>
            <a:fillRect/>
          </a:stretch>
        </p:blipFill>
        <p:spPr bwMode="auto">
          <a:xfrm>
            <a:off x="4724400" y="4289425"/>
            <a:ext cx="425926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595313" y="1700213"/>
            <a:ext cx="5111750" cy="20955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6" name="直接连接符 25"/>
          <p:cNvCxnSpPr>
            <a:cxnSpLocks noChangeShapeType="1"/>
            <a:stCxn id="27" idx="0"/>
            <a:endCxn id="25" idx="2"/>
          </p:cNvCxnSpPr>
          <p:nvPr/>
        </p:nvCxnSpPr>
        <p:spPr bwMode="auto">
          <a:xfrm flipH="1" flipV="1">
            <a:off x="3151188" y="1909763"/>
            <a:ext cx="3703637" cy="2379662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4724400" y="4289425"/>
            <a:ext cx="4259263" cy="233363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矩形 5"/>
          <p:cNvSpPr>
            <a:spLocks noChangeArrowheads="1"/>
          </p:cNvSpPr>
          <p:nvPr/>
        </p:nvSpPr>
        <p:spPr bwMode="auto">
          <a:xfrm>
            <a:off x="5195888" y="1497013"/>
            <a:ext cx="479425" cy="1571625"/>
          </a:xfrm>
          <a:prstGeom prst="rect">
            <a:avLst/>
          </a:prstGeom>
          <a:solidFill>
            <a:srgbClr val="FF99CC">
              <a:alpha val="38823"/>
            </a:srgbClr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矩形 5"/>
          <p:cNvSpPr>
            <a:spLocks noChangeArrowheads="1"/>
          </p:cNvSpPr>
          <p:nvPr/>
        </p:nvSpPr>
        <p:spPr bwMode="auto">
          <a:xfrm>
            <a:off x="2376488" y="3817938"/>
            <a:ext cx="795337" cy="1836737"/>
          </a:xfrm>
          <a:prstGeom prst="rect">
            <a:avLst/>
          </a:prstGeom>
          <a:solidFill>
            <a:srgbClr val="FF99CC">
              <a:alpha val="38823"/>
            </a:srgbClr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765800" y="2027238"/>
            <a:ext cx="3108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0000"/>
                </a:solidFill>
              </a:rPr>
              <a:t>库存量</a:t>
            </a:r>
            <a:r>
              <a:rPr lang="en-US" altLang="zh-CN" sz="1800">
                <a:solidFill>
                  <a:srgbClr val="FF0000"/>
                </a:solidFill>
              </a:rPr>
              <a:t>=</a:t>
            </a:r>
            <a:r>
              <a:rPr lang="zh-CN" altLang="en-US" sz="1800">
                <a:solidFill>
                  <a:srgbClr val="FF0000"/>
                </a:solidFill>
              </a:rPr>
              <a:t>原库存量</a:t>
            </a:r>
            <a:r>
              <a:rPr lang="en-US" altLang="zh-CN" sz="1800">
                <a:solidFill>
                  <a:srgbClr val="FF0000"/>
                </a:solidFill>
              </a:rPr>
              <a:t>-</a:t>
            </a:r>
            <a:r>
              <a:rPr lang="zh-CN" altLang="en-US" sz="1800">
                <a:solidFill>
                  <a:srgbClr val="FF0000"/>
                </a:solidFill>
              </a:rPr>
              <a:t>出库数量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32" grpId="0" animBg="1"/>
      <p:bldP spid="33" grpId="0" animBg="1"/>
      <p:bldP spid="7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/>
          <p:cNvSpPr>
            <a:spLocks noGrp="1"/>
          </p:cNvSpPr>
          <p:nvPr>
            <p:ph type="title"/>
          </p:nvPr>
        </p:nvSpPr>
        <p:spPr>
          <a:xfrm>
            <a:off x="739775" y="0"/>
            <a:ext cx="6337300" cy="908050"/>
          </a:xfrm>
        </p:spPr>
        <p:txBody>
          <a:bodyPr/>
          <a:lstStyle/>
          <a:p>
            <a:r>
              <a:rPr lang="zh-CN" altLang="en-US" smtClean="0">
                <a:latin typeface="黑体" pitchFamily="49" charset="-122"/>
              </a:rPr>
              <a:t>案例</a:t>
            </a:r>
          </a:p>
        </p:txBody>
      </p:sp>
      <p:sp>
        <p:nvSpPr>
          <p:cNvPr id="20" name="文本占位符 2"/>
          <p:cNvSpPr>
            <a:spLocks noGrp="1"/>
          </p:cNvSpPr>
          <p:nvPr>
            <p:ph type="body" sz="half" idx="1"/>
          </p:nvPr>
        </p:nvSpPr>
        <p:spPr>
          <a:xfrm>
            <a:off x="1973263" y="5589588"/>
            <a:ext cx="6696075" cy="792162"/>
          </a:xfrm>
        </p:spPr>
        <p:txBody>
          <a:bodyPr/>
          <a:lstStyle/>
          <a:p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如何让这两个操作一起</a:t>
            </a:r>
            <a:r>
              <a:rPr lang="zh-CN" altLang="en-US" sz="24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绑定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执行呢？</a:t>
            </a:r>
          </a:p>
        </p:txBody>
      </p:sp>
      <p:grpSp>
        <p:nvGrpSpPr>
          <p:cNvPr id="80900" name="组合 1"/>
          <p:cNvGrpSpPr>
            <a:grpSpLocks/>
          </p:cNvGrpSpPr>
          <p:nvPr/>
        </p:nvGrpSpPr>
        <p:grpSpPr bwMode="auto">
          <a:xfrm>
            <a:off x="611188" y="1196975"/>
            <a:ext cx="4752975" cy="1878013"/>
            <a:chOff x="810630" y="1212749"/>
            <a:chExt cx="4752528" cy="1878524"/>
          </a:xfrm>
        </p:grpSpPr>
        <p:sp>
          <p:nvSpPr>
            <p:cNvPr id="80912" name="TextBox 4"/>
            <p:cNvSpPr txBox="1">
              <a:spLocks noChangeArrowheads="1"/>
            </p:cNvSpPr>
            <p:nvPr/>
          </p:nvSpPr>
          <p:spPr bwMode="auto">
            <a:xfrm>
              <a:off x="2412797" y="2783531"/>
              <a:ext cx="1548194" cy="3077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latin typeface="宋体" pitchFamily="2" charset="-122"/>
                </a:rPr>
                <a:t>库存表</a:t>
              </a:r>
            </a:p>
          </p:txBody>
        </p:sp>
        <p:pic>
          <p:nvPicPr>
            <p:cNvPr id="80913" name="Picture 17" descr="C:\Users\lily\AppData\Roaming\Tencent\Users\147829947\QQ\WinTemp\RichOle\(8ACUOJSLKA~M95LJMK%Z20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630" y="1212749"/>
              <a:ext cx="4752528" cy="1589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0901" name="组合 2"/>
          <p:cNvGrpSpPr>
            <a:grpSpLocks/>
          </p:cNvGrpSpPr>
          <p:nvPr/>
        </p:nvGrpSpPr>
        <p:grpSpPr bwMode="auto">
          <a:xfrm>
            <a:off x="603250" y="3101975"/>
            <a:ext cx="3706813" cy="1982788"/>
            <a:chOff x="1170099" y="3230050"/>
            <a:chExt cx="3706589" cy="1983300"/>
          </a:xfrm>
        </p:grpSpPr>
        <p:sp>
          <p:nvSpPr>
            <p:cNvPr id="80910" name="TextBox 12"/>
            <p:cNvSpPr txBox="1">
              <a:spLocks noChangeArrowheads="1"/>
            </p:cNvSpPr>
            <p:nvPr/>
          </p:nvSpPr>
          <p:spPr bwMode="auto">
            <a:xfrm>
              <a:off x="2249172" y="4905517"/>
              <a:ext cx="1548444" cy="307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latin typeface="宋体" pitchFamily="2" charset="-122"/>
                </a:rPr>
                <a:t>出库表</a:t>
              </a:r>
            </a:p>
          </p:txBody>
        </p:sp>
        <p:pic>
          <p:nvPicPr>
            <p:cNvPr id="80911" name="Picture 18" descr="C:\Users\lily\AppData\Roaming\Tencent\Users\147829947\QQ\WinTemp\RichOle\VT839YH~Y2V$D){@V{G4]7A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0099" y="3230050"/>
              <a:ext cx="3706589" cy="1692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0902" name="矩形 5"/>
          <p:cNvSpPr>
            <a:spLocks noChangeArrowheads="1"/>
          </p:cNvSpPr>
          <p:nvPr/>
        </p:nvSpPr>
        <p:spPr bwMode="auto">
          <a:xfrm>
            <a:off x="4892675" y="1196975"/>
            <a:ext cx="479425" cy="1570038"/>
          </a:xfrm>
          <a:prstGeom prst="rect">
            <a:avLst/>
          </a:prstGeom>
          <a:solidFill>
            <a:srgbClr val="FF99CC">
              <a:alpha val="38823"/>
            </a:srgbClr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</a:endParaRPr>
          </a:p>
        </p:txBody>
      </p:sp>
      <p:sp>
        <p:nvSpPr>
          <p:cNvPr id="80903" name="矩形 5"/>
          <p:cNvSpPr>
            <a:spLocks noChangeArrowheads="1"/>
          </p:cNvSpPr>
          <p:nvPr/>
        </p:nvSpPr>
        <p:spPr bwMode="auto">
          <a:xfrm>
            <a:off x="2268538" y="3105150"/>
            <a:ext cx="647700" cy="1671638"/>
          </a:xfrm>
          <a:prstGeom prst="rect">
            <a:avLst/>
          </a:prstGeom>
          <a:solidFill>
            <a:srgbClr val="FF99CC">
              <a:alpha val="38823"/>
            </a:srgbClr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4500563" y="3644900"/>
            <a:ext cx="4486275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ts val="2800"/>
              </a:lnSpc>
            </a:pPr>
            <a:r>
              <a:rPr lang="en-US" altLang="zh-CN" sz="1800">
                <a:ea typeface="黑体" pitchFamily="49" charset="-122"/>
              </a:rPr>
              <a:t>Insert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sz="1800">
                <a:ea typeface="黑体" pitchFamily="49" charset="-122"/>
              </a:rPr>
              <a:t>Into </a:t>
            </a:r>
            <a:r>
              <a:rPr lang="zh-CN" altLang="en-US" sz="1800">
                <a:ea typeface="黑体" pitchFamily="49" charset="-122"/>
              </a:rPr>
              <a:t>出库表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sz="1800">
                <a:ea typeface="黑体" pitchFamily="49" charset="-122"/>
              </a:rPr>
              <a:t>Values('11081000060','687406187',15,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sz="1800">
                <a:ea typeface="黑体" pitchFamily="49" charset="-122"/>
              </a:rPr>
              <a:t>to_date('2015/12/20','yyyy/mm/dd'),'</a:t>
            </a:r>
            <a:r>
              <a:rPr lang="zh-CN" altLang="en-US" sz="1800">
                <a:ea typeface="黑体" pitchFamily="49" charset="-122"/>
              </a:rPr>
              <a:t>张三</a:t>
            </a:r>
            <a:r>
              <a:rPr lang="en-US" altLang="zh-CN" sz="1800">
                <a:ea typeface="黑体" pitchFamily="49" charset="-122"/>
              </a:rPr>
              <a:t>')</a:t>
            </a:r>
            <a:endParaRPr lang="zh-CN" altLang="en-US" sz="1800">
              <a:ea typeface="黑体" pitchFamily="49" charset="-122"/>
            </a:endParaRPr>
          </a:p>
        </p:txBody>
      </p:sp>
      <p:sp>
        <p:nvSpPr>
          <p:cNvPr id="16" name="圆角矩形 15"/>
          <p:cNvSpPr>
            <a:spLocks noChangeArrowheads="1"/>
          </p:cNvSpPr>
          <p:nvPr/>
        </p:nvSpPr>
        <p:spPr bwMode="auto">
          <a:xfrm>
            <a:off x="4500563" y="3644900"/>
            <a:ext cx="4486275" cy="1584325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lnSpc>
                <a:spcPct val="150000"/>
              </a:lnSpc>
            </a:pPr>
            <a:endParaRPr lang="zh-CN" altLang="en-US">
              <a:ea typeface="黑体" pitchFamily="49" charset="-122"/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5783263" y="1612900"/>
            <a:ext cx="3203575" cy="123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ts val="2800"/>
              </a:lnSpc>
            </a:pPr>
            <a:r>
              <a:rPr lang="en-US" altLang="zh-CN" sz="1800">
                <a:ea typeface="黑体" pitchFamily="49" charset="-122"/>
              </a:rPr>
              <a:t>Update</a:t>
            </a:r>
            <a:r>
              <a:rPr lang="zh-CN" altLang="en-US" sz="1800">
                <a:ea typeface="黑体" pitchFamily="49" charset="-122"/>
              </a:rPr>
              <a:t> 库存表</a:t>
            </a:r>
            <a:endParaRPr lang="en-US" altLang="zh-CN" sz="1800">
              <a:ea typeface="黑体" pitchFamily="49" charset="-122"/>
            </a:endParaRPr>
          </a:p>
          <a:p>
            <a:pPr eaLnBrk="1" hangingPunct="1">
              <a:lnSpc>
                <a:spcPts val="2800"/>
              </a:lnSpc>
            </a:pPr>
            <a:r>
              <a:rPr lang="en-US" altLang="zh-CN" sz="1800">
                <a:ea typeface="黑体" pitchFamily="49" charset="-122"/>
              </a:rPr>
              <a:t>Set </a:t>
            </a:r>
            <a:r>
              <a:rPr lang="zh-CN" altLang="en-US" sz="1800">
                <a:ea typeface="黑体" pitchFamily="49" charset="-122"/>
              </a:rPr>
              <a:t>库存量</a:t>
            </a:r>
            <a:r>
              <a:rPr lang="en-US" altLang="zh-CN" sz="1800">
                <a:ea typeface="黑体" pitchFamily="49" charset="-122"/>
              </a:rPr>
              <a:t>=</a:t>
            </a:r>
            <a:r>
              <a:rPr lang="zh-CN" altLang="en-US" sz="1800">
                <a:ea typeface="黑体" pitchFamily="49" charset="-122"/>
              </a:rPr>
              <a:t>库存量</a:t>
            </a:r>
            <a:r>
              <a:rPr lang="en-US" altLang="zh-CN" sz="1800">
                <a:ea typeface="黑体" pitchFamily="49" charset="-122"/>
              </a:rPr>
              <a:t>-</a:t>
            </a: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15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sz="1800">
                <a:ea typeface="黑体" pitchFamily="49" charset="-122"/>
              </a:rPr>
              <a:t>Where </a:t>
            </a:r>
            <a:r>
              <a:rPr lang="zh-CN" altLang="en-US" sz="1800">
                <a:ea typeface="黑体" pitchFamily="49" charset="-122"/>
              </a:rPr>
              <a:t>商品编号</a:t>
            </a:r>
            <a:r>
              <a:rPr lang="en-US" altLang="zh-CN" sz="1800">
                <a:ea typeface="黑体" pitchFamily="49" charset="-122"/>
              </a:rPr>
              <a:t>=</a:t>
            </a:r>
            <a:r>
              <a:rPr lang="en-US" altLang="zh-CN" sz="1800">
                <a:solidFill>
                  <a:srgbClr val="FF0000"/>
                </a:solidFill>
                <a:ea typeface="黑体" pitchFamily="49" charset="-122"/>
              </a:rPr>
              <a:t>‘687406187’</a:t>
            </a:r>
          </a:p>
        </p:txBody>
      </p:sp>
      <p:sp>
        <p:nvSpPr>
          <p:cNvPr id="18" name="圆角矩形 17"/>
          <p:cNvSpPr>
            <a:spLocks noChangeArrowheads="1"/>
          </p:cNvSpPr>
          <p:nvPr/>
        </p:nvSpPr>
        <p:spPr bwMode="auto">
          <a:xfrm>
            <a:off x="5651500" y="1612900"/>
            <a:ext cx="3406775" cy="1239838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lnSpc>
                <a:spcPct val="150000"/>
              </a:lnSpc>
            </a:pPr>
            <a:endParaRPr lang="zh-CN" altLang="en-US">
              <a:ea typeface="黑体" pitchFamily="49" charset="-122"/>
            </a:endParaRPr>
          </a:p>
        </p:txBody>
      </p:sp>
      <p:pic>
        <p:nvPicPr>
          <p:cNvPr id="19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19483711">
            <a:off x="6529782" y="3019292"/>
            <a:ext cx="474559" cy="464873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66" r="15234"/>
          <a:stretch>
            <a:fillRect/>
          </a:stretch>
        </p:blipFill>
        <p:spPr bwMode="auto">
          <a:xfrm>
            <a:off x="782638" y="5084763"/>
            <a:ext cx="1122362" cy="152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15" grpId="0"/>
      <p:bldP spid="16" grpId="0" animBg="1"/>
      <p:bldP spid="17" grpId="0"/>
      <p:bldP spid="18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0"/>
            <a:ext cx="7797800" cy="1125538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黑体" pitchFamily="49" charset="-122"/>
              </a:rPr>
              <a:t>1.</a:t>
            </a:r>
            <a:r>
              <a:rPr lang="zh-CN" altLang="en-US" smtClean="0">
                <a:latin typeface="黑体" pitchFamily="49" charset="-122"/>
              </a:rPr>
              <a:t>触发器概念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468313" y="4437063"/>
            <a:ext cx="8207375" cy="1295400"/>
          </a:xfrm>
          <a:prstGeom prst="roundRect">
            <a:avLst/>
          </a:prstGeom>
          <a:solidFill>
            <a:srgbClr val="8AB9E7">
              <a:lumMod val="75000"/>
            </a:srgbClr>
          </a:solidFill>
          <a:ln w="25400" cap="flat" cmpd="sng" algn="ctr">
            <a:solidFill>
              <a:srgbClr val="FFFFFF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fontAlgn="auto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defRPr/>
            </a:pPr>
            <a:r>
              <a:rPr lang="zh-CN" altLang="en-US" sz="24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r>
              <a:rPr lang="zh-CN" altLang="en-US" sz="24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</a:t>
            </a:r>
            <a:r>
              <a:rPr lang="zh-CN" altLang="en-US" sz="24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的存储过程，当某个</a:t>
            </a:r>
            <a:r>
              <a:rPr lang="en-US" altLang="zh-CN" sz="24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ORACLE</a:t>
            </a:r>
            <a:r>
              <a:rPr lang="zh-CN" altLang="en-US" sz="24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事件发生时系统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</a:t>
            </a:r>
            <a:r>
              <a:rPr lang="zh-CN" altLang="en-US" sz="24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地运行，所以运行触发器就叫触发。</a:t>
            </a:r>
          </a:p>
        </p:txBody>
      </p:sp>
      <p:pic>
        <p:nvPicPr>
          <p:cNvPr id="10245" name="Picture 5" descr="http://beijing.tianqi.com/upload/article/14-01-27/OhsJ_140127025330_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75" y="1882775"/>
            <a:ext cx="2130425" cy="165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 descr="http://tracker.sydimg.com/group1/M00/A0/34/wKgEZ1H45V7u0Aw2AAAv7K3THPA69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0" b="2"/>
          <a:stretch>
            <a:fillRect/>
          </a:stretch>
        </p:blipFill>
        <p:spPr bwMode="auto">
          <a:xfrm>
            <a:off x="4527550" y="2533650"/>
            <a:ext cx="7921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4" name="Picture 14" descr="http://www.chinanews.com/sh/2012/09-17/U337P4T8D4188535F107DT2012091711040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88" r="10069" b="52972"/>
          <a:stretch>
            <a:fillRect/>
          </a:stretch>
        </p:blipFill>
        <p:spPr bwMode="auto">
          <a:xfrm>
            <a:off x="6530975" y="1628775"/>
            <a:ext cx="15700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9" name="Picture 19" descr="C:\Users\lily\Desktop\未标题-2副本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863" y="2408238"/>
            <a:ext cx="679450" cy="95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2538908">
            <a:off x="3474344" y="2502094"/>
            <a:ext cx="753200" cy="737827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331913" y="3538538"/>
            <a:ext cx="1441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黑体" pitchFamily="49" charset="-122"/>
                <a:ea typeface="黑体" pitchFamily="49" charset="-122"/>
              </a:rPr>
              <a:t>火灾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4213225" y="3168650"/>
            <a:ext cx="14398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800">
                <a:latin typeface="黑体" pitchFamily="49" charset="-122"/>
                <a:ea typeface="黑体" pitchFamily="49" charset="-122"/>
              </a:rPr>
              <a:t>烟雾探测器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6596063" y="3354388"/>
            <a:ext cx="1439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黑体" pitchFamily="49" charset="-122"/>
                <a:ea typeface="黑体" pitchFamily="49" charset="-122"/>
              </a:rPr>
              <a:t>自动灭火</a:t>
            </a:r>
          </a:p>
        </p:txBody>
      </p:sp>
      <p:pic>
        <p:nvPicPr>
          <p:cNvPr id="22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2538908">
            <a:off x="5658715" y="2502094"/>
            <a:ext cx="753200" cy="737827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/>
      <p:bldP spid="19" grpId="0"/>
      <p:bldP spid="20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0"/>
            <a:ext cx="7797800" cy="1125538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黑体" pitchFamily="49" charset="-122"/>
              </a:rPr>
              <a:t>1.</a:t>
            </a:r>
            <a:r>
              <a:rPr lang="zh-CN" altLang="en-US" smtClean="0">
                <a:latin typeface="黑体" pitchFamily="49" charset="-122"/>
              </a:rPr>
              <a:t>触发器概念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196975"/>
            <a:ext cx="7993063" cy="2663825"/>
          </a:xfrm>
        </p:spPr>
        <p:txBody>
          <a:bodyPr/>
          <a:lstStyle/>
          <a:p>
            <a:pPr eaLnBrk="1" hangingPunct="1">
              <a:lnSpc>
                <a:spcPts val="3200"/>
              </a:lnSpc>
              <a:spcBef>
                <a:spcPts val="0"/>
              </a:spcBef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触发器</a:t>
            </a:r>
            <a:r>
              <a:rPr lang="zh-CN" altLang="en-US" sz="2400" dirty="0">
                <a:latin typeface="+mj-ea"/>
                <a:ea typeface="+mj-ea"/>
              </a:rPr>
              <a:t>由三个部分</a:t>
            </a:r>
            <a:r>
              <a:rPr lang="zh-CN" altLang="en-US" sz="2400" dirty="0" smtClean="0">
                <a:latin typeface="+mj-ea"/>
                <a:ea typeface="+mj-ea"/>
              </a:rPr>
              <a:t>组成：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事件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、条件、动作</a:t>
            </a:r>
            <a:r>
              <a:rPr lang="zh-CN" altLang="en-US" sz="2400" dirty="0">
                <a:latin typeface="+mj-ea"/>
                <a:ea typeface="+mj-ea"/>
              </a:rPr>
              <a:t>。   </a:t>
            </a:r>
            <a:endParaRPr lang="en-US" altLang="zh-CN" sz="2400" dirty="0" smtClean="0">
              <a:latin typeface="+mj-ea"/>
              <a:ea typeface="+mj-ea"/>
            </a:endParaRPr>
          </a:p>
          <a:p>
            <a:pPr lvl="1" eaLnBrk="1" hangingPunct="1">
              <a:lnSpc>
                <a:spcPts val="3200"/>
              </a:lnSpc>
              <a:spcBef>
                <a:spcPts val="0"/>
              </a:spcBef>
              <a:defRPr/>
            </a:pP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事件</a:t>
            </a:r>
            <a:r>
              <a:rPr lang="zh-CN" altLang="en-US" sz="2000" dirty="0">
                <a:latin typeface="+mj-ea"/>
                <a:ea typeface="+mj-ea"/>
              </a:rPr>
              <a:t>：或称为触发事件</a:t>
            </a:r>
            <a:r>
              <a:rPr lang="zh-CN" altLang="en-US" sz="2000" dirty="0" smtClean="0">
                <a:latin typeface="+mj-ea"/>
                <a:ea typeface="+mj-ea"/>
              </a:rPr>
              <a:t>，当</a:t>
            </a:r>
            <a:r>
              <a:rPr lang="zh-CN" altLang="en-US" sz="2000" dirty="0">
                <a:latin typeface="+mj-ea"/>
                <a:ea typeface="+mj-ea"/>
              </a:rPr>
              <a:t>某个事件发生的时候就运行触发器。   </a:t>
            </a:r>
            <a:endParaRPr lang="en-US" altLang="zh-CN" sz="2000" dirty="0" smtClean="0">
              <a:latin typeface="+mj-ea"/>
              <a:ea typeface="+mj-ea"/>
            </a:endParaRPr>
          </a:p>
          <a:p>
            <a:pPr lvl="1" eaLnBrk="1" hangingPunct="1">
              <a:lnSpc>
                <a:spcPts val="3200"/>
              </a:lnSpc>
              <a:spcBef>
                <a:spcPts val="0"/>
              </a:spcBef>
              <a:defRPr/>
            </a:pP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条件</a:t>
            </a:r>
            <a:r>
              <a:rPr lang="zh-CN" altLang="en-US" sz="2000" dirty="0">
                <a:latin typeface="+mj-ea"/>
                <a:ea typeface="+mj-ea"/>
              </a:rPr>
              <a:t>：判断是否达到指定的条件，如果没有达到条件将不</a:t>
            </a:r>
            <a:r>
              <a:rPr lang="zh-CN" altLang="en-US" sz="2000" dirty="0" smtClean="0">
                <a:latin typeface="+mj-ea"/>
                <a:ea typeface="+mj-ea"/>
              </a:rPr>
              <a:t>执行   </a:t>
            </a:r>
            <a:r>
              <a:rPr lang="en-US" altLang="zh-CN" sz="2000" dirty="0" smtClean="0">
                <a:latin typeface="+mj-ea"/>
                <a:ea typeface="+mj-ea"/>
              </a:rPr>
              <a:t>	     </a:t>
            </a:r>
            <a:r>
              <a:rPr lang="zh-CN" altLang="en-US" sz="2000" dirty="0" smtClean="0">
                <a:latin typeface="+mj-ea"/>
                <a:ea typeface="+mj-ea"/>
              </a:rPr>
              <a:t>动作，可以</a:t>
            </a:r>
            <a:r>
              <a:rPr lang="zh-CN" altLang="en-US" sz="2000" dirty="0">
                <a:latin typeface="+mj-ea"/>
                <a:ea typeface="+mj-ea"/>
              </a:rPr>
              <a:t>留空，表示直接执行动作</a:t>
            </a:r>
            <a:r>
              <a:rPr lang="zh-CN" altLang="en-US" sz="2000" dirty="0" smtClean="0">
                <a:latin typeface="+mj-ea"/>
                <a:ea typeface="+mj-ea"/>
              </a:rPr>
              <a:t>。</a:t>
            </a:r>
            <a:endParaRPr lang="en-US" altLang="zh-CN" sz="2000" dirty="0" smtClean="0">
              <a:latin typeface="+mj-ea"/>
              <a:ea typeface="+mj-ea"/>
            </a:endParaRPr>
          </a:p>
          <a:p>
            <a:pPr lvl="1" eaLnBrk="1" hangingPunct="1">
              <a:lnSpc>
                <a:spcPts val="3200"/>
              </a:lnSpc>
              <a:spcBef>
                <a:spcPts val="0"/>
              </a:spcBef>
              <a:defRPr/>
            </a:pPr>
            <a:r>
              <a:rPr lang="zh-CN" altLang="en-US" sz="2000" dirty="0" smtClean="0">
                <a:solidFill>
                  <a:srgbClr val="FF0000"/>
                </a:solidFill>
                <a:latin typeface="+mj-ea"/>
                <a:ea typeface="+mj-ea"/>
              </a:rPr>
              <a:t>动作</a:t>
            </a:r>
            <a:r>
              <a:rPr lang="zh-CN" altLang="en-US" sz="2000" dirty="0">
                <a:latin typeface="+mj-ea"/>
                <a:ea typeface="+mj-ea"/>
              </a:rPr>
              <a:t>：条件通过后所要做的</a:t>
            </a:r>
            <a:r>
              <a:rPr lang="zh-CN" altLang="en-US" sz="2000" dirty="0" smtClean="0">
                <a:latin typeface="+mj-ea"/>
                <a:ea typeface="+mj-ea"/>
              </a:rPr>
              <a:t>事情。</a:t>
            </a:r>
          </a:p>
        </p:txBody>
      </p:sp>
      <p:pic>
        <p:nvPicPr>
          <p:cNvPr id="4" name="Picture 5" descr="http://beijing.tianqi.com/upload/article/14-01-27/OhsJ_140127025330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3573463"/>
            <a:ext cx="1914525" cy="148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http://tracker.sydimg.com/group1/M00/A0/34/wKgEZ1H45V7u0Aw2AAAv7K3THPA69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0" b="2"/>
          <a:stretch>
            <a:fillRect/>
          </a:stretch>
        </p:blipFill>
        <p:spPr bwMode="auto">
          <a:xfrm>
            <a:off x="4238625" y="4224338"/>
            <a:ext cx="7921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4" descr="http://www.chinanews.com/sh/2012/09-17/U337P4T8D4188535F107DT2012091711040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88" r="10069" b="52972"/>
          <a:stretch>
            <a:fillRect/>
          </a:stretch>
        </p:blipFill>
        <p:spPr bwMode="auto">
          <a:xfrm>
            <a:off x="6242050" y="3213100"/>
            <a:ext cx="1570038" cy="111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9" descr="C:\Users\lily\Desktop\未标题-2副本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938" y="3992563"/>
            <a:ext cx="679450" cy="95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2538908">
            <a:off x="3186040" y="4192757"/>
            <a:ext cx="753200" cy="737827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116013" y="5013325"/>
            <a:ext cx="1439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火灾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924300" y="4859338"/>
            <a:ext cx="1439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800" dirty="0">
                <a:latin typeface="黑体" pitchFamily="49" charset="-122"/>
                <a:ea typeface="黑体" pitchFamily="49" charset="-122"/>
              </a:rPr>
              <a:t>烟雾探测器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307138" y="4938713"/>
            <a:ext cx="1439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latin typeface="黑体" pitchFamily="49" charset="-122"/>
                <a:ea typeface="黑体" pitchFamily="49" charset="-122"/>
              </a:rPr>
              <a:t>自动灭火</a:t>
            </a:r>
          </a:p>
        </p:txBody>
      </p:sp>
      <p:pic>
        <p:nvPicPr>
          <p:cNvPr id="12" name="Picture 22" descr="C:\Users\lily\AppData\Roaming\Tencent\Users\147829947\QQ\WinTemp\RichOle\@9LFO%){UMH$BU{~_VVJK`G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b="3082"/>
          <a:stretch/>
        </p:blipFill>
        <p:spPr bwMode="auto">
          <a:xfrm rot="2538908">
            <a:off x="5370411" y="4192757"/>
            <a:ext cx="753200" cy="737827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116013" y="5746750"/>
            <a:ext cx="14398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事件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10013" y="5735638"/>
            <a:ext cx="14398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条件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372225" y="5735638"/>
            <a:ext cx="14398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动作</a:t>
            </a:r>
          </a:p>
        </p:txBody>
      </p:sp>
      <p:cxnSp>
        <p:nvCxnSpPr>
          <p:cNvPr id="16" name="直接连接符 15"/>
          <p:cNvCxnSpPr>
            <a:cxnSpLocks noChangeShapeType="1"/>
          </p:cNvCxnSpPr>
          <p:nvPr/>
        </p:nvCxnSpPr>
        <p:spPr bwMode="auto">
          <a:xfrm flipV="1">
            <a:off x="1819275" y="5373688"/>
            <a:ext cx="0" cy="43180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 flipV="1">
            <a:off x="4629150" y="5356225"/>
            <a:ext cx="0" cy="43180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直接连接符 20"/>
          <p:cNvCxnSpPr>
            <a:cxnSpLocks noChangeShapeType="1"/>
          </p:cNvCxnSpPr>
          <p:nvPr/>
        </p:nvCxnSpPr>
        <p:spPr bwMode="auto">
          <a:xfrm flipV="1">
            <a:off x="7061200" y="5367338"/>
            <a:ext cx="0" cy="43180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3" grpId="0"/>
      <p:bldP spid="14" grpId="0"/>
      <p:bldP spid="1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7797800" cy="1125538"/>
          </a:xfrm>
        </p:spPr>
        <p:txBody>
          <a:bodyPr/>
          <a:lstStyle/>
          <a:p>
            <a:pPr eaLnBrk="1" hangingPunct="1"/>
            <a:r>
              <a:rPr lang="en-US" altLang="zh-CN" smtClean="0"/>
              <a:t>2.</a:t>
            </a:r>
            <a:r>
              <a:rPr lang="zh-CN" altLang="en-US" smtClean="0"/>
              <a:t>定义触发器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0900" y="1484313"/>
            <a:ext cx="8229600" cy="35274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创建触发器语法格式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	  </a:t>
            </a:r>
            <a:r>
              <a:rPr lang="en-US" altLang="zh-CN" sz="2400" dirty="0" smtClean="0">
                <a:latin typeface="+mj-ea"/>
                <a:ea typeface="+mj-ea"/>
              </a:rPr>
              <a:t>CREATE OR REPLACE TRIGGER  </a:t>
            </a:r>
            <a:r>
              <a:rPr lang="en-US" altLang="zh-CN" sz="2400" dirty="0" err="1" smtClean="0">
                <a:latin typeface="+mj-ea"/>
                <a:ea typeface="+mj-ea"/>
              </a:rPr>
              <a:t>trigger_name</a:t>
            </a:r>
            <a:r>
              <a:rPr lang="en-US" altLang="zh-CN" sz="2400" dirty="0" smtClean="0">
                <a:latin typeface="+mj-ea"/>
                <a:ea typeface="+mj-ea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 	{BEFORE | AFTER} &lt;</a:t>
            </a:r>
            <a:r>
              <a:rPr lang="zh-CN" altLang="en-US" sz="2400" dirty="0" smtClean="0">
                <a:latin typeface="+mj-ea"/>
                <a:ea typeface="+mj-ea"/>
              </a:rPr>
              <a:t>触发事件</a:t>
            </a:r>
            <a:r>
              <a:rPr lang="en-US" altLang="zh-CN" sz="2400" dirty="0" smtClean="0">
                <a:latin typeface="+mj-ea"/>
                <a:ea typeface="+mj-ea"/>
              </a:rPr>
              <a:t>&gt; ON &lt;</a:t>
            </a:r>
            <a:r>
              <a:rPr lang="zh-CN" altLang="en-US" sz="2400" dirty="0" smtClean="0">
                <a:latin typeface="+mj-ea"/>
                <a:ea typeface="+mj-ea"/>
              </a:rPr>
              <a:t>表名</a:t>
            </a:r>
            <a:r>
              <a:rPr lang="en-US" altLang="zh-CN" sz="2400" dirty="0" smtClean="0">
                <a:latin typeface="+mj-ea"/>
                <a:ea typeface="+mj-ea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  	[FOR EACH ROW]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      [WHEN &lt;</a:t>
            </a:r>
            <a:r>
              <a:rPr lang="zh-CN" altLang="en-US" sz="2400" dirty="0" smtClean="0">
                <a:latin typeface="+mj-ea"/>
                <a:ea typeface="+mj-ea"/>
              </a:rPr>
              <a:t>触发条件</a:t>
            </a:r>
            <a:r>
              <a:rPr lang="en-US" altLang="zh-CN" sz="2400" dirty="0" smtClean="0">
                <a:latin typeface="+mj-ea"/>
                <a:ea typeface="+mj-ea"/>
              </a:rPr>
              <a:t>&gt;</a:t>
            </a:r>
            <a:r>
              <a:rPr lang="en-US" altLang="zh-CN" sz="2400" dirty="0">
                <a:latin typeface="+mj-ea"/>
                <a:ea typeface="+mj-ea"/>
              </a:rPr>
              <a:t>]</a:t>
            </a:r>
            <a:endParaRPr lang="zh-CN" altLang="en-US" sz="2400" dirty="0" smtClean="0"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       	</a:t>
            </a:r>
            <a:r>
              <a:rPr lang="en-US" altLang="zh-CN" sz="2400" dirty="0" smtClean="0">
                <a:latin typeface="+mj-ea"/>
                <a:ea typeface="+mj-ea"/>
              </a:rPr>
              <a:t>&lt;</a:t>
            </a:r>
            <a:r>
              <a:rPr lang="zh-CN" altLang="en-US" sz="2400" dirty="0" smtClean="0">
                <a:latin typeface="+mj-ea"/>
                <a:ea typeface="+mj-ea"/>
              </a:rPr>
              <a:t>触发动作体</a:t>
            </a:r>
            <a:r>
              <a:rPr lang="en-US" altLang="zh-CN" sz="2400" dirty="0" smtClean="0">
                <a:latin typeface="+mj-ea"/>
                <a:ea typeface="+mj-ea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defRPr/>
            </a:pPr>
            <a:endParaRPr lang="en-US" altLang="zh-CN" sz="2400" dirty="0" smtClean="0"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7797800" cy="1125538"/>
          </a:xfrm>
        </p:spPr>
        <p:txBody>
          <a:bodyPr/>
          <a:lstStyle/>
          <a:p>
            <a:pPr eaLnBrk="1" hangingPunct="1"/>
            <a:r>
              <a:rPr lang="en-US" altLang="zh-CN" smtClean="0"/>
              <a:t>2.</a:t>
            </a:r>
            <a:r>
              <a:rPr lang="zh-CN" altLang="en-US" smtClean="0"/>
              <a:t>定义触发器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0900" y="1484313"/>
            <a:ext cx="8229600" cy="35274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创建触发器语法格式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	  </a:t>
            </a:r>
            <a:r>
              <a:rPr lang="en-US" altLang="zh-CN" sz="2800" dirty="0" smtClean="0">
                <a:solidFill>
                  <a:srgbClr val="FF0000"/>
                </a:solidFill>
                <a:latin typeface="+mj-ea"/>
                <a:ea typeface="+mj-ea"/>
              </a:rPr>
              <a:t>CREATE OR REPLACE TRIGGER  </a:t>
            </a:r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trigger_name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 	{BEFORE | AFTER}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触发事件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 ON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表名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  	[FOR EACH ROW]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      [WHEN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触发条件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]</a:t>
            </a:r>
            <a:endParaRPr lang="zh-CN" altLang="en-US" sz="2400" dirty="0" smtClean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 	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触发动作体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defRPr/>
            </a:pPr>
            <a:endParaRPr lang="en-US" altLang="zh-CN" sz="2400" dirty="0" smtClean="0"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7797800" cy="1125538"/>
          </a:xfrm>
        </p:spPr>
        <p:txBody>
          <a:bodyPr/>
          <a:lstStyle/>
          <a:p>
            <a:pPr eaLnBrk="1" hangingPunct="1"/>
            <a:r>
              <a:rPr lang="en-US" altLang="zh-CN" smtClean="0"/>
              <a:t>2.</a:t>
            </a:r>
            <a:r>
              <a:rPr lang="zh-CN" altLang="en-US" smtClean="0"/>
              <a:t>定义触发器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0900" y="1484313"/>
            <a:ext cx="8229600" cy="35274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创建触发器语法格式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	  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CREATE OR REPLACE TRIGGER  </a:t>
            </a:r>
            <a:r>
              <a:rPr lang="en-US" altLang="zh-CN" sz="2800" dirty="0" err="1" smtClean="0">
                <a:solidFill>
                  <a:srgbClr val="FF0000"/>
                </a:solidFill>
                <a:latin typeface="+mj-ea"/>
                <a:ea typeface="+mj-ea"/>
              </a:rPr>
              <a:t>trigger_name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 	{BEFORE | AFTER}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触发事件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 ON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表名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  	[FOR EACH ROW]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	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[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WHEN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触发条件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]</a:t>
            </a:r>
            <a:endParaRPr lang="zh-CN" altLang="en-US" sz="2400" dirty="0" smtClean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 	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触发动作体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defRPr/>
            </a:pPr>
            <a:endParaRPr lang="en-US" altLang="zh-CN" sz="2400" dirty="0" smtClean="0"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7797800" cy="1125538"/>
          </a:xfrm>
        </p:spPr>
        <p:txBody>
          <a:bodyPr/>
          <a:lstStyle/>
          <a:p>
            <a:pPr eaLnBrk="1" hangingPunct="1"/>
            <a:r>
              <a:rPr lang="en-US" altLang="zh-CN" smtClean="0"/>
              <a:t>2.</a:t>
            </a:r>
            <a:r>
              <a:rPr lang="zh-CN" altLang="en-US" smtClean="0"/>
              <a:t>定义触发器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0900" y="1484313"/>
            <a:ext cx="8229600" cy="35274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创建触发器语法格式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	  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CREATE OR REPLACE TRIGGER  </a:t>
            </a:r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trigger_name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 	</a:t>
            </a:r>
            <a:r>
              <a:rPr lang="en-US" altLang="zh-CN" sz="2800" dirty="0" smtClean="0">
                <a:solidFill>
                  <a:srgbClr val="FF0000"/>
                </a:solidFill>
                <a:latin typeface="+mj-ea"/>
                <a:ea typeface="+mj-ea"/>
              </a:rPr>
              <a:t>{BEFORE | AFTER} 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触发事件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 ON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表名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  	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[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FOR EACH ROW]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	[WHEN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触发条件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]</a:t>
            </a:r>
            <a:endParaRPr lang="zh-CN" altLang="en-US" sz="2400" dirty="0" smtClean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 	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触发动作体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defRPr/>
            </a:pPr>
            <a:endParaRPr lang="en-US" altLang="zh-CN" sz="2400" dirty="0" smtClean="0">
              <a:latin typeface="+mj-ea"/>
              <a:ea typeface="+mj-ea"/>
            </a:endParaRPr>
          </a:p>
        </p:txBody>
      </p:sp>
      <p:sp>
        <p:nvSpPr>
          <p:cNvPr id="87044" name="线形标注 1(带强调线) 2"/>
          <p:cNvSpPr>
            <a:spLocks/>
          </p:cNvSpPr>
          <p:nvPr/>
        </p:nvSpPr>
        <p:spPr bwMode="auto">
          <a:xfrm flipH="1">
            <a:off x="468313" y="3573463"/>
            <a:ext cx="1800225" cy="792162"/>
          </a:xfrm>
          <a:prstGeom prst="accentCallout1">
            <a:avLst>
              <a:gd name="adj1" fmla="val 18750"/>
              <a:gd name="adj2" fmla="val -8333"/>
              <a:gd name="adj3" fmla="val -60412"/>
              <a:gd name="adj4" fmla="val -39620"/>
            </a:avLst>
          </a:prstGeom>
          <a:solidFill>
            <a:srgbClr val="74B230"/>
          </a:solidFill>
          <a:ln w="25400" algn="ctr">
            <a:solidFill>
              <a:srgbClr val="92D050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触发时序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7797800" cy="1125538"/>
          </a:xfrm>
        </p:spPr>
        <p:txBody>
          <a:bodyPr/>
          <a:lstStyle/>
          <a:p>
            <a:pPr eaLnBrk="1" hangingPunct="1"/>
            <a:r>
              <a:rPr lang="en-US" altLang="zh-CN" smtClean="0"/>
              <a:t>2.</a:t>
            </a:r>
            <a:r>
              <a:rPr lang="zh-CN" altLang="en-US" smtClean="0"/>
              <a:t>定义触发器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0900" y="1484313"/>
            <a:ext cx="8229600" cy="35274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创建触发器语法格式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	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CREATE OR REPLACE TRIGGER  </a:t>
            </a:r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trigger_name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 	</a:t>
            </a:r>
            <a:r>
              <a:rPr lang="en-US" altLang="zh-CN" sz="2400" dirty="0" smtClean="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</a:rPr>
              <a:t>{BEFORE | AFTER} </a:t>
            </a:r>
            <a:r>
              <a:rPr lang="en-US" altLang="zh-CN" sz="2800" dirty="0" smtClean="0">
                <a:solidFill>
                  <a:srgbClr val="FF0000"/>
                </a:solidFill>
                <a:latin typeface="+mj-ea"/>
                <a:ea typeface="+mj-ea"/>
              </a:rPr>
              <a:t>&lt;</a:t>
            </a:r>
            <a:r>
              <a:rPr lang="zh-CN" altLang="en-US" sz="2800" dirty="0" smtClean="0">
                <a:solidFill>
                  <a:srgbClr val="FF0000"/>
                </a:solidFill>
                <a:latin typeface="+mj-ea"/>
                <a:ea typeface="+mj-ea"/>
              </a:rPr>
              <a:t>触发事件</a:t>
            </a:r>
            <a:r>
              <a:rPr lang="en-US" altLang="zh-CN" sz="2800" dirty="0" smtClean="0">
                <a:solidFill>
                  <a:srgbClr val="FF0000"/>
                </a:solidFill>
                <a:latin typeface="+mj-ea"/>
                <a:ea typeface="+mj-ea"/>
              </a:rPr>
              <a:t>&gt; 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ON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表名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  	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[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FOR EACH ROW]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	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[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WHEN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触发条件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]</a:t>
            </a:r>
            <a:endParaRPr lang="zh-CN" altLang="en-US" sz="2400" dirty="0" smtClean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 	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触发动作体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defRPr/>
            </a:pPr>
            <a:endParaRPr lang="en-US" altLang="zh-CN" sz="2400" dirty="0" smtClean="0">
              <a:latin typeface="+mj-ea"/>
              <a:ea typeface="+mj-ea"/>
            </a:endParaRPr>
          </a:p>
        </p:txBody>
      </p:sp>
      <p:sp>
        <p:nvSpPr>
          <p:cNvPr id="3" name="线形标注 1(带强调线) 2"/>
          <p:cNvSpPr/>
          <p:nvPr/>
        </p:nvSpPr>
        <p:spPr bwMode="auto">
          <a:xfrm flipH="1">
            <a:off x="611188" y="3573463"/>
            <a:ext cx="1512887" cy="1584325"/>
          </a:xfrm>
          <a:prstGeom prst="accentCallout1">
            <a:avLst>
              <a:gd name="adj1" fmla="val 18750"/>
              <a:gd name="adj2" fmla="val -8333"/>
              <a:gd name="adj3" fmla="val -28645"/>
              <a:gd name="adj4" fmla="val -220452"/>
            </a:avLst>
          </a:prstGeom>
          <a:solidFill>
            <a:srgbClr val="74B230"/>
          </a:solidFill>
          <a:ln w="254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zh-CN" sz="2800" dirty="0">
                <a:solidFill>
                  <a:schemeClr val="bg1"/>
                </a:solidFill>
                <a:latin typeface="+mj-ea"/>
              </a:rPr>
              <a:t>INSERT</a:t>
            </a:r>
          </a:p>
          <a:p>
            <a:pPr>
              <a:defRPr/>
            </a:pPr>
            <a:r>
              <a:rPr lang="en-US" altLang="zh-CN" sz="2800" dirty="0">
                <a:solidFill>
                  <a:schemeClr val="bg1"/>
                </a:solidFill>
                <a:latin typeface="+mj-ea"/>
              </a:rPr>
              <a:t>DELETE</a:t>
            </a:r>
          </a:p>
          <a:p>
            <a:pPr>
              <a:defRPr/>
            </a:pPr>
            <a:r>
              <a:rPr lang="en-US" altLang="zh-CN" sz="2800" dirty="0">
                <a:solidFill>
                  <a:schemeClr val="bg1"/>
                </a:solidFill>
                <a:latin typeface="+mj-ea"/>
              </a:rPr>
              <a:t>UPDATE</a:t>
            </a:r>
            <a:endParaRPr lang="zh-CN" altLang="en-US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7797800" cy="1125538"/>
          </a:xfrm>
        </p:spPr>
        <p:txBody>
          <a:bodyPr/>
          <a:lstStyle/>
          <a:p>
            <a:pPr eaLnBrk="1" hangingPunct="1"/>
            <a:r>
              <a:rPr lang="en-US" altLang="zh-CN" smtClean="0"/>
              <a:t>2.</a:t>
            </a:r>
            <a:r>
              <a:rPr lang="zh-CN" altLang="en-US" smtClean="0"/>
              <a:t>定义触发器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0900" y="1484313"/>
            <a:ext cx="8229600" cy="35274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创建触发器语法格式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	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CREATE OR REPLACE TRIGGER  </a:t>
            </a:r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trigger_name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 	{BEFORE | AFTER}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触发事件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 </a:t>
            </a:r>
            <a:r>
              <a:rPr lang="en-US" altLang="zh-CN" sz="2800" dirty="0" smtClean="0">
                <a:solidFill>
                  <a:srgbClr val="FF0000"/>
                </a:solidFill>
                <a:latin typeface="+mj-ea"/>
                <a:ea typeface="+mj-ea"/>
              </a:rPr>
              <a:t>ON &lt;</a:t>
            </a:r>
            <a:r>
              <a:rPr lang="zh-CN" altLang="en-US" sz="2800" dirty="0" smtClean="0">
                <a:solidFill>
                  <a:srgbClr val="FF0000"/>
                </a:solidFill>
                <a:latin typeface="+mj-ea"/>
                <a:ea typeface="+mj-ea"/>
              </a:rPr>
              <a:t>表名</a:t>
            </a:r>
            <a:r>
              <a:rPr lang="en-US" altLang="zh-CN" sz="2800" dirty="0" smtClean="0">
                <a:solidFill>
                  <a:srgbClr val="FF0000"/>
                </a:solidFill>
                <a:latin typeface="+mj-ea"/>
                <a:ea typeface="+mj-ea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  	[FOR EACH ROW]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	[WHEN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触发条件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]</a:t>
            </a:r>
            <a:endParaRPr lang="zh-CN" altLang="en-US" sz="2400" dirty="0" smtClean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 	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触发动作体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defRPr/>
            </a:pPr>
            <a:endParaRPr lang="en-US" altLang="zh-CN" sz="2400" dirty="0" smtClean="0"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7797800" cy="1125538"/>
          </a:xfrm>
        </p:spPr>
        <p:txBody>
          <a:bodyPr/>
          <a:lstStyle/>
          <a:p>
            <a:pPr eaLnBrk="1" hangingPunct="1"/>
            <a:r>
              <a:rPr lang="en-US" altLang="zh-CN" smtClean="0"/>
              <a:t>2.</a:t>
            </a:r>
            <a:r>
              <a:rPr lang="zh-CN" altLang="en-US" smtClean="0"/>
              <a:t>定义触发器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0900" y="1484313"/>
            <a:ext cx="8229600" cy="35274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创建触发器语法格式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	  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CREATE OR REPLACE TRIGGER  </a:t>
            </a:r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trigger_name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 	{BEFORE | AFTER}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触发事件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 ON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表名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  	</a:t>
            </a: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[FOR EACH ROW]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</a:rPr>
              <a:t>      	[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WHEN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触发条件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]</a:t>
            </a:r>
            <a:endParaRPr lang="zh-CN" altLang="en-US" sz="2400" dirty="0" smtClean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 	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触发动作体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endParaRPr lang="en-US" altLang="zh-CN" sz="2400" dirty="0" smtClean="0">
              <a:latin typeface="+mj-ea"/>
              <a:ea typeface="+mj-ea"/>
            </a:endParaRPr>
          </a:p>
        </p:txBody>
      </p:sp>
      <p:sp>
        <p:nvSpPr>
          <p:cNvPr id="90116" name="线形标注 1(带强调线) 2"/>
          <p:cNvSpPr>
            <a:spLocks/>
          </p:cNvSpPr>
          <p:nvPr/>
        </p:nvSpPr>
        <p:spPr bwMode="auto">
          <a:xfrm flipH="1">
            <a:off x="468313" y="3573463"/>
            <a:ext cx="1655762" cy="792162"/>
          </a:xfrm>
          <a:prstGeom prst="accentCallout1">
            <a:avLst>
              <a:gd name="adj1" fmla="val 18750"/>
              <a:gd name="adj2" fmla="val -8333"/>
              <a:gd name="adj3" fmla="val -11074"/>
              <a:gd name="adj4" fmla="val -44241"/>
            </a:avLst>
          </a:prstGeom>
          <a:solidFill>
            <a:srgbClr val="74B230"/>
          </a:solidFill>
          <a:ln w="25400" algn="ctr">
            <a:solidFill>
              <a:srgbClr val="92D050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行触发器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7797800" cy="1125538"/>
          </a:xfrm>
        </p:spPr>
        <p:txBody>
          <a:bodyPr/>
          <a:lstStyle/>
          <a:p>
            <a:pPr eaLnBrk="1" hangingPunct="1"/>
            <a:r>
              <a:rPr lang="en-US" altLang="zh-CN" smtClean="0"/>
              <a:t>2.</a:t>
            </a:r>
            <a:r>
              <a:rPr lang="zh-CN" altLang="en-US" smtClean="0"/>
              <a:t>定义触发器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0900" y="1484313"/>
            <a:ext cx="8229600" cy="35274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创建触发器语法格式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	  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CREATE OR REPLACE TRIGGER  </a:t>
            </a:r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trigger_name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 	{BEFORE | AFTER}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触发事件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 ON &lt;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表名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  	[FOR EACH ROW]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      	</a:t>
            </a:r>
            <a:r>
              <a:rPr lang="en-US" altLang="zh-CN" sz="2800" dirty="0">
                <a:solidFill>
                  <a:srgbClr val="FF0000"/>
                </a:solidFill>
                <a:latin typeface="+mj-ea"/>
                <a:ea typeface="+mj-ea"/>
              </a:rPr>
              <a:t>[</a:t>
            </a:r>
            <a:r>
              <a:rPr lang="en-US" altLang="zh-CN" sz="2800" dirty="0" smtClean="0">
                <a:solidFill>
                  <a:srgbClr val="FF0000"/>
                </a:solidFill>
                <a:latin typeface="+mj-ea"/>
                <a:ea typeface="+mj-ea"/>
              </a:rPr>
              <a:t>WHEN &lt;</a:t>
            </a:r>
            <a:r>
              <a:rPr lang="zh-CN" altLang="en-US" sz="2800" dirty="0" smtClean="0">
                <a:solidFill>
                  <a:srgbClr val="FF0000"/>
                </a:solidFill>
                <a:latin typeface="+mj-ea"/>
                <a:ea typeface="+mj-ea"/>
              </a:rPr>
              <a:t>触发条件</a:t>
            </a:r>
            <a:r>
              <a:rPr lang="en-US" altLang="zh-CN" sz="2800" dirty="0" smtClean="0">
                <a:solidFill>
                  <a:srgbClr val="FF0000"/>
                </a:solidFill>
                <a:latin typeface="+mj-ea"/>
                <a:ea typeface="+mj-ea"/>
              </a:rPr>
              <a:t>&gt;</a:t>
            </a:r>
            <a:r>
              <a:rPr lang="en-US" altLang="zh-CN" sz="2800" dirty="0">
                <a:solidFill>
                  <a:srgbClr val="FF0000"/>
                </a:solidFill>
                <a:latin typeface="+mj-ea"/>
                <a:ea typeface="+mj-ea"/>
              </a:rPr>
              <a:t>]</a:t>
            </a:r>
            <a:endParaRPr lang="zh-CN" altLang="en-US" sz="28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z="2800" dirty="0" smtClean="0">
                <a:solidFill>
                  <a:srgbClr val="FF0000"/>
                </a:solidFill>
                <a:latin typeface="+mj-ea"/>
                <a:ea typeface="+mj-ea"/>
              </a:rPr>
              <a:t>       	</a:t>
            </a:r>
            <a:r>
              <a:rPr lang="en-US" altLang="zh-CN" sz="2800" dirty="0" smtClean="0">
                <a:solidFill>
                  <a:srgbClr val="FF0000"/>
                </a:solidFill>
                <a:latin typeface="+mj-ea"/>
                <a:ea typeface="+mj-ea"/>
              </a:rPr>
              <a:t>&lt;</a:t>
            </a:r>
            <a:r>
              <a:rPr lang="zh-CN" altLang="en-US" sz="2800" dirty="0" smtClean="0">
                <a:solidFill>
                  <a:srgbClr val="FF0000"/>
                </a:solidFill>
                <a:latin typeface="+mj-ea"/>
                <a:ea typeface="+mj-ea"/>
              </a:rPr>
              <a:t>触发动作体</a:t>
            </a:r>
            <a:r>
              <a:rPr lang="en-US" altLang="zh-CN" sz="2800" dirty="0" smtClean="0">
                <a:solidFill>
                  <a:srgbClr val="FF0000"/>
                </a:solidFill>
                <a:latin typeface="+mj-ea"/>
                <a:ea typeface="+mj-ea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defRPr/>
            </a:pPr>
            <a:endParaRPr lang="en-US" altLang="zh-CN" sz="2400" dirty="0" smtClean="0"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>
          <a:xfrm>
            <a:off x="739775" y="0"/>
            <a:ext cx="6337300" cy="908050"/>
          </a:xfrm>
        </p:spPr>
        <p:txBody>
          <a:bodyPr/>
          <a:lstStyle/>
          <a:p>
            <a:r>
              <a:rPr lang="en-US" altLang="zh-CN" smtClean="0">
                <a:latin typeface="黑体" pitchFamily="49" charset="-122"/>
              </a:rPr>
              <a:t>3.</a:t>
            </a:r>
            <a:r>
              <a:rPr lang="zh-CN" altLang="en-US" smtClean="0">
                <a:latin typeface="黑体" pitchFamily="49" charset="-122"/>
              </a:rPr>
              <a:t>案例分析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4500563" y="3068638"/>
            <a:ext cx="4464050" cy="3024187"/>
          </a:xfrm>
          <a:prstGeom prst="roundRect">
            <a:avLst/>
          </a:prstGeom>
          <a:solidFill>
            <a:srgbClr val="70B13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latin typeface="+mj-ea"/>
                <a:ea typeface="+mj-ea"/>
              </a:rPr>
              <a:t>触发器所在的表？</a:t>
            </a:r>
            <a:endParaRPr lang="en-US" altLang="zh-CN" sz="22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latin typeface="+mj-ea"/>
                <a:ea typeface="+mj-ea"/>
              </a:rPr>
              <a:t>触发事件？</a:t>
            </a:r>
            <a:endParaRPr lang="en-US" altLang="zh-CN" sz="22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latin typeface="+mj-ea"/>
                <a:ea typeface="+mj-ea"/>
              </a:rPr>
              <a:t>触发时序？</a:t>
            </a:r>
            <a:endParaRPr lang="en-US" altLang="zh-CN" sz="22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latin typeface="+mj-ea"/>
                <a:ea typeface="+mj-ea"/>
              </a:rPr>
              <a:t>行级触发？语句级触发？</a:t>
            </a:r>
            <a:endParaRPr lang="en-US" altLang="zh-CN" sz="2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defRPr/>
            </a:pPr>
            <a:r>
              <a:rPr lang="zh-CN" altLang="en-US" sz="2400" dirty="0">
                <a:latin typeface="+mj-ea"/>
                <a:ea typeface="+mj-ea"/>
              </a:rPr>
              <a:t>         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行级触发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08850" y="3350960"/>
            <a:ext cx="1295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出库表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0232" y="3861048"/>
            <a:ext cx="12969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</a:rPr>
              <a:t>INSERT</a:t>
            </a:r>
            <a:endParaRPr lang="zh-CN" altLang="en-US" sz="24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8125" y="4349750"/>
            <a:ext cx="12969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</a:rPr>
              <a:t>AFTER</a:t>
            </a:r>
            <a:endParaRPr lang="zh-CN" altLang="en-US" sz="24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grpSp>
        <p:nvGrpSpPr>
          <p:cNvPr id="92167" name="组合 13"/>
          <p:cNvGrpSpPr>
            <a:grpSpLocks/>
          </p:cNvGrpSpPr>
          <p:nvPr/>
        </p:nvGrpSpPr>
        <p:grpSpPr bwMode="auto">
          <a:xfrm>
            <a:off x="611188" y="1196975"/>
            <a:ext cx="4752975" cy="1878013"/>
            <a:chOff x="810630" y="1212749"/>
            <a:chExt cx="4752528" cy="1878524"/>
          </a:xfrm>
        </p:grpSpPr>
        <p:sp>
          <p:nvSpPr>
            <p:cNvPr id="92173" name="TextBox 4"/>
            <p:cNvSpPr txBox="1">
              <a:spLocks noChangeArrowheads="1"/>
            </p:cNvSpPr>
            <p:nvPr/>
          </p:nvSpPr>
          <p:spPr bwMode="auto">
            <a:xfrm>
              <a:off x="2412797" y="2783531"/>
              <a:ext cx="1548194" cy="3077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latin typeface="宋体" pitchFamily="2" charset="-122"/>
                </a:rPr>
                <a:t>库存表</a:t>
              </a:r>
            </a:p>
          </p:txBody>
        </p:sp>
        <p:pic>
          <p:nvPicPr>
            <p:cNvPr id="92174" name="Picture 17" descr="C:\Users\lily\AppData\Roaming\Tencent\Users\147829947\QQ\WinTemp\RichOle\(8ACUOJSLKA~M95LJMK%Z20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630" y="1212749"/>
              <a:ext cx="4752528" cy="1589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2168" name="组合 16"/>
          <p:cNvGrpSpPr>
            <a:grpSpLocks/>
          </p:cNvGrpSpPr>
          <p:nvPr/>
        </p:nvGrpSpPr>
        <p:grpSpPr bwMode="auto">
          <a:xfrm>
            <a:off x="603250" y="3101975"/>
            <a:ext cx="3706813" cy="1982788"/>
            <a:chOff x="1170099" y="3230050"/>
            <a:chExt cx="3706589" cy="1983300"/>
          </a:xfrm>
        </p:grpSpPr>
        <p:sp>
          <p:nvSpPr>
            <p:cNvPr id="92171" name="TextBox 12"/>
            <p:cNvSpPr txBox="1">
              <a:spLocks noChangeArrowheads="1"/>
            </p:cNvSpPr>
            <p:nvPr/>
          </p:nvSpPr>
          <p:spPr bwMode="auto">
            <a:xfrm>
              <a:off x="2249172" y="4905517"/>
              <a:ext cx="1548444" cy="307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latin typeface="宋体" pitchFamily="2" charset="-122"/>
                </a:rPr>
                <a:t>出库表</a:t>
              </a:r>
            </a:p>
          </p:txBody>
        </p:sp>
        <p:pic>
          <p:nvPicPr>
            <p:cNvPr id="92172" name="Picture 18" descr="C:\Users\lily\AppData\Roaming\Tencent\Users\147829947\QQ\WinTemp\RichOle\VT839YH~Y2V$D){@V{G4]7A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0099" y="3230050"/>
              <a:ext cx="3706589" cy="1692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2169" name="矩形 5"/>
          <p:cNvSpPr>
            <a:spLocks noChangeArrowheads="1"/>
          </p:cNvSpPr>
          <p:nvPr/>
        </p:nvSpPr>
        <p:spPr bwMode="auto">
          <a:xfrm>
            <a:off x="4892675" y="1196975"/>
            <a:ext cx="479425" cy="1570038"/>
          </a:xfrm>
          <a:prstGeom prst="rect">
            <a:avLst/>
          </a:prstGeom>
          <a:solidFill>
            <a:srgbClr val="FF99CC">
              <a:alpha val="38823"/>
            </a:srgbClr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</a:endParaRPr>
          </a:p>
        </p:txBody>
      </p:sp>
      <p:sp>
        <p:nvSpPr>
          <p:cNvPr id="92170" name="矩形 5"/>
          <p:cNvSpPr>
            <a:spLocks noChangeArrowheads="1"/>
          </p:cNvSpPr>
          <p:nvPr/>
        </p:nvSpPr>
        <p:spPr bwMode="auto">
          <a:xfrm>
            <a:off x="2268538" y="3105150"/>
            <a:ext cx="647700" cy="1671638"/>
          </a:xfrm>
          <a:prstGeom prst="rect">
            <a:avLst/>
          </a:prstGeom>
          <a:solidFill>
            <a:srgbClr val="FF99CC">
              <a:alpha val="38823"/>
            </a:srgbClr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" grpId="0"/>
      <p:bldP spid="19" grpId="0"/>
      <p:bldP spid="20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标题 1"/>
          <p:cNvSpPr>
            <a:spLocks noGrp="1"/>
          </p:cNvSpPr>
          <p:nvPr>
            <p:ph type="title"/>
          </p:nvPr>
        </p:nvSpPr>
        <p:spPr>
          <a:xfrm>
            <a:off x="739775" y="0"/>
            <a:ext cx="6337300" cy="908050"/>
          </a:xfrm>
        </p:spPr>
        <p:txBody>
          <a:bodyPr/>
          <a:lstStyle/>
          <a:p>
            <a:r>
              <a:rPr lang="en-US" altLang="zh-CN" smtClean="0">
                <a:latin typeface="黑体" pitchFamily="49" charset="-122"/>
              </a:rPr>
              <a:t>4.</a:t>
            </a:r>
            <a:r>
              <a:rPr lang="zh-CN" altLang="en-US" smtClean="0">
                <a:latin typeface="黑体" pitchFamily="49" charset="-122"/>
              </a:rPr>
              <a:t>案例实现</a:t>
            </a:r>
          </a:p>
        </p:txBody>
      </p:sp>
      <p:sp>
        <p:nvSpPr>
          <p:cNvPr id="14" name="圆角矩形 13"/>
          <p:cNvSpPr>
            <a:spLocks noChangeArrowheads="1"/>
          </p:cNvSpPr>
          <p:nvPr/>
        </p:nvSpPr>
        <p:spPr bwMode="auto">
          <a:xfrm>
            <a:off x="4500563" y="2822575"/>
            <a:ext cx="4319587" cy="348615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zh-CN" sz="2200"/>
              <a:t>create or replace trigger gxkc</a:t>
            </a:r>
          </a:p>
          <a:p>
            <a:r>
              <a:rPr lang="en-US" altLang="zh-CN" sz="2200"/>
              <a:t>     after insert on </a:t>
            </a:r>
            <a:r>
              <a:rPr lang="zh-CN" altLang="en-US" sz="2200"/>
              <a:t>出库表  </a:t>
            </a:r>
          </a:p>
          <a:p>
            <a:r>
              <a:rPr lang="zh-CN" altLang="en-US" sz="2200"/>
              <a:t>     </a:t>
            </a:r>
            <a:r>
              <a:rPr lang="en-US" altLang="zh-CN" sz="2200"/>
              <a:t>for each row</a:t>
            </a:r>
          </a:p>
          <a:p>
            <a:r>
              <a:rPr lang="en-US" altLang="zh-CN" sz="2200"/>
              <a:t>begin</a:t>
            </a:r>
          </a:p>
          <a:p>
            <a:r>
              <a:rPr lang="en-US" altLang="zh-CN" sz="2200"/>
              <a:t>     update </a:t>
            </a:r>
            <a:r>
              <a:rPr lang="zh-CN" altLang="en-US" sz="2200"/>
              <a:t>库存表</a:t>
            </a:r>
          </a:p>
          <a:p>
            <a:r>
              <a:rPr lang="zh-CN" altLang="en-US" sz="2200"/>
              <a:t>     </a:t>
            </a:r>
            <a:r>
              <a:rPr lang="en-US" altLang="zh-CN" sz="2200"/>
              <a:t>set </a:t>
            </a:r>
            <a:r>
              <a:rPr lang="zh-CN" altLang="en-US" sz="2200"/>
              <a:t>库存量</a:t>
            </a:r>
            <a:r>
              <a:rPr lang="en-US" altLang="zh-CN" sz="2200"/>
              <a:t>=</a:t>
            </a:r>
            <a:endParaRPr lang="en-US" altLang="zh-CN" sz="2200">
              <a:solidFill>
                <a:srgbClr val="FF0000"/>
              </a:solidFill>
            </a:endParaRPr>
          </a:p>
          <a:p>
            <a:r>
              <a:rPr lang="en-US" altLang="zh-CN" sz="2200"/>
              <a:t>     where </a:t>
            </a:r>
          </a:p>
          <a:p>
            <a:r>
              <a:rPr lang="en-US" altLang="zh-CN" sz="2200"/>
              <a:t>end gxkc;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516688" y="4832350"/>
            <a:ext cx="7207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7118350" y="5110163"/>
            <a:ext cx="7207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5791200" y="5213350"/>
            <a:ext cx="148113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200"/>
              <a:t>商品编号</a:t>
            </a:r>
            <a:r>
              <a:rPr lang="en-US" altLang="zh-CN" sz="2200"/>
              <a:t>=</a:t>
            </a:r>
          </a:p>
        </p:txBody>
      </p:sp>
      <p:pic>
        <p:nvPicPr>
          <p:cNvPr id="22" name="Picture 4" descr="d:\program files\360\360se6\User Data\temp\u=2297597525,880697712&amp;fm=21&amp;gp=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" y="5373216"/>
            <a:ext cx="1800200" cy="14560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2" name="圆角矩形 1"/>
          <p:cNvSpPr>
            <a:spLocks noChangeArrowheads="1"/>
          </p:cNvSpPr>
          <p:nvPr/>
        </p:nvSpPr>
        <p:spPr bwMode="auto">
          <a:xfrm>
            <a:off x="4479925" y="2822575"/>
            <a:ext cx="4319588" cy="3479800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3193" name="组合 16"/>
          <p:cNvGrpSpPr>
            <a:grpSpLocks/>
          </p:cNvGrpSpPr>
          <p:nvPr/>
        </p:nvGrpSpPr>
        <p:grpSpPr bwMode="auto">
          <a:xfrm>
            <a:off x="611188" y="1196975"/>
            <a:ext cx="4752975" cy="1878013"/>
            <a:chOff x="810630" y="1212749"/>
            <a:chExt cx="4752528" cy="1878524"/>
          </a:xfrm>
        </p:grpSpPr>
        <p:sp>
          <p:nvSpPr>
            <p:cNvPr id="93199" name="TextBox 4"/>
            <p:cNvSpPr txBox="1">
              <a:spLocks noChangeArrowheads="1"/>
            </p:cNvSpPr>
            <p:nvPr/>
          </p:nvSpPr>
          <p:spPr bwMode="auto">
            <a:xfrm>
              <a:off x="2412797" y="2783531"/>
              <a:ext cx="1548194" cy="3077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latin typeface="宋体" pitchFamily="2" charset="-122"/>
                </a:rPr>
                <a:t>库存表</a:t>
              </a:r>
            </a:p>
          </p:txBody>
        </p:sp>
        <p:pic>
          <p:nvPicPr>
            <p:cNvPr id="93200" name="Picture 17" descr="C:\Users\lily\AppData\Roaming\Tencent\Users\147829947\QQ\WinTemp\RichOle\(8ACUOJSLKA~M95LJMK%Z20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630" y="1212749"/>
              <a:ext cx="4752528" cy="1589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3194" name="组合 19"/>
          <p:cNvGrpSpPr>
            <a:grpSpLocks/>
          </p:cNvGrpSpPr>
          <p:nvPr/>
        </p:nvGrpSpPr>
        <p:grpSpPr bwMode="auto">
          <a:xfrm>
            <a:off x="603250" y="3101975"/>
            <a:ext cx="3706813" cy="1982788"/>
            <a:chOff x="1170099" y="3230050"/>
            <a:chExt cx="3706589" cy="1983300"/>
          </a:xfrm>
        </p:grpSpPr>
        <p:sp>
          <p:nvSpPr>
            <p:cNvPr id="93197" name="TextBox 12"/>
            <p:cNvSpPr txBox="1">
              <a:spLocks noChangeArrowheads="1"/>
            </p:cNvSpPr>
            <p:nvPr/>
          </p:nvSpPr>
          <p:spPr bwMode="auto">
            <a:xfrm>
              <a:off x="2249172" y="4905517"/>
              <a:ext cx="1548444" cy="307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latin typeface="宋体" pitchFamily="2" charset="-122"/>
                </a:rPr>
                <a:t>出库表</a:t>
              </a:r>
            </a:p>
          </p:txBody>
        </p:sp>
        <p:pic>
          <p:nvPicPr>
            <p:cNvPr id="93198" name="Picture 18" descr="C:\Users\lily\AppData\Roaming\Tencent\Users\147829947\QQ\WinTemp\RichOle\VT839YH~Y2V$D){@V{G4]7A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0099" y="3230050"/>
              <a:ext cx="3706589" cy="1692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3195" name="矩形 5"/>
          <p:cNvSpPr>
            <a:spLocks noChangeArrowheads="1"/>
          </p:cNvSpPr>
          <p:nvPr/>
        </p:nvSpPr>
        <p:spPr bwMode="auto">
          <a:xfrm>
            <a:off x="4892675" y="1196975"/>
            <a:ext cx="479425" cy="1570038"/>
          </a:xfrm>
          <a:prstGeom prst="rect">
            <a:avLst/>
          </a:prstGeom>
          <a:solidFill>
            <a:srgbClr val="FF99CC">
              <a:alpha val="38823"/>
            </a:srgbClr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</a:endParaRPr>
          </a:p>
        </p:txBody>
      </p:sp>
      <p:sp>
        <p:nvSpPr>
          <p:cNvPr id="93196" name="矩形 5"/>
          <p:cNvSpPr>
            <a:spLocks noChangeArrowheads="1"/>
          </p:cNvSpPr>
          <p:nvPr/>
        </p:nvSpPr>
        <p:spPr bwMode="auto">
          <a:xfrm>
            <a:off x="2268538" y="3105150"/>
            <a:ext cx="647700" cy="1671638"/>
          </a:xfrm>
          <a:prstGeom prst="rect">
            <a:avLst/>
          </a:prstGeom>
          <a:solidFill>
            <a:srgbClr val="FF99CC">
              <a:alpha val="38823"/>
            </a:srgbClr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1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202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1" grpId="0"/>
      <p:bldP spid="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1"/>
          <p:cNvSpPr>
            <a:spLocks noGrp="1"/>
          </p:cNvSpPr>
          <p:nvPr>
            <p:ph type="title"/>
          </p:nvPr>
        </p:nvSpPr>
        <p:spPr>
          <a:xfrm>
            <a:off x="468313" y="0"/>
            <a:ext cx="7940675" cy="1125538"/>
          </a:xfrm>
        </p:spPr>
        <p:txBody>
          <a:bodyPr/>
          <a:lstStyle/>
          <a:p>
            <a:r>
              <a:rPr lang="en-US" altLang="zh-CN" smtClean="0"/>
              <a:t>4.</a:t>
            </a:r>
            <a:r>
              <a:rPr lang="zh-CN" altLang="en-US" smtClean="0">
                <a:latin typeface="黑体" pitchFamily="49" charset="-122"/>
              </a:rPr>
              <a:t>案例实现</a:t>
            </a:r>
            <a:endParaRPr lang="zh-CN" altLang="en-US" smtClean="0"/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468313" y="1412875"/>
            <a:ext cx="8135937" cy="2232025"/>
          </a:xfrm>
        </p:spPr>
        <p:txBody>
          <a:bodyPr/>
          <a:lstStyle/>
          <a:p>
            <a:pPr>
              <a:lnSpc>
                <a:spcPts val="4000"/>
              </a:lnSpc>
              <a:spcBef>
                <a:spcPts val="0"/>
              </a:spcBef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当触发器被触发时，要使用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被插入、更新或删除</a:t>
            </a:r>
            <a:r>
              <a:rPr lang="zh-CN" altLang="en-US" sz="2400" dirty="0" smtClean="0">
                <a:latin typeface="+mj-ea"/>
                <a:ea typeface="+mj-ea"/>
              </a:rPr>
              <a:t>的记录中的列值，就需要用到以下两个修饰符。</a:t>
            </a:r>
            <a:endParaRPr lang="en-US" altLang="zh-CN" sz="2400" dirty="0" smtClean="0">
              <a:latin typeface="+mj-ea"/>
              <a:ea typeface="+mj-ea"/>
            </a:endParaRPr>
          </a:p>
          <a:p>
            <a:pPr lvl="1">
              <a:lnSpc>
                <a:spcPts val="4000"/>
              </a:lnSpc>
              <a:spcBef>
                <a:spcPts val="0"/>
              </a:spcBef>
              <a:defRPr/>
            </a:pPr>
            <a:r>
              <a:rPr lang="en-US" altLang="zh-CN" sz="2200" dirty="0" smtClean="0">
                <a:latin typeface="+mj-ea"/>
                <a:ea typeface="+mj-ea"/>
              </a:rPr>
              <a:t>:NEW </a:t>
            </a:r>
            <a:r>
              <a:rPr lang="zh-CN" altLang="en-US" sz="2200" dirty="0" smtClean="0">
                <a:latin typeface="+mj-ea"/>
                <a:ea typeface="+mj-ea"/>
              </a:rPr>
              <a:t>修饰符访问</a:t>
            </a:r>
            <a:r>
              <a:rPr lang="zh-CN" altLang="en-US" sz="2200" dirty="0" smtClean="0">
                <a:solidFill>
                  <a:srgbClr val="FF0000"/>
                </a:solidFill>
                <a:latin typeface="+mj-ea"/>
                <a:ea typeface="+mj-ea"/>
              </a:rPr>
              <a:t>操作完成后</a:t>
            </a:r>
            <a:r>
              <a:rPr lang="zh-CN" altLang="en-US" sz="2200" dirty="0" smtClean="0">
                <a:latin typeface="+mj-ea"/>
                <a:ea typeface="+mj-ea"/>
              </a:rPr>
              <a:t>列的值。</a:t>
            </a:r>
          </a:p>
          <a:p>
            <a:pPr lvl="1">
              <a:lnSpc>
                <a:spcPts val="4000"/>
              </a:lnSpc>
              <a:spcBef>
                <a:spcPts val="0"/>
              </a:spcBef>
              <a:defRPr/>
            </a:pPr>
            <a:r>
              <a:rPr lang="en-US" altLang="zh-CN" sz="2200" dirty="0" smtClean="0">
                <a:latin typeface="+mj-ea"/>
                <a:ea typeface="+mj-ea"/>
              </a:rPr>
              <a:t>:OLD </a:t>
            </a:r>
            <a:r>
              <a:rPr lang="zh-CN" altLang="en-US" sz="2200" dirty="0" smtClean="0">
                <a:latin typeface="+mj-ea"/>
                <a:ea typeface="+mj-ea"/>
              </a:rPr>
              <a:t>修饰符访问</a:t>
            </a:r>
            <a:r>
              <a:rPr lang="zh-CN" altLang="en-US" sz="2200" dirty="0" smtClean="0">
                <a:solidFill>
                  <a:srgbClr val="FF0000"/>
                </a:solidFill>
                <a:latin typeface="+mj-ea"/>
                <a:ea typeface="+mj-ea"/>
              </a:rPr>
              <a:t>操作完成前</a:t>
            </a:r>
            <a:r>
              <a:rPr lang="zh-CN" altLang="en-US" sz="2200" dirty="0" smtClean="0">
                <a:latin typeface="+mj-ea"/>
                <a:ea typeface="+mj-ea"/>
              </a:rPr>
              <a:t>列的值。</a:t>
            </a:r>
            <a:endParaRPr lang="en-US" altLang="zh-CN" sz="2200" dirty="0" smtClean="0">
              <a:latin typeface="+mj-ea"/>
              <a:ea typeface="+mj-ea"/>
            </a:endParaRPr>
          </a:p>
        </p:txBody>
      </p:sp>
      <p:graphicFrame>
        <p:nvGraphicFramePr>
          <p:cNvPr id="6" name="内容占位符 5"/>
          <p:cNvGraphicFramePr>
            <a:graphicFrameLocks/>
          </p:cNvGraphicFramePr>
          <p:nvPr/>
        </p:nvGraphicFramePr>
        <p:xfrm>
          <a:off x="1547813" y="4005263"/>
          <a:ext cx="6048376" cy="1368426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512094"/>
                <a:gridCol w="1512094"/>
                <a:gridCol w="1512094"/>
                <a:gridCol w="1512094"/>
              </a:tblGrid>
              <a:tr h="4561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宋体" pitchFamily="2" charset="-122"/>
                        </a:rPr>
                        <a:t>特性 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523" marR="9523" marT="9527" marB="9527" anchor="ctr" horzOverflow="overflow">
                    <a:solidFill>
                      <a:srgbClr val="47D94A">
                        <a:alpha val="8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宋体" pitchFamily="2" charset="-122"/>
                        </a:rPr>
                        <a:t> </a:t>
                      </a:r>
                      <a:endParaRPr kumimoji="0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523" marR="9523" marT="9527" marB="9527" anchor="ctr" horzOverflow="overflow">
                    <a:solidFill>
                      <a:srgbClr val="47D94A">
                        <a:alpha val="8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宋体" pitchFamily="2" charset="-122"/>
                        </a:rPr>
                        <a:t> </a:t>
                      </a:r>
                      <a:endParaRPr kumimoji="0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523" marR="9523" marT="9527" marB="9527" anchor="ctr" horzOverflow="overflow">
                    <a:solidFill>
                      <a:srgbClr val="47D94A">
                        <a:alpha val="8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523" marR="9523" marT="9527" marB="9527" anchor="ctr" horzOverflow="overflow">
                    <a:solidFill>
                      <a:srgbClr val="47D94A">
                        <a:alpha val="82000"/>
                      </a:srgbClr>
                    </a:solidFill>
                  </a:tcPr>
                </a:tc>
              </a:tr>
              <a:tr h="4561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宋体" pitchFamily="2" charset="-122"/>
                        </a:rPr>
                        <a:t>:OLD </a:t>
                      </a:r>
                      <a:endParaRPr kumimoji="0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523" marR="9523" marT="9527" marB="952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宋体" pitchFamily="2" charset="-122"/>
                        </a:rPr>
                        <a:t> </a:t>
                      </a:r>
                      <a:endParaRPr kumimoji="0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523" marR="9523" marT="9527" marB="952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9523" marR="9523" marT="9527" marB="952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9523" marR="9523" marT="9527" marB="9527" anchor="ctr" horzOverflow="overflow"/>
                </a:tc>
              </a:tr>
              <a:tr h="4561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宋体" pitchFamily="2" charset="-122"/>
                        </a:rPr>
                        <a:t>:NEW </a:t>
                      </a:r>
                      <a:endParaRPr kumimoji="0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523" marR="9523" marT="9527" marB="952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宋体" pitchFamily="2" charset="-122"/>
                        </a:rPr>
                        <a:t> 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523" marR="9523" marT="9527" marB="952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9523" marR="9523" marT="9527" marB="952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宋体" pitchFamily="2" charset="-122"/>
                        </a:rPr>
                        <a:t> </a:t>
                      </a:r>
                      <a:endParaRPr kumimoji="0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523" marR="9523" marT="9527" marB="9527" anchor="ctr" horzOverflow="overflow"/>
                </a:tc>
              </a:tr>
            </a:tbl>
          </a:graphicData>
        </a:graphic>
      </p:graphicFrame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092450" y="4037013"/>
            <a:ext cx="1498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/>
              <a:t>INSERT</a:t>
            </a:r>
            <a:endParaRPr lang="zh-CN" altLang="en-US" sz="2000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092450" y="4491038"/>
            <a:ext cx="1498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NULL</a:t>
            </a:r>
            <a:endParaRPr lang="zh-CN" altLang="en-US" sz="200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092450" y="4949825"/>
            <a:ext cx="1498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有效</a:t>
            </a:r>
            <a:endParaRPr lang="zh-CN" altLang="en-US" sz="200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91050" y="4037013"/>
            <a:ext cx="1500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UPDATE</a:t>
            </a:r>
            <a:endParaRPr lang="zh-CN" altLang="en-US" sz="2000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91050" y="4491038"/>
            <a:ext cx="1500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有效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591050" y="4949825"/>
            <a:ext cx="1500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有效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6091238" y="4513263"/>
            <a:ext cx="1498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有效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6091238" y="4037013"/>
            <a:ext cx="1498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DELETE </a:t>
            </a:r>
            <a:endParaRPr lang="zh-CN" altLang="zh-CN" sz="2000">
              <a:cs typeface="Times New Roman" pitchFamily="18" charset="0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091238" y="4949825"/>
            <a:ext cx="1498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NULL</a:t>
            </a:r>
            <a:endParaRPr lang="zh-CN" altLang="en-US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1"/>
          <p:cNvSpPr>
            <a:spLocks noGrp="1"/>
          </p:cNvSpPr>
          <p:nvPr>
            <p:ph type="title"/>
          </p:nvPr>
        </p:nvSpPr>
        <p:spPr>
          <a:xfrm>
            <a:off x="739775" y="0"/>
            <a:ext cx="6337300" cy="908050"/>
          </a:xfrm>
        </p:spPr>
        <p:txBody>
          <a:bodyPr/>
          <a:lstStyle/>
          <a:p>
            <a:r>
              <a:rPr lang="en-US" altLang="zh-CN" smtClean="0">
                <a:latin typeface="黑体" pitchFamily="49" charset="-122"/>
              </a:rPr>
              <a:t>4.</a:t>
            </a:r>
            <a:r>
              <a:rPr lang="zh-CN" altLang="en-US" smtClean="0">
                <a:latin typeface="黑体" pitchFamily="49" charset="-122"/>
              </a:rPr>
              <a:t>案例实现</a:t>
            </a:r>
          </a:p>
        </p:txBody>
      </p:sp>
      <p:sp>
        <p:nvSpPr>
          <p:cNvPr id="95235" name="圆角矩形 13"/>
          <p:cNvSpPr>
            <a:spLocks noChangeArrowheads="1"/>
          </p:cNvSpPr>
          <p:nvPr/>
        </p:nvSpPr>
        <p:spPr bwMode="auto">
          <a:xfrm>
            <a:off x="2124075" y="1484313"/>
            <a:ext cx="4700588" cy="3952875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zh-CN" sz="2200"/>
              <a:t>create or replace trigger gxkc</a:t>
            </a:r>
          </a:p>
          <a:p>
            <a:r>
              <a:rPr lang="en-US" altLang="zh-CN" sz="2200"/>
              <a:t>     after insert on </a:t>
            </a:r>
            <a:r>
              <a:rPr lang="zh-CN" altLang="en-US" sz="2200"/>
              <a:t>出库表  </a:t>
            </a:r>
          </a:p>
          <a:p>
            <a:r>
              <a:rPr lang="zh-CN" altLang="en-US" sz="2200"/>
              <a:t>     </a:t>
            </a:r>
            <a:r>
              <a:rPr lang="en-US" altLang="zh-CN" sz="2200"/>
              <a:t>for each row</a:t>
            </a:r>
          </a:p>
          <a:p>
            <a:r>
              <a:rPr lang="en-US" altLang="zh-CN" sz="2200"/>
              <a:t>begin</a:t>
            </a:r>
          </a:p>
          <a:p>
            <a:r>
              <a:rPr lang="en-US" altLang="zh-CN" sz="2200"/>
              <a:t>     update </a:t>
            </a:r>
            <a:r>
              <a:rPr lang="zh-CN" altLang="en-US" sz="2200"/>
              <a:t>库存表</a:t>
            </a:r>
          </a:p>
          <a:p>
            <a:r>
              <a:rPr lang="zh-CN" altLang="en-US" sz="2200"/>
              <a:t>     </a:t>
            </a:r>
            <a:r>
              <a:rPr lang="en-US" altLang="zh-CN" sz="2200"/>
              <a:t>set </a:t>
            </a:r>
            <a:r>
              <a:rPr lang="zh-CN" altLang="en-US" sz="2200"/>
              <a:t>库存量</a:t>
            </a:r>
            <a:r>
              <a:rPr lang="en-US" altLang="zh-CN" sz="2200"/>
              <a:t>=</a:t>
            </a:r>
            <a:endParaRPr lang="en-US" altLang="zh-CN" sz="2200">
              <a:solidFill>
                <a:srgbClr val="FF0000"/>
              </a:solidFill>
            </a:endParaRPr>
          </a:p>
          <a:p>
            <a:r>
              <a:rPr lang="en-US" altLang="zh-CN" sz="2200"/>
              <a:t>     where </a:t>
            </a:r>
          </a:p>
          <a:p>
            <a:r>
              <a:rPr lang="en-US" altLang="zh-CN" sz="2200"/>
              <a:t>end gxkc;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127500" y="3689350"/>
            <a:ext cx="7826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764088" y="4014788"/>
            <a:ext cx="7842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95238" name="TextBox 20"/>
          <p:cNvSpPr txBox="1">
            <a:spLocks noChangeArrowheads="1"/>
          </p:cNvSpPr>
          <p:nvPr/>
        </p:nvSpPr>
        <p:spPr bwMode="auto">
          <a:xfrm>
            <a:off x="3416300" y="4105275"/>
            <a:ext cx="16113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200"/>
              <a:t>商品编号</a:t>
            </a:r>
            <a:r>
              <a:rPr lang="en-US" altLang="zh-CN" sz="2200"/>
              <a:t>=</a:t>
            </a:r>
          </a:p>
        </p:txBody>
      </p:sp>
      <p:pic>
        <p:nvPicPr>
          <p:cNvPr id="22" name="Picture 4" descr="d:\program files\360\360se6\User Data\temp\u=2297597525,880697712&amp;fm=21&amp;gp=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" y="5373216"/>
            <a:ext cx="1800200" cy="14560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95240" name="圆角矩形 1"/>
          <p:cNvSpPr>
            <a:spLocks noChangeArrowheads="1"/>
          </p:cNvSpPr>
          <p:nvPr/>
        </p:nvSpPr>
        <p:spPr bwMode="auto">
          <a:xfrm>
            <a:off x="2103438" y="1484313"/>
            <a:ext cx="4700587" cy="3946525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4135438" y="3736975"/>
            <a:ext cx="30289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0000"/>
                </a:solidFill>
              </a:rPr>
              <a:t>库存量</a:t>
            </a:r>
            <a:r>
              <a:rPr lang="en-US" altLang="zh-CN" sz="2200">
                <a:solidFill>
                  <a:srgbClr val="FF0000"/>
                </a:solidFill>
              </a:rPr>
              <a:t>-:new.</a:t>
            </a:r>
            <a:r>
              <a:rPr lang="zh-CN" altLang="en-US" sz="2200">
                <a:solidFill>
                  <a:srgbClr val="FF0000"/>
                </a:solidFill>
              </a:rPr>
              <a:t>出库数量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4765675" y="4059238"/>
            <a:ext cx="2109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FF0000"/>
                </a:solidFill>
              </a:rPr>
              <a:t>:new.</a:t>
            </a:r>
            <a:r>
              <a:rPr lang="zh-CN" altLang="en-US" sz="2200">
                <a:solidFill>
                  <a:srgbClr val="FF0000"/>
                </a:solidFill>
              </a:rPr>
              <a:t>商品编号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  <p:bldP spid="19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7940675" cy="1125538"/>
          </a:xfrm>
        </p:spPr>
        <p:txBody>
          <a:bodyPr/>
          <a:lstStyle/>
          <a:p>
            <a:pPr eaLnBrk="1" hangingPunct="1"/>
            <a:r>
              <a:rPr lang="en-US" altLang="zh-CN" smtClean="0"/>
              <a:t>5.</a:t>
            </a:r>
            <a:r>
              <a:rPr lang="zh-CN" altLang="en-US" smtClean="0"/>
              <a:t> 触发器编写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229600" cy="10080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创建触发器，实现如下约束：当修改</a:t>
            </a:r>
            <a:r>
              <a:rPr lang="en-US" altLang="zh-CN" sz="2400" dirty="0" smtClean="0">
                <a:latin typeface="+mj-ea"/>
                <a:ea typeface="+mj-ea"/>
              </a:rPr>
              <a:t>S</a:t>
            </a:r>
            <a:r>
              <a:rPr lang="zh-CN" altLang="en-US" sz="2400" dirty="0" smtClean="0">
                <a:latin typeface="+mj-ea"/>
                <a:ea typeface="+mj-ea"/>
              </a:rPr>
              <a:t>表中学生</a:t>
            </a:r>
            <a:endParaRPr lang="en-US" altLang="zh-CN" sz="2400" dirty="0" smtClean="0">
              <a:latin typeface="+mj-ea"/>
              <a:ea typeface="+mj-ea"/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学号时，级联更新相应的选课信息。</a:t>
            </a:r>
          </a:p>
        </p:txBody>
      </p:sp>
      <p:pic>
        <p:nvPicPr>
          <p:cNvPr id="115713" name="Picture 1" descr="C:\Users\Administrator\AppData\Roaming\Tencent\Users\147829947\QQ\WinTemp\RichOle\F(3COZ$9ACBIT]L9$YR3HH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009775"/>
            <a:ext cx="3348037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714" name="Picture 2" descr="C:\Users\Administrator\AppData\Roaming\Tencent\Users\147829947\QQ\WinTemp\RichOle\IJXX(V5~HJPERB{}ULY0]X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538" y="4365625"/>
            <a:ext cx="14160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圆角矩形 5"/>
          <p:cNvSpPr/>
          <p:nvPr/>
        </p:nvSpPr>
        <p:spPr>
          <a:xfrm>
            <a:off x="4500563" y="2589213"/>
            <a:ext cx="4464050" cy="3024187"/>
          </a:xfrm>
          <a:prstGeom prst="roundRect">
            <a:avLst/>
          </a:prstGeom>
          <a:solidFill>
            <a:srgbClr val="70B13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latin typeface="+mj-ea"/>
                <a:ea typeface="+mj-ea"/>
              </a:rPr>
              <a:t>触发器所在的表？</a:t>
            </a:r>
            <a:endParaRPr lang="en-US" altLang="zh-CN" sz="22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latin typeface="+mj-ea"/>
                <a:ea typeface="+mj-ea"/>
              </a:rPr>
              <a:t>触发事件？</a:t>
            </a:r>
            <a:endParaRPr lang="en-US" altLang="zh-CN" sz="22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latin typeface="+mj-ea"/>
                <a:ea typeface="+mj-ea"/>
              </a:rPr>
              <a:t>触发时序？</a:t>
            </a:r>
            <a:endParaRPr lang="en-US" altLang="zh-CN" sz="22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latin typeface="+mj-ea"/>
                <a:ea typeface="+mj-ea"/>
              </a:rPr>
              <a:t>行级触发？语句级触发？</a:t>
            </a:r>
            <a:endParaRPr lang="en-US" altLang="zh-CN" sz="2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defRPr/>
            </a:pPr>
            <a:r>
              <a:rPr lang="zh-CN" altLang="en-US" sz="2400" dirty="0">
                <a:latin typeface="+mj-ea"/>
                <a:ea typeface="+mj-ea"/>
              </a:rPr>
              <a:t>         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行级触发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5825" y="2852738"/>
            <a:ext cx="12954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</a:rPr>
              <a:t>S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6688" y="3357563"/>
            <a:ext cx="129698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</a:rPr>
              <a:t>UPDATE</a:t>
            </a:r>
            <a:endParaRPr lang="zh-CN" altLang="en-US" sz="24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43663" y="3903663"/>
            <a:ext cx="129698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</a:rPr>
              <a:t>BEFORE</a:t>
            </a:r>
            <a:endParaRPr lang="zh-CN" altLang="en-US" sz="24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7940675" cy="1125538"/>
          </a:xfrm>
        </p:spPr>
        <p:txBody>
          <a:bodyPr/>
          <a:lstStyle/>
          <a:p>
            <a:pPr eaLnBrk="1" hangingPunct="1"/>
            <a:r>
              <a:rPr lang="en-US" altLang="zh-CN" smtClean="0"/>
              <a:t>5.</a:t>
            </a:r>
            <a:r>
              <a:rPr lang="zh-CN" altLang="en-US" smtClean="0"/>
              <a:t> 触发器编写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229600" cy="48958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创建触发器，实现如下约束：当修改</a:t>
            </a:r>
            <a:r>
              <a:rPr lang="en-US" altLang="zh-CN" sz="2400" dirty="0" smtClean="0">
                <a:latin typeface="+mj-ea"/>
                <a:ea typeface="+mj-ea"/>
              </a:rPr>
              <a:t>S</a:t>
            </a:r>
            <a:r>
              <a:rPr lang="zh-CN" altLang="en-US" sz="2400" dirty="0" smtClean="0">
                <a:latin typeface="+mj-ea"/>
                <a:ea typeface="+mj-ea"/>
              </a:rPr>
              <a:t>表中学生</a:t>
            </a:r>
            <a:endParaRPr lang="en-US" altLang="zh-CN" sz="2400" dirty="0" smtClean="0">
              <a:latin typeface="+mj-ea"/>
              <a:ea typeface="+mj-ea"/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学号时，级联更新相应的选课信息。</a:t>
            </a:r>
          </a:p>
          <a:p>
            <a:pPr lvl="1" eaLnBrk="1" hangingPunct="1">
              <a:buFont typeface="Wingdings" pitchFamily="2" charset="2"/>
              <a:buNone/>
              <a:defRPr/>
            </a:pPr>
            <a:endParaRPr lang="zh-CN" altLang="en-US" sz="800" dirty="0" smtClean="0">
              <a:latin typeface="+mj-ea"/>
              <a:ea typeface="+mj-ea"/>
            </a:endParaRPr>
          </a:p>
          <a:p>
            <a:pPr lvl="3"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create or replace trigger </a:t>
            </a:r>
            <a:r>
              <a:rPr lang="en-US" altLang="zh-CN" dirty="0" err="1" smtClean="0">
                <a:latin typeface="+mj-ea"/>
                <a:ea typeface="+mj-ea"/>
              </a:rPr>
              <a:t>jlgx_s</a:t>
            </a:r>
            <a:endParaRPr lang="en-US" altLang="zh-CN" dirty="0" smtClean="0">
              <a:latin typeface="+mj-ea"/>
              <a:ea typeface="+mj-ea"/>
            </a:endParaRPr>
          </a:p>
          <a:p>
            <a:pPr lvl="3"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  before update on s  </a:t>
            </a:r>
          </a:p>
          <a:p>
            <a:pPr lvl="3"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  for each row</a:t>
            </a:r>
          </a:p>
          <a:p>
            <a:pPr lvl="3"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begin</a:t>
            </a:r>
          </a:p>
          <a:p>
            <a:pPr lvl="3"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  if (:</a:t>
            </a:r>
            <a:r>
              <a:rPr lang="en-US" altLang="zh-CN" dirty="0" err="1" smtClean="0">
                <a:latin typeface="+mj-ea"/>
                <a:ea typeface="+mj-ea"/>
              </a:rPr>
              <a:t>new.sno</a:t>
            </a:r>
            <a:r>
              <a:rPr lang="en-US" altLang="zh-CN" dirty="0" smtClean="0">
                <a:latin typeface="+mj-ea"/>
                <a:ea typeface="+mj-ea"/>
              </a:rPr>
              <a:t>&lt;&gt;:</a:t>
            </a:r>
            <a:r>
              <a:rPr lang="en-US" altLang="zh-CN" dirty="0" err="1" smtClean="0">
                <a:latin typeface="+mj-ea"/>
                <a:ea typeface="+mj-ea"/>
              </a:rPr>
              <a:t>old.sno</a:t>
            </a:r>
            <a:r>
              <a:rPr lang="en-US" altLang="zh-CN" dirty="0" smtClean="0">
                <a:latin typeface="+mj-ea"/>
                <a:ea typeface="+mj-ea"/>
              </a:rPr>
              <a:t>) then</a:t>
            </a:r>
          </a:p>
          <a:p>
            <a:pPr lvl="3"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     update </a:t>
            </a:r>
            <a:r>
              <a:rPr lang="en-US" altLang="zh-CN" dirty="0" err="1" smtClean="0">
                <a:latin typeface="+mj-ea"/>
                <a:ea typeface="+mj-ea"/>
              </a:rPr>
              <a:t>sc</a:t>
            </a:r>
            <a:endParaRPr lang="en-US" altLang="zh-CN" dirty="0" smtClean="0">
              <a:latin typeface="+mj-ea"/>
              <a:ea typeface="+mj-ea"/>
            </a:endParaRPr>
          </a:p>
          <a:p>
            <a:pPr lvl="3"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     set </a:t>
            </a:r>
            <a:r>
              <a:rPr lang="en-US" altLang="zh-CN" dirty="0" err="1" smtClean="0">
                <a:latin typeface="+mj-ea"/>
                <a:ea typeface="+mj-ea"/>
              </a:rPr>
              <a:t>sno</a:t>
            </a:r>
            <a:r>
              <a:rPr lang="en-US" altLang="zh-CN" dirty="0" smtClean="0">
                <a:latin typeface="+mj-ea"/>
                <a:ea typeface="+mj-ea"/>
              </a:rPr>
              <a:t>=:</a:t>
            </a:r>
            <a:r>
              <a:rPr lang="en-US" altLang="zh-CN" dirty="0" err="1" smtClean="0">
                <a:latin typeface="+mj-ea"/>
                <a:ea typeface="+mj-ea"/>
              </a:rPr>
              <a:t>new.sno</a:t>
            </a:r>
            <a:endParaRPr lang="en-US" altLang="zh-CN" dirty="0" smtClean="0">
              <a:latin typeface="+mj-ea"/>
              <a:ea typeface="+mj-ea"/>
            </a:endParaRPr>
          </a:p>
          <a:p>
            <a:pPr lvl="3"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     where </a:t>
            </a:r>
            <a:r>
              <a:rPr lang="en-US" altLang="zh-CN" dirty="0" err="1" smtClean="0">
                <a:latin typeface="+mj-ea"/>
                <a:ea typeface="+mj-ea"/>
              </a:rPr>
              <a:t>sno</a:t>
            </a:r>
            <a:r>
              <a:rPr lang="en-US" altLang="zh-CN" dirty="0" smtClean="0">
                <a:latin typeface="+mj-ea"/>
                <a:ea typeface="+mj-ea"/>
              </a:rPr>
              <a:t>=:</a:t>
            </a:r>
            <a:r>
              <a:rPr lang="en-US" altLang="zh-CN" dirty="0" err="1" smtClean="0">
                <a:latin typeface="+mj-ea"/>
                <a:ea typeface="+mj-ea"/>
              </a:rPr>
              <a:t>old.sno</a:t>
            </a:r>
            <a:r>
              <a:rPr lang="en-US" altLang="zh-CN" dirty="0" smtClean="0">
                <a:latin typeface="+mj-ea"/>
                <a:ea typeface="+mj-ea"/>
              </a:rPr>
              <a:t>;</a:t>
            </a:r>
          </a:p>
          <a:p>
            <a:pPr lvl="3"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  end if;</a:t>
            </a:r>
          </a:p>
          <a:p>
            <a:pPr lvl="3"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end </a:t>
            </a:r>
            <a:r>
              <a:rPr lang="en-US" altLang="zh-CN" dirty="0" err="1" smtClean="0">
                <a:latin typeface="+mj-ea"/>
                <a:ea typeface="+mj-ea"/>
              </a:rPr>
              <a:t>jlgx_s</a:t>
            </a:r>
            <a:r>
              <a:rPr lang="en-US" altLang="zh-CN" dirty="0" smtClean="0">
                <a:latin typeface="+mj-ea"/>
                <a:ea typeface="+mj-ea"/>
              </a:rPr>
              <a:t>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5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5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57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57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内容占位符 2"/>
          <p:cNvSpPr>
            <a:spLocks noGrp="1"/>
          </p:cNvSpPr>
          <p:nvPr>
            <p:ph idx="1"/>
          </p:nvPr>
        </p:nvSpPr>
        <p:spPr>
          <a:xfrm>
            <a:off x="395288" y="1557338"/>
            <a:ext cx="8229600" cy="4525962"/>
          </a:xfrm>
        </p:spPr>
        <p:txBody>
          <a:bodyPr/>
          <a:lstStyle/>
          <a:p>
            <a:pPr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有一张教师工资表，如下</a:t>
            </a:r>
            <a:endParaRPr lang="en-US" altLang="zh-CN" sz="2400" dirty="0" smtClean="0">
              <a:latin typeface="+mj-ea"/>
              <a:ea typeface="+mj-ea"/>
            </a:endParaRPr>
          </a:p>
          <a:p>
            <a:pPr marL="800100" lvl="2" indent="0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CREATE TABLE SAL_TEACH</a:t>
            </a:r>
          </a:p>
          <a:p>
            <a:pPr marL="800100" lvl="2" indent="0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(</a:t>
            </a:r>
            <a:r>
              <a:rPr lang="en-US" altLang="zh-CN" dirty="0" err="1" smtClean="0">
                <a:latin typeface="+mj-ea"/>
                <a:ea typeface="+mj-ea"/>
              </a:rPr>
              <a:t>Eno</a:t>
            </a:r>
            <a:r>
              <a:rPr lang="en-US" altLang="zh-CN" dirty="0" smtClean="0">
                <a:latin typeface="+mj-ea"/>
                <a:ea typeface="+mj-ea"/>
              </a:rPr>
              <a:t> varchar2(4) primary key,  --</a:t>
            </a:r>
            <a:r>
              <a:rPr lang="zh-CN" altLang="en-US" dirty="0" smtClean="0">
                <a:latin typeface="+mj-ea"/>
                <a:ea typeface="+mj-ea"/>
              </a:rPr>
              <a:t>教师编号</a:t>
            </a:r>
            <a:endParaRPr lang="en-US" altLang="zh-CN" dirty="0" smtClean="0">
              <a:latin typeface="+mj-ea"/>
              <a:ea typeface="+mj-ea"/>
            </a:endParaRPr>
          </a:p>
          <a:p>
            <a:pPr marL="800100" lvl="2" indent="0">
              <a:buFont typeface="Wingdings" pitchFamily="2" charset="2"/>
              <a:buNone/>
              <a:defRPr/>
            </a:pPr>
            <a:r>
              <a:rPr lang="en-US" altLang="zh-CN" dirty="0" err="1" smtClean="0">
                <a:latin typeface="+mj-ea"/>
                <a:ea typeface="+mj-ea"/>
              </a:rPr>
              <a:t>Ename</a:t>
            </a:r>
            <a:r>
              <a:rPr lang="en-US" altLang="zh-CN" dirty="0" smtClean="0">
                <a:latin typeface="+mj-ea"/>
                <a:ea typeface="+mj-ea"/>
              </a:rPr>
              <a:t> varchar2(10),            --</a:t>
            </a:r>
            <a:r>
              <a:rPr lang="zh-CN" altLang="en-US" dirty="0" smtClean="0">
                <a:latin typeface="+mj-ea"/>
                <a:ea typeface="+mj-ea"/>
              </a:rPr>
              <a:t>教师姓名</a:t>
            </a:r>
            <a:endParaRPr lang="en-US" altLang="zh-CN" dirty="0" smtClean="0">
              <a:latin typeface="+mj-ea"/>
              <a:ea typeface="+mj-ea"/>
            </a:endParaRPr>
          </a:p>
          <a:p>
            <a:pPr marL="800100" lvl="2" indent="0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Job varchar2(8),               --</a:t>
            </a:r>
            <a:r>
              <a:rPr lang="zh-CN" altLang="en-US" dirty="0" smtClean="0">
                <a:latin typeface="+mj-ea"/>
                <a:ea typeface="+mj-ea"/>
              </a:rPr>
              <a:t>职称</a:t>
            </a:r>
            <a:endParaRPr lang="en-US" altLang="zh-CN" dirty="0" smtClean="0">
              <a:latin typeface="+mj-ea"/>
              <a:ea typeface="+mj-ea"/>
            </a:endParaRPr>
          </a:p>
          <a:p>
            <a:pPr marL="800100" lvl="2" indent="0">
              <a:buFont typeface="Wingdings" pitchFamily="2" charset="2"/>
              <a:buNone/>
              <a:defRPr/>
            </a:pPr>
            <a:r>
              <a:rPr lang="en-US" altLang="zh-CN" dirty="0" smtClean="0">
                <a:latin typeface="+mj-ea"/>
                <a:ea typeface="+mj-ea"/>
              </a:rPr>
              <a:t>Sal number,                    --</a:t>
            </a:r>
            <a:r>
              <a:rPr lang="zh-CN" altLang="en-US" dirty="0" smtClean="0">
                <a:latin typeface="+mj-ea"/>
                <a:ea typeface="+mj-ea"/>
              </a:rPr>
              <a:t>工资</a:t>
            </a:r>
            <a:endParaRPr lang="en-US" altLang="zh-CN" dirty="0" smtClean="0">
              <a:latin typeface="+mj-ea"/>
              <a:ea typeface="+mj-ea"/>
            </a:endParaRPr>
          </a:p>
          <a:p>
            <a:pPr marL="800100" lvl="2" indent="0">
              <a:buFont typeface="Wingdings" pitchFamily="2" charset="2"/>
              <a:buNone/>
              <a:defRPr/>
            </a:pPr>
            <a:r>
              <a:rPr lang="en-US" altLang="zh-CN" dirty="0" err="1" smtClean="0">
                <a:latin typeface="+mj-ea"/>
                <a:ea typeface="+mj-ea"/>
              </a:rPr>
              <a:t>Deptno</a:t>
            </a:r>
            <a:r>
              <a:rPr lang="en-US" altLang="zh-CN" dirty="0" smtClean="0">
                <a:latin typeface="+mj-ea"/>
                <a:ea typeface="+mj-ea"/>
              </a:rPr>
              <a:t> varchar2(5))            --</a:t>
            </a:r>
            <a:r>
              <a:rPr lang="zh-CN" altLang="en-US" dirty="0" smtClean="0">
                <a:latin typeface="+mj-ea"/>
                <a:ea typeface="+mj-ea"/>
              </a:rPr>
              <a:t>所在学院</a:t>
            </a:r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7940675" cy="1125538"/>
          </a:xfrm>
        </p:spPr>
        <p:txBody>
          <a:bodyPr/>
          <a:lstStyle/>
          <a:p>
            <a:pPr eaLnBrk="1" hangingPunct="1"/>
            <a:r>
              <a:rPr lang="en-US" altLang="zh-CN" smtClean="0"/>
              <a:t>5.</a:t>
            </a:r>
            <a:r>
              <a:rPr lang="zh-CN" altLang="en-US" smtClean="0"/>
              <a:t> 触发器编写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5925" y="1196752"/>
            <a:ext cx="8260531" cy="532859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创建触发器实现：当在教师工资表中插入元组或者</a:t>
            </a:r>
            <a:endParaRPr lang="en-US" altLang="zh-CN" sz="2200" dirty="0" smtClean="0">
              <a:latin typeface="+mj-ea"/>
              <a:ea typeface="+mj-ea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修改工资表示时，要求教授的工资不得低于</a:t>
            </a:r>
            <a:r>
              <a:rPr lang="en-US" altLang="zh-CN" sz="2200" dirty="0" smtClean="0">
                <a:latin typeface="+mj-ea"/>
                <a:ea typeface="+mj-ea"/>
              </a:rPr>
              <a:t>4000</a:t>
            </a:r>
            <a:r>
              <a:rPr lang="zh-CN" altLang="en-US" sz="2200" dirty="0" smtClean="0">
                <a:latin typeface="+mj-ea"/>
                <a:ea typeface="+mj-ea"/>
              </a:rPr>
              <a:t>元，如果低于</a:t>
            </a:r>
            <a:r>
              <a:rPr lang="en-US" altLang="zh-CN" sz="2200" dirty="0" smtClean="0">
                <a:latin typeface="+mj-ea"/>
                <a:ea typeface="+mj-ea"/>
              </a:rPr>
              <a:t>400 0</a:t>
            </a:r>
            <a:r>
              <a:rPr lang="zh-CN" altLang="en-US" sz="2200" dirty="0" smtClean="0">
                <a:latin typeface="+mj-ea"/>
                <a:ea typeface="+mj-ea"/>
              </a:rPr>
              <a:t>元，自动改为</a:t>
            </a:r>
            <a:r>
              <a:rPr lang="en-US" altLang="zh-CN" sz="2200" dirty="0" smtClean="0">
                <a:latin typeface="+mj-ea"/>
                <a:ea typeface="+mj-ea"/>
              </a:rPr>
              <a:t>4000</a:t>
            </a:r>
            <a:r>
              <a:rPr lang="zh-CN" altLang="en-US" sz="2200" dirty="0" smtClean="0">
                <a:latin typeface="+mj-ea"/>
                <a:ea typeface="+mj-ea"/>
              </a:rPr>
              <a:t>元。</a:t>
            </a:r>
            <a:endParaRPr lang="en-US" altLang="zh-CN" sz="2200" dirty="0" smtClean="0">
              <a:latin typeface="+mj-ea"/>
              <a:ea typeface="+mj-ea"/>
            </a:endParaRPr>
          </a:p>
        </p:txBody>
      </p:sp>
      <p:sp>
        <p:nvSpPr>
          <p:cNvPr id="99331" name="Rectangle 2"/>
          <p:cNvSpPr txBox="1">
            <a:spLocks noChangeArrowheads="1"/>
          </p:cNvSpPr>
          <p:nvPr/>
        </p:nvSpPr>
        <p:spPr bwMode="auto">
          <a:xfrm>
            <a:off x="468313" y="215900"/>
            <a:ext cx="794067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0">
                <a:solidFill>
                  <a:schemeClr val="bg1"/>
                </a:solidFill>
                <a:latin typeface="Arial" charset="0"/>
                <a:ea typeface="黑体" pitchFamily="49" charset="-122"/>
              </a:rPr>
              <a:t>5.</a:t>
            </a:r>
            <a:r>
              <a:rPr lang="zh-CN" altLang="en-US" sz="3600" b="0">
                <a:solidFill>
                  <a:schemeClr val="bg1"/>
                </a:solidFill>
                <a:latin typeface="Arial" charset="0"/>
                <a:ea typeface="黑体" pitchFamily="49" charset="-122"/>
              </a:rPr>
              <a:t> 触发器编写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015197" y="2594448"/>
            <a:ext cx="6984776" cy="4074912"/>
            <a:chOff x="1187624" y="2420888"/>
            <a:chExt cx="6984776" cy="4074912"/>
          </a:xfrm>
        </p:grpSpPr>
        <p:sp>
          <p:nvSpPr>
            <p:cNvPr id="3" name="矩形 2"/>
            <p:cNvSpPr/>
            <p:nvPr/>
          </p:nvSpPr>
          <p:spPr bwMode="auto">
            <a:xfrm>
              <a:off x="1187624" y="2420888"/>
              <a:ext cx="6984776" cy="4074912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238654" y="2420888"/>
              <a:ext cx="6740065" cy="39395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 smtClean="0">
                  <a:latin typeface="+mj-ea"/>
                </a:rPr>
                <a:t>create </a:t>
              </a:r>
              <a:r>
                <a:rPr lang="en-US" altLang="zh-CN" sz="2200" dirty="0">
                  <a:latin typeface="+mj-ea"/>
                </a:rPr>
                <a:t>or replace trigger </a:t>
              </a:r>
              <a:r>
                <a:rPr lang="en-US" altLang="zh-CN" sz="2200" dirty="0" err="1">
                  <a:latin typeface="+mj-ea"/>
                </a:rPr>
                <a:t>zdxg_sal</a:t>
              </a:r>
              <a:endParaRPr lang="en-US" altLang="zh-CN" sz="2200" dirty="0">
                <a:latin typeface="+mj-ea"/>
              </a:endParaRP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</a:t>
              </a:r>
              <a:r>
                <a:rPr lang="en-US" altLang="zh-CN" sz="2200" dirty="0" smtClean="0">
                  <a:latin typeface="+mj-ea"/>
                </a:rPr>
                <a:t>  after </a:t>
              </a:r>
              <a:r>
                <a:rPr lang="en-US" altLang="zh-CN" sz="2200" dirty="0">
                  <a:latin typeface="+mj-ea"/>
                </a:rPr>
                <a:t>insert on </a:t>
              </a:r>
              <a:r>
                <a:rPr lang="en-US" altLang="zh-CN" sz="2200" dirty="0" err="1">
                  <a:latin typeface="+mj-ea"/>
                </a:rPr>
                <a:t>sal_teach</a:t>
              </a:r>
              <a:r>
                <a:rPr lang="en-US" altLang="zh-CN" sz="2200" dirty="0">
                  <a:latin typeface="+mj-ea"/>
                </a:rPr>
                <a:t>  </a:t>
              </a: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 smtClean="0">
                  <a:latin typeface="+mj-ea"/>
                </a:rPr>
                <a:t>   for </a:t>
              </a:r>
              <a:r>
                <a:rPr lang="en-US" altLang="zh-CN" sz="2200" dirty="0">
                  <a:latin typeface="+mj-ea"/>
                </a:rPr>
                <a:t>each row</a:t>
              </a: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 smtClean="0">
                  <a:latin typeface="+mj-ea"/>
                </a:rPr>
                <a:t>declare</a:t>
              </a:r>
              <a:endParaRPr lang="en-US" altLang="zh-CN" sz="2200" dirty="0">
                <a:latin typeface="+mj-ea"/>
              </a:endParaRP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 smtClean="0">
                  <a:latin typeface="+mj-ea"/>
                </a:rPr>
                <a:t>   -- </a:t>
              </a:r>
              <a:r>
                <a:rPr lang="en-US" altLang="zh-CN" sz="2200" dirty="0">
                  <a:latin typeface="+mj-ea"/>
                </a:rPr>
                <a:t>local variables here</a:t>
              </a: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 smtClean="0">
                  <a:latin typeface="+mj-ea"/>
                </a:rPr>
                <a:t>begin</a:t>
              </a:r>
              <a:endParaRPr lang="en-US" altLang="zh-CN" sz="2200" dirty="0">
                <a:latin typeface="+mj-ea"/>
              </a:endParaRP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</a:t>
              </a:r>
              <a:r>
                <a:rPr lang="en-US" altLang="zh-CN" sz="2200" dirty="0" smtClean="0">
                  <a:latin typeface="+mj-ea"/>
                </a:rPr>
                <a:t> if </a:t>
              </a:r>
              <a:r>
                <a:rPr lang="en-US" altLang="zh-CN" sz="2200" dirty="0">
                  <a:latin typeface="+mj-ea"/>
                </a:rPr>
                <a:t>:</a:t>
              </a:r>
              <a:r>
                <a:rPr lang="en-US" altLang="zh-CN" sz="2200" dirty="0" err="1">
                  <a:latin typeface="+mj-ea"/>
                </a:rPr>
                <a:t>new.job</a:t>
              </a:r>
              <a:r>
                <a:rPr lang="en-US" altLang="zh-CN" sz="2200" dirty="0">
                  <a:latin typeface="+mj-ea"/>
                </a:rPr>
                <a:t>='</a:t>
              </a:r>
              <a:r>
                <a:rPr lang="zh-CN" altLang="en-US" sz="2200" dirty="0" smtClean="0">
                  <a:latin typeface="+mj-ea"/>
                </a:rPr>
                <a:t>教授</a:t>
              </a:r>
              <a:r>
                <a:rPr lang="en-US" altLang="zh-CN" sz="2200" dirty="0">
                  <a:latin typeface="+mj-ea"/>
                </a:rPr>
                <a:t>' </a:t>
              </a:r>
              <a:r>
                <a:rPr lang="en-US" altLang="zh-CN" sz="2200" dirty="0" smtClean="0">
                  <a:latin typeface="+mj-ea"/>
                </a:rPr>
                <a:t>and :</a:t>
              </a:r>
              <a:r>
                <a:rPr lang="en-US" altLang="zh-CN" sz="2200" dirty="0" err="1" smtClean="0">
                  <a:latin typeface="+mj-ea"/>
                </a:rPr>
                <a:t>new.sal</a:t>
              </a:r>
              <a:r>
                <a:rPr lang="en-US" altLang="zh-CN" sz="2200" dirty="0" smtClean="0">
                  <a:latin typeface="+mj-ea"/>
                </a:rPr>
                <a:t>&lt;4000  </a:t>
              </a:r>
              <a:r>
                <a:rPr lang="en-US" altLang="zh-CN" sz="2200" dirty="0">
                  <a:latin typeface="+mj-ea"/>
                </a:rPr>
                <a:t>then</a:t>
              </a: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   update </a:t>
              </a:r>
              <a:r>
                <a:rPr lang="en-US" altLang="zh-CN" sz="2200" dirty="0" err="1">
                  <a:latin typeface="+mj-ea"/>
                </a:rPr>
                <a:t>sal_teach</a:t>
              </a:r>
              <a:endParaRPr lang="en-US" altLang="zh-CN" sz="2200" dirty="0">
                <a:latin typeface="+mj-ea"/>
              </a:endParaRP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   set </a:t>
              </a:r>
              <a:r>
                <a:rPr lang="en-US" altLang="zh-CN" sz="2200" dirty="0" err="1">
                  <a:latin typeface="+mj-ea"/>
                </a:rPr>
                <a:t>sal</a:t>
              </a:r>
              <a:r>
                <a:rPr lang="en-US" altLang="zh-CN" sz="2200" dirty="0">
                  <a:latin typeface="+mj-ea"/>
                </a:rPr>
                <a:t>=4000</a:t>
              </a: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   where </a:t>
              </a:r>
              <a:r>
                <a:rPr lang="en-US" altLang="zh-CN" sz="2200" dirty="0" err="1">
                  <a:latin typeface="+mj-ea"/>
                </a:rPr>
                <a:t>eno</a:t>
              </a:r>
              <a:r>
                <a:rPr lang="en-US" altLang="zh-CN" sz="2200" dirty="0">
                  <a:latin typeface="+mj-ea"/>
                </a:rPr>
                <a:t>=:</a:t>
              </a:r>
              <a:r>
                <a:rPr lang="en-US" altLang="zh-CN" sz="2200" dirty="0" err="1">
                  <a:latin typeface="+mj-ea"/>
                </a:rPr>
                <a:t>new.eno</a:t>
              </a:r>
              <a:r>
                <a:rPr lang="en-US" altLang="zh-CN" sz="2200" dirty="0">
                  <a:latin typeface="+mj-ea"/>
                </a:rPr>
                <a:t>;</a:t>
              </a: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end if</a:t>
              </a:r>
              <a:r>
                <a:rPr lang="en-US" altLang="zh-CN" sz="2200" dirty="0" smtClean="0">
                  <a:latin typeface="+mj-ea"/>
                </a:rPr>
                <a:t>;</a:t>
              </a: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 smtClean="0">
                  <a:latin typeface="+mj-ea"/>
                </a:rPr>
                <a:t>end </a:t>
              </a:r>
              <a:r>
                <a:rPr lang="en-US" altLang="zh-CN" sz="2200" dirty="0" err="1" smtClean="0">
                  <a:latin typeface="+mj-ea"/>
                </a:rPr>
                <a:t>zdxg_sal</a:t>
              </a:r>
              <a:r>
                <a:rPr lang="en-US" altLang="zh-CN" sz="2200" dirty="0" smtClean="0">
                  <a:latin typeface="+mj-ea"/>
                </a:rPr>
                <a:t>;</a:t>
              </a:r>
              <a:endParaRPr lang="en-US" altLang="zh-CN" sz="2200" dirty="0">
                <a:latin typeface="+mj-ea"/>
              </a:endParaRPr>
            </a:p>
          </p:txBody>
        </p:sp>
      </p:grpSp>
      <p:sp>
        <p:nvSpPr>
          <p:cNvPr id="2" name="爆炸形 1 1"/>
          <p:cNvSpPr/>
          <p:nvPr/>
        </p:nvSpPr>
        <p:spPr bwMode="auto">
          <a:xfrm>
            <a:off x="5796136" y="2204864"/>
            <a:ext cx="2664296" cy="2016224"/>
          </a:xfrm>
          <a:prstGeom prst="irregularSeal1">
            <a:avLst/>
          </a:prstGeom>
          <a:solidFill>
            <a:srgbClr val="FF0000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b="1" i="0" u="none" strike="noStrike" cap="none" normalizeH="0" baseline="0" dirty="0" smtClean="0">
                <a:ln>
                  <a:noFill/>
                </a:ln>
                <a:effectLst/>
                <a:latin typeface="黑体" pitchFamily="49" charset="-122"/>
                <a:ea typeface="黑体" pitchFamily="49" charset="-122"/>
              </a:rPr>
              <a:t>错误</a:t>
            </a:r>
          </a:p>
        </p:txBody>
      </p:sp>
    </p:spTree>
    <p:extLst>
      <p:ext uri="{BB962C8B-B14F-4D97-AF65-F5344CB8AC3E}">
        <p14:creationId xmlns:p14="http://schemas.microsoft.com/office/powerpoint/2010/main" val="15003999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5925" y="1196752"/>
            <a:ext cx="8260531" cy="532859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创建触发器实现：当在教师工资表中插入元组或者</a:t>
            </a:r>
            <a:endParaRPr lang="en-US" altLang="zh-CN" sz="2200" dirty="0" smtClean="0">
              <a:latin typeface="+mj-ea"/>
              <a:ea typeface="+mj-ea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修改工资表示时，要求教授的工资不得低于</a:t>
            </a:r>
            <a:r>
              <a:rPr lang="en-US" altLang="zh-CN" sz="2200" dirty="0" smtClean="0">
                <a:latin typeface="+mj-ea"/>
                <a:ea typeface="+mj-ea"/>
              </a:rPr>
              <a:t>4000</a:t>
            </a:r>
            <a:r>
              <a:rPr lang="zh-CN" altLang="en-US" sz="2200" dirty="0" smtClean="0">
                <a:latin typeface="+mj-ea"/>
                <a:ea typeface="+mj-ea"/>
              </a:rPr>
              <a:t>元，如果低于</a:t>
            </a:r>
            <a:r>
              <a:rPr lang="en-US" altLang="zh-CN" sz="2200" dirty="0" smtClean="0">
                <a:latin typeface="+mj-ea"/>
                <a:ea typeface="+mj-ea"/>
              </a:rPr>
              <a:t>400 0</a:t>
            </a:r>
            <a:r>
              <a:rPr lang="zh-CN" altLang="en-US" sz="2200" dirty="0" smtClean="0">
                <a:latin typeface="+mj-ea"/>
                <a:ea typeface="+mj-ea"/>
              </a:rPr>
              <a:t>元，自动改为</a:t>
            </a:r>
            <a:r>
              <a:rPr lang="en-US" altLang="zh-CN" sz="2200" dirty="0" smtClean="0">
                <a:latin typeface="+mj-ea"/>
                <a:ea typeface="+mj-ea"/>
              </a:rPr>
              <a:t>4000</a:t>
            </a:r>
            <a:r>
              <a:rPr lang="zh-CN" altLang="en-US" sz="2200" dirty="0" smtClean="0">
                <a:latin typeface="+mj-ea"/>
                <a:ea typeface="+mj-ea"/>
              </a:rPr>
              <a:t>元。</a:t>
            </a:r>
            <a:endParaRPr lang="en-US" altLang="zh-CN" sz="2200" dirty="0" smtClean="0">
              <a:latin typeface="+mj-ea"/>
              <a:ea typeface="+mj-ea"/>
            </a:endParaRPr>
          </a:p>
        </p:txBody>
      </p:sp>
      <p:sp>
        <p:nvSpPr>
          <p:cNvPr id="99331" name="Rectangle 2"/>
          <p:cNvSpPr txBox="1">
            <a:spLocks noChangeArrowheads="1"/>
          </p:cNvSpPr>
          <p:nvPr/>
        </p:nvSpPr>
        <p:spPr bwMode="auto">
          <a:xfrm>
            <a:off x="468313" y="215900"/>
            <a:ext cx="794067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0">
                <a:solidFill>
                  <a:schemeClr val="bg1"/>
                </a:solidFill>
                <a:latin typeface="Arial" charset="0"/>
                <a:ea typeface="黑体" pitchFamily="49" charset="-122"/>
              </a:rPr>
              <a:t>5.</a:t>
            </a:r>
            <a:r>
              <a:rPr lang="zh-CN" altLang="en-US" sz="3600" b="0">
                <a:solidFill>
                  <a:schemeClr val="bg1"/>
                </a:solidFill>
                <a:latin typeface="Arial" charset="0"/>
                <a:ea typeface="黑体" pitchFamily="49" charset="-122"/>
              </a:rPr>
              <a:t> 触发器编写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015197" y="2594448"/>
            <a:ext cx="6984776" cy="4074912"/>
            <a:chOff x="1187624" y="2420888"/>
            <a:chExt cx="6984776" cy="4074912"/>
          </a:xfrm>
        </p:grpSpPr>
        <p:sp>
          <p:nvSpPr>
            <p:cNvPr id="3" name="矩形 2"/>
            <p:cNvSpPr/>
            <p:nvPr/>
          </p:nvSpPr>
          <p:spPr bwMode="auto">
            <a:xfrm>
              <a:off x="1187624" y="2420888"/>
              <a:ext cx="6984776" cy="4074912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238654" y="2420888"/>
              <a:ext cx="6740065" cy="39395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 smtClean="0">
                  <a:latin typeface="+mj-ea"/>
                </a:rPr>
                <a:t>create </a:t>
              </a:r>
              <a:r>
                <a:rPr lang="en-US" altLang="zh-CN" sz="2200" dirty="0">
                  <a:latin typeface="+mj-ea"/>
                </a:rPr>
                <a:t>or replace trigger </a:t>
              </a:r>
              <a:r>
                <a:rPr lang="en-US" altLang="zh-CN" sz="2200" dirty="0" err="1">
                  <a:latin typeface="+mj-ea"/>
                </a:rPr>
                <a:t>zdxg_sal</a:t>
              </a:r>
              <a:endParaRPr lang="en-US" altLang="zh-CN" sz="2200" dirty="0">
                <a:latin typeface="+mj-ea"/>
              </a:endParaRP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</a:t>
              </a:r>
              <a:r>
                <a:rPr lang="en-US" altLang="zh-CN" sz="2200" dirty="0" smtClean="0">
                  <a:latin typeface="+mj-ea"/>
                </a:rPr>
                <a:t>  after </a:t>
              </a:r>
              <a:r>
                <a:rPr lang="en-US" altLang="zh-CN" sz="2200" dirty="0">
                  <a:latin typeface="+mj-ea"/>
                </a:rPr>
                <a:t>insert on </a:t>
              </a:r>
              <a:r>
                <a:rPr lang="en-US" altLang="zh-CN" sz="2200" dirty="0" err="1">
                  <a:latin typeface="+mj-ea"/>
                </a:rPr>
                <a:t>sal_teach</a:t>
              </a:r>
              <a:r>
                <a:rPr lang="en-US" altLang="zh-CN" sz="2200" dirty="0">
                  <a:latin typeface="+mj-ea"/>
                </a:rPr>
                <a:t>  </a:t>
              </a: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 smtClean="0">
                  <a:latin typeface="+mj-ea"/>
                </a:rPr>
                <a:t>   for </a:t>
              </a:r>
              <a:r>
                <a:rPr lang="en-US" altLang="zh-CN" sz="2200" dirty="0">
                  <a:latin typeface="+mj-ea"/>
                </a:rPr>
                <a:t>each row</a:t>
              </a: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 smtClean="0">
                  <a:latin typeface="+mj-ea"/>
                </a:rPr>
                <a:t>declare</a:t>
              </a:r>
              <a:endParaRPr lang="en-US" altLang="zh-CN" sz="2200" dirty="0">
                <a:latin typeface="+mj-ea"/>
              </a:endParaRP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 smtClean="0">
                  <a:latin typeface="+mj-ea"/>
                </a:rPr>
                <a:t>   -- </a:t>
              </a:r>
              <a:r>
                <a:rPr lang="en-US" altLang="zh-CN" sz="2200" dirty="0">
                  <a:latin typeface="+mj-ea"/>
                </a:rPr>
                <a:t>local variables here</a:t>
              </a: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 smtClean="0">
                  <a:latin typeface="+mj-ea"/>
                </a:rPr>
                <a:t>begin</a:t>
              </a:r>
              <a:endParaRPr lang="en-US" altLang="zh-CN" sz="2200" dirty="0">
                <a:latin typeface="+mj-ea"/>
              </a:endParaRP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</a:t>
              </a:r>
              <a:r>
                <a:rPr lang="en-US" altLang="zh-CN" sz="2200" dirty="0" smtClean="0">
                  <a:latin typeface="+mj-ea"/>
                </a:rPr>
                <a:t> if </a:t>
              </a:r>
              <a:r>
                <a:rPr lang="en-US" altLang="zh-CN" sz="2200" dirty="0">
                  <a:latin typeface="+mj-ea"/>
                </a:rPr>
                <a:t>:</a:t>
              </a:r>
              <a:r>
                <a:rPr lang="en-US" altLang="zh-CN" sz="2200" dirty="0" err="1">
                  <a:latin typeface="+mj-ea"/>
                </a:rPr>
                <a:t>new.job</a:t>
              </a:r>
              <a:r>
                <a:rPr lang="en-US" altLang="zh-CN" sz="2200" dirty="0">
                  <a:latin typeface="+mj-ea"/>
                </a:rPr>
                <a:t>='</a:t>
              </a:r>
              <a:r>
                <a:rPr lang="zh-CN" altLang="en-US" sz="2200" dirty="0">
                  <a:latin typeface="+mj-ea"/>
                </a:rPr>
                <a:t>教授</a:t>
              </a:r>
              <a:r>
                <a:rPr lang="en-US" altLang="zh-CN" sz="2200" dirty="0">
                  <a:latin typeface="+mj-ea"/>
                </a:rPr>
                <a:t>' and :</a:t>
              </a:r>
              <a:r>
                <a:rPr lang="en-US" altLang="zh-CN" sz="2200" dirty="0" err="1">
                  <a:latin typeface="+mj-ea"/>
                </a:rPr>
                <a:t>new.sal</a:t>
              </a:r>
              <a:r>
                <a:rPr lang="en-US" altLang="zh-CN" sz="2200" dirty="0">
                  <a:latin typeface="+mj-ea"/>
                </a:rPr>
                <a:t>&lt;4000 then</a:t>
              </a: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   update </a:t>
              </a:r>
              <a:r>
                <a:rPr lang="en-US" altLang="zh-CN" sz="2200" dirty="0" err="1">
                  <a:latin typeface="+mj-ea"/>
                </a:rPr>
                <a:t>sal_teach</a:t>
              </a:r>
              <a:endParaRPr lang="en-US" altLang="zh-CN" sz="2200" dirty="0">
                <a:latin typeface="+mj-ea"/>
              </a:endParaRP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   set </a:t>
              </a:r>
              <a:r>
                <a:rPr lang="en-US" altLang="zh-CN" sz="2200" dirty="0" err="1">
                  <a:latin typeface="+mj-ea"/>
                </a:rPr>
                <a:t>sal</a:t>
              </a:r>
              <a:r>
                <a:rPr lang="en-US" altLang="zh-CN" sz="2200" dirty="0">
                  <a:latin typeface="+mj-ea"/>
                </a:rPr>
                <a:t>=4000</a:t>
              </a: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   where </a:t>
              </a:r>
              <a:r>
                <a:rPr lang="en-US" altLang="zh-CN" sz="2200" dirty="0" err="1">
                  <a:latin typeface="+mj-ea"/>
                </a:rPr>
                <a:t>eno</a:t>
              </a:r>
              <a:r>
                <a:rPr lang="en-US" altLang="zh-CN" sz="2200" dirty="0">
                  <a:latin typeface="+mj-ea"/>
                </a:rPr>
                <a:t>=:</a:t>
              </a:r>
              <a:r>
                <a:rPr lang="en-US" altLang="zh-CN" sz="2200" dirty="0" err="1">
                  <a:latin typeface="+mj-ea"/>
                </a:rPr>
                <a:t>new.eno</a:t>
              </a:r>
              <a:r>
                <a:rPr lang="en-US" altLang="zh-CN" sz="2200" dirty="0">
                  <a:latin typeface="+mj-ea"/>
                </a:rPr>
                <a:t>;</a:t>
              </a: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end if</a:t>
              </a:r>
              <a:r>
                <a:rPr lang="en-US" altLang="zh-CN" sz="2200" dirty="0" smtClean="0">
                  <a:latin typeface="+mj-ea"/>
                </a:rPr>
                <a:t>;</a:t>
              </a:r>
            </a:p>
            <a:p>
              <a:pPr eaLnBrk="1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 smtClean="0">
                  <a:latin typeface="+mj-ea"/>
                </a:rPr>
                <a:t>end </a:t>
              </a:r>
              <a:r>
                <a:rPr lang="en-US" altLang="zh-CN" sz="2200" dirty="0" err="1" smtClean="0">
                  <a:latin typeface="+mj-ea"/>
                </a:rPr>
                <a:t>zdxg_sal</a:t>
              </a:r>
              <a:r>
                <a:rPr lang="en-US" altLang="zh-CN" sz="2200" dirty="0" smtClean="0">
                  <a:latin typeface="+mj-ea"/>
                </a:rPr>
                <a:t>;</a:t>
              </a:r>
              <a:endParaRPr lang="en-US" altLang="zh-CN" sz="2200" dirty="0">
                <a:latin typeface="+mj-ea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037319" y="2132856"/>
            <a:ext cx="2973532" cy="2167361"/>
          </a:xfrm>
          <a:prstGeom prst="rect">
            <a:avLst/>
          </a:prstGeom>
          <a:solidFill>
            <a:srgbClr val="FF99CC"/>
          </a:solidFill>
          <a:ln>
            <a:solidFill>
              <a:srgbClr val="000000"/>
            </a:solidFill>
          </a:ln>
        </p:spPr>
        <p:txBody>
          <a:bodyPr wrap="square" lIns="108000" tIns="108000" rIns="108000" bIns="108000" rtlCol="0">
            <a:spAutoFit/>
          </a:bodyPr>
          <a:lstStyle/>
          <a:p>
            <a:pPr>
              <a:lnSpc>
                <a:spcPts val="3840"/>
              </a:lnSpc>
            </a:pPr>
            <a:r>
              <a:rPr lang="zh-CN" altLang="en-US" sz="2400" dirty="0" smtClean="0">
                <a:latin typeface="黑体" pitchFamily="49" charset="-122"/>
                <a:ea typeface="黑体" pitchFamily="49" charset="-122"/>
              </a:rPr>
              <a:t>如果是后触发，触发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体中不能对触发器所在的</a:t>
            </a:r>
            <a:r>
              <a:rPr lang="zh-CN" altLang="en-US" sz="2400" dirty="0" smtClean="0">
                <a:latin typeface="黑体" pitchFamily="49" charset="-122"/>
                <a:ea typeface="黑体" pitchFamily="49" charset="-122"/>
              </a:rPr>
              <a:t>表做任何的修改和查询操作。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777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5925" y="1196752"/>
            <a:ext cx="8260531" cy="532859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创建触发器实现：当在教师工资表中插入元组或者</a:t>
            </a:r>
            <a:endParaRPr lang="en-US" altLang="zh-CN" sz="2200" dirty="0" smtClean="0">
              <a:latin typeface="+mj-ea"/>
              <a:ea typeface="+mj-ea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修改工资表示时，要求教授的工资不得低于</a:t>
            </a:r>
            <a:r>
              <a:rPr lang="en-US" altLang="zh-CN" sz="2200" dirty="0" smtClean="0">
                <a:latin typeface="+mj-ea"/>
                <a:ea typeface="+mj-ea"/>
              </a:rPr>
              <a:t>4000</a:t>
            </a:r>
            <a:r>
              <a:rPr lang="zh-CN" altLang="en-US" sz="2200" dirty="0" smtClean="0">
                <a:latin typeface="+mj-ea"/>
                <a:ea typeface="+mj-ea"/>
              </a:rPr>
              <a:t>元，如果低于</a:t>
            </a:r>
            <a:r>
              <a:rPr lang="en-US" altLang="zh-CN" sz="2200" dirty="0" smtClean="0">
                <a:latin typeface="+mj-ea"/>
                <a:ea typeface="+mj-ea"/>
              </a:rPr>
              <a:t>400 0</a:t>
            </a:r>
            <a:r>
              <a:rPr lang="zh-CN" altLang="en-US" sz="2200" dirty="0" smtClean="0">
                <a:latin typeface="+mj-ea"/>
                <a:ea typeface="+mj-ea"/>
              </a:rPr>
              <a:t>元，自动改为</a:t>
            </a:r>
            <a:r>
              <a:rPr lang="en-US" altLang="zh-CN" sz="2200" dirty="0" smtClean="0">
                <a:latin typeface="+mj-ea"/>
                <a:ea typeface="+mj-ea"/>
              </a:rPr>
              <a:t>4000</a:t>
            </a:r>
            <a:r>
              <a:rPr lang="zh-CN" altLang="en-US" sz="2200" dirty="0" smtClean="0">
                <a:latin typeface="+mj-ea"/>
                <a:ea typeface="+mj-ea"/>
              </a:rPr>
              <a:t>元。</a:t>
            </a:r>
            <a:endParaRPr lang="en-US" altLang="zh-CN" sz="2200" dirty="0" smtClean="0">
              <a:latin typeface="+mj-ea"/>
              <a:ea typeface="+mj-ea"/>
            </a:endParaRPr>
          </a:p>
        </p:txBody>
      </p:sp>
      <p:sp>
        <p:nvSpPr>
          <p:cNvPr id="99331" name="Rectangle 2"/>
          <p:cNvSpPr txBox="1">
            <a:spLocks noChangeArrowheads="1"/>
          </p:cNvSpPr>
          <p:nvPr/>
        </p:nvSpPr>
        <p:spPr bwMode="auto">
          <a:xfrm>
            <a:off x="468313" y="215900"/>
            <a:ext cx="794067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0">
                <a:solidFill>
                  <a:schemeClr val="bg1"/>
                </a:solidFill>
                <a:latin typeface="Arial" charset="0"/>
                <a:ea typeface="黑体" pitchFamily="49" charset="-122"/>
              </a:rPr>
              <a:t>5.</a:t>
            </a:r>
            <a:r>
              <a:rPr lang="zh-CN" altLang="en-US" sz="3600" b="0">
                <a:solidFill>
                  <a:schemeClr val="bg1"/>
                </a:solidFill>
                <a:latin typeface="Arial" charset="0"/>
                <a:ea typeface="黑体" pitchFamily="49" charset="-122"/>
              </a:rPr>
              <a:t> 触发器编写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015197" y="2594448"/>
            <a:ext cx="6984776" cy="3744416"/>
            <a:chOff x="1187624" y="2420888"/>
            <a:chExt cx="6984776" cy="3744416"/>
          </a:xfrm>
        </p:grpSpPr>
        <p:sp>
          <p:nvSpPr>
            <p:cNvPr id="3" name="矩形 2"/>
            <p:cNvSpPr/>
            <p:nvPr/>
          </p:nvSpPr>
          <p:spPr bwMode="auto">
            <a:xfrm>
              <a:off x="1187624" y="2420888"/>
              <a:ext cx="6984776" cy="3744416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238654" y="2420888"/>
              <a:ext cx="6740065" cy="34778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create or replace trigger </a:t>
              </a:r>
              <a:r>
                <a:rPr lang="en-US" altLang="zh-CN" sz="2200" dirty="0" err="1" smtClean="0">
                  <a:latin typeface="+mj-ea"/>
                </a:rPr>
                <a:t>zdgx_sal</a:t>
              </a:r>
              <a:endParaRPr lang="en-US" altLang="zh-CN" sz="2200" dirty="0">
                <a:latin typeface="+mj-ea"/>
              </a:endParaRP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before insert on </a:t>
              </a:r>
              <a:r>
                <a:rPr lang="en-US" altLang="zh-CN" sz="2200" dirty="0" err="1">
                  <a:latin typeface="+mj-ea"/>
                </a:rPr>
                <a:t>sal_teach</a:t>
              </a:r>
              <a:r>
                <a:rPr lang="en-US" altLang="zh-CN" sz="2200" dirty="0">
                  <a:latin typeface="+mj-ea"/>
                </a:rPr>
                <a:t> </a:t>
              </a: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for each row</a:t>
              </a: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declare</a:t>
              </a: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-- local variables here</a:t>
              </a: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begin</a:t>
              </a: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if :</a:t>
              </a:r>
              <a:r>
                <a:rPr lang="en-US" altLang="zh-CN" sz="2200" dirty="0" err="1">
                  <a:latin typeface="+mj-ea"/>
                </a:rPr>
                <a:t>new.job</a:t>
              </a:r>
              <a:r>
                <a:rPr lang="en-US" altLang="zh-CN" sz="2200" dirty="0">
                  <a:latin typeface="+mj-ea"/>
                </a:rPr>
                <a:t>='</a:t>
              </a:r>
              <a:r>
                <a:rPr lang="zh-CN" altLang="en-US" sz="2200" dirty="0">
                  <a:latin typeface="+mj-ea"/>
                </a:rPr>
                <a:t>教授</a:t>
              </a:r>
              <a:r>
                <a:rPr lang="en-US" altLang="zh-CN" sz="2200" dirty="0">
                  <a:latin typeface="+mj-ea"/>
                </a:rPr>
                <a:t>' and :</a:t>
              </a:r>
              <a:r>
                <a:rPr lang="en-US" altLang="zh-CN" sz="2200" dirty="0" err="1">
                  <a:latin typeface="+mj-ea"/>
                </a:rPr>
                <a:t>new.sal</a:t>
              </a:r>
              <a:r>
                <a:rPr lang="en-US" altLang="zh-CN" sz="2200" dirty="0">
                  <a:latin typeface="+mj-ea"/>
                </a:rPr>
                <a:t>&lt;4000 then</a:t>
              </a: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   :</a:t>
              </a:r>
              <a:r>
                <a:rPr lang="en-US" altLang="zh-CN" sz="2200" dirty="0" err="1">
                  <a:latin typeface="+mj-ea"/>
                </a:rPr>
                <a:t>new.sal</a:t>
              </a:r>
              <a:r>
                <a:rPr lang="en-US" altLang="zh-CN" sz="2200" dirty="0">
                  <a:latin typeface="+mj-ea"/>
                </a:rPr>
                <a:t>:=4000;</a:t>
              </a: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end if;</a:t>
              </a: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end zdgx_sal2;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5925" y="1196752"/>
            <a:ext cx="8260531" cy="532859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创建触发器实现：当在教师工资表中插入元组或者</a:t>
            </a:r>
            <a:endParaRPr lang="en-US" altLang="zh-CN" sz="2200" dirty="0" smtClean="0">
              <a:latin typeface="+mj-ea"/>
              <a:ea typeface="+mj-ea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修改工资表示时，要求教授的工资不得低于</a:t>
            </a:r>
            <a:r>
              <a:rPr lang="en-US" altLang="zh-CN" sz="2200" dirty="0" smtClean="0">
                <a:latin typeface="+mj-ea"/>
                <a:ea typeface="+mj-ea"/>
              </a:rPr>
              <a:t>4000</a:t>
            </a:r>
            <a:r>
              <a:rPr lang="zh-CN" altLang="en-US" sz="2200" dirty="0" smtClean="0">
                <a:latin typeface="+mj-ea"/>
                <a:ea typeface="+mj-ea"/>
              </a:rPr>
              <a:t>元，如果低于</a:t>
            </a:r>
            <a:r>
              <a:rPr lang="en-US" altLang="zh-CN" sz="2200" dirty="0" smtClean="0">
                <a:latin typeface="+mj-ea"/>
                <a:ea typeface="+mj-ea"/>
              </a:rPr>
              <a:t>400 0</a:t>
            </a:r>
            <a:r>
              <a:rPr lang="zh-CN" altLang="en-US" sz="2200" dirty="0" smtClean="0">
                <a:latin typeface="+mj-ea"/>
                <a:ea typeface="+mj-ea"/>
              </a:rPr>
              <a:t>元，自动改为</a:t>
            </a:r>
            <a:r>
              <a:rPr lang="en-US" altLang="zh-CN" sz="2200" dirty="0" smtClean="0">
                <a:latin typeface="+mj-ea"/>
                <a:ea typeface="+mj-ea"/>
              </a:rPr>
              <a:t>4000</a:t>
            </a:r>
            <a:r>
              <a:rPr lang="zh-CN" altLang="en-US" sz="2200" dirty="0" smtClean="0">
                <a:latin typeface="+mj-ea"/>
                <a:ea typeface="+mj-ea"/>
              </a:rPr>
              <a:t>元。</a:t>
            </a:r>
            <a:endParaRPr lang="en-US" altLang="zh-CN" sz="2200" dirty="0" smtClean="0">
              <a:latin typeface="+mj-ea"/>
              <a:ea typeface="+mj-ea"/>
            </a:endParaRPr>
          </a:p>
        </p:txBody>
      </p:sp>
      <p:sp>
        <p:nvSpPr>
          <p:cNvPr id="99331" name="Rectangle 2"/>
          <p:cNvSpPr txBox="1">
            <a:spLocks noChangeArrowheads="1"/>
          </p:cNvSpPr>
          <p:nvPr/>
        </p:nvSpPr>
        <p:spPr bwMode="auto">
          <a:xfrm>
            <a:off x="468313" y="215900"/>
            <a:ext cx="794067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0">
                <a:solidFill>
                  <a:schemeClr val="bg1"/>
                </a:solidFill>
                <a:latin typeface="Arial" charset="0"/>
                <a:ea typeface="黑体" pitchFamily="49" charset="-122"/>
              </a:rPr>
              <a:t>5.</a:t>
            </a:r>
            <a:r>
              <a:rPr lang="zh-CN" altLang="en-US" sz="3600" b="0">
                <a:solidFill>
                  <a:schemeClr val="bg1"/>
                </a:solidFill>
                <a:latin typeface="Arial" charset="0"/>
                <a:ea typeface="黑体" pitchFamily="49" charset="-122"/>
              </a:rPr>
              <a:t> 触发器编写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015197" y="2594448"/>
            <a:ext cx="6984776" cy="3744416"/>
            <a:chOff x="1187624" y="2420888"/>
            <a:chExt cx="6984776" cy="3744416"/>
          </a:xfrm>
        </p:grpSpPr>
        <p:sp>
          <p:nvSpPr>
            <p:cNvPr id="3" name="矩形 2"/>
            <p:cNvSpPr/>
            <p:nvPr/>
          </p:nvSpPr>
          <p:spPr bwMode="auto">
            <a:xfrm>
              <a:off x="1187624" y="2420888"/>
              <a:ext cx="6984776" cy="3744416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238654" y="2420888"/>
              <a:ext cx="6740065" cy="34778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create or replace trigger </a:t>
              </a:r>
              <a:r>
                <a:rPr lang="en-US" altLang="zh-CN" sz="2200" dirty="0" err="1" smtClean="0">
                  <a:latin typeface="+mj-ea"/>
                </a:rPr>
                <a:t>zdgx_sal</a:t>
              </a:r>
              <a:endParaRPr lang="en-US" altLang="zh-CN" sz="2200" dirty="0">
                <a:latin typeface="+mj-ea"/>
              </a:endParaRP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before </a:t>
              </a:r>
              <a:r>
                <a:rPr lang="en-US" altLang="zh-CN" sz="2200" dirty="0" smtClean="0">
                  <a:solidFill>
                    <a:srgbClr val="FF0000"/>
                  </a:solidFill>
                  <a:latin typeface="+mj-ea"/>
                </a:rPr>
                <a:t>insert or update </a:t>
              </a:r>
              <a:r>
                <a:rPr lang="en-US" altLang="zh-CN" sz="2200" dirty="0">
                  <a:latin typeface="+mj-ea"/>
                </a:rPr>
                <a:t>on </a:t>
              </a:r>
              <a:r>
                <a:rPr lang="en-US" altLang="zh-CN" sz="2200" dirty="0" err="1">
                  <a:latin typeface="+mj-ea"/>
                </a:rPr>
                <a:t>sal_teach</a:t>
              </a:r>
              <a:r>
                <a:rPr lang="en-US" altLang="zh-CN" sz="2200" dirty="0">
                  <a:latin typeface="+mj-ea"/>
                </a:rPr>
                <a:t> </a:t>
              </a: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for each row</a:t>
              </a: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declare</a:t>
              </a: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-- local variables here</a:t>
              </a: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begin</a:t>
              </a: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if :</a:t>
              </a:r>
              <a:r>
                <a:rPr lang="en-US" altLang="zh-CN" sz="2200" dirty="0" err="1">
                  <a:latin typeface="+mj-ea"/>
                </a:rPr>
                <a:t>new.job</a:t>
              </a:r>
              <a:r>
                <a:rPr lang="en-US" altLang="zh-CN" sz="2200" dirty="0">
                  <a:latin typeface="+mj-ea"/>
                </a:rPr>
                <a:t>='</a:t>
              </a:r>
              <a:r>
                <a:rPr lang="zh-CN" altLang="en-US" sz="2200" dirty="0">
                  <a:latin typeface="+mj-ea"/>
                </a:rPr>
                <a:t>教授</a:t>
              </a:r>
              <a:r>
                <a:rPr lang="en-US" altLang="zh-CN" sz="2200" dirty="0">
                  <a:latin typeface="+mj-ea"/>
                </a:rPr>
                <a:t>' and :</a:t>
              </a:r>
              <a:r>
                <a:rPr lang="en-US" altLang="zh-CN" sz="2200" dirty="0" err="1">
                  <a:latin typeface="+mj-ea"/>
                </a:rPr>
                <a:t>new.sal</a:t>
              </a:r>
              <a:r>
                <a:rPr lang="en-US" altLang="zh-CN" sz="2200" dirty="0">
                  <a:latin typeface="+mj-ea"/>
                </a:rPr>
                <a:t>&lt;4000 then</a:t>
              </a: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   :</a:t>
              </a:r>
              <a:r>
                <a:rPr lang="en-US" altLang="zh-CN" sz="2200" dirty="0" err="1">
                  <a:latin typeface="+mj-ea"/>
                </a:rPr>
                <a:t>new.sal</a:t>
              </a:r>
              <a:r>
                <a:rPr lang="en-US" altLang="zh-CN" sz="2200" dirty="0">
                  <a:latin typeface="+mj-ea"/>
                </a:rPr>
                <a:t>:=4000;</a:t>
              </a: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  end if;</a:t>
              </a:r>
            </a:p>
            <a:p>
              <a:pPr eaLnBrk="1" hangingPunct="1"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en-US" altLang="zh-CN" sz="2200" dirty="0">
                  <a:latin typeface="+mj-ea"/>
                </a:rPr>
                <a:t>end zdgx_sal2;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85165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5925" y="1268413"/>
            <a:ext cx="7993063" cy="496887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 smtClean="0">
                <a:latin typeface="黑体" pitchFamily="49" charset="-122"/>
              </a:rPr>
              <a:t>为了增加教师工资表的安全性，追踪用户对教师工资</a:t>
            </a:r>
            <a:endParaRPr lang="en-US" altLang="zh-CN" sz="2200" b="1" dirty="0" smtClean="0">
              <a:latin typeface="黑体" pitchFamily="49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2200" b="1" dirty="0" smtClean="0">
                <a:latin typeface="黑体" pitchFamily="49" charset="-122"/>
              </a:rPr>
              <a:t>表数据的修改，创建一张工资变化表</a:t>
            </a:r>
            <a:r>
              <a:rPr lang="en-US" altLang="zh-CN" sz="2200" b="1" dirty="0" err="1" smtClean="0">
                <a:latin typeface="黑体" pitchFamily="49" charset="-122"/>
              </a:rPr>
              <a:t>sal_log</a:t>
            </a:r>
            <a:r>
              <a:rPr lang="zh-CN" altLang="en-US" sz="2200" b="1" dirty="0" smtClean="0">
                <a:latin typeface="黑体" pitchFamily="49" charset="-122"/>
              </a:rPr>
              <a:t>用来记录相关追踪信息。</a:t>
            </a:r>
            <a:endParaRPr lang="en-US" altLang="zh-CN" sz="2200" b="1" dirty="0" smtClean="0">
              <a:latin typeface="黑体" pitchFamily="49" charset="-122"/>
            </a:endParaRPr>
          </a:p>
          <a:p>
            <a:pPr eaLnBrk="1" hangingPunct="1">
              <a:lnSpc>
                <a:spcPct val="120000"/>
              </a:lnSpc>
              <a:spcAft>
                <a:spcPct val="20000"/>
              </a:spcAft>
              <a:buFont typeface="Wingdings" pitchFamily="2" charset="2"/>
              <a:buNone/>
              <a:defRPr/>
            </a:pPr>
            <a:endParaRPr lang="en-US" altLang="zh-CN" sz="800" b="1" dirty="0" smtClean="0">
              <a:latin typeface="黑体" pitchFamily="49" charset="-122"/>
            </a:endParaRPr>
          </a:p>
          <a:p>
            <a:pPr eaLnBrk="1" hangingPunct="1">
              <a:lnSpc>
                <a:spcPct val="120000"/>
              </a:lnSpc>
              <a:spcAft>
                <a:spcPct val="20000"/>
              </a:spcAft>
              <a:defRPr/>
            </a:pPr>
            <a:r>
              <a:rPr lang="en-US" altLang="zh-CN" sz="2200" b="1" dirty="0" err="1" smtClean="0">
                <a:latin typeface="黑体" pitchFamily="49" charset="-122"/>
              </a:rPr>
              <a:t>Sal_log</a:t>
            </a:r>
            <a:r>
              <a:rPr lang="zh-CN" altLang="en-US" sz="2200" b="1" dirty="0" smtClean="0">
                <a:latin typeface="黑体" pitchFamily="49" charset="-122"/>
              </a:rPr>
              <a:t>表结构如下：</a:t>
            </a:r>
            <a:endParaRPr lang="en-US" altLang="zh-CN" sz="2200" b="1" dirty="0" smtClean="0">
              <a:latin typeface="黑体" pitchFamily="49" charset="-122"/>
            </a:endParaRPr>
          </a:p>
          <a:p>
            <a:pPr marL="800100" lvl="2" indent="0">
              <a:buFont typeface="Wingdings" pitchFamily="2" charset="2"/>
              <a:buNone/>
              <a:defRPr/>
            </a:pPr>
            <a:r>
              <a:rPr lang="en-US" altLang="zh-CN" sz="2200" b="1" dirty="0" smtClean="0"/>
              <a:t>create table </a:t>
            </a:r>
            <a:r>
              <a:rPr lang="en-US" altLang="zh-CN" sz="2200" b="1" dirty="0" err="1" smtClean="0"/>
              <a:t>sal_log</a:t>
            </a:r>
            <a:endParaRPr lang="en-US" altLang="zh-CN" sz="2200" b="1" dirty="0" smtClean="0"/>
          </a:p>
          <a:p>
            <a:pPr marL="800100" lvl="2" indent="0">
              <a:buFont typeface="Wingdings" pitchFamily="2" charset="2"/>
              <a:buNone/>
              <a:defRPr/>
            </a:pPr>
            <a:r>
              <a:rPr lang="en-US" altLang="zh-CN" sz="2200" b="1" dirty="0" smtClean="0"/>
              <a:t>(id varchar2(4) primary key,                  --</a:t>
            </a:r>
            <a:r>
              <a:rPr lang="zh-CN" altLang="en-US" sz="2200" b="1" dirty="0" smtClean="0"/>
              <a:t>主码，自动增加</a:t>
            </a:r>
            <a:endParaRPr lang="en-US" altLang="zh-CN" sz="2200" b="1" dirty="0" smtClean="0"/>
          </a:p>
          <a:p>
            <a:pPr marL="800100" lvl="2" indent="0">
              <a:buFont typeface="Wingdings" pitchFamily="2" charset="2"/>
              <a:buNone/>
              <a:defRPr/>
            </a:pPr>
            <a:r>
              <a:rPr lang="en-US" altLang="zh-CN" sz="2200" b="1" dirty="0" err="1" smtClean="0"/>
              <a:t>eno</a:t>
            </a:r>
            <a:r>
              <a:rPr lang="en-US" altLang="zh-CN" sz="2200" b="1" dirty="0" smtClean="0"/>
              <a:t> varchar2(4) references </a:t>
            </a:r>
            <a:r>
              <a:rPr lang="en-US" altLang="zh-CN" sz="2200" b="1" dirty="0" err="1" smtClean="0"/>
              <a:t>sal_teach</a:t>
            </a:r>
            <a:r>
              <a:rPr lang="en-US" altLang="zh-CN" sz="2200" b="1" dirty="0" smtClean="0"/>
              <a:t>,    --</a:t>
            </a:r>
            <a:r>
              <a:rPr lang="zh-CN" altLang="en-US" sz="2200" b="1" dirty="0" smtClean="0"/>
              <a:t>教师编号</a:t>
            </a:r>
            <a:endParaRPr lang="en-US" altLang="zh-CN" sz="2200" b="1" dirty="0" smtClean="0"/>
          </a:p>
          <a:p>
            <a:pPr marL="800100" lvl="2" indent="0">
              <a:buFont typeface="Wingdings" pitchFamily="2" charset="2"/>
              <a:buNone/>
              <a:defRPr/>
            </a:pPr>
            <a:r>
              <a:rPr lang="en-US" altLang="zh-CN" sz="2200" b="1" dirty="0" err="1" smtClean="0"/>
              <a:t>befor_sal</a:t>
            </a:r>
            <a:r>
              <a:rPr lang="en-US" altLang="zh-CN" sz="2200" b="1" dirty="0" smtClean="0"/>
              <a:t>   number,                                  --</a:t>
            </a:r>
            <a:r>
              <a:rPr lang="zh-CN" altLang="en-US" sz="2200" b="1" dirty="0" smtClean="0"/>
              <a:t>修改之前的工资</a:t>
            </a:r>
            <a:endParaRPr lang="en-US" altLang="zh-CN" sz="2200" b="1" dirty="0" smtClean="0"/>
          </a:p>
          <a:p>
            <a:pPr marL="800100" lvl="2" indent="0">
              <a:buFont typeface="Wingdings" pitchFamily="2" charset="2"/>
              <a:buNone/>
              <a:defRPr/>
            </a:pPr>
            <a:r>
              <a:rPr lang="en-US" altLang="zh-CN" sz="2200" b="1" dirty="0" err="1"/>
              <a:t>a</a:t>
            </a:r>
            <a:r>
              <a:rPr lang="en-US" altLang="zh-CN" sz="2200" b="1" dirty="0" err="1" smtClean="0"/>
              <a:t>fter_sal</a:t>
            </a:r>
            <a:r>
              <a:rPr lang="en-US" altLang="zh-CN" sz="2200" b="1" dirty="0" smtClean="0"/>
              <a:t>    number,                                  --</a:t>
            </a:r>
            <a:r>
              <a:rPr lang="zh-CN" altLang="en-US" sz="2200" b="1" dirty="0" smtClean="0"/>
              <a:t>修改之后的工资</a:t>
            </a:r>
            <a:endParaRPr lang="en-US" altLang="zh-CN" sz="2200" b="1" dirty="0" smtClean="0"/>
          </a:p>
          <a:p>
            <a:pPr marL="800100" lvl="2" indent="0">
              <a:buFont typeface="Wingdings" pitchFamily="2" charset="2"/>
              <a:buNone/>
              <a:defRPr/>
            </a:pPr>
            <a:r>
              <a:rPr lang="en-US" altLang="zh-CN" sz="2200" b="1" dirty="0" smtClean="0"/>
              <a:t>username  varchar2(10),                          --</a:t>
            </a:r>
            <a:r>
              <a:rPr lang="zh-CN" altLang="en-US" sz="2200" b="1" dirty="0" smtClean="0"/>
              <a:t>系统当前用户</a:t>
            </a:r>
            <a:endParaRPr lang="en-US" altLang="zh-CN" sz="2200" b="1" dirty="0" smtClean="0"/>
          </a:p>
          <a:p>
            <a:pPr marL="800100" lvl="2" indent="0">
              <a:buFont typeface="Wingdings" pitchFamily="2" charset="2"/>
              <a:buNone/>
              <a:defRPr/>
            </a:pPr>
            <a:r>
              <a:rPr lang="en-US" altLang="zh-CN" sz="2200" b="1" dirty="0" err="1" smtClean="0"/>
              <a:t>update_date</a:t>
            </a:r>
            <a:r>
              <a:rPr lang="en-US" altLang="zh-CN" sz="2200" b="1" dirty="0" smtClean="0"/>
              <a:t>  date)                                    --</a:t>
            </a:r>
            <a:r>
              <a:rPr lang="zh-CN" altLang="en-US" sz="2200" b="1" dirty="0" smtClean="0"/>
              <a:t>系统当前时间</a:t>
            </a:r>
            <a:endParaRPr lang="en-US" altLang="zh-CN" sz="2200" b="1" dirty="0" smtClean="0"/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zh-CN" altLang="en-US" sz="1800" b="1" dirty="0" smtClean="0"/>
              <a:t>	</a:t>
            </a:r>
            <a:endParaRPr lang="en-US" altLang="zh-CN" sz="2000" b="1" dirty="0" smtClean="0">
              <a:solidFill>
                <a:schemeClr val="hlink"/>
              </a:solidFill>
            </a:endParaRPr>
          </a:p>
        </p:txBody>
      </p:sp>
      <p:sp>
        <p:nvSpPr>
          <p:cNvPr id="99331" name="Rectangle 2"/>
          <p:cNvSpPr txBox="1">
            <a:spLocks noChangeArrowheads="1"/>
          </p:cNvSpPr>
          <p:nvPr/>
        </p:nvSpPr>
        <p:spPr bwMode="auto">
          <a:xfrm>
            <a:off x="468313" y="215900"/>
            <a:ext cx="794067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0">
                <a:solidFill>
                  <a:schemeClr val="bg1"/>
                </a:solidFill>
                <a:latin typeface="Arial" charset="0"/>
                <a:ea typeface="黑体" pitchFamily="49" charset="-122"/>
              </a:rPr>
              <a:t>5.</a:t>
            </a:r>
            <a:r>
              <a:rPr lang="zh-CN" altLang="en-US" sz="3600" b="0">
                <a:solidFill>
                  <a:schemeClr val="bg1"/>
                </a:solidFill>
                <a:latin typeface="Arial" charset="0"/>
                <a:ea typeface="黑体" pitchFamily="49" charset="-122"/>
              </a:rPr>
              <a:t> 触发器编写</a:t>
            </a:r>
          </a:p>
        </p:txBody>
      </p:sp>
    </p:spTree>
    <p:extLst>
      <p:ext uri="{BB962C8B-B14F-4D97-AF65-F5344CB8AC3E}">
        <p14:creationId xmlns:p14="http://schemas.microsoft.com/office/powerpoint/2010/main" val="27605179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45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45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5925" y="1484313"/>
            <a:ext cx="7993063" cy="496887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为了增加教师工资表的安全性，追踪用户对教师</a:t>
            </a:r>
            <a:endParaRPr lang="en-US" altLang="zh-CN" sz="2400" dirty="0" smtClean="0">
              <a:latin typeface="+mj-ea"/>
              <a:ea typeface="+mj-ea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2400" dirty="0">
                <a:latin typeface="+mj-ea"/>
                <a:ea typeface="+mj-ea"/>
              </a:rPr>
              <a:t> </a:t>
            </a:r>
            <a:r>
              <a:rPr lang="en-US" altLang="zh-CN" sz="2400" dirty="0" smtClean="0">
                <a:latin typeface="+mj-ea"/>
                <a:ea typeface="+mj-ea"/>
              </a:rPr>
              <a:t>  </a:t>
            </a:r>
            <a:r>
              <a:rPr lang="zh-CN" altLang="en-US" sz="2400" dirty="0" smtClean="0">
                <a:latin typeface="+mj-ea"/>
                <a:ea typeface="+mj-ea"/>
              </a:rPr>
              <a:t>工资表数据的修改，创建一张工资变化表</a:t>
            </a:r>
            <a:r>
              <a:rPr lang="en-US" altLang="zh-CN" sz="2400" dirty="0" err="1" smtClean="0">
                <a:latin typeface="+mj-ea"/>
                <a:ea typeface="+mj-ea"/>
              </a:rPr>
              <a:t>sal_log</a:t>
            </a:r>
            <a:r>
              <a:rPr lang="zh-CN" altLang="en-US" sz="2400" dirty="0" smtClean="0">
                <a:latin typeface="+mj-ea"/>
                <a:ea typeface="+mj-ea"/>
              </a:rPr>
              <a:t>用来   </a:t>
            </a:r>
            <a:r>
              <a:rPr lang="en-US" altLang="zh-CN" sz="2400" dirty="0">
                <a:latin typeface="+mj-ea"/>
                <a:ea typeface="+mj-ea"/>
              </a:rPr>
              <a:t> </a:t>
            </a:r>
            <a:r>
              <a:rPr lang="en-US" altLang="zh-CN" sz="2400" dirty="0" smtClean="0">
                <a:latin typeface="+mj-ea"/>
                <a:ea typeface="+mj-ea"/>
              </a:rPr>
              <a:t> 	</a:t>
            </a:r>
            <a:r>
              <a:rPr lang="zh-CN" altLang="en-US" sz="2400" dirty="0" smtClean="0">
                <a:latin typeface="+mj-ea"/>
                <a:ea typeface="+mj-ea"/>
              </a:rPr>
              <a:t>记录相关追踪信息。</a:t>
            </a:r>
            <a:endParaRPr lang="en-US" altLang="zh-CN" sz="2400" dirty="0" smtClean="0">
              <a:latin typeface="+mj-ea"/>
              <a:ea typeface="+mj-ea"/>
            </a:endParaRPr>
          </a:p>
          <a:p>
            <a:pPr eaLnBrk="1" hangingPunct="1">
              <a:lnSpc>
                <a:spcPct val="120000"/>
              </a:lnSpc>
              <a:spcAft>
                <a:spcPct val="20000"/>
              </a:spcAft>
              <a:buFont typeface="Wingdings" pitchFamily="2" charset="2"/>
              <a:buNone/>
              <a:defRPr/>
            </a:pPr>
            <a:endParaRPr lang="en-US" altLang="zh-CN" sz="800" dirty="0" smtClean="0">
              <a:latin typeface="+mj-ea"/>
              <a:ea typeface="+mj-ea"/>
            </a:endParaRPr>
          </a:p>
          <a:p>
            <a:pPr eaLnBrk="1" hangingPunct="1">
              <a:lnSpc>
                <a:spcPct val="120000"/>
              </a:lnSpc>
              <a:spcAft>
                <a:spcPct val="20000"/>
              </a:spcAft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序列的创建：</a:t>
            </a:r>
            <a:endParaRPr lang="en-US" altLang="zh-CN" sz="2400" dirty="0" smtClean="0">
              <a:latin typeface="+mj-ea"/>
              <a:ea typeface="+mj-ea"/>
            </a:endParaRP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j-ea"/>
                <a:ea typeface="+mj-ea"/>
              </a:rPr>
              <a:t>	</a:t>
            </a:r>
            <a:r>
              <a:rPr lang="en-US" altLang="zh-CN" sz="2400" dirty="0" smtClean="0">
                <a:latin typeface="+mj-ea"/>
                <a:ea typeface="+mj-ea"/>
              </a:rPr>
              <a:t>create sequence LOG_ID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   </a:t>
            </a:r>
            <a:r>
              <a:rPr lang="en-US" altLang="zh-CN" sz="2400" dirty="0" err="1" smtClean="0">
                <a:latin typeface="+mj-ea"/>
                <a:ea typeface="+mj-ea"/>
              </a:rPr>
              <a:t>minvalue</a:t>
            </a:r>
            <a:r>
              <a:rPr lang="en-US" altLang="zh-CN" sz="2400" dirty="0" smtClean="0">
                <a:latin typeface="+mj-ea"/>
                <a:ea typeface="+mj-ea"/>
              </a:rPr>
              <a:t> 1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   </a:t>
            </a:r>
            <a:r>
              <a:rPr lang="en-US" altLang="zh-CN" sz="2400" dirty="0" err="1" smtClean="0">
                <a:latin typeface="+mj-ea"/>
                <a:ea typeface="+mj-ea"/>
              </a:rPr>
              <a:t>maxvalue</a:t>
            </a:r>
            <a:r>
              <a:rPr lang="en-US" altLang="zh-CN" sz="2400" dirty="0" smtClean="0">
                <a:latin typeface="+mj-ea"/>
                <a:ea typeface="+mj-ea"/>
              </a:rPr>
              <a:t> 9999999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   start with 1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   increment by 1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j-ea"/>
                <a:ea typeface="+mj-ea"/>
              </a:rPr>
              <a:t>         </a:t>
            </a:r>
            <a:r>
              <a:rPr lang="en-US" altLang="zh-CN" sz="2400" dirty="0" err="1" smtClean="0">
                <a:latin typeface="+mj-ea"/>
                <a:ea typeface="+mj-ea"/>
              </a:rPr>
              <a:t>nocache</a:t>
            </a:r>
            <a:r>
              <a:rPr lang="en-US" altLang="zh-CN" sz="2400" dirty="0" smtClean="0">
                <a:latin typeface="+mj-ea"/>
                <a:ea typeface="+mj-ea"/>
              </a:rPr>
              <a:t>;</a:t>
            </a:r>
            <a:endParaRPr lang="en-US" altLang="zh-CN" sz="2400" dirty="0" smtClean="0">
              <a:solidFill>
                <a:schemeClr val="hlink"/>
              </a:solidFill>
              <a:latin typeface="+mj-ea"/>
              <a:ea typeface="+mj-ea"/>
            </a:endParaRPr>
          </a:p>
        </p:txBody>
      </p:sp>
      <p:sp>
        <p:nvSpPr>
          <p:cNvPr id="100355" name="Rectangle 2"/>
          <p:cNvSpPr txBox="1">
            <a:spLocks noChangeArrowheads="1"/>
          </p:cNvSpPr>
          <p:nvPr/>
        </p:nvSpPr>
        <p:spPr bwMode="auto">
          <a:xfrm>
            <a:off x="468313" y="260350"/>
            <a:ext cx="7940675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0">
                <a:solidFill>
                  <a:schemeClr val="bg1"/>
                </a:solidFill>
                <a:latin typeface="Arial" charset="0"/>
                <a:ea typeface="黑体" pitchFamily="49" charset="-122"/>
              </a:rPr>
              <a:t>5.</a:t>
            </a:r>
            <a:r>
              <a:rPr lang="zh-CN" altLang="en-US" sz="3600" b="0">
                <a:solidFill>
                  <a:schemeClr val="bg1"/>
                </a:solidFill>
                <a:latin typeface="Arial" charset="0"/>
                <a:ea typeface="黑体" pitchFamily="49" charset="-122"/>
              </a:rPr>
              <a:t> 触发器编写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4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4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4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4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4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4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4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4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94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4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84313"/>
            <a:ext cx="8569325" cy="4525962"/>
          </a:xfrm>
        </p:spPr>
        <p:txBody>
          <a:bodyPr/>
          <a:lstStyle/>
          <a:p>
            <a:pPr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定义一个触发器，实现教师工资表</a:t>
            </a:r>
            <a:r>
              <a:rPr lang="en-US" altLang="zh-CN" sz="2200" dirty="0" smtClean="0">
                <a:latin typeface="+mj-ea"/>
                <a:ea typeface="+mj-ea"/>
              </a:rPr>
              <a:t>Teacher</a:t>
            </a:r>
            <a:r>
              <a:rPr lang="zh-CN" altLang="en-US" sz="2200" dirty="0" smtClean="0">
                <a:latin typeface="+mj-ea"/>
                <a:ea typeface="+mj-ea"/>
              </a:rPr>
              <a:t>的工资发</a:t>
            </a:r>
            <a:endParaRPr lang="en-US" altLang="zh-CN" sz="2200" dirty="0" smtClean="0">
              <a:latin typeface="+mj-ea"/>
              <a:ea typeface="+mj-ea"/>
            </a:endParaRPr>
          </a:p>
          <a:p>
            <a:pPr marL="0" indent="0"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2200" dirty="0" smtClean="0">
                <a:latin typeface="+mj-ea"/>
                <a:ea typeface="+mj-ea"/>
              </a:rPr>
              <a:t>   </a:t>
            </a:r>
            <a:r>
              <a:rPr lang="zh-CN" altLang="en-US" sz="2200" dirty="0" smtClean="0">
                <a:latin typeface="+mj-ea"/>
                <a:ea typeface="+mj-ea"/>
              </a:rPr>
              <a:t>生变化后就自动在工资变化表</a:t>
            </a:r>
            <a:r>
              <a:rPr lang="en-US" altLang="zh-CN" sz="2200" dirty="0" err="1" smtClean="0">
                <a:latin typeface="+mj-ea"/>
                <a:ea typeface="+mj-ea"/>
              </a:rPr>
              <a:t>Sal_log</a:t>
            </a:r>
            <a:r>
              <a:rPr lang="zh-CN" altLang="en-US" sz="2200" dirty="0" smtClean="0">
                <a:latin typeface="+mj-ea"/>
                <a:ea typeface="+mj-ea"/>
              </a:rPr>
              <a:t>中增加一条相应记录</a:t>
            </a:r>
            <a:endParaRPr lang="en-US" altLang="zh-CN" sz="2200" dirty="0" smtClean="0">
              <a:latin typeface="+mj-ea"/>
              <a:ea typeface="+mj-ea"/>
            </a:endParaRPr>
          </a:p>
          <a:p>
            <a:pPr marL="0" indent="0"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en-US" altLang="zh-CN" sz="2000" dirty="0" smtClean="0">
                <a:latin typeface="+mj-ea"/>
                <a:ea typeface="+mj-ea"/>
              </a:rPr>
              <a:t>   create or replace trigger t3</a:t>
            </a:r>
          </a:p>
          <a:p>
            <a:pPr marL="0" indent="0"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en-US" altLang="zh-CN" sz="2000" dirty="0" smtClean="0">
                <a:latin typeface="+mj-ea"/>
                <a:ea typeface="+mj-ea"/>
              </a:rPr>
              <a:t>   after update on </a:t>
            </a:r>
            <a:r>
              <a:rPr lang="en-US" altLang="zh-CN" sz="2000" dirty="0" err="1" smtClean="0">
                <a:latin typeface="+mj-ea"/>
                <a:ea typeface="+mj-ea"/>
              </a:rPr>
              <a:t>sal_teach</a:t>
            </a:r>
            <a:r>
              <a:rPr lang="en-US" altLang="zh-CN" sz="2000" dirty="0" smtClean="0">
                <a:latin typeface="+mj-ea"/>
                <a:ea typeface="+mj-ea"/>
              </a:rPr>
              <a:t>  </a:t>
            </a:r>
          </a:p>
          <a:p>
            <a:pPr marL="0" indent="0"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en-US" altLang="zh-CN" sz="2000" dirty="0" smtClean="0">
                <a:latin typeface="+mj-ea"/>
                <a:ea typeface="+mj-ea"/>
              </a:rPr>
              <a:t>   for each row</a:t>
            </a:r>
          </a:p>
          <a:p>
            <a:pPr marL="0" indent="0"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en-US" altLang="zh-CN" sz="2000" dirty="0" smtClean="0">
                <a:latin typeface="+mj-ea"/>
                <a:ea typeface="+mj-ea"/>
              </a:rPr>
              <a:t>    begin</a:t>
            </a:r>
          </a:p>
          <a:p>
            <a:pPr marL="0" indent="0"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en-US" altLang="zh-CN" sz="2000" dirty="0" smtClean="0">
                <a:latin typeface="+mj-ea"/>
                <a:ea typeface="+mj-ea"/>
              </a:rPr>
              <a:t>      if (:</a:t>
            </a:r>
            <a:r>
              <a:rPr lang="en-US" altLang="zh-CN" sz="2000" dirty="0" err="1" smtClean="0">
                <a:latin typeface="+mj-ea"/>
                <a:ea typeface="+mj-ea"/>
              </a:rPr>
              <a:t>new.sal</a:t>
            </a:r>
            <a:r>
              <a:rPr lang="en-US" altLang="zh-CN" sz="2000" dirty="0" smtClean="0">
                <a:latin typeface="+mj-ea"/>
                <a:ea typeface="+mj-ea"/>
              </a:rPr>
              <a:t>&lt;&gt;:</a:t>
            </a:r>
            <a:r>
              <a:rPr lang="en-US" altLang="zh-CN" sz="2000" dirty="0" err="1" smtClean="0">
                <a:latin typeface="+mj-ea"/>
                <a:ea typeface="+mj-ea"/>
              </a:rPr>
              <a:t>old.sal</a:t>
            </a:r>
            <a:r>
              <a:rPr lang="en-US" altLang="zh-CN" sz="2000" dirty="0" smtClean="0">
                <a:latin typeface="+mj-ea"/>
                <a:ea typeface="+mj-ea"/>
              </a:rPr>
              <a:t>) then </a:t>
            </a:r>
          </a:p>
          <a:p>
            <a:pPr marL="0" indent="0"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en-US" altLang="zh-CN" sz="2000" dirty="0" smtClean="0">
                <a:latin typeface="+mj-ea"/>
                <a:ea typeface="+mj-ea"/>
              </a:rPr>
              <a:t>        insert into </a:t>
            </a:r>
            <a:r>
              <a:rPr lang="en-US" altLang="zh-CN" sz="2000" dirty="0" err="1" smtClean="0">
                <a:latin typeface="+mj-ea"/>
                <a:ea typeface="+mj-ea"/>
              </a:rPr>
              <a:t>sal_log</a:t>
            </a:r>
            <a:r>
              <a:rPr lang="en-US" altLang="zh-CN" sz="2000" dirty="0" smtClean="0">
                <a:latin typeface="+mj-ea"/>
                <a:ea typeface="+mj-ea"/>
              </a:rPr>
              <a:t> </a:t>
            </a:r>
          </a:p>
          <a:p>
            <a:pPr marL="0" indent="0"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         values(log_id.</a:t>
            </a:r>
            <a:r>
              <a:rPr lang="en-US" altLang="zh-CN" sz="2000" dirty="0" err="1" smtClean="0">
                <a:latin typeface="+mj-ea"/>
                <a:ea typeface="+mj-ea"/>
              </a:rPr>
              <a:t>nextval</a:t>
            </a:r>
            <a:r>
              <a:rPr lang="en-US" altLang="zh-CN" sz="2000" dirty="0" smtClean="0">
                <a:latin typeface="+mj-ea"/>
                <a:ea typeface="+mj-ea"/>
              </a:rPr>
              <a:t>,:new.</a:t>
            </a:r>
            <a:r>
              <a:rPr lang="en-US" altLang="zh-CN" sz="2000" dirty="0" err="1" smtClean="0">
                <a:latin typeface="+mj-ea"/>
                <a:ea typeface="+mj-ea"/>
              </a:rPr>
              <a:t>eno</a:t>
            </a:r>
            <a:r>
              <a:rPr lang="en-US" altLang="zh-CN" sz="2000" dirty="0" smtClean="0">
                <a:latin typeface="+mj-ea"/>
                <a:ea typeface="+mj-ea"/>
              </a:rPr>
              <a:t>,</a:t>
            </a:r>
            <a:r>
              <a:rPr lang="en-US" altLang="zh-CN" sz="2000" dirty="0" smtClean="0">
                <a:latin typeface="+mj-ea"/>
              </a:rPr>
              <a:t>:</a:t>
            </a:r>
            <a:r>
              <a:rPr lang="en-US" altLang="zh-CN" sz="2000" dirty="0" err="1">
                <a:latin typeface="+mj-ea"/>
              </a:rPr>
              <a:t>old</a:t>
            </a:r>
            <a:r>
              <a:rPr lang="en-US" altLang="zh-CN" sz="2000" dirty="0" err="1" smtClean="0">
                <a:latin typeface="+mj-ea"/>
              </a:rPr>
              <a:t>.sal</a:t>
            </a:r>
            <a:r>
              <a:rPr lang="en-US" altLang="zh-CN" sz="2000" dirty="0" smtClean="0">
                <a:latin typeface="+mj-ea"/>
              </a:rPr>
              <a:t>,</a:t>
            </a:r>
          </a:p>
          <a:p>
            <a:pPr marL="0" indent="0"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2000" dirty="0" smtClean="0">
                <a:latin typeface="+mj-ea"/>
                <a:ea typeface="+mj-ea"/>
              </a:rPr>
              <a:t>                :</a:t>
            </a:r>
            <a:r>
              <a:rPr lang="en-US" altLang="zh-CN" sz="2000" dirty="0" err="1" smtClean="0">
                <a:latin typeface="+mj-ea"/>
                <a:ea typeface="+mj-ea"/>
              </a:rPr>
              <a:t>new.sal,user,sysdate</a:t>
            </a:r>
            <a:r>
              <a:rPr lang="en-US" altLang="zh-CN" sz="2000" dirty="0" smtClean="0">
                <a:latin typeface="+mj-ea"/>
                <a:ea typeface="+mj-ea"/>
              </a:rPr>
              <a:t>);</a:t>
            </a:r>
          </a:p>
          <a:p>
            <a:pPr marL="0" indent="0"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en-US" altLang="zh-CN" sz="2000" dirty="0" smtClean="0">
                <a:latin typeface="+mj-ea"/>
                <a:ea typeface="+mj-ea"/>
              </a:rPr>
              <a:t>      end if;</a:t>
            </a:r>
          </a:p>
          <a:p>
            <a:pPr marL="0" indent="0"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en-US" altLang="zh-CN" sz="2000" dirty="0" smtClean="0">
                <a:latin typeface="+mj-ea"/>
                <a:ea typeface="+mj-ea"/>
              </a:rPr>
              <a:t>    end;</a:t>
            </a:r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7940675" cy="1125538"/>
          </a:xfrm>
        </p:spPr>
        <p:txBody>
          <a:bodyPr/>
          <a:lstStyle/>
          <a:p>
            <a:pPr eaLnBrk="1" hangingPunct="1"/>
            <a:r>
              <a:rPr lang="en-US" altLang="zh-CN" smtClean="0"/>
              <a:t>5.</a:t>
            </a:r>
            <a:r>
              <a:rPr lang="zh-CN" altLang="en-US" smtClean="0"/>
              <a:t> 触发器编写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内容占位符 2"/>
          <p:cNvSpPr>
            <a:spLocks noGrp="1"/>
          </p:cNvSpPr>
          <p:nvPr>
            <p:ph idx="1"/>
          </p:nvPr>
        </p:nvSpPr>
        <p:spPr>
          <a:xfrm>
            <a:off x="395288" y="1916113"/>
            <a:ext cx="8458200" cy="3657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400" smtClean="0"/>
              <a:t> create or replace trigger t4</a:t>
            </a:r>
          </a:p>
          <a:p>
            <a:pPr>
              <a:buFont typeface="Wingdings" pitchFamily="2" charset="2"/>
              <a:buNone/>
            </a:pPr>
            <a:r>
              <a:rPr lang="en-US" altLang="zh-CN" sz="2400" smtClean="0"/>
              <a:t>      after insert on sal_teach  </a:t>
            </a:r>
          </a:p>
          <a:p>
            <a:pPr>
              <a:buFont typeface="Wingdings" pitchFamily="2" charset="2"/>
              <a:buNone/>
            </a:pPr>
            <a:r>
              <a:rPr lang="en-US" altLang="zh-CN" sz="2400" smtClean="0"/>
              <a:t>      for each row</a:t>
            </a:r>
          </a:p>
          <a:p>
            <a:pPr>
              <a:buFont typeface="Wingdings" pitchFamily="2" charset="2"/>
              <a:buNone/>
            </a:pPr>
            <a:r>
              <a:rPr lang="en-US" altLang="zh-CN" sz="2400" smtClean="0"/>
              <a:t>  begin   </a:t>
            </a:r>
          </a:p>
          <a:p>
            <a:pPr>
              <a:buFont typeface="Wingdings" pitchFamily="2" charset="2"/>
              <a:buNone/>
            </a:pPr>
            <a:r>
              <a:rPr lang="en-US" altLang="zh-CN" sz="2400" smtClean="0"/>
              <a:t>    insert into sal_log </a:t>
            </a:r>
          </a:p>
          <a:p>
            <a:pPr>
              <a:buFont typeface="Wingdings" pitchFamily="2" charset="2"/>
              <a:buNone/>
            </a:pPr>
            <a:r>
              <a:rPr lang="en-US" altLang="zh-CN" sz="2400" smtClean="0"/>
              <a:t>    values(log_id.nextval,:new.eno,:old.sal,:new.sal,user,sysdate);</a:t>
            </a:r>
          </a:p>
          <a:p>
            <a:pPr>
              <a:buFont typeface="Wingdings" pitchFamily="2" charset="2"/>
              <a:buNone/>
            </a:pPr>
            <a:r>
              <a:rPr lang="en-US" altLang="zh-CN" sz="2400" smtClean="0"/>
              <a:t>  end;</a:t>
            </a:r>
            <a:endParaRPr lang="zh-CN" altLang="en-US" sz="2400" smtClean="0"/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7940675" cy="1125538"/>
          </a:xfrm>
        </p:spPr>
        <p:txBody>
          <a:bodyPr/>
          <a:lstStyle/>
          <a:p>
            <a:pPr eaLnBrk="1" hangingPunct="1"/>
            <a:r>
              <a:rPr lang="en-US" altLang="zh-CN" smtClean="0"/>
              <a:t>5.</a:t>
            </a:r>
            <a:r>
              <a:rPr lang="zh-CN" altLang="en-US" smtClean="0"/>
              <a:t> 触发器编写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标题 1"/>
          <p:cNvSpPr>
            <a:spLocks noGrp="1"/>
          </p:cNvSpPr>
          <p:nvPr>
            <p:ph type="title"/>
          </p:nvPr>
        </p:nvSpPr>
        <p:spPr>
          <a:xfrm>
            <a:off x="611188" y="0"/>
            <a:ext cx="7489825" cy="1125538"/>
          </a:xfrm>
        </p:spPr>
        <p:txBody>
          <a:bodyPr/>
          <a:lstStyle/>
          <a:p>
            <a:r>
              <a:rPr lang="en-US" altLang="zh-CN" smtClean="0"/>
              <a:t>6. </a:t>
            </a:r>
            <a:r>
              <a:rPr lang="zh-CN" altLang="en-US" smtClean="0"/>
              <a:t>注意事项</a:t>
            </a:r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539750" y="1196975"/>
            <a:ext cx="8135938" cy="5111750"/>
          </a:xfrm>
        </p:spPr>
        <p:txBody>
          <a:bodyPr/>
          <a:lstStyle/>
          <a:p>
            <a:pPr>
              <a:lnSpc>
                <a:spcPts val="4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zh-CN" altLang="en-US" sz="2200" dirty="0" smtClean="0">
                <a:solidFill>
                  <a:srgbClr val="FF0000"/>
                </a:solidFill>
                <a:latin typeface="+mj-ea"/>
                <a:ea typeface="+mj-ea"/>
              </a:rPr>
              <a:t>编写触发器时，需要注意以下几点：</a:t>
            </a:r>
          </a:p>
          <a:p>
            <a:pPr>
              <a:lnSpc>
                <a:spcPts val="4000"/>
              </a:lnSpc>
              <a:spcBef>
                <a:spcPts val="0"/>
              </a:spcBef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触发器</a:t>
            </a:r>
            <a:r>
              <a:rPr lang="zh-CN" altLang="en-US" sz="2200" dirty="0" smtClean="0">
                <a:solidFill>
                  <a:srgbClr val="FF0000"/>
                </a:solidFill>
                <a:latin typeface="+mj-ea"/>
                <a:ea typeface="+mj-ea"/>
              </a:rPr>
              <a:t>不接受</a:t>
            </a:r>
            <a:r>
              <a:rPr lang="zh-CN" altLang="en-US" sz="2200" dirty="0" smtClean="0">
                <a:latin typeface="+mj-ea"/>
                <a:ea typeface="+mj-ea"/>
              </a:rPr>
              <a:t>参数，</a:t>
            </a:r>
            <a:r>
              <a:rPr lang="zh-CN" altLang="en-US" sz="2200" dirty="0">
                <a:latin typeface="+mj-ea"/>
                <a:ea typeface="+mj-ea"/>
              </a:rPr>
              <a:t>最大为</a:t>
            </a:r>
            <a:r>
              <a:rPr lang="en-US" altLang="zh-CN" sz="2200" dirty="0">
                <a:latin typeface="+mj-ea"/>
                <a:ea typeface="+mj-ea"/>
              </a:rPr>
              <a:t>32KB</a:t>
            </a:r>
            <a:r>
              <a:rPr lang="zh-CN" altLang="en-US" sz="2200" dirty="0" smtClean="0">
                <a:latin typeface="+mj-ea"/>
                <a:ea typeface="+mj-ea"/>
              </a:rPr>
              <a:t>。</a:t>
            </a:r>
          </a:p>
          <a:p>
            <a:pPr>
              <a:lnSpc>
                <a:spcPts val="4000"/>
              </a:lnSpc>
              <a:spcBef>
                <a:spcPts val="0"/>
              </a:spcBef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一个表上</a:t>
            </a:r>
            <a:r>
              <a:rPr lang="zh-CN" altLang="en-US" sz="2200" dirty="0" smtClean="0">
                <a:solidFill>
                  <a:srgbClr val="FF0000"/>
                </a:solidFill>
                <a:latin typeface="+mj-ea"/>
                <a:ea typeface="+mj-ea"/>
              </a:rPr>
              <a:t>最多</a:t>
            </a:r>
            <a:r>
              <a:rPr lang="zh-CN" altLang="en-US" sz="2200" dirty="0" smtClean="0">
                <a:latin typeface="+mj-ea"/>
                <a:ea typeface="+mj-ea"/>
              </a:rPr>
              <a:t>可有</a:t>
            </a:r>
            <a:r>
              <a:rPr lang="en-US" altLang="zh-CN" sz="2200" dirty="0" smtClean="0">
                <a:solidFill>
                  <a:srgbClr val="FF0000"/>
                </a:solidFill>
                <a:latin typeface="+mj-ea"/>
                <a:ea typeface="+mj-ea"/>
              </a:rPr>
              <a:t>12</a:t>
            </a:r>
            <a:r>
              <a:rPr lang="zh-CN" altLang="en-US" sz="2200" dirty="0" smtClean="0">
                <a:solidFill>
                  <a:srgbClr val="FF0000"/>
                </a:solidFill>
                <a:latin typeface="+mj-ea"/>
                <a:ea typeface="+mj-ea"/>
              </a:rPr>
              <a:t>个触发器</a:t>
            </a:r>
            <a:r>
              <a:rPr lang="zh-CN" altLang="en-US" sz="2200" dirty="0" smtClean="0">
                <a:latin typeface="+mj-ea"/>
                <a:ea typeface="+mj-ea"/>
              </a:rPr>
              <a:t>，但同一时间、同一事件、同一类型的触发器只能有一个。</a:t>
            </a:r>
          </a:p>
          <a:p>
            <a:pPr>
              <a:lnSpc>
                <a:spcPts val="4000"/>
              </a:lnSpc>
              <a:spcBef>
                <a:spcPts val="0"/>
              </a:spcBef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在</a:t>
            </a:r>
            <a:r>
              <a:rPr lang="zh-CN" altLang="en-US" sz="2200" dirty="0">
                <a:latin typeface="+mj-ea"/>
                <a:ea typeface="+mj-ea"/>
              </a:rPr>
              <a:t>触发器的执行部分只能用</a:t>
            </a:r>
            <a:r>
              <a:rPr lang="en-US" altLang="zh-CN" sz="2200" dirty="0">
                <a:solidFill>
                  <a:srgbClr val="FF0000"/>
                </a:solidFill>
                <a:latin typeface="+mj-ea"/>
                <a:ea typeface="+mj-ea"/>
              </a:rPr>
              <a:t>DML</a:t>
            </a:r>
            <a:r>
              <a:rPr lang="zh-CN" altLang="en-US" sz="2200" dirty="0">
                <a:solidFill>
                  <a:srgbClr val="FF0000"/>
                </a:solidFill>
                <a:latin typeface="+mj-ea"/>
                <a:ea typeface="+mj-ea"/>
              </a:rPr>
              <a:t>语句</a:t>
            </a:r>
            <a:r>
              <a:rPr lang="en-US" altLang="zh-CN" sz="2200" dirty="0">
                <a:latin typeface="+mj-ea"/>
                <a:ea typeface="+mj-ea"/>
              </a:rPr>
              <a:t>(</a:t>
            </a:r>
            <a:r>
              <a:rPr lang="en-US" altLang="zh-CN" sz="2200" dirty="0" smtClean="0">
                <a:latin typeface="+mj-ea"/>
                <a:ea typeface="+mj-ea"/>
              </a:rPr>
              <a:t>SELECT,INSERT</a:t>
            </a:r>
            <a:r>
              <a:rPr lang="en-US" altLang="zh-CN" sz="2200" dirty="0" smtClean="0">
                <a:latin typeface="+mj-ea"/>
              </a:rPr>
              <a:t>,</a:t>
            </a:r>
            <a:r>
              <a:rPr lang="en-US" altLang="zh-CN" sz="2200" dirty="0" smtClean="0">
                <a:latin typeface="+mj-ea"/>
                <a:ea typeface="+mj-ea"/>
              </a:rPr>
              <a:t>UPDATE</a:t>
            </a:r>
            <a:r>
              <a:rPr lang="en-US" altLang="zh-CN" sz="2200" dirty="0" smtClean="0">
                <a:latin typeface="+mj-ea"/>
              </a:rPr>
              <a:t>,</a:t>
            </a:r>
          </a:p>
          <a:p>
            <a:pPr marL="357188" indent="0">
              <a:lnSpc>
                <a:spcPts val="4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2200" dirty="0" smtClean="0">
                <a:latin typeface="+mj-ea"/>
                <a:ea typeface="+mj-ea"/>
              </a:rPr>
              <a:t>DELETE)</a:t>
            </a:r>
            <a:r>
              <a:rPr lang="zh-CN" altLang="en-US" sz="2200" dirty="0" smtClean="0">
                <a:latin typeface="+mj-ea"/>
                <a:ea typeface="+mj-ea"/>
              </a:rPr>
              <a:t>，</a:t>
            </a:r>
            <a:r>
              <a:rPr lang="zh-CN" altLang="en-US" sz="2200" dirty="0">
                <a:latin typeface="+mj-ea"/>
                <a:ea typeface="+mj-ea"/>
              </a:rPr>
              <a:t>不能使用</a:t>
            </a:r>
            <a:r>
              <a:rPr lang="en-US" altLang="zh-CN" sz="2200" dirty="0">
                <a:solidFill>
                  <a:srgbClr val="FF0000"/>
                </a:solidFill>
                <a:latin typeface="+mj-ea"/>
                <a:ea typeface="+mj-ea"/>
              </a:rPr>
              <a:t>DDL</a:t>
            </a:r>
            <a:r>
              <a:rPr lang="zh-CN" altLang="en-US" sz="2200" dirty="0">
                <a:solidFill>
                  <a:srgbClr val="FF0000"/>
                </a:solidFill>
                <a:latin typeface="+mj-ea"/>
                <a:ea typeface="+mj-ea"/>
              </a:rPr>
              <a:t>语句</a:t>
            </a:r>
            <a:r>
              <a:rPr lang="en-US" altLang="zh-CN" sz="2200" dirty="0">
                <a:latin typeface="+mj-ea"/>
                <a:ea typeface="+mj-ea"/>
              </a:rPr>
              <a:t>(</a:t>
            </a:r>
            <a:r>
              <a:rPr lang="en-US" altLang="zh-CN" sz="2200" dirty="0" smtClean="0">
                <a:latin typeface="+mj-ea"/>
                <a:ea typeface="+mj-ea"/>
              </a:rPr>
              <a:t>CREATE</a:t>
            </a:r>
            <a:r>
              <a:rPr lang="en-US" altLang="zh-CN" sz="2200" dirty="0" smtClean="0">
                <a:latin typeface="+mj-ea"/>
              </a:rPr>
              <a:t>,</a:t>
            </a:r>
            <a:r>
              <a:rPr lang="en-US" altLang="zh-CN" sz="2200" dirty="0" smtClean="0">
                <a:latin typeface="+mj-ea"/>
                <a:ea typeface="+mj-ea"/>
              </a:rPr>
              <a:t>ALTER</a:t>
            </a:r>
            <a:r>
              <a:rPr lang="en-US" altLang="zh-CN" sz="2200" dirty="0">
                <a:latin typeface="+mj-ea"/>
              </a:rPr>
              <a:t>,</a:t>
            </a:r>
            <a:r>
              <a:rPr lang="en-US" altLang="zh-CN" sz="2200" dirty="0" smtClean="0">
                <a:latin typeface="+mj-ea"/>
                <a:ea typeface="+mj-ea"/>
              </a:rPr>
              <a:t>DROP</a:t>
            </a:r>
            <a:r>
              <a:rPr lang="en-US" altLang="zh-CN" sz="2200" dirty="0">
                <a:latin typeface="+mj-ea"/>
                <a:ea typeface="+mj-ea"/>
              </a:rPr>
              <a:t>)</a:t>
            </a:r>
            <a:r>
              <a:rPr lang="zh-CN" altLang="en-US" sz="2200" dirty="0">
                <a:latin typeface="+mj-ea"/>
                <a:ea typeface="+mj-ea"/>
              </a:rPr>
              <a:t>。</a:t>
            </a:r>
          </a:p>
          <a:p>
            <a:pPr>
              <a:lnSpc>
                <a:spcPts val="4000"/>
              </a:lnSpc>
              <a:spcBef>
                <a:spcPts val="0"/>
              </a:spcBef>
              <a:defRPr/>
            </a:pPr>
            <a:r>
              <a:rPr lang="zh-CN" altLang="en-US" sz="2200" dirty="0">
                <a:latin typeface="+mj-ea"/>
                <a:ea typeface="+mj-ea"/>
              </a:rPr>
              <a:t>在触发语句中不能包含</a:t>
            </a:r>
            <a:r>
              <a:rPr lang="zh-CN" altLang="en-US" sz="2200" dirty="0">
                <a:solidFill>
                  <a:srgbClr val="FF0000"/>
                </a:solidFill>
                <a:latin typeface="+mj-ea"/>
                <a:ea typeface="+mj-ea"/>
              </a:rPr>
              <a:t>事务控制语句</a:t>
            </a:r>
            <a:r>
              <a:rPr lang="en-US" altLang="zh-CN" sz="2200" dirty="0">
                <a:latin typeface="+mj-ea"/>
                <a:ea typeface="+mj-ea"/>
              </a:rPr>
              <a:t>(</a:t>
            </a:r>
            <a:r>
              <a:rPr lang="en-US" altLang="zh-CN" sz="2200" dirty="0" smtClean="0">
                <a:latin typeface="+mj-ea"/>
                <a:ea typeface="+mj-ea"/>
              </a:rPr>
              <a:t>COMMIT,ROLLBACK</a:t>
            </a:r>
            <a:r>
              <a:rPr lang="en-US" altLang="zh-CN" sz="2200" dirty="0" smtClean="0">
                <a:latin typeface="+mj-ea"/>
              </a:rPr>
              <a:t>,</a:t>
            </a:r>
          </a:p>
          <a:p>
            <a:pPr marL="357188" indent="0">
              <a:lnSpc>
                <a:spcPts val="4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2200" dirty="0" smtClean="0">
                <a:latin typeface="+mj-ea"/>
                <a:ea typeface="+mj-ea"/>
              </a:rPr>
              <a:t>SAVEPOINT</a:t>
            </a:r>
            <a:r>
              <a:rPr lang="en-US" altLang="zh-CN" sz="2200" dirty="0">
                <a:latin typeface="+mj-ea"/>
                <a:ea typeface="+mj-ea"/>
              </a:rPr>
              <a:t>)</a:t>
            </a:r>
            <a:r>
              <a:rPr lang="zh-CN" altLang="en-US" sz="2200" dirty="0" smtClean="0">
                <a:latin typeface="+mj-ea"/>
                <a:ea typeface="+mj-ea"/>
              </a:rPr>
              <a:t>。在</a:t>
            </a:r>
            <a:r>
              <a:rPr lang="zh-CN" altLang="en-US" sz="2200" dirty="0">
                <a:latin typeface="+mj-ea"/>
                <a:ea typeface="+mj-ea"/>
              </a:rPr>
              <a:t>触发器主体中调用的任何过程、函数，都不能使用事务控制语句</a:t>
            </a:r>
            <a:r>
              <a:rPr lang="zh-CN" altLang="en-US" sz="2200" dirty="0" smtClean="0">
                <a:latin typeface="+mj-ea"/>
                <a:ea typeface="+mj-ea"/>
              </a:rPr>
              <a:t>。</a:t>
            </a:r>
          </a:p>
          <a:p>
            <a:pPr>
              <a:lnSpc>
                <a:spcPts val="4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zh-CN" altLang="en-US" sz="2200" dirty="0" smtClean="0">
                <a:latin typeface="+mj-ea"/>
                <a:ea typeface="+mj-ea"/>
              </a:rPr>
              <a:t>　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删除触发器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268413"/>
            <a:ext cx="7772400" cy="457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>
                <a:latin typeface="+mj-ea"/>
                <a:ea typeface="+mj-ea"/>
              </a:rPr>
              <a:t>删除触发器，语法格式：</a:t>
            </a:r>
          </a:p>
          <a:p>
            <a:pPr eaLnBrk="1" hangingPunct="1">
              <a:defRPr/>
            </a:pPr>
            <a:endParaRPr lang="zh-CN" altLang="en-US" sz="2800" dirty="0" smtClean="0">
              <a:latin typeface="+mj-ea"/>
              <a:ea typeface="+mj-ea"/>
            </a:endParaRPr>
          </a:p>
          <a:p>
            <a:pPr algn="ctr" eaLnBrk="1" hangingPunct="1">
              <a:buFont typeface="Wingdings" pitchFamily="2" charset="2"/>
              <a:buNone/>
              <a:defRPr/>
            </a:pPr>
            <a:r>
              <a:rPr lang="en-US" altLang="zh-CN" sz="2800" dirty="0" smtClean="0">
                <a:latin typeface="+mj-ea"/>
                <a:ea typeface="+mj-ea"/>
              </a:rPr>
              <a:t>DROP TRIGGER </a:t>
            </a:r>
            <a:r>
              <a:rPr lang="en-US" altLang="zh-CN" sz="2800" dirty="0" err="1" smtClean="0">
                <a:latin typeface="+mj-ea"/>
                <a:ea typeface="+mj-ea"/>
              </a:rPr>
              <a:t>trigger_name</a:t>
            </a:r>
            <a:r>
              <a:rPr lang="en-US" altLang="zh-CN" sz="2800" dirty="0" smtClean="0">
                <a:latin typeface="+mj-ea"/>
                <a:ea typeface="+mj-ea"/>
              </a:rPr>
              <a:t>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答辩幻灯片模板">
  <a:themeElements>
    <a:clrScheme name="答辩幻灯片模板 2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BDF53"/>
      </a:accent1>
      <a:accent2>
        <a:srgbClr val="FF9966"/>
      </a:accent2>
      <a:accent3>
        <a:srgbClr val="FFFFFF"/>
      </a:accent3>
      <a:accent4>
        <a:srgbClr val="000000"/>
      </a:accent4>
      <a:accent5>
        <a:srgbClr val="FDECB3"/>
      </a:accent5>
      <a:accent6>
        <a:srgbClr val="E78A5C"/>
      </a:accent6>
      <a:hlink>
        <a:srgbClr val="CC3300"/>
      </a:hlink>
      <a:folHlink>
        <a:srgbClr val="996600"/>
      </a:folHlink>
    </a:clrScheme>
    <a:fontScheme name="答辩幻灯片模板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99CC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99CC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答辩幻灯片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答辩幻灯片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答辩幻灯片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答辩幻灯片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答辩幻灯片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答辩幻灯片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答辩幻灯片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答辩幻灯片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答辩幻灯片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答辩幻灯片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答辩幻灯片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答辩幻灯片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7566</TotalTime>
  <Words>7276</Words>
  <Application>Microsoft Office PowerPoint</Application>
  <PresentationFormat>全屏显示(4:3)</PresentationFormat>
  <Paragraphs>1374</Paragraphs>
  <Slides>108</Slides>
  <Notes>7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108</vt:i4>
      </vt:variant>
    </vt:vector>
  </HeadingPairs>
  <TitlesOfParts>
    <vt:vector size="109" baseType="lpstr">
      <vt:lpstr>答辩幻灯片模板</vt:lpstr>
      <vt:lpstr> 第8章  数据库编程 </vt:lpstr>
      <vt:lpstr>第8章 Oracle数据库编程</vt:lpstr>
      <vt:lpstr>8.1   PL/SQL简介</vt:lpstr>
      <vt:lpstr>8.1   PL/SQL简介</vt:lpstr>
      <vt:lpstr>8.1   PL/SQL简介</vt:lpstr>
      <vt:lpstr>8.1   PL/SQL简介</vt:lpstr>
      <vt:lpstr>8.1   PL/SQL简介</vt:lpstr>
      <vt:lpstr>8.1   PL/SQL简介</vt:lpstr>
      <vt:lpstr>8.1   PL/SQL简介</vt:lpstr>
      <vt:lpstr>8.1   PL/SQL简介</vt:lpstr>
      <vt:lpstr>8.1   PL/SQL简介</vt:lpstr>
      <vt:lpstr>8.1   PL/SQL简介</vt:lpstr>
      <vt:lpstr>8.1   PL/SQL简介</vt:lpstr>
      <vt:lpstr>8.1   PL/SQL简介</vt:lpstr>
      <vt:lpstr>8.1   PL/SQL简介</vt:lpstr>
      <vt:lpstr>8.1   PL/SQL简介</vt:lpstr>
      <vt:lpstr>8.1   PL/SQL简介</vt:lpstr>
      <vt:lpstr>8.1   PL/SQL简介</vt:lpstr>
      <vt:lpstr>8.1   PL/SQL简介</vt:lpstr>
      <vt:lpstr>8.1   PL/SQL简介</vt:lpstr>
      <vt:lpstr>8.1   PL/SQL简介</vt:lpstr>
      <vt:lpstr>8.1   PL/SQL简介</vt:lpstr>
      <vt:lpstr>第8章 Oracle数据库编程</vt:lpstr>
      <vt:lpstr>1. 问题提出</vt:lpstr>
      <vt:lpstr>1. 问题提出</vt:lpstr>
      <vt:lpstr>1. 问题提出</vt:lpstr>
      <vt:lpstr>1. 问题提出</vt:lpstr>
      <vt:lpstr>1. 问题提出</vt:lpstr>
      <vt:lpstr>1. 问题提出</vt:lpstr>
      <vt:lpstr>1. 问题提出</vt:lpstr>
      <vt:lpstr>2. 问题分析</vt:lpstr>
      <vt:lpstr>2. 问题分析</vt:lpstr>
      <vt:lpstr>3. 游标概念</vt:lpstr>
      <vt:lpstr>4. 游标使用步骤</vt:lpstr>
      <vt:lpstr>4. 游标使用步骤</vt:lpstr>
      <vt:lpstr>4. 游标使用步骤</vt:lpstr>
      <vt:lpstr>4. 游标使用步骤</vt:lpstr>
      <vt:lpstr>4. 游标使用步骤</vt:lpstr>
      <vt:lpstr>4. 游标使用步骤</vt:lpstr>
      <vt:lpstr>4. 游标使用步骤</vt:lpstr>
      <vt:lpstr>4. 游标使用步骤</vt:lpstr>
      <vt:lpstr>4. 游标使用步骤</vt:lpstr>
      <vt:lpstr>4. 游标使用步骤</vt:lpstr>
      <vt:lpstr>4. 游标使用步骤</vt:lpstr>
      <vt:lpstr>4. 游标使用步骤</vt:lpstr>
      <vt:lpstr>4. 游标使用步骤</vt:lpstr>
      <vt:lpstr>4. 游标使用步骤</vt:lpstr>
      <vt:lpstr>4. 游标使用步骤</vt:lpstr>
      <vt:lpstr>4. 游标使用步骤</vt:lpstr>
      <vt:lpstr>4. 游标使用步骤</vt:lpstr>
      <vt:lpstr>8.2 游标</vt:lpstr>
      <vt:lpstr>8.2 游标</vt:lpstr>
      <vt:lpstr>8.2 游标</vt:lpstr>
      <vt:lpstr>8.2 游标</vt:lpstr>
      <vt:lpstr>8.2 游标</vt:lpstr>
      <vt:lpstr>8.2 游标</vt:lpstr>
      <vt:lpstr>8.2 游标</vt:lpstr>
      <vt:lpstr>第8章 Oracle数据库编程</vt:lpstr>
      <vt:lpstr>8.3  存储过程</vt:lpstr>
      <vt:lpstr>8.3  存储过程</vt:lpstr>
      <vt:lpstr>8.3  存储过程</vt:lpstr>
      <vt:lpstr>8.3  存储过程</vt:lpstr>
      <vt:lpstr>8.3  存储过程</vt:lpstr>
      <vt:lpstr>8.3  存储过程</vt:lpstr>
      <vt:lpstr>8.3  存储过程</vt:lpstr>
      <vt:lpstr>8.3  存储过程</vt:lpstr>
      <vt:lpstr>创建不带参数的存储过程</vt:lpstr>
      <vt:lpstr>创建不带参数的存储过程 </vt:lpstr>
      <vt:lpstr>创建带输入参数和输出参数的存储过程 </vt:lpstr>
      <vt:lpstr>创建带输入参数和输出参数的存储过程 </vt:lpstr>
      <vt:lpstr>创建带输入参数和输出参数的存储过程 </vt:lpstr>
      <vt:lpstr>创建带输入参数和输出参数的存储过程 </vt:lpstr>
      <vt:lpstr>创建带输入参数和输出参数的存储过程 </vt:lpstr>
      <vt:lpstr>创建带输入参数和输出参数的存储过程</vt:lpstr>
      <vt:lpstr>创建插入数据的存储过程</vt:lpstr>
      <vt:lpstr>创建删除数据的存储过程 </vt:lpstr>
      <vt:lpstr>创建修改数据的存储过程 </vt:lpstr>
      <vt:lpstr>删除存储过程</vt:lpstr>
      <vt:lpstr>第8章 Oracle数据库编程</vt:lpstr>
      <vt:lpstr>案例</vt:lpstr>
      <vt:lpstr>案例</vt:lpstr>
      <vt:lpstr>1.触发器概念</vt:lpstr>
      <vt:lpstr>1.触发器概念</vt:lpstr>
      <vt:lpstr>2.定义触发器</vt:lpstr>
      <vt:lpstr>2.定义触发器</vt:lpstr>
      <vt:lpstr>2.定义触发器</vt:lpstr>
      <vt:lpstr>2.定义触发器</vt:lpstr>
      <vt:lpstr>2.定义触发器</vt:lpstr>
      <vt:lpstr>2.定义触发器</vt:lpstr>
      <vt:lpstr>2.定义触发器</vt:lpstr>
      <vt:lpstr>2.定义触发器</vt:lpstr>
      <vt:lpstr>3.案例分析</vt:lpstr>
      <vt:lpstr>4.案例实现</vt:lpstr>
      <vt:lpstr>4.案例实现</vt:lpstr>
      <vt:lpstr>4.案例实现</vt:lpstr>
      <vt:lpstr>5. 触发器编写</vt:lpstr>
      <vt:lpstr>5. 触发器编写</vt:lpstr>
      <vt:lpstr>5. 触发器编写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 触发器编写</vt:lpstr>
      <vt:lpstr>5. 触发器编写</vt:lpstr>
      <vt:lpstr>6. 注意事项</vt:lpstr>
      <vt:lpstr>删除触发器</vt:lpstr>
    </vt:vector>
  </TitlesOfParts>
  <Company>西北农林科技大学信息工程学院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数据库原理与应用课件</dc:title>
  <dc:creator>杨丽丽</dc:creator>
  <cp:lastModifiedBy>dell</cp:lastModifiedBy>
  <cp:revision>424</cp:revision>
  <dcterms:created xsi:type="dcterms:W3CDTF">2007-06-09T06:38:14Z</dcterms:created>
  <dcterms:modified xsi:type="dcterms:W3CDTF">2017-06-01T05:29:17Z</dcterms:modified>
</cp:coreProperties>
</file>