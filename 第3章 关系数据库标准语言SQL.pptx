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66"/>
  </p:notesMasterIdLst>
  <p:handoutMasterIdLst>
    <p:handoutMasterId r:id="rId167"/>
  </p:handoutMasterIdLst>
  <p:sldIdLst>
    <p:sldId id="256" r:id="rId2"/>
    <p:sldId id="699" r:id="rId3"/>
    <p:sldId id="700" r:id="rId4"/>
    <p:sldId id="701" r:id="rId5"/>
    <p:sldId id="702" r:id="rId6"/>
    <p:sldId id="703" r:id="rId7"/>
    <p:sldId id="704" r:id="rId8"/>
    <p:sldId id="705" r:id="rId9"/>
    <p:sldId id="706" r:id="rId10"/>
    <p:sldId id="707" r:id="rId11"/>
    <p:sldId id="708" r:id="rId12"/>
    <p:sldId id="709" r:id="rId13"/>
    <p:sldId id="710" r:id="rId14"/>
    <p:sldId id="711" r:id="rId15"/>
    <p:sldId id="712" r:id="rId16"/>
    <p:sldId id="713" r:id="rId17"/>
    <p:sldId id="714" r:id="rId18"/>
    <p:sldId id="715" r:id="rId19"/>
    <p:sldId id="716" r:id="rId20"/>
    <p:sldId id="717" r:id="rId21"/>
    <p:sldId id="718" r:id="rId22"/>
    <p:sldId id="719" r:id="rId23"/>
    <p:sldId id="720" r:id="rId24"/>
    <p:sldId id="721" r:id="rId25"/>
    <p:sldId id="722" r:id="rId26"/>
    <p:sldId id="723" r:id="rId27"/>
    <p:sldId id="724" r:id="rId28"/>
    <p:sldId id="869" r:id="rId29"/>
    <p:sldId id="725" r:id="rId30"/>
    <p:sldId id="726" r:id="rId31"/>
    <p:sldId id="727" r:id="rId32"/>
    <p:sldId id="729" r:id="rId33"/>
    <p:sldId id="730" r:id="rId34"/>
    <p:sldId id="731" r:id="rId35"/>
    <p:sldId id="732" r:id="rId36"/>
    <p:sldId id="733" r:id="rId37"/>
    <p:sldId id="734" r:id="rId38"/>
    <p:sldId id="735" r:id="rId39"/>
    <p:sldId id="736" r:id="rId40"/>
    <p:sldId id="737" r:id="rId41"/>
    <p:sldId id="738" r:id="rId42"/>
    <p:sldId id="739" r:id="rId43"/>
    <p:sldId id="740" r:id="rId44"/>
    <p:sldId id="741" r:id="rId45"/>
    <p:sldId id="742" r:id="rId46"/>
    <p:sldId id="743" r:id="rId47"/>
    <p:sldId id="744" r:id="rId48"/>
    <p:sldId id="745" r:id="rId49"/>
    <p:sldId id="746" r:id="rId50"/>
    <p:sldId id="747" r:id="rId51"/>
    <p:sldId id="748" r:id="rId52"/>
    <p:sldId id="749" r:id="rId53"/>
    <p:sldId id="750" r:id="rId54"/>
    <p:sldId id="751" r:id="rId55"/>
    <p:sldId id="870" r:id="rId56"/>
    <p:sldId id="752" r:id="rId57"/>
    <p:sldId id="753" r:id="rId58"/>
    <p:sldId id="868" r:id="rId59"/>
    <p:sldId id="755" r:id="rId60"/>
    <p:sldId id="756" r:id="rId61"/>
    <p:sldId id="757" r:id="rId62"/>
    <p:sldId id="758" r:id="rId63"/>
    <p:sldId id="759" r:id="rId64"/>
    <p:sldId id="760" r:id="rId65"/>
    <p:sldId id="761" r:id="rId66"/>
    <p:sldId id="762" r:id="rId67"/>
    <p:sldId id="763" r:id="rId68"/>
    <p:sldId id="764" r:id="rId69"/>
    <p:sldId id="765" r:id="rId70"/>
    <p:sldId id="766" r:id="rId71"/>
    <p:sldId id="767" r:id="rId72"/>
    <p:sldId id="768" r:id="rId73"/>
    <p:sldId id="769" r:id="rId74"/>
    <p:sldId id="770" r:id="rId75"/>
    <p:sldId id="771" r:id="rId76"/>
    <p:sldId id="772" r:id="rId77"/>
    <p:sldId id="773" r:id="rId78"/>
    <p:sldId id="862" r:id="rId79"/>
    <p:sldId id="863" r:id="rId80"/>
    <p:sldId id="864" r:id="rId81"/>
    <p:sldId id="865" r:id="rId82"/>
    <p:sldId id="866" r:id="rId83"/>
    <p:sldId id="867" r:id="rId84"/>
    <p:sldId id="775" r:id="rId85"/>
    <p:sldId id="776" r:id="rId86"/>
    <p:sldId id="777" r:id="rId87"/>
    <p:sldId id="778" r:id="rId88"/>
    <p:sldId id="779" r:id="rId89"/>
    <p:sldId id="780" r:id="rId90"/>
    <p:sldId id="781" r:id="rId91"/>
    <p:sldId id="782" r:id="rId92"/>
    <p:sldId id="783" r:id="rId93"/>
    <p:sldId id="784" r:id="rId94"/>
    <p:sldId id="785" r:id="rId95"/>
    <p:sldId id="786" r:id="rId96"/>
    <p:sldId id="787" r:id="rId97"/>
    <p:sldId id="788" r:id="rId98"/>
    <p:sldId id="789" r:id="rId99"/>
    <p:sldId id="790" r:id="rId100"/>
    <p:sldId id="791" r:id="rId101"/>
    <p:sldId id="792" r:id="rId102"/>
    <p:sldId id="793" r:id="rId103"/>
    <p:sldId id="794" r:id="rId104"/>
    <p:sldId id="795" r:id="rId105"/>
    <p:sldId id="796" r:id="rId106"/>
    <p:sldId id="797" r:id="rId107"/>
    <p:sldId id="798" r:id="rId108"/>
    <p:sldId id="799" r:id="rId109"/>
    <p:sldId id="857" r:id="rId110"/>
    <p:sldId id="801" r:id="rId111"/>
    <p:sldId id="802" r:id="rId112"/>
    <p:sldId id="803" r:id="rId113"/>
    <p:sldId id="804" r:id="rId114"/>
    <p:sldId id="805" r:id="rId115"/>
    <p:sldId id="806" r:id="rId116"/>
    <p:sldId id="807" r:id="rId117"/>
    <p:sldId id="808" r:id="rId118"/>
    <p:sldId id="809" r:id="rId119"/>
    <p:sldId id="810" r:id="rId120"/>
    <p:sldId id="811" r:id="rId121"/>
    <p:sldId id="812" r:id="rId122"/>
    <p:sldId id="813" r:id="rId123"/>
    <p:sldId id="814" r:id="rId124"/>
    <p:sldId id="815" r:id="rId125"/>
    <p:sldId id="816" r:id="rId126"/>
    <p:sldId id="817" r:id="rId127"/>
    <p:sldId id="818" r:id="rId128"/>
    <p:sldId id="819" r:id="rId129"/>
    <p:sldId id="820" r:id="rId130"/>
    <p:sldId id="821" r:id="rId131"/>
    <p:sldId id="822" r:id="rId132"/>
    <p:sldId id="823" r:id="rId133"/>
    <p:sldId id="824" r:id="rId134"/>
    <p:sldId id="825" r:id="rId135"/>
    <p:sldId id="826" r:id="rId136"/>
    <p:sldId id="827" r:id="rId137"/>
    <p:sldId id="828" r:id="rId138"/>
    <p:sldId id="829" r:id="rId139"/>
    <p:sldId id="830" r:id="rId140"/>
    <p:sldId id="831" r:id="rId141"/>
    <p:sldId id="832" r:id="rId142"/>
    <p:sldId id="833" r:id="rId143"/>
    <p:sldId id="834" r:id="rId144"/>
    <p:sldId id="835" r:id="rId145"/>
    <p:sldId id="836" r:id="rId146"/>
    <p:sldId id="837" r:id="rId147"/>
    <p:sldId id="838" r:id="rId148"/>
    <p:sldId id="839" r:id="rId149"/>
    <p:sldId id="840" r:id="rId150"/>
    <p:sldId id="841" r:id="rId151"/>
    <p:sldId id="842" r:id="rId152"/>
    <p:sldId id="843" r:id="rId153"/>
    <p:sldId id="844" r:id="rId154"/>
    <p:sldId id="845" r:id="rId155"/>
    <p:sldId id="858" r:id="rId156"/>
    <p:sldId id="859" r:id="rId157"/>
    <p:sldId id="861" r:id="rId158"/>
    <p:sldId id="847" r:id="rId159"/>
    <p:sldId id="848" r:id="rId160"/>
    <p:sldId id="849" r:id="rId161"/>
    <p:sldId id="850" r:id="rId162"/>
    <p:sldId id="851" r:id="rId163"/>
    <p:sldId id="852" r:id="rId164"/>
    <p:sldId id="853" r:id="rId165"/>
  </p:sldIdLst>
  <p:sldSz cx="9144000" cy="6858000" type="screen4x3"/>
  <p:notesSz cx="6858000" cy="9144000"/>
  <p:defaultTextStyle>
    <a:defPPr>
      <a:defRPr lang="zh-CN"/>
    </a:defPPr>
    <a:lvl1pPr algn="l" rtl="0" eaLnBrk="0" fontAlgn="base" hangingPunct="0">
      <a:spcBef>
        <a:spcPct val="0"/>
      </a:spcBef>
      <a:spcAft>
        <a:spcPct val="0"/>
      </a:spcAft>
      <a:defRPr sz="3200" b="1"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sz="3200" b="1"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sz="3200" b="1"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sz="3200" b="1"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sz="3200" b="1" kern="1200">
        <a:solidFill>
          <a:schemeClr val="tx1"/>
        </a:solidFill>
        <a:latin typeface="Times New Roman" pitchFamily="18" charset="0"/>
        <a:ea typeface="宋体" pitchFamily="2" charset="-122"/>
        <a:cs typeface="+mn-cs"/>
      </a:defRPr>
    </a:lvl5pPr>
    <a:lvl6pPr marL="2286000" algn="l" defTabSz="914400" rtl="0" eaLnBrk="1" latinLnBrk="0" hangingPunct="1">
      <a:defRPr sz="3200" b="1" kern="1200">
        <a:solidFill>
          <a:schemeClr val="tx1"/>
        </a:solidFill>
        <a:latin typeface="Times New Roman" pitchFamily="18" charset="0"/>
        <a:ea typeface="宋体" pitchFamily="2" charset="-122"/>
        <a:cs typeface="+mn-cs"/>
      </a:defRPr>
    </a:lvl6pPr>
    <a:lvl7pPr marL="2743200" algn="l" defTabSz="914400" rtl="0" eaLnBrk="1" latinLnBrk="0" hangingPunct="1">
      <a:defRPr sz="3200" b="1" kern="1200">
        <a:solidFill>
          <a:schemeClr val="tx1"/>
        </a:solidFill>
        <a:latin typeface="Times New Roman" pitchFamily="18" charset="0"/>
        <a:ea typeface="宋体" pitchFamily="2" charset="-122"/>
        <a:cs typeface="+mn-cs"/>
      </a:defRPr>
    </a:lvl7pPr>
    <a:lvl8pPr marL="3200400" algn="l" defTabSz="914400" rtl="0" eaLnBrk="1" latinLnBrk="0" hangingPunct="1">
      <a:defRPr sz="3200" b="1" kern="1200">
        <a:solidFill>
          <a:schemeClr val="tx1"/>
        </a:solidFill>
        <a:latin typeface="Times New Roman" pitchFamily="18" charset="0"/>
        <a:ea typeface="宋体" pitchFamily="2" charset="-122"/>
        <a:cs typeface="+mn-cs"/>
      </a:defRPr>
    </a:lvl8pPr>
    <a:lvl9pPr marL="3657600" algn="l" defTabSz="914400" rtl="0" eaLnBrk="1" latinLnBrk="0" hangingPunct="1">
      <a:defRPr sz="3200" b="1"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FF"/>
    <a:srgbClr val="FFFF66"/>
    <a:srgbClr val="FFD071"/>
    <a:srgbClr val="FFFFAB"/>
    <a:srgbClr val="FFE7B7"/>
    <a:srgbClr val="FFCC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68" autoAdjust="0"/>
    <p:restoredTop sz="94994" autoAdjust="0"/>
  </p:normalViewPr>
  <p:slideViewPr>
    <p:cSldViewPr>
      <p:cViewPr varScale="1">
        <p:scale>
          <a:sx n="50" d="100"/>
          <a:sy n="50" d="100"/>
        </p:scale>
        <p:origin x="-518"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1" d="100"/>
          <a:sy n="51" d="100"/>
        </p:scale>
        <p:origin x="-183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200" b="0">
                <a:latin typeface="Arial" charset="0"/>
              </a:defRPr>
            </a:lvl1pPr>
          </a:lstStyle>
          <a:p>
            <a:pPr>
              <a:defRPr/>
            </a:pPr>
            <a:endParaRPr lang="en-US" altLang="zh-CN"/>
          </a:p>
        </p:txBody>
      </p:sp>
      <p:sp>
        <p:nvSpPr>
          <p:cNvPr id="2457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b="0">
                <a:latin typeface="Arial" charset="0"/>
              </a:defRPr>
            </a:lvl1pPr>
          </a:lstStyle>
          <a:p>
            <a:pPr>
              <a:defRPr/>
            </a:pPr>
            <a:fld id="{1FD85582-2CA4-4FBB-9639-7439035C9E91}" type="datetime1">
              <a:rPr lang="zh-CN" altLang="en-US"/>
              <a:pPr>
                <a:defRPr/>
              </a:pPr>
              <a:t>2017/3/10</a:t>
            </a:fld>
            <a:endParaRPr lang="en-US" altLang="zh-CN"/>
          </a:p>
        </p:txBody>
      </p:sp>
      <p:sp>
        <p:nvSpPr>
          <p:cNvPr id="2458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200" b="0">
                <a:latin typeface="Arial" charset="0"/>
              </a:defRPr>
            </a:lvl1pPr>
          </a:lstStyle>
          <a:p>
            <a:pPr>
              <a:defRPr/>
            </a:pPr>
            <a:endParaRPr lang="en-US" altLang="zh-CN"/>
          </a:p>
        </p:txBody>
      </p:sp>
      <p:sp>
        <p:nvSpPr>
          <p:cNvPr id="2458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charset="0"/>
              </a:defRPr>
            </a:lvl1pPr>
          </a:lstStyle>
          <a:p>
            <a:pPr>
              <a:defRPr/>
            </a:pPr>
            <a:fld id="{D40E5487-3CC9-455D-ADE8-8E17372276CC}" type="slidenum">
              <a:rPr lang="en-US" altLang="zh-CN"/>
              <a:pPr>
                <a:defRPr/>
              </a:pPr>
              <a:t>‹#›</a:t>
            </a:fld>
            <a:endParaRPr lang="en-US" altLang="zh-CN"/>
          </a:p>
        </p:txBody>
      </p:sp>
    </p:spTree>
    <p:extLst>
      <p:ext uri="{BB962C8B-B14F-4D97-AF65-F5344CB8AC3E}">
        <p14:creationId xmlns:p14="http://schemas.microsoft.com/office/powerpoint/2010/main" val="41988622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200" b="0">
                <a:latin typeface="Arial" charset="0"/>
              </a:defRPr>
            </a:lvl1pPr>
          </a:lstStyle>
          <a:p>
            <a:pPr>
              <a:defRPr/>
            </a:pPr>
            <a:endParaRPr lang="en-US" altLang="zh-CN"/>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b="0">
                <a:latin typeface="Arial" charset="0"/>
              </a:defRPr>
            </a:lvl1pPr>
          </a:lstStyle>
          <a:p>
            <a:pPr>
              <a:defRPr/>
            </a:pPr>
            <a:fld id="{E8CE19B6-5EA7-45BA-88E8-28ED5E972383}" type="datetime1">
              <a:rPr lang="zh-CN" altLang="en-US"/>
              <a:pPr>
                <a:defRPr/>
              </a:pPr>
              <a:t>2017/3/10</a:t>
            </a:fld>
            <a:endParaRPr lang="en-US" altLang="zh-CN"/>
          </a:p>
        </p:txBody>
      </p:sp>
      <p:sp>
        <p:nvSpPr>
          <p:cNvPr id="172036"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200" b="0">
                <a:latin typeface="Arial" charset="0"/>
              </a:defRPr>
            </a:lvl1pPr>
          </a:lstStyle>
          <a:p>
            <a:pPr>
              <a:defRPr/>
            </a:pPr>
            <a:endParaRPr lang="en-US" altLang="zh-CN"/>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charset="0"/>
              </a:defRPr>
            </a:lvl1pPr>
          </a:lstStyle>
          <a:p>
            <a:pPr>
              <a:defRPr/>
            </a:pPr>
            <a:fld id="{BDFEB500-ABCA-4667-9D7B-3CBFAC564F67}" type="slidenum">
              <a:rPr lang="en-US" altLang="zh-CN"/>
              <a:pPr>
                <a:defRPr/>
              </a:pPr>
              <a:t>‹#›</a:t>
            </a:fld>
            <a:endParaRPr lang="en-US" altLang="zh-CN"/>
          </a:p>
        </p:txBody>
      </p:sp>
    </p:spTree>
    <p:extLst>
      <p:ext uri="{BB962C8B-B14F-4D97-AF65-F5344CB8AC3E}">
        <p14:creationId xmlns:p14="http://schemas.microsoft.com/office/powerpoint/2010/main" val="1358006214"/>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fld id="{A8017A36-0EAB-49EC-B0BA-007588DCEC51}" type="datetime1">
              <a:rPr lang="zh-CN" altLang="en-US" sz="1200" b="0" smtClean="0">
                <a:latin typeface="Arial" charset="0"/>
              </a:rPr>
              <a:pPr/>
              <a:t>2017/3/10</a:t>
            </a:fld>
            <a:endParaRPr lang="en-US" altLang="zh-CN" sz="1200" b="0" smtClean="0">
              <a:latin typeface="Arial" charset="0"/>
            </a:endParaRPr>
          </a:p>
        </p:txBody>
      </p:sp>
      <p:sp>
        <p:nvSpPr>
          <p:cNvPr id="17305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fld id="{D8ED1C47-1589-4D8C-8962-FB357E1E6B81}" type="slidenum">
              <a:rPr lang="en-US" altLang="zh-CN" sz="1200" b="0" smtClean="0">
                <a:latin typeface="Arial" charset="0"/>
              </a:rPr>
              <a:pPr/>
              <a:t>1</a:t>
            </a:fld>
            <a:endParaRPr lang="en-US" altLang="zh-CN" sz="1200" b="0" smtClean="0">
              <a:latin typeface="Arial" charset="0"/>
            </a:endParaRPr>
          </a:p>
        </p:txBody>
      </p:sp>
      <p:sp>
        <p:nvSpPr>
          <p:cNvPr id="173060" name="Rectangle 2"/>
          <p:cNvSpPr>
            <a:spLocks noRot="1" noChangeArrowheads="1" noTextEdit="1"/>
          </p:cNvSpPr>
          <p:nvPr>
            <p:ph type="sldImg"/>
          </p:nvPr>
        </p:nvSpPr>
        <p:spPr>
          <a:ln/>
        </p:spPr>
      </p:sp>
      <p:sp>
        <p:nvSpPr>
          <p:cNvPr id="173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幻灯片图像占位符 1"/>
          <p:cNvSpPr>
            <a:spLocks noGrp="1" noRot="1" noChangeAspect="1" noTextEdit="1"/>
          </p:cNvSpPr>
          <p:nvPr>
            <p:ph type="sldImg"/>
          </p:nvPr>
        </p:nvSpPr>
        <p:spPr>
          <a:ln/>
        </p:spPr>
      </p:sp>
      <p:sp>
        <p:nvSpPr>
          <p:cNvPr id="1740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74084"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fld id="{8866CB2D-69D8-418C-A8A5-158B8AF4BB35}" type="datetime1">
              <a:rPr lang="zh-CN" altLang="en-US" sz="1200" b="0" smtClean="0">
                <a:latin typeface="Arial" charset="0"/>
              </a:rPr>
              <a:pPr/>
              <a:t>2017/3/10</a:t>
            </a:fld>
            <a:endParaRPr lang="en-US" altLang="zh-CN" sz="1200" b="0" smtClean="0">
              <a:latin typeface="Arial" charset="0"/>
            </a:endParaRPr>
          </a:p>
        </p:txBody>
      </p:sp>
      <p:sp>
        <p:nvSpPr>
          <p:cNvPr id="174085"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fld id="{E109DC37-C2B0-449F-B16A-3734947DC6A9}" type="slidenum">
              <a:rPr lang="en-US" altLang="zh-CN" sz="1200" b="0" smtClean="0">
                <a:latin typeface="Arial" charset="0"/>
              </a:rPr>
              <a:pPr/>
              <a:t>30</a:t>
            </a:fld>
            <a:endParaRPr lang="en-US" altLang="zh-CN" sz="1200" b="0" smtClean="0">
              <a:latin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幻灯片图像占位符 1"/>
          <p:cNvSpPr>
            <a:spLocks noGrp="1" noRot="1" noChangeAspect="1" noTextEdit="1"/>
          </p:cNvSpPr>
          <p:nvPr>
            <p:ph type="sldImg"/>
          </p:nvPr>
        </p:nvSpPr>
        <p:spPr>
          <a:ln/>
        </p:spPr>
      </p:sp>
      <p:sp>
        <p:nvSpPr>
          <p:cNvPr id="1751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175108" name="日期占位符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fld id="{B811F35A-DE67-4C52-A26C-9147F55ED07B}" type="datetime1">
              <a:rPr lang="zh-CN" altLang="en-US" sz="1200" b="0" smtClean="0">
                <a:latin typeface="Arial" charset="0"/>
              </a:rPr>
              <a:pPr/>
              <a:t>2017/3/10</a:t>
            </a:fld>
            <a:endParaRPr lang="en-US" altLang="zh-CN" sz="1200" b="0" smtClean="0">
              <a:latin typeface="Arial" charset="0"/>
            </a:endParaRPr>
          </a:p>
        </p:txBody>
      </p:sp>
      <p:sp>
        <p:nvSpPr>
          <p:cNvPr id="175109" name="灯片编号占位符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fld id="{AD7B99EA-68D9-402F-B751-5284757B2985}" type="slidenum">
              <a:rPr lang="en-US" altLang="zh-CN" sz="1200" b="0" smtClean="0">
                <a:latin typeface="Arial" charset="0"/>
              </a:rPr>
              <a:pPr/>
              <a:t>53</a:t>
            </a:fld>
            <a:endParaRPr lang="en-US" altLang="zh-CN" sz="1200" b="0" smtClean="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3" name="Picture 2" descr="1"/>
          <p:cNvPicPr>
            <a:picLocks noChangeAspect="1" noChangeArrowheads="1"/>
          </p:cNvPicPr>
          <p:nvPr/>
        </p:nvPicPr>
        <p:blipFill>
          <a:blip r:embed="rId2">
            <a:extLst>
              <a:ext uri="{28A0092B-C50C-407E-A947-70E740481C1C}">
                <a14:useLocalDpi xmlns:a14="http://schemas.microsoft.com/office/drawing/2010/main" val="0"/>
              </a:ext>
            </a:extLst>
          </a:blip>
          <a:srcRect t="6012" b="1041"/>
          <a:stretch>
            <a:fillRect/>
          </a:stretch>
        </p:blipFill>
        <p:spPr bwMode="auto">
          <a:xfrm>
            <a:off x="-6350" y="14288"/>
            <a:ext cx="9144000" cy="638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5" descr="{912FCF66-91DB-43A8-9945-DA5F076F39FA}"/>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2700338"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3"/>
          <p:cNvSpPr>
            <a:spLocks noGrp="1" noChangeArrowheads="1"/>
          </p:cNvSpPr>
          <p:nvPr>
            <p:ph type="ctrTitle"/>
          </p:nvPr>
        </p:nvSpPr>
        <p:spPr>
          <a:xfrm>
            <a:off x="2195513" y="2420938"/>
            <a:ext cx="5327650" cy="1470025"/>
          </a:xfrm>
        </p:spPr>
        <p:txBody>
          <a:bodyPr/>
          <a:lstStyle>
            <a:lvl1pPr>
              <a:defRPr/>
            </a:lvl1pPr>
          </a:lstStyle>
          <a:p>
            <a:r>
              <a:rPr lang="zh-CN" altLang="en-US"/>
              <a:t>单击此处编辑母版标题样式</a:t>
            </a:r>
          </a:p>
        </p:txBody>
      </p:sp>
    </p:spTree>
    <p:extLst>
      <p:ext uri="{BB962C8B-B14F-4D97-AF65-F5344CB8AC3E}">
        <p14:creationId xmlns:p14="http://schemas.microsoft.com/office/powerpoint/2010/main" val="22375229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1545593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48126029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628775"/>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59313" y="1628775"/>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99914691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30647884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95240593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0331428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71470748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331323524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724151073"/>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69075" y="0"/>
            <a:ext cx="2128838" cy="61547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79388" y="0"/>
            <a:ext cx="6237287" cy="61547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60665344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79388" y="0"/>
            <a:ext cx="8229600" cy="1125538"/>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68313" y="1628775"/>
            <a:ext cx="8229600" cy="4525963"/>
          </a:xfrm>
        </p:spPr>
        <p:txBody>
          <a:bodyPr/>
          <a:lstStyle/>
          <a:p>
            <a:pPr lvl="0"/>
            <a:endParaRPr lang="zh-CN" altLang="en-US" noProof="0" smtClean="0"/>
          </a:p>
        </p:txBody>
      </p:sp>
    </p:spTree>
    <p:extLst>
      <p:ext uri="{BB962C8B-B14F-4D97-AF65-F5344CB8AC3E}">
        <p14:creationId xmlns:p14="http://schemas.microsoft.com/office/powerpoint/2010/main" val="364304635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457200"/>
            <a:ext cx="8229600" cy="955675"/>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28775"/>
            <a:ext cx="4038600" cy="42386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28775"/>
            <a:ext cx="4038600" cy="42386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0"/>
          </p:nvPr>
        </p:nvSpPr>
        <p:spPr>
          <a:xfrm>
            <a:off x="3124200" y="6248400"/>
            <a:ext cx="2895600" cy="457200"/>
          </a:xfrm>
          <a:prstGeom prst="rect">
            <a:avLst/>
          </a:prstGeom>
        </p:spPr>
        <p:txBody>
          <a:bodyPr/>
          <a:lstStyle>
            <a:lvl1pPr algn="ctr" eaLnBrk="1" hangingPunct="1">
              <a:spcBef>
                <a:spcPct val="20000"/>
              </a:spcBef>
              <a:defRPr/>
            </a:lvl1pPr>
          </a:lstStyle>
          <a:p>
            <a:pPr>
              <a:defRPr/>
            </a:pPr>
            <a:endParaRPr lang="en-US" altLang="zh-CN"/>
          </a:p>
        </p:txBody>
      </p:sp>
      <p:sp>
        <p:nvSpPr>
          <p:cNvPr id="6" name="灯片编号占位符 5"/>
          <p:cNvSpPr>
            <a:spLocks noGrp="1"/>
          </p:cNvSpPr>
          <p:nvPr>
            <p:ph type="sldNum" sz="quarter" idx="11"/>
          </p:nvPr>
        </p:nvSpPr>
        <p:spPr>
          <a:xfrm>
            <a:off x="6553200" y="6248400"/>
            <a:ext cx="2133600" cy="457200"/>
          </a:xfrm>
          <a:prstGeom prst="rect">
            <a:avLst/>
          </a:prstGeom>
        </p:spPr>
        <p:txBody>
          <a:bodyPr vert="horz" wrap="square" lIns="91440" tIns="45720" rIns="91440" bIns="45720" numCol="1" anchor="t" anchorCtr="0" compatLnSpc="1">
            <a:prstTxWarp prst="textNoShape">
              <a:avLst/>
            </a:prstTxWarp>
          </a:bodyPr>
          <a:lstStyle>
            <a:lvl1pPr algn="ctr" eaLnBrk="1" hangingPunct="1">
              <a:spcBef>
                <a:spcPct val="20000"/>
              </a:spcBef>
              <a:defRPr/>
            </a:lvl1pPr>
          </a:lstStyle>
          <a:p>
            <a:pPr>
              <a:defRPr/>
            </a:pPr>
            <a:fld id="{0376F67A-3941-446C-BA87-953B23B4E49A}" type="slidenum">
              <a:rPr lang="en-US" altLang="zh-CN"/>
              <a:pPr>
                <a:defRPr/>
              </a:pPr>
              <a:t>‹#›</a:t>
            </a:fld>
            <a:endParaRPr lang="en-US" altLang="zh-CN"/>
          </a:p>
        </p:txBody>
      </p:sp>
      <p:sp>
        <p:nvSpPr>
          <p:cNvPr id="7" name="日期占位符 6"/>
          <p:cNvSpPr>
            <a:spLocks noGrp="1"/>
          </p:cNvSpPr>
          <p:nvPr>
            <p:ph type="dt" sz="half" idx="12"/>
          </p:nvPr>
        </p:nvSpPr>
        <p:spPr>
          <a:xfrm>
            <a:off x="457200" y="6245225"/>
            <a:ext cx="2133600" cy="476250"/>
          </a:xfrm>
          <a:prstGeom prst="rect">
            <a:avLst/>
          </a:prstGeom>
        </p:spPr>
        <p:txBody>
          <a:bodyPr/>
          <a:lstStyle>
            <a:lvl1pPr algn="ctr" eaLnBrk="1" hangingPunct="1">
              <a:spcBef>
                <a:spcPct val="20000"/>
              </a:spcBef>
              <a:defRPr/>
            </a:lvl1pPr>
          </a:lstStyle>
          <a:p>
            <a:pPr>
              <a:defRPr/>
            </a:pPr>
            <a:endParaRPr lang="en-US" altLang="zh-CN"/>
          </a:p>
        </p:txBody>
      </p:sp>
    </p:spTree>
    <p:extLst>
      <p:ext uri="{BB962C8B-B14F-4D97-AF65-F5344CB8AC3E}">
        <p14:creationId xmlns:p14="http://schemas.microsoft.com/office/powerpoint/2010/main" val="1909839018"/>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44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179388" y="0"/>
            <a:ext cx="82296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zh-CN" smtClean="0"/>
          </a:p>
        </p:txBody>
      </p:sp>
      <p:sp>
        <p:nvSpPr>
          <p:cNvPr id="1028" name="Rectangle 4"/>
          <p:cNvSpPr>
            <a:spLocks noGrp="1" noChangeArrowheads="1"/>
          </p:cNvSpPr>
          <p:nvPr>
            <p:ph type="body" idx="1"/>
          </p:nvPr>
        </p:nvSpPr>
        <p:spPr bwMode="auto">
          <a:xfrm>
            <a:off x="468313" y="1628775"/>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Tree>
  </p:cSld>
  <p:clrMap bg1="lt1" tx1="dk1" bg2="lt2" tx2="dk2" accent1="accent1" accent2="accent2" accent3="accent3" accent4="accent4" accent5="accent5" accent6="accent6" hlink="hlink" folHlink="folHlink"/>
  <p:sldLayoutIdLst>
    <p:sldLayoutId id="2147484389" r:id="rId1"/>
    <p:sldLayoutId id="2147484378" r:id="rId2"/>
    <p:sldLayoutId id="2147484379" r:id="rId3"/>
    <p:sldLayoutId id="2147484380" r:id="rId4"/>
    <p:sldLayoutId id="2147484381" r:id="rId5"/>
    <p:sldLayoutId id="2147484382" r:id="rId6"/>
    <p:sldLayoutId id="2147484383" r:id="rId7"/>
    <p:sldLayoutId id="2147484384" r:id="rId8"/>
    <p:sldLayoutId id="2147484385" r:id="rId9"/>
    <p:sldLayoutId id="2147484386" r:id="rId10"/>
    <p:sldLayoutId id="2147484387" r:id="rId11"/>
    <p:sldLayoutId id="2147484388" r:id="rId12"/>
    <p:sldLayoutId id="2147484390" r:id="rId13"/>
  </p:sldLayoutIdLst>
  <p:transition/>
  <p:timing>
    <p:tnLst>
      <p:par>
        <p:cTn id="1" dur="indefinite" restart="never" nodeType="tmRoot"/>
      </p:par>
    </p:tnLst>
  </p:timing>
  <p:txStyles>
    <p:title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714375" y="1979613"/>
            <a:ext cx="7705725" cy="2163762"/>
          </a:xfrm>
        </p:spPr>
        <p:txBody>
          <a:bodyPr/>
          <a:lstStyle/>
          <a:p>
            <a:pPr algn="ctr" eaLnBrk="1" hangingPunct="1">
              <a:defRPr/>
            </a:pPr>
            <a:r>
              <a:rPr kumimoji="1" lang="zh-CN" altLang="en-US" sz="5400" dirty="0" smtClean="0">
                <a:effectLst>
                  <a:outerShdw blurRad="38100" dist="38100" dir="2700000" algn="tl">
                    <a:srgbClr val="C0C0C0"/>
                  </a:outerShdw>
                </a:effectLst>
              </a:rPr>
              <a:t/>
            </a:r>
            <a:br>
              <a:rPr kumimoji="1" lang="zh-CN" altLang="en-US" sz="5400" dirty="0" smtClean="0">
                <a:effectLst>
                  <a:outerShdw blurRad="38100" dist="38100" dir="2700000" algn="tl">
                    <a:srgbClr val="C0C0C0"/>
                  </a:outerShdw>
                </a:effectLst>
              </a:rPr>
            </a:br>
            <a:r>
              <a:rPr kumimoji="1" lang="zh-CN" altLang="en-US" sz="4400" dirty="0">
                <a:effectLst>
                  <a:outerShdw blurRad="38100" dist="38100" dir="2700000" algn="tl">
                    <a:srgbClr val="C0C0C0"/>
                  </a:outerShdw>
                </a:effectLst>
              </a:rPr>
              <a:t>第</a:t>
            </a:r>
            <a:r>
              <a:rPr kumimoji="1" lang="en-US" altLang="zh-CN" sz="4400" dirty="0">
                <a:effectLst>
                  <a:outerShdw blurRad="38100" dist="38100" dir="2700000" algn="tl">
                    <a:srgbClr val="C0C0C0"/>
                  </a:outerShdw>
                </a:effectLst>
              </a:rPr>
              <a:t>3</a:t>
            </a:r>
            <a:r>
              <a:rPr kumimoji="1" lang="zh-CN" altLang="en-US" sz="4400" dirty="0">
                <a:effectLst>
                  <a:outerShdw blurRad="38100" dist="38100" dir="2700000" algn="tl">
                    <a:srgbClr val="C0C0C0"/>
                  </a:outerShdw>
                </a:effectLst>
              </a:rPr>
              <a:t>章 关系数据库标准语言</a:t>
            </a:r>
            <a:r>
              <a:rPr kumimoji="1" lang="en-US" altLang="zh-CN" sz="4400" dirty="0" smtClean="0">
                <a:effectLst>
                  <a:outerShdw blurRad="38100" dist="38100" dir="2700000" algn="tl">
                    <a:srgbClr val="C0C0C0"/>
                  </a:outerShdw>
                </a:effectLst>
              </a:rPr>
              <a:t>SQL</a:t>
            </a:r>
            <a:r>
              <a:rPr kumimoji="1" lang="zh-CN" altLang="en-US" sz="4400" dirty="0" smtClean="0">
                <a:effectLst>
                  <a:outerShdw blurRad="38100" dist="38100" dir="2700000" algn="tl">
                    <a:srgbClr val="C0C0C0"/>
                  </a:outerShdw>
                </a:effectLst>
              </a:rPr>
              <a:t/>
            </a:r>
            <a:br>
              <a:rPr kumimoji="1" lang="zh-CN" altLang="en-US" sz="4400" dirty="0" smtClean="0">
                <a:effectLst>
                  <a:outerShdw blurRad="38100" dist="38100" dir="2700000" algn="tl">
                    <a:srgbClr val="C0C0C0"/>
                  </a:outerShdw>
                </a:effectLst>
              </a:rPr>
            </a:br>
            <a:endParaRPr kumimoji="1" lang="zh-CN" altLang="en-US" sz="4400" dirty="0" smtClean="0">
              <a:effectLst>
                <a:outerShdw blurRad="38100" dist="38100" dir="2700000" algn="tl">
                  <a:srgbClr val="C0C0C0"/>
                </a:outerShdw>
              </a:effectLst>
            </a:endParaRPr>
          </a:p>
        </p:txBody>
      </p:sp>
      <p:sp>
        <p:nvSpPr>
          <p:cNvPr id="4" name="Rectangle 3"/>
          <p:cNvSpPr txBox="1">
            <a:spLocks noChangeArrowheads="1"/>
          </p:cNvSpPr>
          <p:nvPr/>
        </p:nvSpPr>
        <p:spPr bwMode="auto">
          <a:xfrm>
            <a:off x="2000250" y="4508500"/>
            <a:ext cx="485775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lgn="ctr" eaLnBrk="1" hangingPunct="1">
              <a:buFontTx/>
              <a:buNone/>
              <a:defRPr/>
            </a:pPr>
            <a:r>
              <a:rPr lang="zh-CN" altLang="en-US" sz="2400" kern="0" dirty="0" smtClean="0">
                <a:solidFill>
                  <a:srgbClr val="002060"/>
                </a:solidFill>
                <a:latin typeface="宋体" pitchFamily="2" charset="-122"/>
              </a:rPr>
              <a:t>主讲教师：杨丽丽</a:t>
            </a:r>
            <a:endParaRPr lang="en-US" altLang="zh-CN" sz="2400" kern="0" dirty="0" smtClean="0">
              <a:solidFill>
                <a:srgbClr val="002060"/>
              </a:solidFill>
              <a:latin typeface="宋体" pitchFamily="2" charset="-122"/>
            </a:endParaRPr>
          </a:p>
          <a:p>
            <a:pPr marL="0" indent="0" algn="ctr" eaLnBrk="1" hangingPunct="1">
              <a:buFontTx/>
              <a:buNone/>
              <a:defRPr/>
            </a:pPr>
            <a:r>
              <a:rPr lang="en-US" altLang="zh-CN" sz="2400" kern="0" dirty="0" err="1">
                <a:solidFill>
                  <a:srgbClr val="002060"/>
                </a:solidFill>
                <a:latin typeface="宋体" pitchFamily="2" charset="-122"/>
              </a:rPr>
              <a:t>E-mail:yll@nwsuaf.edu.cn</a:t>
            </a:r>
            <a:endParaRPr lang="en-US" altLang="zh-CN" sz="2400" kern="0" dirty="0" smtClean="0">
              <a:solidFill>
                <a:srgbClr val="002060"/>
              </a:solidFill>
              <a:latin typeface="宋体" pitchFamily="2" charset="-122"/>
            </a:endParaRPr>
          </a:p>
          <a:p>
            <a:pPr marL="0" indent="0" algn="ctr" eaLnBrk="1" hangingPunct="1">
              <a:buFontTx/>
              <a:buNone/>
              <a:defRPr/>
            </a:pPr>
            <a:r>
              <a:rPr lang="en-US" altLang="zh-CN" sz="2400" kern="0" dirty="0">
                <a:solidFill>
                  <a:srgbClr val="002060"/>
                </a:solidFill>
                <a:latin typeface="宋体" pitchFamily="2" charset="-122"/>
              </a:rPr>
              <a:t>Tel: </a:t>
            </a:r>
            <a:r>
              <a:rPr lang="en-US" altLang="zh-CN" sz="2400" kern="0" dirty="0" smtClean="0">
                <a:solidFill>
                  <a:srgbClr val="002060"/>
                </a:solidFill>
                <a:latin typeface="宋体" pitchFamily="2" charset="-122"/>
              </a:rPr>
              <a:t>17709213676</a:t>
            </a:r>
            <a:r>
              <a:rPr lang="zh-CN" altLang="en-US" sz="2400" kern="0" dirty="0" smtClean="0">
                <a:solidFill>
                  <a:srgbClr val="002060"/>
                </a:solidFill>
                <a:latin typeface="宋体" pitchFamily="2" charset="-122"/>
              </a:rPr>
              <a:t>，</a:t>
            </a:r>
            <a:r>
              <a:rPr lang="en-US" altLang="zh-CN" sz="2400" kern="0" dirty="0" smtClean="0">
                <a:solidFill>
                  <a:srgbClr val="002060"/>
                </a:solidFill>
                <a:latin typeface="宋体" pitchFamily="2" charset="-122"/>
              </a:rPr>
              <a:t>87091337(O)</a:t>
            </a:r>
            <a:endParaRPr lang="zh-CN" altLang="en-US" sz="2400" kern="0" dirty="0">
              <a:solidFill>
                <a:srgbClr val="002060"/>
              </a:solidFill>
              <a:latin typeface="宋体" pitchFamily="2" charset="-122"/>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71550" y="188913"/>
            <a:ext cx="7793038" cy="719137"/>
          </a:xfrm>
        </p:spPr>
        <p:txBody>
          <a:bodyPr/>
          <a:lstStyle/>
          <a:p>
            <a:pPr eaLnBrk="1" hangingPunct="1"/>
            <a:r>
              <a:rPr lang="zh-CN" altLang="en-US" sz="3200" smtClean="0"/>
              <a:t>  第三章  关系数据库标准语言</a:t>
            </a:r>
            <a:r>
              <a:rPr lang="en-US" altLang="zh-CN" sz="3200" smtClean="0"/>
              <a:t>SQL</a:t>
            </a:r>
          </a:p>
        </p:txBody>
      </p:sp>
      <p:sp>
        <p:nvSpPr>
          <p:cNvPr id="5123" name="Rectangle 3"/>
          <p:cNvSpPr>
            <a:spLocks noGrp="1" noChangeArrowheads="1"/>
          </p:cNvSpPr>
          <p:nvPr>
            <p:ph type="body" idx="1"/>
          </p:nvPr>
        </p:nvSpPr>
        <p:spPr>
          <a:xfrm>
            <a:off x="1773238" y="1889125"/>
            <a:ext cx="5254625" cy="3805238"/>
          </a:xfrm>
        </p:spPr>
        <p:txBody>
          <a:bodyPr/>
          <a:lstStyle/>
          <a:p>
            <a:pPr algn="just" eaLnBrk="1" hangingPunct="1">
              <a:lnSpc>
                <a:spcPct val="90000"/>
              </a:lnSpc>
              <a:buFont typeface="Wingdings" pitchFamily="2" charset="2"/>
              <a:buNone/>
            </a:pPr>
            <a:r>
              <a:rPr lang="en-US" altLang="zh-CN" sz="2800" smtClean="0">
                <a:solidFill>
                  <a:srgbClr val="FF0000"/>
                </a:solidFill>
                <a:latin typeface="黑体" pitchFamily="49" charset="-122"/>
                <a:ea typeface="黑体" pitchFamily="49" charset="-122"/>
              </a:rPr>
              <a:t>3.1 SQL</a:t>
            </a:r>
            <a:r>
              <a:rPr lang="zh-CN" altLang="en-US" sz="2800" smtClean="0">
                <a:solidFill>
                  <a:srgbClr val="FF0000"/>
                </a:solidFill>
                <a:latin typeface="黑体" pitchFamily="49" charset="-122"/>
                <a:ea typeface="黑体" pitchFamily="49" charset="-122"/>
              </a:rPr>
              <a:t>概述</a:t>
            </a:r>
          </a:p>
          <a:p>
            <a:pPr algn="just" eaLnBrk="1" hangingPunct="1">
              <a:lnSpc>
                <a:spcPct val="90000"/>
              </a:lnSpc>
              <a:buFont typeface="Wingdings" pitchFamily="2" charset="2"/>
              <a:buNone/>
            </a:pPr>
            <a:r>
              <a:rPr lang="en-US" altLang="zh-CN" sz="2800" smtClean="0">
                <a:latin typeface="黑体" pitchFamily="49" charset="-122"/>
                <a:ea typeface="黑体" pitchFamily="49" charset="-122"/>
              </a:rPr>
              <a:t>3.2 </a:t>
            </a:r>
            <a:r>
              <a:rPr lang="zh-CN" altLang="en-US" sz="2800" smtClean="0">
                <a:latin typeface="黑体" pitchFamily="49" charset="-122"/>
                <a:ea typeface="黑体" pitchFamily="49" charset="-122"/>
              </a:rPr>
              <a:t>学生</a:t>
            </a:r>
            <a:r>
              <a:rPr lang="en-US" altLang="zh-CN" sz="2800" smtClean="0">
                <a:latin typeface="黑体" pitchFamily="49" charset="-122"/>
                <a:ea typeface="黑体" pitchFamily="49" charset="-122"/>
              </a:rPr>
              <a:t>-</a:t>
            </a:r>
            <a:r>
              <a:rPr lang="zh-CN" altLang="en-US" sz="2800" smtClean="0">
                <a:latin typeface="黑体" pitchFamily="49" charset="-122"/>
                <a:ea typeface="黑体" pitchFamily="49" charset="-122"/>
              </a:rPr>
              <a:t>课程数据库</a:t>
            </a:r>
          </a:p>
          <a:p>
            <a:pPr algn="just" eaLnBrk="1" hangingPunct="1">
              <a:lnSpc>
                <a:spcPct val="90000"/>
              </a:lnSpc>
              <a:buFont typeface="Wingdings" pitchFamily="2" charset="2"/>
              <a:buNone/>
            </a:pPr>
            <a:r>
              <a:rPr lang="en-US" altLang="zh-CN" sz="2800" smtClean="0">
                <a:latin typeface="黑体" pitchFamily="49" charset="-122"/>
                <a:ea typeface="黑体" pitchFamily="49" charset="-122"/>
              </a:rPr>
              <a:t>3.3 </a:t>
            </a:r>
            <a:r>
              <a:rPr lang="zh-CN" altLang="en-US" sz="2800" smtClean="0">
                <a:latin typeface="黑体" pitchFamily="49" charset="-122"/>
                <a:ea typeface="黑体" pitchFamily="49" charset="-122"/>
              </a:rPr>
              <a:t>数据定义</a:t>
            </a:r>
          </a:p>
          <a:p>
            <a:pPr algn="just" eaLnBrk="1" hangingPunct="1">
              <a:lnSpc>
                <a:spcPct val="90000"/>
              </a:lnSpc>
              <a:buFont typeface="Wingdings" pitchFamily="2" charset="2"/>
              <a:buNone/>
            </a:pPr>
            <a:r>
              <a:rPr lang="en-US" altLang="zh-CN" sz="2800" smtClean="0">
                <a:latin typeface="黑体" pitchFamily="49" charset="-122"/>
                <a:ea typeface="黑体" pitchFamily="49" charset="-122"/>
              </a:rPr>
              <a:t>3.4 </a:t>
            </a:r>
            <a:r>
              <a:rPr lang="zh-CN" altLang="en-US" sz="2800" smtClean="0">
                <a:latin typeface="黑体" pitchFamily="49" charset="-122"/>
                <a:ea typeface="黑体" pitchFamily="49" charset="-122"/>
              </a:rPr>
              <a:t>查询</a:t>
            </a:r>
          </a:p>
          <a:p>
            <a:pPr algn="just" eaLnBrk="1" hangingPunct="1">
              <a:lnSpc>
                <a:spcPct val="90000"/>
              </a:lnSpc>
              <a:buFont typeface="Wingdings" pitchFamily="2" charset="2"/>
              <a:buNone/>
            </a:pPr>
            <a:r>
              <a:rPr lang="en-US" altLang="zh-CN" sz="2800" smtClean="0">
                <a:latin typeface="黑体" pitchFamily="49" charset="-122"/>
                <a:ea typeface="黑体" pitchFamily="49" charset="-122"/>
              </a:rPr>
              <a:t>3.5 </a:t>
            </a:r>
            <a:r>
              <a:rPr lang="zh-CN" altLang="en-US" sz="2800" smtClean="0">
                <a:latin typeface="黑体" pitchFamily="49" charset="-122"/>
                <a:ea typeface="黑体" pitchFamily="49" charset="-122"/>
              </a:rPr>
              <a:t>数据更新</a:t>
            </a:r>
          </a:p>
          <a:p>
            <a:pPr algn="just" eaLnBrk="1" hangingPunct="1">
              <a:lnSpc>
                <a:spcPct val="90000"/>
              </a:lnSpc>
              <a:buFont typeface="Wingdings" pitchFamily="2" charset="2"/>
              <a:buNone/>
            </a:pPr>
            <a:r>
              <a:rPr lang="en-US" altLang="zh-CN" sz="2800" smtClean="0">
                <a:latin typeface="黑体" pitchFamily="49" charset="-122"/>
                <a:ea typeface="黑体" pitchFamily="49" charset="-122"/>
              </a:rPr>
              <a:t>3.6 </a:t>
            </a:r>
            <a:r>
              <a:rPr lang="zh-CN" altLang="en-US" sz="2800" smtClean="0">
                <a:latin typeface="黑体" pitchFamily="49" charset="-122"/>
                <a:ea typeface="黑体" pitchFamily="49" charset="-122"/>
              </a:rPr>
              <a:t>视图</a:t>
            </a:r>
          </a:p>
          <a:p>
            <a:pPr algn="just" eaLnBrk="1" hangingPunct="1">
              <a:lnSpc>
                <a:spcPct val="90000"/>
              </a:lnSpc>
              <a:buFont typeface="Wingdings" pitchFamily="2" charset="2"/>
              <a:buNone/>
            </a:pPr>
            <a:r>
              <a:rPr lang="en-US" altLang="zh-CN" sz="2800" smtClean="0">
                <a:latin typeface="黑体" pitchFamily="49" charset="-122"/>
                <a:ea typeface="黑体" pitchFamily="49" charset="-122"/>
              </a:rPr>
              <a:t>3.7 </a:t>
            </a:r>
            <a:r>
              <a:rPr lang="zh-CN" altLang="en-US" sz="2800" smtClean="0">
                <a:latin typeface="黑体" pitchFamily="49" charset="-122"/>
                <a:ea typeface="黑体" pitchFamily="49" charset="-122"/>
              </a:rPr>
              <a:t>小结</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116013" y="115888"/>
            <a:ext cx="5467350" cy="855662"/>
          </a:xfrm>
        </p:spPr>
        <p:txBody>
          <a:bodyPr/>
          <a:lstStyle/>
          <a:p>
            <a:pPr eaLnBrk="1" hangingPunct="1"/>
            <a:r>
              <a:rPr lang="en-US" altLang="zh-CN" smtClean="0">
                <a:latin typeface="黑体" pitchFamily="49" charset="-122"/>
              </a:rPr>
              <a:t>3.1 SQL</a:t>
            </a:r>
            <a:r>
              <a:rPr lang="zh-CN" altLang="en-US" smtClean="0">
                <a:latin typeface="黑体" pitchFamily="49" charset="-122"/>
              </a:rPr>
              <a:t>概述</a:t>
            </a:r>
          </a:p>
        </p:txBody>
      </p:sp>
      <p:sp>
        <p:nvSpPr>
          <p:cNvPr id="6147" name="Rectangle 3"/>
          <p:cNvSpPr>
            <a:spLocks noGrp="1" noChangeArrowheads="1"/>
          </p:cNvSpPr>
          <p:nvPr>
            <p:ph type="body" idx="1"/>
          </p:nvPr>
        </p:nvSpPr>
        <p:spPr>
          <a:xfrm>
            <a:off x="395288" y="1700213"/>
            <a:ext cx="8353425" cy="4681537"/>
          </a:xfrm>
        </p:spPr>
        <p:txBody>
          <a:bodyPr/>
          <a:lstStyle/>
          <a:p>
            <a:pPr eaLnBrk="1" hangingPunct="1">
              <a:lnSpc>
                <a:spcPct val="120000"/>
              </a:lnSpc>
            </a:pPr>
            <a:r>
              <a:rPr lang="en-US" altLang="zh-CN" sz="2400" smtClean="0">
                <a:latin typeface="黑体" pitchFamily="49" charset="-122"/>
                <a:ea typeface="黑体" pitchFamily="49" charset="-122"/>
              </a:rPr>
              <a:t>SQL(Structured Query Language)</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1974</a:t>
            </a:r>
            <a:r>
              <a:rPr lang="zh-CN" altLang="en-US" sz="2400" smtClean="0">
                <a:latin typeface="黑体" pitchFamily="49" charset="-122"/>
                <a:ea typeface="黑体" pitchFamily="49" charset="-122"/>
              </a:rPr>
              <a:t>年由</a:t>
            </a:r>
            <a:r>
              <a:rPr lang="en-US" altLang="zh-CN" sz="2400" smtClean="0">
                <a:latin typeface="黑体" pitchFamily="49" charset="-122"/>
                <a:ea typeface="黑体" pitchFamily="49" charset="-122"/>
              </a:rPr>
              <a:t>Boyce</a:t>
            </a:r>
            <a:r>
              <a:rPr lang="zh-CN" altLang="en-US" sz="2400" smtClean="0">
                <a:latin typeface="黑体" pitchFamily="49" charset="-122"/>
                <a:ea typeface="黑体" pitchFamily="49" charset="-122"/>
              </a:rPr>
              <a:t>和</a:t>
            </a:r>
            <a:r>
              <a:rPr lang="en-US" altLang="zh-CN" sz="2400" smtClean="0">
                <a:latin typeface="黑体" pitchFamily="49" charset="-122"/>
                <a:ea typeface="黑体" pitchFamily="49" charset="-122"/>
              </a:rPr>
              <a:t>Chamberlin</a:t>
            </a:r>
            <a:r>
              <a:rPr lang="zh-CN" altLang="en-US" sz="2400" smtClean="0">
                <a:latin typeface="黑体" pitchFamily="49" charset="-122"/>
                <a:ea typeface="黑体" pitchFamily="49" charset="-122"/>
              </a:rPr>
              <a:t>提出，并在</a:t>
            </a:r>
            <a:r>
              <a:rPr lang="en-US" altLang="zh-CN" sz="2400" smtClean="0">
                <a:latin typeface="黑体" pitchFamily="49" charset="-122"/>
                <a:ea typeface="黑体" pitchFamily="49" charset="-122"/>
              </a:rPr>
              <a:t>IBM</a:t>
            </a:r>
            <a:r>
              <a:rPr lang="zh-CN" altLang="en-US" sz="2400" smtClean="0">
                <a:latin typeface="黑体" pitchFamily="49" charset="-122"/>
                <a:ea typeface="黑体" pitchFamily="49" charset="-122"/>
              </a:rPr>
              <a:t>公司研制的关系数据库管理系统原型</a:t>
            </a:r>
            <a:r>
              <a:rPr lang="en-US" altLang="zh-CN" sz="2400" smtClean="0">
                <a:latin typeface="黑体" pitchFamily="49" charset="-122"/>
                <a:ea typeface="黑体" pitchFamily="49" charset="-122"/>
              </a:rPr>
              <a:t>System R</a:t>
            </a:r>
            <a:r>
              <a:rPr lang="zh-CN" altLang="en-US" sz="2400" smtClean="0">
                <a:latin typeface="黑体" pitchFamily="49" charset="-122"/>
                <a:ea typeface="黑体" pitchFamily="49" charset="-122"/>
              </a:rPr>
              <a:t>上实现。</a:t>
            </a:r>
          </a:p>
          <a:p>
            <a:pPr eaLnBrk="1" hangingPunct="1">
              <a:lnSpc>
                <a:spcPct val="120000"/>
              </a:lnSpc>
            </a:pPr>
            <a:r>
              <a:rPr lang="zh-CN" altLang="en-US" sz="2400" smtClean="0">
                <a:latin typeface="黑体" pitchFamily="49" charset="-122"/>
                <a:ea typeface="黑体" pitchFamily="49" charset="-122"/>
              </a:rPr>
              <a:t>由于</a:t>
            </a:r>
            <a:r>
              <a:rPr lang="en-US" altLang="zh-CN" sz="2400" smtClean="0">
                <a:latin typeface="黑体" pitchFamily="49" charset="-122"/>
                <a:ea typeface="黑体" pitchFamily="49" charset="-122"/>
              </a:rPr>
              <a:t>SQL</a:t>
            </a:r>
            <a:r>
              <a:rPr lang="zh-CN" altLang="en-US" sz="2400" smtClean="0">
                <a:latin typeface="黑体" pitchFamily="49" charset="-122"/>
                <a:ea typeface="黑体" pitchFamily="49" charset="-122"/>
              </a:rPr>
              <a:t>简单易学，功能丰富，深受用户及计算机工业界欢迎，因此被数据库厂商所采用。经各公司的不断修改、扩充和完善，</a:t>
            </a:r>
            <a:r>
              <a:rPr lang="en-US" altLang="zh-CN" sz="2400" smtClean="0">
                <a:latin typeface="黑体" pitchFamily="49" charset="-122"/>
                <a:ea typeface="黑体" pitchFamily="49" charset="-122"/>
              </a:rPr>
              <a:t>SQL</a:t>
            </a:r>
            <a:r>
              <a:rPr lang="zh-CN" altLang="en-US" sz="2400" smtClean="0">
                <a:latin typeface="黑体" pitchFamily="49" charset="-122"/>
                <a:ea typeface="黑体" pitchFamily="49" charset="-122"/>
              </a:rPr>
              <a:t>得到业界的认可。</a:t>
            </a:r>
          </a:p>
          <a:p>
            <a:pPr eaLnBrk="1" hangingPunct="1">
              <a:lnSpc>
                <a:spcPct val="120000"/>
              </a:lnSpc>
            </a:pPr>
            <a:r>
              <a:rPr lang="en-US" altLang="zh-CN" sz="2400" smtClean="0">
                <a:latin typeface="黑体" pitchFamily="49" charset="-122"/>
                <a:ea typeface="黑体" pitchFamily="49" charset="-122"/>
              </a:rPr>
              <a:t>1986</a:t>
            </a:r>
            <a:r>
              <a:rPr lang="zh-CN" altLang="en-US" sz="2400" smtClean="0">
                <a:latin typeface="黑体" pitchFamily="49" charset="-122"/>
                <a:ea typeface="黑体" pitchFamily="49" charset="-122"/>
              </a:rPr>
              <a:t>年</a:t>
            </a:r>
            <a:r>
              <a:rPr lang="en-US" altLang="zh-CN" sz="2400" smtClean="0">
                <a:latin typeface="黑体" pitchFamily="49" charset="-122"/>
                <a:ea typeface="黑体" pitchFamily="49" charset="-122"/>
              </a:rPr>
              <a:t>10</a:t>
            </a:r>
            <a:r>
              <a:rPr lang="zh-CN" altLang="en-US" sz="2400" smtClean="0">
                <a:latin typeface="黑体" pitchFamily="49" charset="-122"/>
                <a:ea typeface="黑体" pitchFamily="49" charset="-122"/>
              </a:rPr>
              <a:t>月美国国家标准局</a:t>
            </a:r>
            <a:r>
              <a:rPr lang="en-US" altLang="zh-CN" sz="2400" smtClean="0">
                <a:latin typeface="黑体" pitchFamily="49" charset="-122"/>
                <a:ea typeface="黑体" pitchFamily="49" charset="-122"/>
              </a:rPr>
              <a:t>(ANSI)</a:t>
            </a:r>
            <a:r>
              <a:rPr lang="zh-CN" altLang="en-US" sz="2400" smtClean="0">
                <a:latin typeface="黑体" pitchFamily="49" charset="-122"/>
                <a:ea typeface="黑体" pitchFamily="49" charset="-122"/>
              </a:rPr>
              <a:t>的数据库委员会</a:t>
            </a:r>
            <a:r>
              <a:rPr lang="en-US" altLang="zh-CN" sz="2400" smtClean="0">
                <a:latin typeface="黑体" pitchFamily="49" charset="-122"/>
                <a:ea typeface="黑体" pitchFamily="49" charset="-122"/>
              </a:rPr>
              <a:t>X3H2</a:t>
            </a:r>
            <a:r>
              <a:rPr lang="zh-CN" altLang="en-US" sz="2400" smtClean="0">
                <a:latin typeface="黑体" pitchFamily="49" charset="-122"/>
                <a:ea typeface="黑体" pitchFamily="49" charset="-122"/>
              </a:rPr>
              <a:t>批准了</a:t>
            </a:r>
            <a:r>
              <a:rPr lang="en-US" altLang="zh-CN" sz="2400" smtClean="0">
                <a:latin typeface="黑体" pitchFamily="49" charset="-122"/>
                <a:ea typeface="黑体" pitchFamily="49" charset="-122"/>
              </a:rPr>
              <a:t>SQL</a:t>
            </a:r>
            <a:r>
              <a:rPr lang="zh-CN" altLang="en-US" sz="2400" smtClean="0">
                <a:latin typeface="黑体" pitchFamily="49" charset="-122"/>
                <a:ea typeface="黑体" pitchFamily="49" charset="-122"/>
              </a:rPr>
              <a:t>作为关系数据库语言的美国标准。</a:t>
            </a:r>
          </a:p>
          <a:p>
            <a:pPr eaLnBrk="1" hangingPunct="1">
              <a:lnSpc>
                <a:spcPct val="120000"/>
              </a:lnSpc>
            </a:pPr>
            <a:r>
              <a:rPr lang="en-US" altLang="zh-CN" sz="2400" smtClean="0">
                <a:latin typeface="黑体" pitchFamily="49" charset="-122"/>
                <a:ea typeface="黑体" pitchFamily="49" charset="-122"/>
              </a:rPr>
              <a:t>1987</a:t>
            </a:r>
            <a:r>
              <a:rPr lang="zh-CN" altLang="en-US" sz="2400" smtClean="0">
                <a:latin typeface="黑体" pitchFamily="49" charset="-122"/>
                <a:ea typeface="黑体" pitchFamily="49" charset="-122"/>
              </a:rPr>
              <a:t>年国际标准化组织</a:t>
            </a:r>
            <a:r>
              <a:rPr lang="en-US" altLang="zh-CN" sz="2400" smtClean="0">
                <a:latin typeface="黑体" pitchFamily="49" charset="-122"/>
                <a:ea typeface="黑体" pitchFamily="49" charset="-122"/>
              </a:rPr>
              <a:t>(ISO)</a:t>
            </a:r>
            <a:r>
              <a:rPr lang="zh-CN" altLang="en-US" sz="2400" smtClean="0">
                <a:latin typeface="黑体" pitchFamily="49" charset="-122"/>
                <a:ea typeface="黑体" pitchFamily="49" charset="-122"/>
              </a:rPr>
              <a:t>也通过了这一标准。</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body" idx="1"/>
          </p:nvPr>
        </p:nvSpPr>
        <p:spPr>
          <a:xfrm>
            <a:off x="755650" y="1557338"/>
            <a:ext cx="7772400" cy="4608512"/>
          </a:xfrm>
        </p:spPr>
        <p:txBody>
          <a:bodyPr/>
          <a:lstStyle/>
          <a:p>
            <a:pPr eaLnBrk="1" hangingPunct="1">
              <a:lnSpc>
                <a:spcPct val="110000"/>
              </a:lnSpc>
            </a:pPr>
            <a:r>
              <a:rPr lang="en-US" altLang="zh-CN" sz="2400" smtClean="0">
                <a:latin typeface="黑体" pitchFamily="49" charset="-122"/>
                <a:ea typeface="黑体" pitchFamily="49" charset="-122"/>
              </a:rPr>
              <a:t>SQL</a:t>
            </a:r>
            <a:r>
              <a:rPr lang="zh-CN" altLang="en-US" sz="2400" smtClean="0">
                <a:latin typeface="黑体" pitchFamily="49" charset="-122"/>
                <a:ea typeface="黑体" pitchFamily="49" charset="-122"/>
              </a:rPr>
              <a:t>标准从</a:t>
            </a:r>
            <a:r>
              <a:rPr lang="en-US" altLang="zh-CN" sz="2400" smtClean="0">
                <a:latin typeface="黑体" pitchFamily="49" charset="-122"/>
                <a:ea typeface="黑体" pitchFamily="49" charset="-122"/>
              </a:rPr>
              <a:t>1986</a:t>
            </a:r>
            <a:r>
              <a:rPr lang="zh-CN" altLang="en-US" sz="2400" smtClean="0">
                <a:latin typeface="黑体" pitchFamily="49" charset="-122"/>
                <a:ea typeface="黑体" pitchFamily="49" charset="-122"/>
              </a:rPr>
              <a:t>年公布以来随着数据库技术的发展而不断发展和丰富。</a:t>
            </a:r>
          </a:p>
          <a:p>
            <a:pPr eaLnBrk="1" hangingPunct="1">
              <a:buFont typeface="Wingdings" pitchFamily="2" charset="2"/>
              <a:buNone/>
            </a:pPr>
            <a:r>
              <a:rPr lang="zh-CN" altLang="en-US" sz="1200" smtClean="0">
                <a:latin typeface="黑体" pitchFamily="49" charset="-122"/>
                <a:ea typeface="黑体" pitchFamily="49" charset="-122"/>
              </a:rPr>
              <a:t>    </a:t>
            </a:r>
          </a:p>
          <a:p>
            <a:pPr eaLnBrk="1" hangingPunct="1">
              <a:lnSpc>
                <a:spcPct val="110000"/>
              </a:lnSpc>
              <a:buFont typeface="Wingdings" pitchFamily="2" charset="2"/>
              <a:buNone/>
            </a:pPr>
            <a:r>
              <a:rPr lang="zh-CN" altLang="en-US" sz="2400" smtClean="0">
                <a:latin typeface="黑体" pitchFamily="49" charset="-122"/>
                <a:ea typeface="黑体" pitchFamily="49" charset="-122"/>
              </a:rPr>
              <a:t>     标准        大致页数        发布日期</a:t>
            </a:r>
          </a:p>
          <a:p>
            <a:pPr lvl="1" eaLnBrk="1" hangingPunct="1">
              <a:lnSpc>
                <a:spcPct val="110000"/>
              </a:lnSpc>
            </a:pPr>
            <a:r>
              <a:rPr lang="en-US" altLang="zh-CN" sz="2000" smtClean="0">
                <a:latin typeface="黑体" pitchFamily="49" charset="-122"/>
                <a:ea typeface="黑体" pitchFamily="49" charset="-122"/>
              </a:rPr>
              <a:t>SQL/86                            1986</a:t>
            </a:r>
            <a:r>
              <a:rPr lang="zh-CN" altLang="en-US" sz="2000" smtClean="0">
                <a:latin typeface="黑体" pitchFamily="49" charset="-122"/>
                <a:ea typeface="黑体" pitchFamily="49" charset="-122"/>
              </a:rPr>
              <a:t>年</a:t>
            </a:r>
            <a:r>
              <a:rPr lang="en-US" altLang="zh-CN" sz="2000" smtClean="0">
                <a:latin typeface="黑体" pitchFamily="49" charset="-122"/>
                <a:ea typeface="黑体" pitchFamily="49" charset="-122"/>
              </a:rPr>
              <a:t>10</a:t>
            </a:r>
            <a:r>
              <a:rPr lang="zh-CN" altLang="en-US" sz="2000" smtClean="0">
                <a:latin typeface="黑体" pitchFamily="49" charset="-122"/>
                <a:ea typeface="黑体" pitchFamily="49" charset="-122"/>
              </a:rPr>
              <a:t>月</a:t>
            </a:r>
          </a:p>
          <a:p>
            <a:pPr lvl="1" eaLnBrk="1" hangingPunct="1">
              <a:lnSpc>
                <a:spcPct val="110000"/>
              </a:lnSpc>
            </a:pPr>
            <a:r>
              <a:rPr lang="en-US" altLang="zh-CN" sz="2000" smtClean="0">
                <a:latin typeface="黑体" pitchFamily="49" charset="-122"/>
                <a:ea typeface="黑体" pitchFamily="49" charset="-122"/>
              </a:rPr>
              <a:t>SQL/89          120</a:t>
            </a:r>
            <a:r>
              <a:rPr lang="zh-CN" altLang="en-US" sz="2000" smtClean="0">
                <a:latin typeface="黑体" pitchFamily="49" charset="-122"/>
                <a:ea typeface="黑体" pitchFamily="49" charset="-122"/>
              </a:rPr>
              <a:t>页             </a:t>
            </a:r>
            <a:r>
              <a:rPr lang="en-US" altLang="zh-CN" sz="2000" smtClean="0">
                <a:latin typeface="黑体" pitchFamily="49" charset="-122"/>
                <a:ea typeface="黑体" pitchFamily="49" charset="-122"/>
              </a:rPr>
              <a:t>1989</a:t>
            </a:r>
            <a:r>
              <a:rPr lang="zh-CN" altLang="en-US" sz="2000" smtClean="0">
                <a:latin typeface="黑体" pitchFamily="49" charset="-122"/>
                <a:ea typeface="黑体" pitchFamily="49" charset="-122"/>
              </a:rPr>
              <a:t>年</a:t>
            </a:r>
          </a:p>
          <a:p>
            <a:pPr lvl="1" eaLnBrk="1" hangingPunct="1">
              <a:lnSpc>
                <a:spcPct val="110000"/>
              </a:lnSpc>
            </a:pPr>
            <a:r>
              <a:rPr lang="en-US" altLang="zh-CN" sz="2000" smtClean="0">
                <a:latin typeface="黑体" pitchFamily="49" charset="-122"/>
                <a:ea typeface="黑体" pitchFamily="49" charset="-122"/>
              </a:rPr>
              <a:t>SQL/92          622</a:t>
            </a:r>
            <a:r>
              <a:rPr lang="zh-CN" altLang="en-US" sz="2000" smtClean="0">
                <a:latin typeface="黑体" pitchFamily="49" charset="-122"/>
                <a:ea typeface="黑体" pitchFamily="49" charset="-122"/>
              </a:rPr>
              <a:t>页             </a:t>
            </a:r>
            <a:r>
              <a:rPr lang="en-US" altLang="zh-CN" sz="2000" smtClean="0">
                <a:latin typeface="黑体" pitchFamily="49" charset="-122"/>
                <a:ea typeface="黑体" pitchFamily="49" charset="-122"/>
              </a:rPr>
              <a:t>1992</a:t>
            </a:r>
            <a:r>
              <a:rPr lang="zh-CN" altLang="en-US" sz="2000" smtClean="0">
                <a:latin typeface="黑体" pitchFamily="49" charset="-122"/>
                <a:ea typeface="黑体" pitchFamily="49" charset="-122"/>
              </a:rPr>
              <a:t>年</a:t>
            </a:r>
          </a:p>
          <a:p>
            <a:pPr lvl="1" eaLnBrk="1" hangingPunct="1">
              <a:lnSpc>
                <a:spcPct val="110000"/>
              </a:lnSpc>
            </a:pPr>
            <a:r>
              <a:rPr lang="en-US" altLang="zh-CN" sz="2000" smtClean="0">
                <a:latin typeface="黑体" pitchFamily="49" charset="-122"/>
                <a:ea typeface="黑体" pitchFamily="49" charset="-122"/>
              </a:rPr>
              <a:t>SQL/99          1700</a:t>
            </a:r>
            <a:r>
              <a:rPr lang="zh-CN" altLang="en-US" sz="2000" smtClean="0">
                <a:latin typeface="黑体" pitchFamily="49" charset="-122"/>
                <a:ea typeface="黑体" pitchFamily="49" charset="-122"/>
              </a:rPr>
              <a:t>页            </a:t>
            </a:r>
            <a:r>
              <a:rPr lang="en-US" altLang="zh-CN" sz="2000" smtClean="0">
                <a:latin typeface="黑体" pitchFamily="49" charset="-122"/>
                <a:ea typeface="黑体" pitchFamily="49" charset="-122"/>
              </a:rPr>
              <a:t>1999</a:t>
            </a:r>
            <a:r>
              <a:rPr lang="zh-CN" altLang="en-US" sz="2000" smtClean="0">
                <a:latin typeface="黑体" pitchFamily="49" charset="-122"/>
                <a:ea typeface="黑体" pitchFamily="49" charset="-122"/>
              </a:rPr>
              <a:t>年</a:t>
            </a:r>
          </a:p>
          <a:p>
            <a:pPr lvl="1" eaLnBrk="1" hangingPunct="1">
              <a:lnSpc>
                <a:spcPct val="110000"/>
              </a:lnSpc>
            </a:pPr>
            <a:r>
              <a:rPr lang="en-US" altLang="zh-CN" sz="2000" smtClean="0">
                <a:latin typeface="黑体" pitchFamily="49" charset="-122"/>
                <a:ea typeface="黑体" pitchFamily="49" charset="-122"/>
              </a:rPr>
              <a:t>SQL2003         3600</a:t>
            </a:r>
            <a:r>
              <a:rPr lang="zh-CN" altLang="en-US" sz="2000" smtClean="0">
                <a:latin typeface="黑体" pitchFamily="49" charset="-122"/>
                <a:ea typeface="黑体" pitchFamily="49" charset="-122"/>
              </a:rPr>
              <a:t>页            </a:t>
            </a:r>
            <a:r>
              <a:rPr lang="en-US" altLang="zh-CN" sz="2000" smtClean="0">
                <a:latin typeface="黑体" pitchFamily="49" charset="-122"/>
                <a:ea typeface="黑体" pitchFamily="49" charset="-122"/>
              </a:rPr>
              <a:t>2003</a:t>
            </a:r>
            <a:r>
              <a:rPr lang="zh-CN" altLang="en-US" sz="2000" smtClean="0">
                <a:latin typeface="黑体" pitchFamily="49" charset="-122"/>
                <a:ea typeface="黑体" pitchFamily="49" charset="-122"/>
              </a:rPr>
              <a:t>年</a:t>
            </a:r>
            <a:endParaRPr lang="en-US" altLang="zh-CN" sz="2000" smtClean="0">
              <a:latin typeface="黑体" pitchFamily="49" charset="-122"/>
              <a:ea typeface="黑体" pitchFamily="49" charset="-122"/>
            </a:endParaRPr>
          </a:p>
          <a:p>
            <a:pPr lvl="1" eaLnBrk="1" hangingPunct="1">
              <a:lnSpc>
                <a:spcPct val="110000"/>
              </a:lnSpc>
            </a:pPr>
            <a:r>
              <a:rPr lang="en-US" altLang="zh-CN" sz="2000" smtClean="0">
                <a:latin typeface="黑体" pitchFamily="49" charset="-122"/>
                <a:ea typeface="黑体" pitchFamily="49" charset="-122"/>
              </a:rPr>
              <a:t>SQL2008         3777</a:t>
            </a:r>
            <a:r>
              <a:rPr lang="zh-CN" altLang="en-US" sz="2000" smtClean="0">
                <a:latin typeface="黑体" pitchFamily="49" charset="-122"/>
                <a:ea typeface="黑体" pitchFamily="49" charset="-122"/>
              </a:rPr>
              <a:t>页            </a:t>
            </a:r>
            <a:r>
              <a:rPr lang="en-US" altLang="zh-CN" sz="2000" smtClean="0">
                <a:latin typeface="黑体" pitchFamily="49" charset="-122"/>
                <a:ea typeface="黑体" pitchFamily="49" charset="-122"/>
              </a:rPr>
              <a:t>2008</a:t>
            </a:r>
            <a:r>
              <a:rPr lang="zh-CN" altLang="en-US" sz="2000" smtClean="0">
                <a:latin typeface="黑体" pitchFamily="49" charset="-122"/>
                <a:ea typeface="黑体" pitchFamily="49" charset="-122"/>
              </a:rPr>
              <a:t>年</a:t>
            </a:r>
            <a:endParaRPr lang="en-US" altLang="zh-CN" sz="2000" smtClean="0">
              <a:latin typeface="黑体" pitchFamily="49" charset="-122"/>
              <a:ea typeface="黑体" pitchFamily="49" charset="-122"/>
            </a:endParaRPr>
          </a:p>
          <a:p>
            <a:pPr lvl="1" eaLnBrk="1" hangingPunct="1">
              <a:lnSpc>
                <a:spcPct val="110000"/>
              </a:lnSpc>
            </a:pPr>
            <a:r>
              <a:rPr lang="en-US" altLang="zh-CN" sz="2000" smtClean="0">
                <a:latin typeface="黑体" pitchFamily="49" charset="-122"/>
                <a:ea typeface="黑体" pitchFamily="49" charset="-122"/>
              </a:rPr>
              <a:t>SQL2011                           2011</a:t>
            </a:r>
            <a:r>
              <a:rPr lang="zh-CN" altLang="en-US" sz="2000" smtClean="0">
                <a:latin typeface="黑体" pitchFamily="49" charset="-122"/>
                <a:ea typeface="黑体" pitchFamily="49" charset="-122"/>
              </a:rPr>
              <a:t>年</a:t>
            </a:r>
          </a:p>
        </p:txBody>
      </p:sp>
      <p:sp>
        <p:nvSpPr>
          <p:cNvPr id="7171" name="Rectangle 2"/>
          <p:cNvSpPr>
            <a:spLocks noGrp="1" noChangeArrowheads="1"/>
          </p:cNvSpPr>
          <p:nvPr>
            <p:ph type="title"/>
          </p:nvPr>
        </p:nvSpPr>
        <p:spPr>
          <a:xfrm>
            <a:off x="1042988" y="115888"/>
            <a:ext cx="5467350" cy="855662"/>
          </a:xfrm>
        </p:spPr>
        <p:txBody>
          <a:bodyPr/>
          <a:lstStyle/>
          <a:p>
            <a:pPr eaLnBrk="1" hangingPunct="1"/>
            <a:r>
              <a:rPr lang="en-US" altLang="zh-CN" smtClean="0">
                <a:latin typeface="黑体" pitchFamily="49" charset="-122"/>
              </a:rPr>
              <a:t>3.1 SQL</a:t>
            </a:r>
            <a:r>
              <a:rPr lang="zh-CN" altLang="en-US" smtClean="0">
                <a:latin typeface="黑体" pitchFamily="49" charset="-122"/>
              </a:rPr>
              <a:t>概述</a:t>
            </a: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71550" y="260350"/>
            <a:ext cx="7793038" cy="647700"/>
          </a:xfrm>
        </p:spPr>
        <p:txBody>
          <a:bodyPr/>
          <a:lstStyle/>
          <a:p>
            <a:pPr eaLnBrk="1" hangingPunct="1"/>
            <a:r>
              <a:rPr lang="en-US" altLang="zh-CN" smtClean="0">
                <a:latin typeface="黑体" pitchFamily="49" charset="-122"/>
              </a:rPr>
              <a:t>3.1 SQL</a:t>
            </a:r>
            <a:r>
              <a:rPr lang="zh-CN" altLang="en-US" smtClean="0">
                <a:latin typeface="黑体" pitchFamily="49" charset="-122"/>
              </a:rPr>
              <a:t>概述</a:t>
            </a:r>
          </a:p>
        </p:txBody>
      </p:sp>
      <p:sp>
        <p:nvSpPr>
          <p:cNvPr id="338947" name="Rectangle 3"/>
          <p:cNvSpPr>
            <a:spLocks noGrp="1" noChangeArrowheads="1"/>
          </p:cNvSpPr>
          <p:nvPr>
            <p:ph type="body" idx="1"/>
          </p:nvPr>
        </p:nvSpPr>
        <p:spPr>
          <a:xfrm>
            <a:off x="539750" y="1412875"/>
            <a:ext cx="8208963" cy="4751388"/>
          </a:xfrm>
        </p:spPr>
        <p:txBody>
          <a:bodyPr/>
          <a:lstStyle/>
          <a:p>
            <a:pPr eaLnBrk="1" hangingPunct="1">
              <a:buFont typeface="Wingdings" pitchFamily="2" charset="2"/>
              <a:buNone/>
            </a:pPr>
            <a:r>
              <a:rPr lang="en-US" altLang="zh-CN" sz="2000" smtClean="0">
                <a:latin typeface="黑体" pitchFamily="49" charset="-122"/>
                <a:ea typeface="黑体" pitchFamily="49" charset="-122"/>
              </a:rPr>
              <a:t>SQL</a:t>
            </a:r>
            <a:r>
              <a:rPr lang="zh-CN" altLang="en-US" sz="2000" smtClean="0">
                <a:latin typeface="黑体" pitchFamily="49" charset="-122"/>
                <a:ea typeface="黑体" pitchFamily="49" charset="-122"/>
              </a:rPr>
              <a:t>的特点</a:t>
            </a:r>
          </a:p>
          <a:p>
            <a:pPr lvl="1" eaLnBrk="1" hangingPunct="1">
              <a:buFont typeface="Wingdings" pitchFamily="2" charset="2"/>
              <a:buNone/>
            </a:pPr>
            <a:r>
              <a:rPr lang="en-US" altLang="zh-CN" sz="2000" smtClean="0">
                <a:latin typeface="黑体" pitchFamily="49" charset="-122"/>
                <a:ea typeface="黑体" pitchFamily="49" charset="-122"/>
              </a:rPr>
              <a:t>1. </a:t>
            </a:r>
            <a:r>
              <a:rPr lang="zh-CN" altLang="en-US" sz="2000" smtClean="0">
                <a:latin typeface="黑体" pitchFamily="49" charset="-122"/>
                <a:ea typeface="黑体" pitchFamily="49" charset="-122"/>
              </a:rPr>
              <a:t>综合统一</a:t>
            </a:r>
          </a:p>
          <a:p>
            <a:pPr lvl="1" eaLnBrk="1" hangingPunct="1">
              <a:buFont typeface="Wingdings" pitchFamily="2" charset="2"/>
              <a:buNone/>
            </a:pPr>
            <a:r>
              <a:rPr lang="zh-CN" altLang="en-US" sz="2000" smtClean="0">
                <a:latin typeface="黑体" pitchFamily="49" charset="-122"/>
                <a:ea typeface="黑体" pitchFamily="49" charset="-122"/>
              </a:rPr>
              <a:t>		  </a:t>
            </a:r>
            <a:r>
              <a:rPr lang="en-US" altLang="zh-CN" sz="2000" smtClean="0">
                <a:latin typeface="黑体" pitchFamily="49" charset="-122"/>
                <a:ea typeface="黑体" pitchFamily="49" charset="-122"/>
              </a:rPr>
              <a:t>SQL</a:t>
            </a:r>
            <a:r>
              <a:rPr lang="zh-CN" altLang="en-US" sz="2000" smtClean="0">
                <a:latin typeface="黑体" pitchFamily="49" charset="-122"/>
                <a:ea typeface="黑体" pitchFamily="49" charset="-122"/>
              </a:rPr>
              <a:t>语言集数据定义语言</a:t>
            </a:r>
            <a:r>
              <a:rPr lang="en-US" altLang="zh-CN" sz="2000" smtClean="0">
                <a:latin typeface="黑体" pitchFamily="49" charset="-122"/>
                <a:ea typeface="黑体" pitchFamily="49" charset="-122"/>
              </a:rPr>
              <a:t>DDL</a:t>
            </a:r>
            <a:r>
              <a:rPr lang="zh-CN" altLang="en-US" sz="2000" smtClean="0">
                <a:latin typeface="黑体" pitchFamily="49" charset="-122"/>
                <a:ea typeface="黑体" pitchFamily="49" charset="-122"/>
              </a:rPr>
              <a:t>、数据操纵语言</a:t>
            </a:r>
            <a:r>
              <a:rPr lang="en-US" altLang="zh-CN" sz="2000" smtClean="0">
                <a:latin typeface="黑体" pitchFamily="49" charset="-122"/>
                <a:ea typeface="黑体" pitchFamily="49" charset="-122"/>
              </a:rPr>
              <a:t>DML</a:t>
            </a:r>
            <a:r>
              <a:rPr lang="zh-CN" altLang="en-US" sz="2000" smtClean="0">
                <a:latin typeface="黑体" pitchFamily="49" charset="-122"/>
                <a:ea typeface="黑体" pitchFamily="49" charset="-122"/>
              </a:rPr>
              <a:t>、数据控制语言</a:t>
            </a:r>
            <a:r>
              <a:rPr lang="en-US" altLang="zh-CN" sz="2000" smtClean="0">
                <a:latin typeface="黑体" pitchFamily="49" charset="-122"/>
                <a:ea typeface="黑体" pitchFamily="49" charset="-122"/>
              </a:rPr>
              <a:t>DCL</a:t>
            </a:r>
            <a:r>
              <a:rPr lang="zh-CN" altLang="en-US" sz="2000" smtClean="0">
                <a:latin typeface="黑体" pitchFamily="49" charset="-122"/>
                <a:ea typeface="黑体" pitchFamily="49" charset="-122"/>
              </a:rPr>
              <a:t>的功能于一体，语言风格统一，可以独立完成数据库生命周期中的全部活动，包括定义关系模式、插入数据建立数据库、查询、更新、维护、数据库重构、数据库安全性控制等一系列操作要求 。</a:t>
            </a:r>
          </a:p>
          <a:p>
            <a:pPr lvl="1" eaLnBrk="1" hangingPunct="1">
              <a:buFont typeface="Wingdings" pitchFamily="2" charset="2"/>
              <a:buNone/>
            </a:pPr>
            <a:r>
              <a:rPr lang="en-US" altLang="zh-CN" sz="2000" smtClean="0">
                <a:latin typeface="黑体" pitchFamily="49" charset="-122"/>
                <a:ea typeface="黑体" pitchFamily="49" charset="-122"/>
              </a:rPr>
              <a:t>2. </a:t>
            </a:r>
            <a:r>
              <a:rPr lang="zh-CN" altLang="en-US" sz="2000" smtClean="0">
                <a:latin typeface="黑体" pitchFamily="49" charset="-122"/>
                <a:ea typeface="黑体" pitchFamily="49" charset="-122"/>
              </a:rPr>
              <a:t>高度非过程化</a:t>
            </a:r>
          </a:p>
          <a:p>
            <a:pPr lvl="1" eaLnBrk="1" hangingPunct="1">
              <a:buFont typeface="Wingdings" pitchFamily="2" charset="2"/>
              <a:buNone/>
            </a:pPr>
            <a:r>
              <a:rPr lang="zh-CN" altLang="en-US" sz="2000" smtClean="0">
                <a:latin typeface="黑体" pitchFamily="49" charset="-122"/>
                <a:ea typeface="黑体" pitchFamily="49" charset="-122"/>
              </a:rPr>
              <a:t>      只需提出</a:t>
            </a:r>
            <a:r>
              <a:rPr lang="zh-CN" altLang="en-US" sz="2000" smtClean="0">
                <a:ea typeface="黑体" pitchFamily="49" charset="-122"/>
              </a:rPr>
              <a:t>“</a:t>
            </a:r>
            <a:r>
              <a:rPr lang="zh-CN" altLang="en-US" sz="2000" smtClean="0">
                <a:latin typeface="黑体" pitchFamily="49" charset="-122"/>
                <a:ea typeface="黑体" pitchFamily="49" charset="-122"/>
              </a:rPr>
              <a:t>做什么</a:t>
            </a:r>
            <a:r>
              <a:rPr lang="zh-CN" altLang="en-US" sz="2000" smtClean="0">
                <a:ea typeface="黑体" pitchFamily="49" charset="-122"/>
              </a:rPr>
              <a:t>”</a:t>
            </a:r>
            <a:r>
              <a:rPr lang="zh-CN" altLang="en-US" sz="2000" smtClean="0">
                <a:latin typeface="黑体" pitchFamily="49" charset="-122"/>
                <a:ea typeface="黑体" pitchFamily="49" charset="-122"/>
              </a:rPr>
              <a:t>，而不必指明</a:t>
            </a:r>
            <a:r>
              <a:rPr lang="zh-CN" altLang="en-US" sz="2000" smtClean="0">
                <a:ea typeface="黑体" pitchFamily="49" charset="-122"/>
              </a:rPr>
              <a:t>“</a:t>
            </a:r>
            <a:r>
              <a:rPr lang="zh-CN" altLang="en-US" sz="2000" smtClean="0">
                <a:latin typeface="黑体" pitchFamily="49" charset="-122"/>
                <a:ea typeface="黑体" pitchFamily="49" charset="-122"/>
              </a:rPr>
              <a:t>怎么做</a:t>
            </a:r>
            <a:r>
              <a:rPr lang="zh-CN" altLang="en-US" sz="2000" smtClean="0">
                <a:ea typeface="黑体" pitchFamily="49" charset="-122"/>
              </a:rPr>
              <a:t>”</a:t>
            </a:r>
            <a:r>
              <a:rPr lang="zh-CN" altLang="en-US" sz="2000" smtClean="0">
                <a:latin typeface="黑体" pitchFamily="49" charset="-122"/>
                <a:ea typeface="黑体" pitchFamily="49" charset="-122"/>
              </a:rPr>
              <a:t> </a:t>
            </a:r>
          </a:p>
          <a:p>
            <a:pPr lvl="1" eaLnBrk="1" hangingPunct="1">
              <a:buFont typeface="Wingdings" pitchFamily="2" charset="2"/>
              <a:buNone/>
            </a:pPr>
            <a:r>
              <a:rPr lang="en-US" altLang="zh-CN" sz="2000" smtClean="0">
                <a:latin typeface="黑体" pitchFamily="49" charset="-122"/>
                <a:ea typeface="黑体" pitchFamily="49" charset="-122"/>
              </a:rPr>
              <a:t>3. </a:t>
            </a:r>
            <a:r>
              <a:rPr lang="zh-CN" altLang="en-US" sz="2000" smtClean="0">
                <a:latin typeface="黑体" pitchFamily="49" charset="-122"/>
                <a:ea typeface="黑体" pitchFamily="49" charset="-122"/>
              </a:rPr>
              <a:t>面向集合的操作方式</a:t>
            </a:r>
          </a:p>
          <a:p>
            <a:pPr lvl="1" eaLnBrk="1" hangingPunct="1">
              <a:buFont typeface="Wingdings" pitchFamily="2" charset="2"/>
              <a:buNone/>
            </a:pPr>
            <a:r>
              <a:rPr lang="en-US" altLang="zh-CN" sz="2000" smtClean="0">
                <a:latin typeface="黑体" pitchFamily="49" charset="-122"/>
                <a:ea typeface="黑体" pitchFamily="49" charset="-122"/>
              </a:rPr>
              <a:t>4. </a:t>
            </a:r>
            <a:r>
              <a:rPr lang="zh-CN" altLang="en-US" sz="2000" smtClean="0">
                <a:latin typeface="黑体" pitchFamily="49" charset="-122"/>
                <a:ea typeface="黑体" pitchFamily="49" charset="-122"/>
              </a:rPr>
              <a:t>以同一种语法结构提供两种使用方法</a:t>
            </a:r>
          </a:p>
          <a:p>
            <a:pPr lvl="1" eaLnBrk="1" hangingPunct="1">
              <a:buFont typeface="Wingdings" pitchFamily="2" charset="2"/>
              <a:buNone/>
            </a:pPr>
            <a:r>
              <a:rPr lang="zh-CN" altLang="en-US" sz="2000" smtClean="0">
                <a:latin typeface="黑体" pitchFamily="49" charset="-122"/>
                <a:ea typeface="黑体" pitchFamily="49" charset="-122"/>
              </a:rPr>
              <a:t>     </a:t>
            </a:r>
            <a:r>
              <a:rPr lang="en-US" altLang="zh-CN" sz="2000" smtClean="0">
                <a:latin typeface="黑体" pitchFamily="49" charset="-122"/>
                <a:ea typeface="黑体" pitchFamily="49" charset="-122"/>
              </a:rPr>
              <a:t>SQL</a:t>
            </a:r>
            <a:r>
              <a:rPr lang="zh-CN" altLang="en-US" sz="2000" smtClean="0">
                <a:latin typeface="黑体" pitchFamily="49" charset="-122"/>
                <a:ea typeface="黑体" pitchFamily="49" charset="-122"/>
              </a:rPr>
              <a:t>语言既是自含式语言，又是嵌入式语言 </a:t>
            </a:r>
          </a:p>
          <a:p>
            <a:pPr lvl="1" eaLnBrk="1" hangingPunct="1">
              <a:buFont typeface="Wingdings" pitchFamily="2" charset="2"/>
              <a:buNone/>
            </a:pPr>
            <a:r>
              <a:rPr lang="en-US" altLang="zh-CN" sz="2000" smtClean="0">
                <a:latin typeface="黑体" pitchFamily="49" charset="-122"/>
                <a:ea typeface="黑体" pitchFamily="49" charset="-122"/>
              </a:rPr>
              <a:t>5. </a:t>
            </a:r>
            <a:r>
              <a:rPr lang="zh-CN" altLang="en-US" sz="2000" smtClean="0">
                <a:latin typeface="黑体" pitchFamily="49" charset="-122"/>
                <a:ea typeface="黑体" pitchFamily="49" charset="-122"/>
              </a:rPr>
              <a:t>语言简洁，易学易用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38947">
                                            <p:txEl>
                                              <p:pRg st="1" end="1"/>
                                            </p:txEl>
                                          </p:spTgt>
                                        </p:tgtEl>
                                        <p:attrNameLst>
                                          <p:attrName>style.visibility</p:attrName>
                                        </p:attrNameLst>
                                      </p:cBhvr>
                                      <p:to>
                                        <p:strVal val="visible"/>
                                      </p:to>
                                    </p:set>
                                    <p:anim calcmode="lin" valueType="num">
                                      <p:cBhvr additive="base">
                                        <p:cTn id="7" dur="500" fill="hold"/>
                                        <p:tgtEl>
                                          <p:spTgt spid="33894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894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38947">
                                            <p:txEl>
                                              <p:pRg st="2" end="2"/>
                                            </p:txEl>
                                          </p:spTgt>
                                        </p:tgtEl>
                                        <p:attrNameLst>
                                          <p:attrName>style.visibility</p:attrName>
                                        </p:attrNameLst>
                                      </p:cBhvr>
                                      <p:to>
                                        <p:strVal val="visible"/>
                                      </p:to>
                                    </p:set>
                                    <p:anim calcmode="lin" valueType="num">
                                      <p:cBhvr additive="base">
                                        <p:cTn id="11" dur="500" fill="hold"/>
                                        <p:tgtEl>
                                          <p:spTgt spid="33894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389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38947">
                                            <p:txEl>
                                              <p:pRg st="3" end="3"/>
                                            </p:txEl>
                                          </p:spTgt>
                                        </p:tgtEl>
                                        <p:attrNameLst>
                                          <p:attrName>style.visibility</p:attrName>
                                        </p:attrNameLst>
                                      </p:cBhvr>
                                      <p:to>
                                        <p:strVal val="visible"/>
                                      </p:to>
                                    </p:set>
                                    <p:anim calcmode="lin" valueType="num">
                                      <p:cBhvr additive="base">
                                        <p:cTn id="17" dur="500" fill="hold"/>
                                        <p:tgtEl>
                                          <p:spTgt spid="338947">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38947">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38947">
                                            <p:txEl>
                                              <p:pRg st="4" end="4"/>
                                            </p:txEl>
                                          </p:spTgt>
                                        </p:tgtEl>
                                        <p:attrNameLst>
                                          <p:attrName>style.visibility</p:attrName>
                                        </p:attrNameLst>
                                      </p:cBhvr>
                                      <p:to>
                                        <p:strVal val="visible"/>
                                      </p:to>
                                    </p:set>
                                    <p:anim calcmode="lin" valueType="num">
                                      <p:cBhvr additive="base">
                                        <p:cTn id="21" dur="500" fill="hold"/>
                                        <p:tgtEl>
                                          <p:spTgt spid="338947">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3894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338947">
                                            <p:txEl>
                                              <p:pRg st="5" end="5"/>
                                            </p:txEl>
                                          </p:spTgt>
                                        </p:tgtEl>
                                        <p:attrNameLst>
                                          <p:attrName>style.visibility</p:attrName>
                                        </p:attrNameLst>
                                      </p:cBhvr>
                                      <p:to>
                                        <p:strVal val="visible"/>
                                      </p:to>
                                    </p:set>
                                    <p:anim calcmode="lin" valueType="num">
                                      <p:cBhvr additive="base">
                                        <p:cTn id="27" dur="500" fill="hold"/>
                                        <p:tgtEl>
                                          <p:spTgt spid="33894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3894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338947">
                                            <p:txEl>
                                              <p:pRg st="6" end="6"/>
                                            </p:txEl>
                                          </p:spTgt>
                                        </p:tgtEl>
                                        <p:attrNameLst>
                                          <p:attrName>style.visibility</p:attrName>
                                        </p:attrNameLst>
                                      </p:cBhvr>
                                      <p:to>
                                        <p:strVal val="visible"/>
                                      </p:to>
                                    </p:set>
                                    <p:anim calcmode="lin" valueType="num">
                                      <p:cBhvr additive="base">
                                        <p:cTn id="33" dur="500" fill="hold"/>
                                        <p:tgtEl>
                                          <p:spTgt spid="338947">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38947">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38947">
                                            <p:txEl>
                                              <p:pRg st="7" end="7"/>
                                            </p:txEl>
                                          </p:spTgt>
                                        </p:tgtEl>
                                        <p:attrNameLst>
                                          <p:attrName>style.visibility</p:attrName>
                                        </p:attrNameLst>
                                      </p:cBhvr>
                                      <p:to>
                                        <p:strVal val="visible"/>
                                      </p:to>
                                    </p:set>
                                    <p:anim calcmode="lin" valueType="num">
                                      <p:cBhvr additive="base">
                                        <p:cTn id="37" dur="500" fill="hold"/>
                                        <p:tgtEl>
                                          <p:spTgt spid="338947">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3894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338947">
                                            <p:txEl>
                                              <p:pRg st="8" end="8"/>
                                            </p:txEl>
                                          </p:spTgt>
                                        </p:tgtEl>
                                        <p:attrNameLst>
                                          <p:attrName>style.visibility</p:attrName>
                                        </p:attrNameLst>
                                      </p:cBhvr>
                                      <p:to>
                                        <p:strVal val="visible"/>
                                      </p:to>
                                    </p:set>
                                    <p:anim calcmode="lin" valueType="num">
                                      <p:cBhvr additive="base">
                                        <p:cTn id="43" dur="500" fill="hold"/>
                                        <p:tgtEl>
                                          <p:spTgt spid="338947">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3894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971550" y="260350"/>
            <a:ext cx="7793038" cy="792163"/>
          </a:xfrm>
        </p:spPr>
        <p:txBody>
          <a:bodyPr/>
          <a:lstStyle/>
          <a:p>
            <a:pPr eaLnBrk="1" hangingPunct="1"/>
            <a:r>
              <a:rPr lang="en-US" altLang="zh-CN" smtClean="0">
                <a:latin typeface="黑体" pitchFamily="49" charset="-122"/>
              </a:rPr>
              <a:t>3.1 SQL</a:t>
            </a:r>
            <a:r>
              <a:rPr lang="zh-CN" altLang="en-US" smtClean="0">
                <a:latin typeface="黑体" pitchFamily="49" charset="-122"/>
              </a:rPr>
              <a:t>概述</a:t>
            </a:r>
          </a:p>
        </p:txBody>
      </p:sp>
      <p:graphicFrame>
        <p:nvGraphicFramePr>
          <p:cNvPr id="9219" name="Object 3"/>
          <p:cNvGraphicFramePr>
            <a:graphicFrameLocks noChangeAspect="1"/>
          </p:cNvGraphicFramePr>
          <p:nvPr/>
        </p:nvGraphicFramePr>
        <p:xfrm>
          <a:off x="900113" y="2339975"/>
          <a:ext cx="6480175" cy="3176588"/>
        </p:xfrm>
        <a:graphic>
          <a:graphicData uri="http://schemas.openxmlformats.org/presentationml/2006/ole">
            <mc:AlternateContent xmlns:mc="http://schemas.openxmlformats.org/markup-compatibility/2006">
              <mc:Choice xmlns:v="urn:schemas-microsoft-com:vml" Requires="v">
                <p:oleObj spid="_x0000_s9221" name="文档" r:id="rId3" imgW="4248150" imgH="1905000" progId="Word.Document.8">
                  <p:embed/>
                </p:oleObj>
              </mc:Choice>
              <mc:Fallback>
                <p:oleObj name="文档" r:id="rId3" imgW="4248150" imgH="1905000" progId="Word.Documen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l="11836" t="3073" r="12538" b="19467"/>
                      <a:stretch>
                        <a:fillRect/>
                      </a:stretch>
                    </p:blipFill>
                    <p:spPr bwMode="auto">
                      <a:xfrm>
                        <a:off x="900113" y="2339975"/>
                        <a:ext cx="6480175" cy="3176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0" name="Rectangle 4"/>
          <p:cNvSpPr>
            <a:spLocks noChangeArrowheads="1"/>
          </p:cNvSpPr>
          <p:nvPr/>
        </p:nvSpPr>
        <p:spPr bwMode="auto">
          <a:xfrm>
            <a:off x="971550" y="1773238"/>
            <a:ext cx="338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en-US" altLang="zh-CN" sz="2400">
                <a:latin typeface="黑体" pitchFamily="49" charset="-122"/>
                <a:ea typeface="黑体" pitchFamily="49" charset="-122"/>
              </a:rPr>
              <a:t>5. </a:t>
            </a:r>
            <a:r>
              <a:rPr kumimoji="1" lang="zh-CN" altLang="en-US" sz="2400">
                <a:latin typeface="黑体" pitchFamily="49" charset="-122"/>
                <a:ea typeface="黑体" pitchFamily="49" charset="-122"/>
              </a:rPr>
              <a:t>语言简捷，易学易用</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p:cNvSpPr>
            <a:spLocks noGrp="1" noChangeArrowheads="1"/>
          </p:cNvSpPr>
          <p:nvPr>
            <p:ph type="body" idx="1"/>
          </p:nvPr>
        </p:nvSpPr>
        <p:spPr>
          <a:xfrm>
            <a:off x="611188" y="1268413"/>
            <a:ext cx="7991475" cy="4751387"/>
          </a:xfrm>
        </p:spPr>
        <p:txBody>
          <a:bodyPr/>
          <a:lstStyle/>
          <a:p>
            <a:pPr eaLnBrk="1" hangingPunct="1"/>
            <a:r>
              <a:rPr lang="en-US" altLang="zh-CN" sz="2400" smtClean="0">
                <a:latin typeface="黑体" pitchFamily="49" charset="-122"/>
                <a:ea typeface="黑体" pitchFamily="49" charset="-122"/>
              </a:rPr>
              <a:t>SQL</a:t>
            </a:r>
            <a:r>
              <a:rPr lang="zh-CN" altLang="en-US" sz="2400" smtClean="0">
                <a:latin typeface="黑体" pitchFamily="49" charset="-122"/>
                <a:ea typeface="黑体" pitchFamily="49" charset="-122"/>
              </a:rPr>
              <a:t>语言支持关系数据库三级结构。</a:t>
            </a:r>
          </a:p>
          <a:p>
            <a:pPr lvl="1" eaLnBrk="1" hangingPunct="1"/>
            <a:r>
              <a:rPr lang="zh-CN" altLang="en-US" sz="2400" smtClean="0">
                <a:latin typeface="黑体" pitchFamily="49" charset="-122"/>
                <a:ea typeface="黑体" pitchFamily="49" charset="-122"/>
              </a:rPr>
              <a:t>外模式对应于视图和部分基本表</a:t>
            </a:r>
          </a:p>
          <a:p>
            <a:pPr lvl="1" eaLnBrk="1" hangingPunct="1"/>
            <a:r>
              <a:rPr lang="zh-CN" altLang="en-US" sz="2400" smtClean="0">
                <a:latin typeface="黑体" pitchFamily="49" charset="-122"/>
                <a:ea typeface="黑体" pitchFamily="49" charset="-122"/>
              </a:rPr>
              <a:t>模式对应于基本表</a:t>
            </a:r>
          </a:p>
          <a:p>
            <a:pPr lvl="1" eaLnBrk="1" hangingPunct="1"/>
            <a:r>
              <a:rPr lang="zh-CN" altLang="en-US" sz="2400" smtClean="0">
                <a:latin typeface="黑体" pitchFamily="49" charset="-122"/>
                <a:ea typeface="黑体" pitchFamily="49" charset="-122"/>
              </a:rPr>
              <a:t>内模式对应于存储文件</a:t>
            </a:r>
          </a:p>
          <a:p>
            <a:pPr eaLnBrk="1" hangingPunct="1"/>
            <a:r>
              <a:rPr lang="zh-CN" altLang="en-US" sz="2400" smtClean="0">
                <a:latin typeface="黑体" pitchFamily="49" charset="-122"/>
                <a:ea typeface="黑体" pitchFamily="49" charset="-122"/>
              </a:rPr>
              <a:t>用户可以用</a:t>
            </a:r>
            <a:r>
              <a:rPr lang="en-US" altLang="zh-CN" sz="2400" smtClean="0">
                <a:latin typeface="黑体" pitchFamily="49" charset="-122"/>
                <a:ea typeface="黑体" pitchFamily="49" charset="-122"/>
              </a:rPr>
              <a:t>SQL</a:t>
            </a:r>
            <a:r>
              <a:rPr lang="zh-CN" altLang="en-US" sz="2400" smtClean="0">
                <a:latin typeface="黑体" pitchFamily="49" charset="-122"/>
                <a:ea typeface="黑体" pitchFamily="49" charset="-122"/>
              </a:rPr>
              <a:t>语言对基本表和视图进行查询或其他操作，基本表和视图一样，都是关系。</a:t>
            </a:r>
          </a:p>
          <a:p>
            <a:pPr eaLnBrk="1" hangingPunct="1"/>
            <a:r>
              <a:rPr lang="zh-CN" altLang="en-US" sz="2400" smtClean="0">
                <a:latin typeface="黑体" pitchFamily="49" charset="-122"/>
                <a:ea typeface="黑体" pitchFamily="49" charset="-122"/>
              </a:rPr>
              <a:t>基本表是本身独立存在的表，在</a:t>
            </a:r>
            <a:r>
              <a:rPr lang="en-US" altLang="zh-CN" sz="2400" smtClean="0">
                <a:latin typeface="黑体" pitchFamily="49" charset="-122"/>
                <a:ea typeface="黑体" pitchFamily="49" charset="-122"/>
              </a:rPr>
              <a:t>SQL</a:t>
            </a:r>
            <a:r>
              <a:rPr lang="zh-CN" altLang="en-US" sz="2400" smtClean="0">
                <a:latin typeface="黑体" pitchFamily="49" charset="-122"/>
                <a:ea typeface="黑体" pitchFamily="49" charset="-122"/>
              </a:rPr>
              <a:t>中一个关系就对应一个表。</a:t>
            </a:r>
          </a:p>
          <a:p>
            <a:pPr eaLnBrk="1" hangingPunct="1"/>
            <a:r>
              <a:rPr lang="zh-CN" altLang="en-US" sz="2400" smtClean="0">
                <a:latin typeface="黑体" pitchFamily="49" charset="-122"/>
                <a:ea typeface="黑体" pitchFamily="49" charset="-122"/>
              </a:rPr>
              <a:t>一个或多个基本表对应一个存储文件，一个表可以带若干个索引，索引也存放在存储文件中。</a:t>
            </a:r>
          </a:p>
          <a:p>
            <a:pPr eaLnBrk="1" hangingPunct="1"/>
            <a:r>
              <a:rPr lang="zh-CN" altLang="en-US" sz="2400" smtClean="0">
                <a:latin typeface="黑体" pitchFamily="49" charset="-122"/>
                <a:ea typeface="黑体" pitchFamily="49" charset="-122"/>
              </a:rPr>
              <a:t>视图是从一个或几个基本表导出的表。</a:t>
            </a:r>
          </a:p>
        </p:txBody>
      </p:sp>
      <p:sp>
        <p:nvSpPr>
          <p:cNvPr id="10243" name="Rectangle 2"/>
          <p:cNvSpPr>
            <a:spLocks noGrp="1" noChangeArrowheads="1"/>
          </p:cNvSpPr>
          <p:nvPr>
            <p:ph type="title"/>
          </p:nvPr>
        </p:nvSpPr>
        <p:spPr>
          <a:xfrm>
            <a:off x="827088" y="188913"/>
            <a:ext cx="7793037" cy="792162"/>
          </a:xfrm>
        </p:spPr>
        <p:txBody>
          <a:bodyPr/>
          <a:lstStyle/>
          <a:p>
            <a:pPr eaLnBrk="1" hangingPunct="1"/>
            <a:r>
              <a:rPr lang="en-US" altLang="zh-CN" smtClean="0">
                <a:latin typeface="黑体" pitchFamily="49" charset="-122"/>
              </a:rPr>
              <a:t>3.1 SQL</a:t>
            </a:r>
            <a:r>
              <a:rPr lang="zh-CN" altLang="en-US" smtClean="0">
                <a:latin typeface="黑体" pitchFamily="49" charset="-122"/>
              </a:rPr>
              <a:t>概述</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971550" y="260350"/>
            <a:ext cx="7793038" cy="792163"/>
          </a:xfrm>
        </p:spPr>
        <p:txBody>
          <a:bodyPr/>
          <a:lstStyle/>
          <a:p>
            <a:pPr eaLnBrk="1" hangingPunct="1"/>
            <a:r>
              <a:rPr lang="zh-CN" altLang="en-US" sz="3200" smtClean="0">
                <a:latin typeface="黑体" pitchFamily="49" charset="-122"/>
              </a:rPr>
              <a:t>第三章  关系数据库标准语言</a:t>
            </a:r>
            <a:r>
              <a:rPr lang="en-US" altLang="zh-CN" sz="3200" smtClean="0">
                <a:latin typeface="黑体" pitchFamily="49" charset="-122"/>
              </a:rPr>
              <a:t>SQL</a:t>
            </a:r>
          </a:p>
        </p:txBody>
      </p:sp>
      <p:sp>
        <p:nvSpPr>
          <p:cNvPr id="11267" name="Rectangle 3"/>
          <p:cNvSpPr>
            <a:spLocks noGrp="1" noChangeArrowheads="1"/>
          </p:cNvSpPr>
          <p:nvPr>
            <p:ph type="body" idx="1"/>
          </p:nvPr>
        </p:nvSpPr>
        <p:spPr>
          <a:xfrm>
            <a:off x="2117725" y="1844675"/>
            <a:ext cx="5254625" cy="4248150"/>
          </a:xfrm>
        </p:spPr>
        <p:txBody>
          <a:bodyPr/>
          <a:lstStyle/>
          <a:p>
            <a:pPr algn="just" eaLnBrk="1" hangingPunct="1">
              <a:buFont typeface="Wingdings" pitchFamily="2" charset="2"/>
              <a:buNone/>
            </a:pPr>
            <a:r>
              <a:rPr lang="en-US" altLang="zh-CN" sz="2800" smtClean="0">
                <a:latin typeface="黑体" pitchFamily="49" charset="-122"/>
                <a:ea typeface="黑体" pitchFamily="49" charset="-122"/>
              </a:rPr>
              <a:t>3.1 SQL</a:t>
            </a:r>
            <a:r>
              <a:rPr lang="zh-CN" altLang="en-US" sz="2800" smtClean="0">
                <a:latin typeface="黑体" pitchFamily="49" charset="-122"/>
                <a:ea typeface="黑体" pitchFamily="49" charset="-122"/>
              </a:rPr>
              <a:t>概述</a:t>
            </a:r>
          </a:p>
          <a:p>
            <a:pPr algn="just" eaLnBrk="1" hangingPunct="1">
              <a:buFont typeface="Wingdings" pitchFamily="2" charset="2"/>
              <a:buNone/>
            </a:pPr>
            <a:r>
              <a:rPr lang="en-US" altLang="zh-CN" sz="2800" smtClean="0">
                <a:latin typeface="黑体" pitchFamily="49" charset="-122"/>
                <a:ea typeface="黑体" pitchFamily="49" charset="-122"/>
              </a:rPr>
              <a:t>3.2 </a:t>
            </a:r>
            <a:r>
              <a:rPr lang="zh-CN" altLang="en-US" sz="2800" smtClean="0">
                <a:latin typeface="黑体" pitchFamily="49" charset="-122"/>
                <a:ea typeface="黑体" pitchFamily="49" charset="-122"/>
              </a:rPr>
              <a:t>学生</a:t>
            </a:r>
            <a:r>
              <a:rPr lang="en-US" altLang="zh-CN" sz="2800" smtClean="0">
                <a:latin typeface="黑体" pitchFamily="49" charset="-122"/>
                <a:ea typeface="黑体" pitchFamily="49" charset="-122"/>
              </a:rPr>
              <a:t>-</a:t>
            </a:r>
            <a:r>
              <a:rPr lang="zh-CN" altLang="en-US" sz="2800" smtClean="0">
                <a:latin typeface="黑体" pitchFamily="49" charset="-122"/>
                <a:ea typeface="黑体" pitchFamily="49" charset="-122"/>
              </a:rPr>
              <a:t>课程数据库</a:t>
            </a:r>
          </a:p>
          <a:p>
            <a:pPr algn="just" eaLnBrk="1" hangingPunct="1">
              <a:buFont typeface="Wingdings" pitchFamily="2" charset="2"/>
              <a:buNone/>
            </a:pPr>
            <a:r>
              <a:rPr lang="en-US" altLang="zh-CN" sz="2800" smtClean="0">
                <a:solidFill>
                  <a:srgbClr val="FF0000"/>
                </a:solidFill>
                <a:latin typeface="黑体" pitchFamily="49" charset="-122"/>
                <a:ea typeface="黑体" pitchFamily="49" charset="-122"/>
              </a:rPr>
              <a:t>3.3 </a:t>
            </a:r>
            <a:r>
              <a:rPr lang="zh-CN" altLang="en-US" sz="2800" smtClean="0">
                <a:solidFill>
                  <a:srgbClr val="FF0000"/>
                </a:solidFill>
                <a:latin typeface="黑体" pitchFamily="49" charset="-122"/>
                <a:ea typeface="黑体" pitchFamily="49" charset="-122"/>
              </a:rPr>
              <a:t>数据定义</a:t>
            </a:r>
          </a:p>
          <a:p>
            <a:pPr algn="just" eaLnBrk="1" hangingPunct="1">
              <a:buFont typeface="Wingdings" pitchFamily="2" charset="2"/>
              <a:buNone/>
            </a:pPr>
            <a:r>
              <a:rPr lang="en-US" altLang="zh-CN" sz="2800" smtClean="0">
                <a:latin typeface="黑体" pitchFamily="49" charset="-122"/>
                <a:ea typeface="黑体" pitchFamily="49" charset="-122"/>
              </a:rPr>
              <a:t>3.4 </a:t>
            </a:r>
            <a:r>
              <a:rPr lang="zh-CN" altLang="en-US" sz="2800" smtClean="0">
                <a:latin typeface="黑体" pitchFamily="49" charset="-122"/>
                <a:ea typeface="黑体" pitchFamily="49" charset="-122"/>
              </a:rPr>
              <a:t>查询</a:t>
            </a:r>
          </a:p>
          <a:p>
            <a:pPr algn="just" eaLnBrk="1" hangingPunct="1">
              <a:buFont typeface="Wingdings" pitchFamily="2" charset="2"/>
              <a:buNone/>
            </a:pPr>
            <a:r>
              <a:rPr lang="en-US" altLang="zh-CN" sz="2800" smtClean="0">
                <a:latin typeface="黑体" pitchFamily="49" charset="-122"/>
                <a:ea typeface="黑体" pitchFamily="49" charset="-122"/>
              </a:rPr>
              <a:t>3.5 </a:t>
            </a:r>
            <a:r>
              <a:rPr lang="zh-CN" altLang="en-US" sz="2800" smtClean="0">
                <a:latin typeface="黑体" pitchFamily="49" charset="-122"/>
                <a:ea typeface="黑体" pitchFamily="49" charset="-122"/>
              </a:rPr>
              <a:t>数据更新</a:t>
            </a:r>
          </a:p>
          <a:p>
            <a:pPr algn="just" eaLnBrk="1" hangingPunct="1">
              <a:buFont typeface="Wingdings" pitchFamily="2" charset="2"/>
              <a:buNone/>
            </a:pPr>
            <a:r>
              <a:rPr lang="en-US" altLang="zh-CN" sz="2800" smtClean="0">
                <a:latin typeface="黑体" pitchFamily="49" charset="-122"/>
                <a:ea typeface="黑体" pitchFamily="49" charset="-122"/>
              </a:rPr>
              <a:t>3.6 </a:t>
            </a:r>
            <a:r>
              <a:rPr lang="zh-CN" altLang="en-US" sz="2800" smtClean="0">
                <a:latin typeface="黑体" pitchFamily="49" charset="-122"/>
                <a:ea typeface="黑体" pitchFamily="49" charset="-122"/>
              </a:rPr>
              <a:t>视图</a:t>
            </a:r>
          </a:p>
          <a:p>
            <a:pPr algn="just" eaLnBrk="1" hangingPunct="1">
              <a:buFont typeface="Wingdings" pitchFamily="2" charset="2"/>
              <a:buNone/>
            </a:pPr>
            <a:r>
              <a:rPr lang="en-US" altLang="zh-CN" sz="2800" smtClean="0">
                <a:latin typeface="黑体" pitchFamily="49" charset="-122"/>
                <a:ea typeface="黑体" pitchFamily="49" charset="-122"/>
              </a:rPr>
              <a:t>3.7 </a:t>
            </a:r>
            <a:r>
              <a:rPr lang="zh-CN" altLang="en-US" sz="2800" smtClean="0">
                <a:latin typeface="黑体" pitchFamily="49" charset="-122"/>
                <a:ea typeface="黑体" pitchFamily="49" charset="-122"/>
              </a:rPr>
              <a:t>小结</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192213" y="188913"/>
            <a:ext cx="7051675" cy="863600"/>
          </a:xfrm>
        </p:spPr>
        <p:txBody>
          <a:bodyPr/>
          <a:lstStyle/>
          <a:p>
            <a:pPr eaLnBrk="1" hangingPunct="1"/>
            <a:r>
              <a:rPr lang="en-US" altLang="zh-CN" sz="3200" smtClean="0">
                <a:latin typeface="黑体" pitchFamily="49" charset="-122"/>
              </a:rPr>
              <a:t>3.3 SQL</a:t>
            </a:r>
            <a:r>
              <a:rPr lang="zh-CN" altLang="en-US" sz="3200" smtClean="0">
                <a:latin typeface="黑体" pitchFamily="49" charset="-122"/>
              </a:rPr>
              <a:t>数据定义</a:t>
            </a:r>
          </a:p>
        </p:txBody>
      </p:sp>
      <p:sp>
        <p:nvSpPr>
          <p:cNvPr id="12291" name="Rectangle 3"/>
          <p:cNvSpPr>
            <a:spLocks noGrp="1" noChangeArrowheads="1"/>
          </p:cNvSpPr>
          <p:nvPr>
            <p:ph type="body" idx="1"/>
          </p:nvPr>
        </p:nvSpPr>
        <p:spPr>
          <a:xfrm>
            <a:off x="611188" y="1125538"/>
            <a:ext cx="7772400" cy="4895850"/>
          </a:xfrm>
        </p:spPr>
        <p:txBody>
          <a:bodyPr/>
          <a:lstStyle/>
          <a:p>
            <a:pPr algn="just" eaLnBrk="1" hangingPunct="1">
              <a:lnSpc>
                <a:spcPct val="90000"/>
              </a:lnSpc>
              <a:buFont typeface="Wingdings" pitchFamily="2" charset="2"/>
              <a:buNone/>
            </a:pPr>
            <a:r>
              <a:rPr lang="zh-CN" altLang="en-US" sz="2600" smtClean="0">
                <a:latin typeface="黑体" pitchFamily="49" charset="-122"/>
                <a:ea typeface="黑体" pitchFamily="49" charset="-122"/>
              </a:rPr>
              <a:t>一、定义基本表</a:t>
            </a:r>
          </a:p>
          <a:p>
            <a:pPr algn="just" eaLnBrk="1" hangingPunct="1">
              <a:lnSpc>
                <a:spcPct val="90000"/>
              </a:lnSpc>
              <a:buFont typeface="Wingdings" pitchFamily="2" charset="2"/>
              <a:buNone/>
            </a:pPr>
            <a:r>
              <a:rPr lang="en-US" altLang="zh-CN" sz="2600" smtClean="0">
                <a:latin typeface="黑体" pitchFamily="49" charset="-122"/>
                <a:ea typeface="黑体" pitchFamily="49" charset="-122"/>
              </a:rPr>
              <a:t>CREATE TABLE &lt;</a:t>
            </a:r>
            <a:r>
              <a:rPr lang="zh-CN" altLang="en-US" sz="2600" smtClean="0">
                <a:latin typeface="黑体" pitchFamily="49" charset="-122"/>
                <a:ea typeface="黑体" pitchFamily="49" charset="-122"/>
              </a:rPr>
              <a:t>表名</a:t>
            </a:r>
            <a:r>
              <a:rPr lang="en-US" altLang="zh-CN" sz="2600" smtClean="0">
                <a:latin typeface="黑体" pitchFamily="49" charset="-122"/>
                <a:ea typeface="黑体" pitchFamily="49" charset="-122"/>
              </a:rPr>
              <a:t>&gt;</a:t>
            </a:r>
          </a:p>
          <a:p>
            <a:pPr lvl="1" algn="just" eaLnBrk="1" hangingPunct="1">
              <a:lnSpc>
                <a:spcPct val="90000"/>
              </a:lnSpc>
              <a:buFont typeface="Wingdings" pitchFamily="2" charset="2"/>
              <a:buNone/>
            </a:pPr>
            <a:r>
              <a:rPr lang="en-US" altLang="zh-CN" sz="2200" smtClean="0">
                <a:latin typeface="黑体" pitchFamily="49" charset="-122"/>
                <a:ea typeface="黑体" pitchFamily="49" charset="-122"/>
              </a:rPr>
              <a:t>      </a:t>
            </a:r>
            <a:r>
              <a:rPr lang="zh-CN" altLang="en-US" sz="2200" smtClean="0">
                <a:latin typeface="黑体" pitchFamily="49" charset="-122"/>
                <a:ea typeface="黑体" pitchFamily="49" charset="-122"/>
              </a:rPr>
              <a:t>（</a:t>
            </a:r>
            <a:r>
              <a:rPr lang="en-US" altLang="zh-CN" sz="2200" smtClean="0">
                <a:latin typeface="黑体" pitchFamily="49" charset="-122"/>
                <a:ea typeface="黑体" pitchFamily="49" charset="-122"/>
              </a:rPr>
              <a:t>&lt;</a:t>
            </a:r>
            <a:r>
              <a:rPr lang="zh-CN" altLang="en-US" sz="2200" smtClean="0">
                <a:latin typeface="黑体" pitchFamily="49" charset="-122"/>
                <a:ea typeface="黑体" pitchFamily="49" charset="-122"/>
              </a:rPr>
              <a:t>列名</a:t>
            </a:r>
            <a:r>
              <a:rPr lang="en-US" altLang="zh-CN" sz="2200" smtClean="0">
                <a:latin typeface="黑体" pitchFamily="49" charset="-122"/>
                <a:ea typeface="黑体" pitchFamily="49" charset="-122"/>
              </a:rPr>
              <a:t>&gt; &lt;</a:t>
            </a:r>
            <a:r>
              <a:rPr lang="zh-CN" altLang="en-US" sz="2200" smtClean="0">
                <a:latin typeface="黑体" pitchFamily="49" charset="-122"/>
                <a:ea typeface="黑体" pitchFamily="49" charset="-122"/>
              </a:rPr>
              <a:t>数据类型</a:t>
            </a:r>
            <a:r>
              <a:rPr lang="en-US" altLang="zh-CN" sz="2200" smtClean="0">
                <a:latin typeface="黑体" pitchFamily="49" charset="-122"/>
                <a:ea typeface="黑体" pitchFamily="49" charset="-122"/>
              </a:rPr>
              <a:t>&gt;[ &lt;</a:t>
            </a:r>
            <a:r>
              <a:rPr lang="zh-CN" altLang="en-US" sz="2200" smtClean="0">
                <a:latin typeface="黑体" pitchFamily="49" charset="-122"/>
                <a:ea typeface="黑体" pitchFamily="49" charset="-122"/>
              </a:rPr>
              <a:t>列级完整性约束条件</a:t>
            </a:r>
            <a:r>
              <a:rPr lang="en-US" altLang="zh-CN" sz="2200" smtClean="0">
                <a:latin typeface="黑体" pitchFamily="49" charset="-122"/>
                <a:ea typeface="黑体" pitchFamily="49" charset="-122"/>
              </a:rPr>
              <a:t>&gt; ]</a:t>
            </a:r>
          </a:p>
          <a:p>
            <a:pPr lvl="1" algn="just" eaLnBrk="1" hangingPunct="1">
              <a:lnSpc>
                <a:spcPct val="90000"/>
              </a:lnSpc>
              <a:buFont typeface="Wingdings" pitchFamily="2" charset="2"/>
              <a:buNone/>
            </a:pPr>
            <a:r>
              <a:rPr lang="en-US" altLang="zh-CN" sz="2200" smtClean="0">
                <a:latin typeface="黑体" pitchFamily="49" charset="-122"/>
                <a:ea typeface="黑体" pitchFamily="49" charset="-122"/>
              </a:rPr>
              <a:t>    [</a:t>
            </a:r>
            <a:r>
              <a:rPr lang="zh-CN" altLang="en-US" sz="2200" smtClean="0">
                <a:latin typeface="黑体" pitchFamily="49" charset="-122"/>
                <a:ea typeface="黑体" pitchFamily="49" charset="-122"/>
              </a:rPr>
              <a:t>，</a:t>
            </a:r>
            <a:r>
              <a:rPr lang="en-US" altLang="zh-CN" sz="2200" smtClean="0">
                <a:latin typeface="黑体" pitchFamily="49" charset="-122"/>
                <a:ea typeface="黑体" pitchFamily="49" charset="-122"/>
              </a:rPr>
              <a:t>&lt;</a:t>
            </a:r>
            <a:r>
              <a:rPr lang="zh-CN" altLang="en-US" sz="2200" smtClean="0">
                <a:latin typeface="黑体" pitchFamily="49" charset="-122"/>
                <a:ea typeface="黑体" pitchFamily="49" charset="-122"/>
              </a:rPr>
              <a:t>列名</a:t>
            </a:r>
            <a:r>
              <a:rPr lang="en-US" altLang="zh-CN" sz="2200" smtClean="0">
                <a:latin typeface="黑体" pitchFamily="49" charset="-122"/>
                <a:ea typeface="黑体" pitchFamily="49" charset="-122"/>
              </a:rPr>
              <a:t>&gt; &lt;</a:t>
            </a:r>
            <a:r>
              <a:rPr lang="zh-CN" altLang="en-US" sz="2200" smtClean="0">
                <a:latin typeface="黑体" pitchFamily="49" charset="-122"/>
                <a:ea typeface="黑体" pitchFamily="49" charset="-122"/>
              </a:rPr>
              <a:t>数据类型</a:t>
            </a:r>
            <a:r>
              <a:rPr lang="en-US" altLang="zh-CN" sz="2200" smtClean="0">
                <a:latin typeface="黑体" pitchFamily="49" charset="-122"/>
                <a:ea typeface="黑体" pitchFamily="49" charset="-122"/>
              </a:rPr>
              <a:t>&gt;[&lt;</a:t>
            </a:r>
            <a:r>
              <a:rPr lang="zh-CN" altLang="en-US" sz="2200" smtClean="0">
                <a:latin typeface="黑体" pitchFamily="49" charset="-122"/>
                <a:ea typeface="黑体" pitchFamily="49" charset="-122"/>
              </a:rPr>
              <a:t>列级完整性约束条件</a:t>
            </a:r>
            <a:r>
              <a:rPr lang="en-US" altLang="zh-CN" sz="2200" smtClean="0">
                <a:latin typeface="黑体" pitchFamily="49" charset="-122"/>
                <a:ea typeface="黑体" pitchFamily="49" charset="-122"/>
              </a:rPr>
              <a:t>&gt;] ] </a:t>
            </a:r>
            <a:r>
              <a:rPr lang="en-US" altLang="zh-CN" sz="2200" smtClean="0">
                <a:latin typeface="Courier New" pitchFamily="49" charset="0"/>
                <a:ea typeface="黑体" pitchFamily="49" charset="-122"/>
              </a:rPr>
              <a:t>…</a:t>
            </a:r>
            <a:endParaRPr lang="en-US" altLang="zh-CN" sz="2200" smtClean="0">
              <a:latin typeface="黑体" pitchFamily="49" charset="-122"/>
              <a:ea typeface="黑体" pitchFamily="49" charset="-122"/>
            </a:endParaRPr>
          </a:p>
          <a:p>
            <a:pPr lvl="1" algn="just" eaLnBrk="1" hangingPunct="1">
              <a:lnSpc>
                <a:spcPct val="90000"/>
              </a:lnSpc>
              <a:buFont typeface="Wingdings" pitchFamily="2" charset="2"/>
              <a:buNone/>
            </a:pPr>
            <a:r>
              <a:rPr lang="en-US" altLang="zh-CN" sz="2200" smtClean="0">
                <a:latin typeface="黑体" pitchFamily="49" charset="-122"/>
                <a:ea typeface="黑体" pitchFamily="49" charset="-122"/>
              </a:rPr>
              <a:t>    [</a:t>
            </a:r>
            <a:r>
              <a:rPr lang="zh-CN" altLang="en-US" sz="2200" smtClean="0">
                <a:latin typeface="黑体" pitchFamily="49" charset="-122"/>
                <a:ea typeface="黑体" pitchFamily="49" charset="-122"/>
              </a:rPr>
              <a:t>，</a:t>
            </a:r>
            <a:r>
              <a:rPr lang="en-US" altLang="zh-CN" sz="2200" smtClean="0">
                <a:latin typeface="黑体" pitchFamily="49" charset="-122"/>
                <a:ea typeface="黑体" pitchFamily="49" charset="-122"/>
              </a:rPr>
              <a:t>&lt;</a:t>
            </a:r>
            <a:r>
              <a:rPr lang="zh-CN" altLang="en-US" sz="2200" smtClean="0">
                <a:latin typeface="黑体" pitchFamily="49" charset="-122"/>
                <a:ea typeface="黑体" pitchFamily="49" charset="-122"/>
              </a:rPr>
              <a:t>表级完整性约束条件</a:t>
            </a:r>
            <a:r>
              <a:rPr lang="en-US" altLang="zh-CN" sz="2200" smtClean="0">
                <a:latin typeface="黑体" pitchFamily="49" charset="-122"/>
                <a:ea typeface="黑体" pitchFamily="49" charset="-122"/>
              </a:rPr>
              <a:t>&gt; ] </a:t>
            </a:r>
            <a:r>
              <a:rPr lang="zh-CN" altLang="en-US" sz="2200" smtClean="0">
                <a:latin typeface="黑体" pitchFamily="49" charset="-122"/>
                <a:ea typeface="黑体" pitchFamily="49" charset="-122"/>
              </a:rPr>
              <a:t>）；</a:t>
            </a:r>
          </a:p>
          <a:p>
            <a:pPr algn="just" eaLnBrk="1" hangingPunct="1">
              <a:lnSpc>
                <a:spcPct val="90000"/>
              </a:lnSpc>
              <a:buFont typeface="Wingdings" pitchFamily="2" charset="2"/>
              <a:buNone/>
            </a:pPr>
            <a:r>
              <a:rPr lang="zh-CN" altLang="en-US" sz="2600" smtClean="0">
                <a:latin typeface="黑体" pitchFamily="49" charset="-122"/>
                <a:ea typeface="黑体" pitchFamily="49" charset="-122"/>
              </a:rPr>
              <a:t>其中：</a:t>
            </a:r>
          </a:p>
          <a:p>
            <a:pPr lvl="1" algn="just" eaLnBrk="1" hangingPunct="1">
              <a:lnSpc>
                <a:spcPct val="90000"/>
              </a:lnSpc>
            </a:pPr>
            <a:r>
              <a:rPr lang="en-US" altLang="zh-CN" sz="2400" smtClean="0">
                <a:solidFill>
                  <a:srgbClr val="FF0000"/>
                </a:solidFill>
                <a:latin typeface="黑体" pitchFamily="49" charset="-122"/>
                <a:ea typeface="黑体" pitchFamily="49" charset="-122"/>
              </a:rPr>
              <a:t>&lt;</a:t>
            </a:r>
            <a:r>
              <a:rPr lang="zh-CN" altLang="en-US" sz="2400" smtClean="0">
                <a:solidFill>
                  <a:srgbClr val="FF0000"/>
                </a:solidFill>
                <a:latin typeface="黑体" pitchFamily="49" charset="-122"/>
                <a:ea typeface="黑体" pitchFamily="49" charset="-122"/>
              </a:rPr>
              <a:t>表名</a:t>
            </a:r>
            <a:r>
              <a:rPr lang="en-US" altLang="zh-CN" sz="2400" smtClean="0">
                <a:solidFill>
                  <a:srgbClr val="FF0000"/>
                </a:solidFill>
                <a:latin typeface="黑体" pitchFamily="49" charset="-122"/>
                <a:ea typeface="黑体" pitchFamily="49" charset="-122"/>
              </a:rPr>
              <a:t>&gt;</a:t>
            </a:r>
            <a:r>
              <a:rPr lang="zh-CN" altLang="en-US" sz="2400" smtClean="0">
                <a:latin typeface="黑体" pitchFamily="49" charset="-122"/>
                <a:ea typeface="黑体" pitchFamily="49" charset="-122"/>
              </a:rPr>
              <a:t>：所要定义的基本表的名字</a:t>
            </a:r>
          </a:p>
          <a:p>
            <a:pPr lvl="1" algn="just" eaLnBrk="1" hangingPunct="1">
              <a:lnSpc>
                <a:spcPct val="90000"/>
              </a:lnSpc>
            </a:pPr>
            <a:r>
              <a:rPr lang="en-US" altLang="zh-CN" sz="2400" smtClean="0">
                <a:solidFill>
                  <a:srgbClr val="FF0000"/>
                </a:solidFill>
                <a:latin typeface="黑体" pitchFamily="49" charset="-122"/>
                <a:ea typeface="黑体" pitchFamily="49" charset="-122"/>
              </a:rPr>
              <a:t>&lt;</a:t>
            </a:r>
            <a:r>
              <a:rPr lang="zh-CN" altLang="en-US" sz="2400" smtClean="0">
                <a:solidFill>
                  <a:srgbClr val="FF0000"/>
                </a:solidFill>
                <a:latin typeface="黑体" pitchFamily="49" charset="-122"/>
                <a:ea typeface="黑体" pitchFamily="49" charset="-122"/>
              </a:rPr>
              <a:t>列名</a:t>
            </a:r>
            <a:r>
              <a:rPr lang="en-US" altLang="zh-CN" sz="2400" smtClean="0">
                <a:solidFill>
                  <a:srgbClr val="FF0000"/>
                </a:solidFill>
                <a:latin typeface="黑体" pitchFamily="49" charset="-122"/>
                <a:ea typeface="黑体" pitchFamily="49" charset="-122"/>
              </a:rPr>
              <a:t>&gt;</a:t>
            </a:r>
            <a:r>
              <a:rPr lang="zh-CN" altLang="en-US" sz="2400" smtClean="0">
                <a:latin typeface="黑体" pitchFamily="49" charset="-122"/>
                <a:ea typeface="黑体" pitchFamily="49" charset="-122"/>
              </a:rPr>
              <a:t>：组成该表的各个属性（列）</a:t>
            </a:r>
          </a:p>
          <a:p>
            <a:pPr lvl="1" algn="just" eaLnBrk="1" hangingPunct="1">
              <a:lnSpc>
                <a:spcPct val="90000"/>
              </a:lnSpc>
            </a:pPr>
            <a:r>
              <a:rPr lang="en-US" altLang="zh-CN" sz="2400" smtClean="0">
                <a:solidFill>
                  <a:srgbClr val="FF0000"/>
                </a:solidFill>
                <a:latin typeface="黑体" pitchFamily="49" charset="-122"/>
                <a:ea typeface="黑体" pitchFamily="49" charset="-122"/>
              </a:rPr>
              <a:t>&lt;</a:t>
            </a:r>
            <a:r>
              <a:rPr lang="zh-CN" altLang="en-US" sz="2400" smtClean="0">
                <a:solidFill>
                  <a:srgbClr val="FF0000"/>
                </a:solidFill>
                <a:latin typeface="黑体" pitchFamily="49" charset="-122"/>
                <a:ea typeface="黑体" pitchFamily="49" charset="-122"/>
              </a:rPr>
              <a:t>列级完整性约束条件</a:t>
            </a:r>
            <a:r>
              <a:rPr lang="en-US" altLang="zh-CN" sz="2400" smtClean="0">
                <a:solidFill>
                  <a:srgbClr val="FF0000"/>
                </a:solidFill>
                <a:latin typeface="黑体" pitchFamily="49" charset="-122"/>
                <a:ea typeface="黑体" pitchFamily="49" charset="-122"/>
              </a:rPr>
              <a:t>&gt;</a:t>
            </a:r>
            <a:r>
              <a:rPr lang="zh-CN" altLang="en-US" sz="2400" smtClean="0">
                <a:latin typeface="黑体" pitchFamily="49" charset="-122"/>
                <a:ea typeface="黑体" pitchFamily="49" charset="-122"/>
              </a:rPr>
              <a:t>：涉及相应属性列的完整性约束条件</a:t>
            </a:r>
          </a:p>
          <a:p>
            <a:pPr lvl="1" eaLnBrk="1" hangingPunct="1">
              <a:lnSpc>
                <a:spcPct val="90000"/>
              </a:lnSpc>
            </a:pPr>
            <a:r>
              <a:rPr lang="en-US" altLang="zh-CN" sz="2400" smtClean="0">
                <a:solidFill>
                  <a:srgbClr val="FF0000"/>
                </a:solidFill>
                <a:latin typeface="黑体" pitchFamily="49" charset="-122"/>
                <a:ea typeface="黑体" pitchFamily="49" charset="-122"/>
              </a:rPr>
              <a:t>&lt;</a:t>
            </a:r>
            <a:r>
              <a:rPr lang="zh-CN" altLang="en-US" sz="2400" smtClean="0">
                <a:solidFill>
                  <a:srgbClr val="FF0000"/>
                </a:solidFill>
                <a:latin typeface="黑体" pitchFamily="49" charset="-122"/>
                <a:ea typeface="黑体" pitchFamily="49" charset="-122"/>
              </a:rPr>
              <a:t>表级完整性约束条件</a:t>
            </a:r>
            <a:r>
              <a:rPr lang="en-US" altLang="zh-CN" sz="2400" smtClean="0">
                <a:solidFill>
                  <a:srgbClr val="FF0000"/>
                </a:solidFill>
                <a:latin typeface="黑体" pitchFamily="49" charset="-122"/>
                <a:ea typeface="黑体" pitchFamily="49" charset="-122"/>
              </a:rPr>
              <a:t>&gt;</a:t>
            </a:r>
            <a:r>
              <a:rPr lang="zh-CN" altLang="en-US" sz="2400" smtClean="0">
                <a:latin typeface="黑体" pitchFamily="49" charset="-122"/>
                <a:ea typeface="黑体" pitchFamily="49" charset="-122"/>
              </a:rPr>
              <a:t>：涉及一个或多个属性列的完整性约束条件 </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7" name="Rectangle 3"/>
          <p:cNvSpPr>
            <a:spLocks noGrp="1" noChangeArrowheads="1"/>
          </p:cNvSpPr>
          <p:nvPr>
            <p:ph type="body" idx="1"/>
          </p:nvPr>
        </p:nvSpPr>
        <p:spPr>
          <a:xfrm>
            <a:off x="395288" y="1601788"/>
            <a:ext cx="7920037" cy="4832350"/>
          </a:xfrm>
        </p:spPr>
        <p:txBody>
          <a:bodyPr/>
          <a:lstStyle/>
          <a:p>
            <a:pPr algn="just" eaLnBrk="1" hangingPunct="1">
              <a:lnSpc>
                <a:spcPct val="110000"/>
              </a:lnSpc>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5]  </a:t>
            </a:r>
            <a:r>
              <a:rPr lang="zh-CN" altLang="en-US" sz="2400" smtClean="0">
                <a:latin typeface="黑体" pitchFamily="49" charset="-122"/>
                <a:ea typeface="黑体" pitchFamily="49" charset="-122"/>
              </a:rPr>
              <a:t>建立一个</a:t>
            </a:r>
            <a:r>
              <a:rPr lang="zh-CN" altLang="en-US" sz="2400" smtClean="0">
                <a:latin typeface="Courier New" pitchFamily="49" charset="0"/>
                <a:ea typeface="黑体" pitchFamily="49" charset="-122"/>
              </a:rPr>
              <a:t>“</a:t>
            </a:r>
            <a:r>
              <a:rPr lang="zh-CN" altLang="en-US" sz="2400" smtClean="0">
                <a:latin typeface="黑体" pitchFamily="49" charset="-122"/>
                <a:ea typeface="黑体" pitchFamily="49" charset="-122"/>
              </a:rPr>
              <a:t>学生</a:t>
            </a:r>
            <a:r>
              <a:rPr lang="zh-CN" altLang="en-US" sz="2400" smtClean="0">
                <a:latin typeface="Courier New" pitchFamily="49" charset="0"/>
                <a:ea typeface="黑体" pitchFamily="49" charset="-122"/>
              </a:rPr>
              <a:t>”</a:t>
            </a:r>
            <a:r>
              <a:rPr lang="zh-CN" altLang="en-US" sz="2400" smtClean="0">
                <a:latin typeface="黑体" pitchFamily="49" charset="-122"/>
                <a:ea typeface="黑体" pitchFamily="49" charset="-122"/>
              </a:rPr>
              <a:t>表</a:t>
            </a:r>
            <a:r>
              <a:rPr lang="en-US" altLang="zh-CN" sz="2400" smtClean="0">
                <a:latin typeface="黑体" pitchFamily="49" charset="-122"/>
                <a:ea typeface="黑体" pitchFamily="49" charset="-122"/>
              </a:rPr>
              <a:t>S</a:t>
            </a:r>
            <a:r>
              <a:rPr lang="zh-CN" altLang="en-US" sz="2400" smtClean="0">
                <a:latin typeface="黑体" pitchFamily="49" charset="-122"/>
                <a:ea typeface="黑体" pitchFamily="49" charset="-122"/>
              </a:rPr>
              <a:t>，它由学号</a:t>
            </a:r>
            <a:r>
              <a:rPr lang="en-US" altLang="zh-CN" sz="2400" smtClean="0">
                <a:latin typeface="黑体" pitchFamily="49" charset="-122"/>
                <a:ea typeface="黑体" pitchFamily="49" charset="-122"/>
              </a:rPr>
              <a:t>Sno</a:t>
            </a:r>
            <a:r>
              <a:rPr lang="zh-CN" altLang="en-US" sz="2400" smtClean="0">
                <a:latin typeface="黑体" pitchFamily="49" charset="-122"/>
                <a:ea typeface="黑体" pitchFamily="49" charset="-122"/>
              </a:rPr>
              <a:t>、姓名</a:t>
            </a:r>
            <a:r>
              <a:rPr lang="en-US" altLang="zh-CN" sz="2400" smtClean="0">
                <a:latin typeface="黑体" pitchFamily="49" charset="-122"/>
                <a:ea typeface="黑体" pitchFamily="49" charset="-122"/>
              </a:rPr>
              <a:t>Sname</a:t>
            </a:r>
            <a:r>
              <a:rPr lang="zh-CN" altLang="en-US" sz="2400" smtClean="0">
                <a:latin typeface="黑体" pitchFamily="49" charset="-122"/>
                <a:ea typeface="黑体" pitchFamily="49" charset="-122"/>
              </a:rPr>
              <a:t>、性别</a:t>
            </a:r>
            <a:r>
              <a:rPr lang="en-US" altLang="zh-CN" sz="2400" smtClean="0">
                <a:latin typeface="黑体" pitchFamily="49" charset="-122"/>
                <a:ea typeface="黑体" pitchFamily="49" charset="-122"/>
              </a:rPr>
              <a:t>Ssex</a:t>
            </a:r>
            <a:r>
              <a:rPr lang="zh-CN" altLang="en-US" sz="2400" smtClean="0">
                <a:latin typeface="黑体" pitchFamily="49" charset="-122"/>
                <a:ea typeface="黑体" pitchFamily="49" charset="-122"/>
              </a:rPr>
              <a:t>、出生日期</a:t>
            </a:r>
            <a:r>
              <a:rPr lang="en-US" altLang="zh-CN" sz="2400" smtClean="0">
                <a:latin typeface="黑体" pitchFamily="49" charset="-122"/>
                <a:ea typeface="黑体" pitchFamily="49" charset="-122"/>
              </a:rPr>
              <a:t>Sbirth</a:t>
            </a:r>
            <a:r>
              <a:rPr lang="zh-CN" altLang="en-US" sz="2400" smtClean="0">
                <a:latin typeface="黑体" pitchFamily="49" charset="-122"/>
                <a:ea typeface="黑体" pitchFamily="49" charset="-122"/>
              </a:rPr>
              <a:t>、所在系</a:t>
            </a:r>
            <a:r>
              <a:rPr lang="en-US" altLang="zh-CN" sz="2400" smtClean="0">
                <a:latin typeface="黑体" pitchFamily="49" charset="-122"/>
                <a:ea typeface="黑体" pitchFamily="49" charset="-122"/>
              </a:rPr>
              <a:t>College</a:t>
            </a:r>
            <a:r>
              <a:rPr lang="zh-CN" altLang="en-US" sz="2400" smtClean="0">
                <a:latin typeface="黑体" pitchFamily="49" charset="-122"/>
                <a:ea typeface="黑体" pitchFamily="49" charset="-122"/>
              </a:rPr>
              <a:t>五个属性组成。其中学号不能为空，值是唯一的，并且姓名取值也唯一。</a:t>
            </a:r>
          </a:p>
          <a:p>
            <a:pPr algn="just" eaLnBrk="1" hangingPunct="1">
              <a:lnSpc>
                <a:spcPct val="110000"/>
              </a:lnSpc>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CREATE TABLE S</a:t>
            </a:r>
          </a:p>
          <a:p>
            <a:pPr lvl="1" algn="just" eaLnBrk="1" hangingPunct="1">
              <a:lnSpc>
                <a:spcPct val="110000"/>
              </a:lnSpc>
              <a:buClr>
                <a:schemeClr val="folHlink"/>
              </a:buClr>
              <a:buSzPct val="60000"/>
              <a:buFont typeface="Wingdings" pitchFamily="2" charset="2"/>
              <a:buNone/>
            </a:pPr>
            <a:r>
              <a:rPr lang="en-US" altLang="zh-CN" sz="2400" smtClean="0">
                <a:latin typeface="黑体" pitchFamily="49" charset="-122"/>
                <a:ea typeface="黑体" pitchFamily="49" charset="-122"/>
              </a:rPr>
              <a:t>        (Sno       VARCHAR2(10)</a:t>
            </a:r>
          </a:p>
          <a:p>
            <a:pPr lvl="1" algn="just" eaLnBrk="1" hangingPunct="1">
              <a:lnSpc>
                <a:spcPct val="110000"/>
              </a:lnSpc>
              <a:buClr>
                <a:schemeClr val="folHlink"/>
              </a:buClr>
              <a:buSzPct val="60000"/>
              <a:buFont typeface="Wingdings" pitchFamily="2" charset="2"/>
              <a:buNone/>
            </a:pPr>
            <a:r>
              <a:rPr lang="en-US" altLang="zh-CN" sz="2400" smtClean="0">
                <a:latin typeface="黑体" pitchFamily="49" charset="-122"/>
                <a:ea typeface="黑体" pitchFamily="49" charset="-122"/>
              </a:rPr>
              <a:t>         Sname     VARCHAR2(40)</a:t>
            </a:r>
          </a:p>
          <a:p>
            <a:pPr lvl="1" algn="just" eaLnBrk="1" hangingPunct="1">
              <a:lnSpc>
                <a:spcPct val="110000"/>
              </a:lnSpc>
              <a:buClr>
                <a:schemeClr val="folHlink"/>
              </a:buClr>
              <a:buSzPct val="60000"/>
              <a:buFont typeface="Wingdings" pitchFamily="2" charset="2"/>
              <a:buNone/>
            </a:pPr>
            <a:r>
              <a:rPr lang="en-US" altLang="zh-CN" sz="2400" smtClean="0">
                <a:latin typeface="黑体" pitchFamily="49" charset="-122"/>
                <a:ea typeface="黑体" pitchFamily="49" charset="-122"/>
              </a:rPr>
              <a:t>         Ssex      VARCHAR2(10),</a:t>
            </a:r>
          </a:p>
          <a:p>
            <a:pPr lvl="1" algn="just" eaLnBrk="1" hangingPunct="1">
              <a:lnSpc>
                <a:spcPct val="110000"/>
              </a:lnSpc>
              <a:buClr>
                <a:schemeClr val="folHlink"/>
              </a:buClr>
              <a:buSzPct val="60000"/>
              <a:buFont typeface="Wingdings" pitchFamily="2" charset="2"/>
              <a:buNone/>
            </a:pPr>
            <a:r>
              <a:rPr lang="en-US" altLang="zh-CN" sz="2400" smtClean="0">
                <a:latin typeface="黑体" pitchFamily="49" charset="-122"/>
                <a:ea typeface="黑体" pitchFamily="49" charset="-122"/>
              </a:rPr>
              <a:t>         Sbirth    DATE,</a:t>
            </a:r>
          </a:p>
          <a:p>
            <a:pPr lvl="1" algn="just" eaLnBrk="1" hangingPunct="1">
              <a:lnSpc>
                <a:spcPct val="110000"/>
              </a:lnSpc>
              <a:buClr>
                <a:schemeClr val="folHlink"/>
              </a:buClr>
              <a:buSzPct val="60000"/>
              <a:buFont typeface="Wingdings" pitchFamily="2" charset="2"/>
              <a:buNone/>
            </a:pPr>
            <a:r>
              <a:rPr lang="en-US" altLang="zh-CN" sz="2400" smtClean="0">
                <a:latin typeface="黑体" pitchFamily="49" charset="-122"/>
                <a:ea typeface="黑体" pitchFamily="49" charset="-122"/>
              </a:rPr>
              <a:t>         College   VARCHAR2(40))</a:t>
            </a:r>
            <a:r>
              <a:rPr lang="zh-CN" altLang="en-US" sz="2400" smtClean="0">
                <a:latin typeface="黑体" pitchFamily="49" charset="-122"/>
                <a:ea typeface="黑体" pitchFamily="49" charset="-122"/>
              </a:rPr>
              <a:t>； </a:t>
            </a:r>
          </a:p>
        </p:txBody>
      </p:sp>
      <p:sp>
        <p:nvSpPr>
          <p:cNvPr id="344069" name="Text Box 5"/>
          <p:cNvSpPr txBox="1">
            <a:spLocks noChangeArrowheads="1"/>
          </p:cNvSpPr>
          <p:nvPr/>
        </p:nvSpPr>
        <p:spPr bwMode="auto">
          <a:xfrm>
            <a:off x="6221413" y="3789363"/>
            <a:ext cx="187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r>
              <a:rPr kumimoji="1" lang="en-US" altLang="zh-CN" sz="2400">
                <a:latin typeface="Arial" charset="0"/>
                <a:ea typeface="黑体" pitchFamily="49" charset="-122"/>
              </a:rPr>
              <a:t>Primary key,</a:t>
            </a:r>
          </a:p>
        </p:txBody>
      </p:sp>
      <p:sp>
        <p:nvSpPr>
          <p:cNvPr id="344070" name="Text Box 6"/>
          <p:cNvSpPr txBox="1">
            <a:spLocks noChangeArrowheads="1"/>
          </p:cNvSpPr>
          <p:nvPr/>
        </p:nvSpPr>
        <p:spPr bwMode="auto">
          <a:xfrm>
            <a:off x="6192838" y="4221163"/>
            <a:ext cx="1187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r>
              <a:rPr kumimoji="1" lang="en-US" altLang="zh-CN" sz="2400">
                <a:latin typeface="Arial" charset="0"/>
                <a:ea typeface="黑体" pitchFamily="49" charset="-122"/>
              </a:rPr>
              <a:t>unique,</a:t>
            </a:r>
          </a:p>
        </p:txBody>
      </p:sp>
      <p:sp>
        <p:nvSpPr>
          <p:cNvPr id="13317" name="Rectangle 2"/>
          <p:cNvSpPr>
            <a:spLocks noGrp="1" noChangeArrowheads="1"/>
          </p:cNvSpPr>
          <p:nvPr>
            <p:ph type="title"/>
          </p:nvPr>
        </p:nvSpPr>
        <p:spPr>
          <a:xfrm>
            <a:off x="1192213" y="188913"/>
            <a:ext cx="7051675" cy="863600"/>
          </a:xfrm>
        </p:spPr>
        <p:txBody>
          <a:bodyPr/>
          <a:lstStyle/>
          <a:p>
            <a:pPr eaLnBrk="1" hangingPunct="1"/>
            <a:r>
              <a:rPr lang="en-US" altLang="zh-CN" sz="3200" smtClean="0">
                <a:latin typeface="黑体" pitchFamily="49" charset="-122"/>
              </a:rPr>
              <a:t>3.3 SQL</a:t>
            </a:r>
            <a:r>
              <a:rPr lang="zh-CN" altLang="en-US" sz="3200" smtClean="0">
                <a:latin typeface="黑体" pitchFamily="49" charset="-122"/>
              </a:rPr>
              <a:t>数据定义</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44067">
                                            <p:txEl>
                                              <p:pRg st="1" end="1"/>
                                            </p:txEl>
                                          </p:spTgt>
                                        </p:tgtEl>
                                        <p:attrNameLst>
                                          <p:attrName>style.visibility</p:attrName>
                                        </p:attrNameLst>
                                      </p:cBhvr>
                                      <p:to>
                                        <p:strVal val="visible"/>
                                      </p:to>
                                    </p:set>
                                    <p:anim calcmode="lin" valueType="num">
                                      <p:cBhvr additive="base">
                                        <p:cTn id="7" dur="500" fill="hold"/>
                                        <p:tgtEl>
                                          <p:spTgt spid="34406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406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44067">
                                            <p:txEl>
                                              <p:pRg st="2" end="2"/>
                                            </p:txEl>
                                          </p:spTgt>
                                        </p:tgtEl>
                                        <p:attrNameLst>
                                          <p:attrName>style.visibility</p:attrName>
                                        </p:attrNameLst>
                                      </p:cBhvr>
                                      <p:to>
                                        <p:strVal val="visible"/>
                                      </p:to>
                                    </p:set>
                                    <p:anim calcmode="lin" valueType="num">
                                      <p:cBhvr additive="base">
                                        <p:cTn id="11" dur="500" fill="hold"/>
                                        <p:tgtEl>
                                          <p:spTgt spid="34406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4067">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44067">
                                            <p:txEl>
                                              <p:pRg st="3" end="3"/>
                                            </p:txEl>
                                          </p:spTgt>
                                        </p:tgtEl>
                                        <p:attrNameLst>
                                          <p:attrName>style.visibility</p:attrName>
                                        </p:attrNameLst>
                                      </p:cBhvr>
                                      <p:to>
                                        <p:strVal val="visible"/>
                                      </p:to>
                                    </p:set>
                                    <p:anim calcmode="lin" valueType="num">
                                      <p:cBhvr additive="base">
                                        <p:cTn id="15" dur="500" fill="hold"/>
                                        <p:tgtEl>
                                          <p:spTgt spid="344067">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44067">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44067">
                                            <p:txEl>
                                              <p:pRg st="4" end="4"/>
                                            </p:txEl>
                                          </p:spTgt>
                                        </p:tgtEl>
                                        <p:attrNameLst>
                                          <p:attrName>style.visibility</p:attrName>
                                        </p:attrNameLst>
                                      </p:cBhvr>
                                      <p:to>
                                        <p:strVal val="visible"/>
                                      </p:to>
                                    </p:set>
                                    <p:anim calcmode="lin" valueType="num">
                                      <p:cBhvr additive="base">
                                        <p:cTn id="19" dur="500" fill="hold"/>
                                        <p:tgtEl>
                                          <p:spTgt spid="34406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44067">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44067">
                                            <p:txEl>
                                              <p:pRg st="5" end="5"/>
                                            </p:txEl>
                                          </p:spTgt>
                                        </p:tgtEl>
                                        <p:attrNameLst>
                                          <p:attrName>style.visibility</p:attrName>
                                        </p:attrNameLst>
                                      </p:cBhvr>
                                      <p:to>
                                        <p:strVal val="visible"/>
                                      </p:to>
                                    </p:set>
                                    <p:anim calcmode="lin" valueType="num">
                                      <p:cBhvr additive="base">
                                        <p:cTn id="23" dur="500" fill="hold"/>
                                        <p:tgtEl>
                                          <p:spTgt spid="344067">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44067">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44067">
                                            <p:txEl>
                                              <p:pRg st="6" end="6"/>
                                            </p:txEl>
                                          </p:spTgt>
                                        </p:tgtEl>
                                        <p:attrNameLst>
                                          <p:attrName>style.visibility</p:attrName>
                                        </p:attrNameLst>
                                      </p:cBhvr>
                                      <p:to>
                                        <p:strVal val="visible"/>
                                      </p:to>
                                    </p:set>
                                    <p:anim calcmode="lin" valueType="num">
                                      <p:cBhvr additive="base">
                                        <p:cTn id="27" dur="500" fill="hold"/>
                                        <p:tgtEl>
                                          <p:spTgt spid="344067">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4406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44069"/>
                                        </p:tgtEl>
                                        <p:attrNameLst>
                                          <p:attrName>style.visibility</p:attrName>
                                        </p:attrNameLst>
                                      </p:cBhvr>
                                      <p:to>
                                        <p:strVal val="visible"/>
                                      </p:to>
                                    </p:set>
                                    <p:anim calcmode="lin" valueType="num">
                                      <p:cBhvr additive="base">
                                        <p:cTn id="33" dur="500" fill="hold"/>
                                        <p:tgtEl>
                                          <p:spTgt spid="344069"/>
                                        </p:tgtEl>
                                        <p:attrNameLst>
                                          <p:attrName>ppt_x</p:attrName>
                                        </p:attrNameLst>
                                      </p:cBhvr>
                                      <p:tavLst>
                                        <p:tav tm="0">
                                          <p:val>
                                            <p:strVal val="#ppt_x"/>
                                          </p:val>
                                        </p:tav>
                                        <p:tav tm="100000">
                                          <p:val>
                                            <p:strVal val="#ppt_x"/>
                                          </p:val>
                                        </p:tav>
                                      </p:tavLst>
                                    </p:anim>
                                    <p:anim calcmode="lin" valueType="num">
                                      <p:cBhvr additive="base">
                                        <p:cTn id="34" dur="500" fill="hold"/>
                                        <p:tgtEl>
                                          <p:spTgt spid="344069"/>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44070"/>
                                        </p:tgtEl>
                                        <p:attrNameLst>
                                          <p:attrName>style.visibility</p:attrName>
                                        </p:attrNameLst>
                                      </p:cBhvr>
                                      <p:to>
                                        <p:strVal val="visible"/>
                                      </p:to>
                                    </p:set>
                                    <p:anim calcmode="lin" valueType="num">
                                      <p:cBhvr additive="base">
                                        <p:cTn id="37" dur="500" fill="hold"/>
                                        <p:tgtEl>
                                          <p:spTgt spid="344070"/>
                                        </p:tgtEl>
                                        <p:attrNameLst>
                                          <p:attrName>ppt_x</p:attrName>
                                        </p:attrNameLst>
                                      </p:cBhvr>
                                      <p:tavLst>
                                        <p:tav tm="0">
                                          <p:val>
                                            <p:strVal val="#ppt_x"/>
                                          </p:val>
                                        </p:tav>
                                        <p:tav tm="100000">
                                          <p:val>
                                            <p:strVal val="#ppt_x"/>
                                          </p:val>
                                        </p:tav>
                                      </p:tavLst>
                                    </p:anim>
                                    <p:anim calcmode="lin" valueType="num">
                                      <p:cBhvr additive="base">
                                        <p:cTn id="38" dur="500" fill="hold"/>
                                        <p:tgtEl>
                                          <p:spTgt spid="3440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69" grpId="0"/>
      <p:bldP spid="34407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body" idx="1"/>
          </p:nvPr>
        </p:nvSpPr>
        <p:spPr>
          <a:xfrm>
            <a:off x="1042988" y="1412875"/>
            <a:ext cx="7129462" cy="4681538"/>
          </a:xfrm>
        </p:spPr>
        <p:txBody>
          <a:bodyPr/>
          <a:lstStyle/>
          <a:p>
            <a:pPr eaLnBrk="1" hangingPunct="1"/>
            <a:r>
              <a:rPr lang="zh-CN" altLang="en-US" smtClean="0">
                <a:latin typeface="黑体" pitchFamily="49" charset="-122"/>
                <a:ea typeface="黑体" pitchFamily="49" charset="-122"/>
              </a:rPr>
              <a:t>常用完整性约束</a:t>
            </a:r>
          </a:p>
          <a:p>
            <a:pPr lvl="1" eaLnBrk="1" hangingPunct="1"/>
            <a:r>
              <a:rPr lang="zh-CN" altLang="en-US" smtClean="0">
                <a:latin typeface="黑体" pitchFamily="49" charset="-122"/>
                <a:ea typeface="黑体" pitchFamily="49" charset="-122"/>
              </a:rPr>
              <a:t>实体完整性约束：</a:t>
            </a:r>
            <a:r>
              <a:rPr lang="en-US" altLang="zh-CN" smtClean="0">
                <a:latin typeface="黑体" pitchFamily="49" charset="-122"/>
                <a:ea typeface="黑体" pitchFamily="49" charset="-122"/>
              </a:rPr>
              <a:t>PRIMARY KEY</a:t>
            </a:r>
          </a:p>
          <a:p>
            <a:pPr lvl="1" eaLnBrk="1" hangingPunct="1"/>
            <a:r>
              <a:rPr lang="zh-CN" altLang="en-US" smtClean="0">
                <a:latin typeface="黑体" pitchFamily="49" charset="-122"/>
                <a:ea typeface="黑体" pitchFamily="49" charset="-122"/>
              </a:rPr>
              <a:t>参照完整性约束：</a:t>
            </a:r>
            <a:r>
              <a:rPr lang="en-US" altLang="zh-CN" smtClean="0">
                <a:latin typeface="黑体" pitchFamily="49" charset="-122"/>
                <a:ea typeface="黑体" pitchFamily="49" charset="-122"/>
              </a:rPr>
              <a:t>FOREIGN KEY</a:t>
            </a:r>
          </a:p>
          <a:p>
            <a:pPr lvl="1" eaLnBrk="1" hangingPunct="1"/>
            <a:r>
              <a:rPr lang="zh-CN" altLang="en-US" smtClean="0">
                <a:latin typeface="黑体" pitchFamily="49" charset="-122"/>
                <a:ea typeface="黑体" pitchFamily="49" charset="-122"/>
              </a:rPr>
              <a:t>用户自定义的完整性约束：</a:t>
            </a:r>
          </a:p>
          <a:p>
            <a:pPr lvl="2" eaLnBrk="1" hangingPunct="1"/>
            <a:r>
              <a:rPr lang="en-US" altLang="zh-CN" smtClean="0">
                <a:latin typeface="黑体" pitchFamily="49" charset="-122"/>
                <a:ea typeface="黑体" pitchFamily="49" charset="-122"/>
              </a:rPr>
              <a:t>CHECK</a:t>
            </a:r>
            <a:r>
              <a:rPr lang="zh-CN" altLang="en-US" smtClean="0">
                <a:latin typeface="黑体" pitchFamily="49" charset="-122"/>
                <a:ea typeface="黑体" pitchFamily="49" charset="-122"/>
              </a:rPr>
              <a:t>约束</a:t>
            </a:r>
          </a:p>
          <a:p>
            <a:pPr lvl="2" eaLnBrk="1" hangingPunct="1"/>
            <a:r>
              <a:rPr lang="zh-CN" altLang="en-US" smtClean="0">
                <a:latin typeface="黑体" pitchFamily="49" charset="-122"/>
                <a:ea typeface="黑体" pitchFamily="49" charset="-122"/>
              </a:rPr>
              <a:t>唯一性约束（</a:t>
            </a:r>
            <a:r>
              <a:rPr lang="en-US" altLang="zh-CN" smtClean="0">
                <a:latin typeface="黑体" pitchFamily="49" charset="-122"/>
                <a:ea typeface="黑体" pitchFamily="49" charset="-122"/>
              </a:rPr>
              <a:t>UNIQUE</a:t>
            </a:r>
            <a:r>
              <a:rPr lang="zh-CN" altLang="en-US" smtClean="0">
                <a:latin typeface="黑体" pitchFamily="49" charset="-122"/>
                <a:ea typeface="黑体" pitchFamily="49" charset="-122"/>
              </a:rPr>
              <a:t>）</a:t>
            </a:r>
          </a:p>
          <a:p>
            <a:pPr lvl="2" eaLnBrk="1" hangingPunct="1"/>
            <a:r>
              <a:rPr lang="zh-CN" altLang="en-US" smtClean="0">
                <a:latin typeface="黑体" pitchFamily="49" charset="-122"/>
                <a:ea typeface="黑体" pitchFamily="49" charset="-122"/>
              </a:rPr>
              <a:t>非空值约束（</a:t>
            </a:r>
            <a:r>
              <a:rPr lang="en-US" altLang="zh-CN" smtClean="0">
                <a:latin typeface="黑体" pitchFamily="49" charset="-122"/>
                <a:ea typeface="黑体" pitchFamily="49" charset="-122"/>
              </a:rPr>
              <a:t>NOT NULL</a:t>
            </a:r>
            <a:r>
              <a:rPr lang="zh-CN" altLang="en-US" smtClean="0">
                <a:latin typeface="黑体" pitchFamily="49" charset="-122"/>
                <a:ea typeface="黑体" pitchFamily="49" charset="-122"/>
              </a:rPr>
              <a:t>）</a:t>
            </a:r>
          </a:p>
          <a:p>
            <a:pPr lvl="1" eaLnBrk="1" hangingPunct="1">
              <a:buFont typeface="Wingdings" pitchFamily="2" charset="2"/>
              <a:buNone/>
            </a:pPr>
            <a:endParaRPr lang="zh-CN" altLang="en-US" sz="1800" smtClean="0">
              <a:latin typeface="黑体" pitchFamily="49" charset="-122"/>
              <a:ea typeface="黑体" pitchFamily="49" charset="-122"/>
            </a:endParaRPr>
          </a:p>
          <a:p>
            <a:pPr lvl="1" eaLnBrk="1" hangingPunct="1">
              <a:buFont typeface="Wingdings" pitchFamily="2" charset="2"/>
              <a:buNone/>
            </a:pPr>
            <a:r>
              <a:rPr lang="en-US" altLang="zh-CN" smtClean="0">
                <a:solidFill>
                  <a:srgbClr val="FF0000"/>
                </a:solidFill>
                <a:latin typeface="黑体" pitchFamily="49" charset="-122"/>
                <a:ea typeface="黑体" pitchFamily="49" charset="-122"/>
              </a:rPr>
              <a:t>PRIMARY  KEY</a:t>
            </a:r>
            <a:r>
              <a:rPr lang="zh-CN" altLang="zh-CN" smtClean="0">
                <a:solidFill>
                  <a:srgbClr val="FF0000"/>
                </a:solidFill>
                <a:latin typeface="黑体" pitchFamily="49" charset="-122"/>
                <a:ea typeface="黑体" pitchFamily="49" charset="-122"/>
              </a:rPr>
              <a:t>与</a:t>
            </a:r>
            <a:r>
              <a:rPr lang="zh-CN" altLang="en-US" smtClean="0">
                <a:solidFill>
                  <a:srgbClr val="FF0000"/>
                </a:solidFill>
                <a:latin typeface="黑体" pitchFamily="49" charset="-122"/>
                <a:ea typeface="黑体" pitchFamily="49" charset="-122"/>
              </a:rPr>
              <a:t> </a:t>
            </a:r>
            <a:r>
              <a:rPr lang="en-US" altLang="zh-CN" smtClean="0">
                <a:solidFill>
                  <a:srgbClr val="FF0000"/>
                </a:solidFill>
                <a:latin typeface="黑体" pitchFamily="49" charset="-122"/>
                <a:ea typeface="黑体" pitchFamily="49" charset="-122"/>
              </a:rPr>
              <a:t>UNIQUE</a:t>
            </a:r>
            <a:r>
              <a:rPr lang="zh-CN" altLang="en-US" smtClean="0">
                <a:solidFill>
                  <a:srgbClr val="FF0000"/>
                </a:solidFill>
                <a:latin typeface="黑体" pitchFamily="49" charset="-122"/>
                <a:ea typeface="黑体" pitchFamily="49" charset="-122"/>
              </a:rPr>
              <a:t>的区别？</a:t>
            </a:r>
          </a:p>
        </p:txBody>
      </p:sp>
      <p:sp>
        <p:nvSpPr>
          <p:cNvPr id="14339" name="Rectangle 2"/>
          <p:cNvSpPr>
            <a:spLocks noGrp="1" noChangeArrowheads="1"/>
          </p:cNvSpPr>
          <p:nvPr>
            <p:ph type="title"/>
          </p:nvPr>
        </p:nvSpPr>
        <p:spPr>
          <a:xfrm>
            <a:off x="900113" y="188913"/>
            <a:ext cx="7051675" cy="863600"/>
          </a:xfrm>
        </p:spPr>
        <p:txBody>
          <a:bodyPr/>
          <a:lstStyle/>
          <a:p>
            <a:pPr eaLnBrk="1" hangingPunct="1"/>
            <a:r>
              <a:rPr lang="en-US" altLang="zh-CN" sz="3200" smtClean="0">
                <a:latin typeface="黑体" pitchFamily="49" charset="-122"/>
              </a:rPr>
              <a:t>3.3 SQL</a:t>
            </a:r>
            <a:r>
              <a:rPr lang="zh-CN" altLang="en-US" sz="3200" smtClean="0">
                <a:latin typeface="黑体" pitchFamily="49" charset="-122"/>
              </a:rPr>
              <a:t>数据定义</a:t>
            </a: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3" name="Rectangle 3"/>
          <p:cNvSpPr>
            <a:spLocks noGrp="1" noChangeArrowheads="1"/>
          </p:cNvSpPr>
          <p:nvPr>
            <p:ph type="body" idx="1"/>
          </p:nvPr>
        </p:nvSpPr>
        <p:spPr>
          <a:xfrm>
            <a:off x="827088" y="1628775"/>
            <a:ext cx="7632700" cy="4608513"/>
          </a:xfrm>
        </p:spPr>
        <p:txBody>
          <a:bodyPr/>
          <a:lstStyle/>
          <a:p>
            <a:pPr eaLnBrk="1" hangingPunct="1">
              <a:lnSpc>
                <a:spcPct val="120000"/>
              </a:lnSpc>
              <a:buFont typeface="Wingdings" pitchFamily="2" charset="2"/>
              <a:buNone/>
              <a:defRPr/>
            </a:pPr>
            <a:r>
              <a:rPr lang="en-US" altLang="zh-CN" sz="2400" dirty="0" smtClean="0">
                <a:latin typeface="黑体" pitchFamily="49" charset="-122"/>
                <a:ea typeface="黑体" pitchFamily="49" charset="-122"/>
              </a:rPr>
              <a:t>[</a:t>
            </a:r>
            <a:r>
              <a:rPr lang="zh-CN" altLang="en-US" sz="2400" dirty="0" smtClean="0">
                <a:latin typeface="黑体" pitchFamily="49" charset="-122"/>
                <a:ea typeface="黑体" pitchFamily="49" charset="-122"/>
              </a:rPr>
              <a:t>例</a:t>
            </a:r>
            <a:r>
              <a:rPr lang="en-US" altLang="zh-CN" sz="2400" dirty="0" smtClean="0">
                <a:latin typeface="黑体" pitchFamily="49" charset="-122"/>
                <a:ea typeface="黑体" pitchFamily="49" charset="-122"/>
              </a:rPr>
              <a:t>6] </a:t>
            </a:r>
            <a:r>
              <a:rPr lang="zh-CN" altLang="en-US" sz="2400" dirty="0" smtClean="0">
                <a:latin typeface="黑体" pitchFamily="49" charset="-122"/>
                <a:ea typeface="黑体" pitchFamily="49" charset="-122"/>
              </a:rPr>
              <a:t>建立一个</a:t>
            </a:r>
            <a:r>
              <a:rPr lang="zh-CN" altLang="en-US" sz="2400" dirty="0" smtClean="0">
                <a:ea typeface="黑体" pitchFamily="49" charset="-122"/>
              </a:rPr>
              <a:t>“</a:t>
            </a:r>
            <a:r>
              <a:rPr lang="zh-CN" altLang="en-US" sz="2400" dirty="0" smtClean="0">
                <a:latin typeface="黑体" pitchFamily="49" charset="-122"/>
                <a:ea typeface="黑体" pitchFamily="49" charset="-122"/>
              </a:rPr>
              <a:t>课程表</a:t>
            </a:r>
            <a:r>
              <a:rPr lang="zh-CN" altLang="en-US" sz="2400" dirty="0" smtClean="0">
                <a:ea typeface="黑体" pitchFamily="49" charset="-122"/>
              </a:rPr>
              <a:t>”</a:t>
            </a:r>
            <a:r>
              <a:rPr lang="en-US" altLang="zh-CN" sz="2400" dirty="0" smtClean="0">
                <a:latin typeface="黑体" pitchFamily="49" charset="-122"/>
                <a:ea typeface="黑体" pitchFamily="49" charset="-122"/>
              </a:rPr>
              <a:t>C</a:t>
            </a:r>
            <a:r>
              <a:rPr lang="zh-CN" altLang="en-US" sz="2400" dirty="0" smtClean="0">
                <a:latin typeface="黑体" pitchFamily="49" charset="-122"/>
                <a:ea typeface="黑体" pitchFamily="49" charset="-122"/>
              </a:rPr>
              <a:t>，它由课程号</a:t>
            </a:r>
            <a:r>
              <a:rPr lang="en-US" altLang="zh-CN" sz="2400" dirty="0" smtClean="0">
                <a:latin typeface="黑体" pitchFamily="49" charset="-122"/>
                <a:ea typeface="黑体" pitchFamily="49" charset="-122"/>
              </a:rPr>
              <a:t>(</a:t>
            </a:r>
            <a:r>
              <a:rPr lang="en-US" altLang="zh-CN" sz="2400" dirty="0" err="1" smtClean="0">
                <a:latin typeface="黑体" pitchFamily="49" charset="-122"/>
                <a:ea typeface="黑体" pitchFamily="49" charset="-122"/>
              </a:rPr>
              <a:t>Cno</a:t>
            </a:r>
            <a:r>
              <a:rPr lang="en-US" altLang="zh-CN" sz="2400" dirty="0" smtClean="0">
                <a:latin typeface="黑体" pitchFamily="49" charset="-122"/>
                <a:ea typeface="黑体" pitchFamily="49" charset="-122"/>
              </a:rPr>
              <a:t>)</a:t>
            </a:r>
            <a:r>
              <a:rPr lang="zh-CN" altLang="en-US" sz="2400" dirty="0" smtClean="0">
                <a:latin typeface="黑体" pitchFamily="49" charset="-122"/>
                <a:ea typeface="黑体" pitchFamily="49" charset="-122"/>
              </a:rPr>
              <a:t>、课程名</a:t>
            </a:r>
            <a:r>
              <a:rPr lang="en-US" altLang="zh-CN" sz="2400" dirty="0" smtClean="0">
                <a:latin typeface="黑体" pitchFamily="49" charset="-122"/>
                <a:ea typeface="黑体" pitchFamily="49" charset="-122"/>
              </a:rPr>
              <a:t>(</a:t>
            </a:r>
            <a:r>
              <a:rPr lang="en-US" altLang="zh-CN" sz="2400" dirty="0" err="1" smtClean="0">
                <a:latin typeface="黑体" pitchFamily="49" charset="-122"/>
                <a:ea typeface="黑体" pitchFamily="49" charset="-122"/>
              </a:rPr>
              <a:t>Cname</a:t>
            </a:r>
            <a:r>
              <a:rPr lang="en-US" altLang="zh-CN" sz="2400" dirty="0" smtClean="0">
                <a:latin typeface="黑体" pitchFamily="49" charset="-122"/>
                <a:ea typeface="黑体" pitchFamily="49" charset="-122"/>
              </a:rPr>
              <a:t>)</a:t>
            </a:r>
            <a:r>
              <a:rPr lang="zh-CN" altLang="en-US" sz="2400" dirty="0" smtClean="0">
                <a:latin typeface="黑体" pitchFamily="49" charset="-122"/>
                <a:ea typeface="黑体" pitchFamily="49" charset="-122"/>
              </a:rPr>
              <a:t>、先修课</a:t>
            </a:r>
            <a:r>
              <a:rPr lang="en-US" altLang="zh-CN" sz="2400" dirty="0" smtClean="0">
                <a:latin typeface="黑体" pitchFamily="49" charset="-122"/>
                <a:ea typeface="黑体" pitchFamily="49" charset="-122"/>
              </a:rPr>
              <a:t>(</a:t>
            </a:r>
            <a:r>
              <a:rPr lang="en-US" altLang="zh-CN" sz="2400" dirty="0" err="1" smtClean="0">
                <a:latin typeface="黑体" pitchFamily="49" charset="-122"/>
                <a:ea typeface="黑体" pitchFamily="49" charset="-122"/>
              </a:rPr>
              <a:t>Cpno</a:t>
            </a:r>
            <a:r>
              <a:rPr lang="en-US" altLang="zh-CN" sz="2400" dirty="0" smtClean="0">
                <a:latin typeface="黑体" pitchFamily="49" charset="-122"/>
                <a:ea typeface="黑体" pitchFamily="49" charset="-122"/>
              </a:rPr>
              <a:t>)</a:t>
            </a:r>
            <a:r>
              <a:rPr lang="zh-CN" altLang="en-US" sz="2400" dirty="0" smtClean="0">
                <a:latin typeface="黑体" pitchFamily="49" charset="-122"/>
                <a:ea typeface="黑体" pitchFamily="49" charset="-122"/>
              </a:rPr>
              <a:t>、学分</a:t>
            </a:r>
            <a:r>
              <a:rPr lang="en-US" altLang="zh-CN" sz="2400" dirty="0" smtClean="0">
                <a:latin typeface="黑体" pitchFamily="49" charset="-122"/>
                <a:ea typeface="黑体" pitchFamily="49" charset="-122"/>
              </a:rPr>
              <a:t>(</a:t>
            </a:r>
            <a:r>
              <a:rPr lang="en-US" altLang="zh-CN" sz="2400" dirty="0" err="1" smtClean="0">
                <a:latin typeface="黑体" pitchFamily="49" charset="-122"/>
                <a:ea typeface="黑体" pitchFamily="49" charset="-122"/>
              </a:rPr>
              <a:t>Ccredit</a:t>
            </a:r>
            <a:r>
              <a:rPr lang="en-US" altLang="zh-CN" sz="2400" dirty="0" smtClean="0">
                <a:latin typeface="黑体" pitchFamily="49" charset="-122"/>
                <a:ea typeface="黑体" pitchFamily="49" charset="-122"/>
              </a:rPr>
              <a:t>)</a:t>
            </a:r>
            <a:r>
              <a:rPr lang="zh-CN" altLang="en-US" sz="2400" dirty="0" smtClean="0">
                <a:latin typeface="黑体" pitchFamily="49" charset="-122"/>
                <a:ea typeface="黑体" pitchFamily="49" charset="-122"/>
              </a:rPr>
              <a:t>构成。</a:t>
            </a:r>
          </a:p>
          <a:p>
            <a:pPr eaLnBrk="1" hangingPunct="1">
              <a:lnSpc>
                <a:spcPct val="120000"/>
              </a:lnSpc>
              <a:buFont typeface="Wingdings" pitchFamily="2" charset="2"/>
              <a:buNone/>
              <a:defRPr/>
            </a:pPr>
            <a:r>
              <a:rPr lang="zh-CN" altLang="en-US" sz="2000" dirty="0" smtClean="0"/>
              <a:t>  </a:t>
            </a:r>
          </a:p>
          <a:p>
            <a:pPr eaLnBrk="1" hangingPunct="1">
              <a:lnSpc>
                <a:spcPct val="120000"/>
              </a:lnSpc>
              <a:buFont typeface="Wingdings" pitchFamily="2" charset="2"/>
              <a:buNone/>
              <a:defRPr/>
            </a:pPr>
            <a:r>
              <a:rPr lang="zh-CN" altLang="en-US" sz="2000" dirty="0" smtClean="0"/>
              <a:t> 	</a:t>
            </a:r>
            <a:r>
              <a:rPr lang="en-US" altLang="zh-CN" sz="2000" dirty="0" smtClean="0">
                <a:latin typeface="+mj-ea"/>
                <a:ea typeface="+mj-ea"/>
              </a:rPr>
              <a:t>CREATE TABLE  C</a:t>
            </a:r>
          </a:p>
          <a:p>
            <a:pPr eaLnBrk="1" hangingPunct="1">
              <a:lnSpc>
                <a:spcPct val="120000"/>
              </a:lnSpc>
              <a:buFont typeface="Wingdings" pitchFamily="2" charset="2"/>
              <a:buNone/>
              <a:defRPr/>
            </a:pPr>
            <a:r>
              <a:rPr lang="en-US" altLang="zh-CN" sz="2000" dirty="0" smtClean="0">
                <a:latin typeface="+mj-ea"/>
                <a:ea typeface="+mj-ea"/>
              </a:rPr>
              <a:t>   		(</a:t>
            </a:r>
            <a:r>
              <a:rPr lang="en-US" altLang="zh-CN" sz="2000" dirty="0" err="1" smtClean="0">
                <a:latin typeface="+mj-ea"/>
                <a:ea typeface="+mj-ea"/>
              </a:rPr>
              <a:t>Cno</a:t>
            </a:r>
            <a:r>
              <a:rPr lang="en-US" altLang="zh-CN" sz="2000" dirty="0" smtClean="0">
                <a:latin typeface="+mj-ea"/>
                <a:ea typeface="+mj-ea"/>
              </a:rPr>
              <a:t>        VARCHAR2(10)   PRIMARY KEY,</a:t>
            </a:r>
          </a:p>
          <a:p>
            <a:pPr eaLnBrk="1" hangingPunct="1">
              <a:lnSpc>
                <a:spcPct val="120000"/>
              </a:lnSpc>
              <a:buFont typeface="Wingdings" pitchFamily="2" charset="2"/>
              <a:buNone/>
              <a:defRPr/>
            </a:pPr>
            <a:r>
              <a:rPr lang="en-US" altLang="zh-CN" sz="2000" dirty="0" smtClean="0">
                <a:latin typeface="+mj-ea"/>
                <a:ea typeface="+mj-ea"/>
              </a:rPr>
              <a:t>   		 </a:t>
            </a:r>
            <a:r>
              <a:rPr lang="en-US" altLang="zh-CN" sz="2000" dirty="0" err="1" smtClean="0">
                <a:latin typeface="+mj-ea"/>
                <a:ea typeface="+mj-ea"/>
              </a:rPr>
              <a:t>Cname</a:t>
            </a:r>
            <a:r>
              <a:rPr lang="en-US" altLang="zh-CN" sz="2000" dirty="0" smtClean="0">
                <a:latin typeface="+mj-ea"/>
                <a:ea typeface="+mj-ea"/>
              </a:rPr>
              <a:t>      VARCHAR2(40) ,</a:t>
            </a:r>
          </a:p>
          <a:p>
            <a:pPr eaLnBrk="1" hangingPunct="1">
              <a:lnSpc>
                <a:spcPct val="120000"/>
              </a:lnSpc>
              <a:buFont typeface="Wingdings" pitchFamily="2" charset="2"/>
              <a:buNone/>
              <a:defRPr/>
            </a:pPr>
            <a:r>
              <a:rPr lang="en-US" altLang="zh-CN" sz="2000" dirty="0" smtClean="0">
                <a:latin typeface="+mj-ea"/>
                <a:ea typeface="+mj-ea"/>
              </a:rPr>
              <a:t>   		 </a:t>
            </a:r>
            <a:r>
              <a:rPr lang="en-US" altLang="zh-CN" sz="2000" dirty="0" err="1" smtClean="0">
                <a:latin typeface="+mj-ea"/>
                <a:ea typeface="+mj-ea"/>
              </a:rPr>
              <a:t>Cpno</a:t>
            </a:r>
            <a:r>
              <a:rPr lang="en-US" altLang="zh-CN" sz="2000" dirty="0" smtClean="0">
                <a:latin typeface="+mj-ea"/>
                <a:ea typeface="+mj-ea"/>
              </a:rPr>
              <a:t>       VARCHAR2(10)  REFERENCES C(</a:t>
            </a:r>
            <a:r>
              <a:rPr lang="en-US" altLang="zh-CN" sz="2000" dirty="0" err="1" smtClean="0">
                <a:latin typeface="+mj-ea"/>
                <a:ea typeface="+mj-ea"/>
              </a:rPr>
              <a:t>Cno</a:t>
            </a:r>
            <a:r>
              <a:rPr lang="en-US" altLang="zh-CN" sz="2000" dirty="0" smtClean="0">
                <a:latin typeface="+mj-ea"/>
                <a:ea typeface="+mj-ea"/>
              </a:rPr>
              <a:t>),</a:t>
            </a:r>
          </a:p>
          <a:p>
            <a:pPr eaLnBrk="1" hangingPunct="1">
              <a:lnSpc>
                <a:spcPct val="120000"/>
              </a:lnSpc>
              <a:spcBef>
                <a:spcPct val="0"/>
              </a:spcBef>
              <a:buFont typeface="Wingdings" pitchFamily="2" charset="2"/>
              <a:buNone/>
              <a:defRPr/>
            </a:pPr>
            <a:r>
              <a:rPr lang="en-US" altLang="zh-CN" sz="2000" dirty="0" smtClean="0">
                <a:latin typeface="+mj-ea"/>
                <a:ea typeface="+mj-ea"/>
              </a:rPr>
              <a:t>    		 </a:t>
            </a:r>
            <a:r>
              <a:rPr lang="en-US" altLang="zh-CN" sz="2000" dirty="0" err="1" smtClean="0">
                <a:latin typeface="+mj-ea"/>
                <a:ea typeface="+mj-ea"/>
              </a:rPr>
              <a:t>Ccredit</a:t>
            </a:r>
            <a:r>
              <a:rPr lang="en-US" altLang="zh-CN" sz="2000" dirty="0" smtClean="0">
                <a:latin typeface="+mj-ea"/>
                <a:ea typeface="+mj-ea"/>
              </a:rPr>
              <a:t>    NUMBER );</a:t>
            </a:r>
            <a:r>
              <a:rPr lang="en-US" altLang="zh-CN" sz="2800" dirty="0" smtClean="0">
                <a:latin typeface="+mj-ea"/>
                <a:ea typeface="+mj-ea"/>
              </a:rPr>
              <a:t> </a:t>
            </a:r>
          </a:p>
        </p:txBody>
      </p:sp>
      <p:sp>
        <p:nvSpPr>
          <p:cNvPr id="15363" name="Rectangle 2"/>
          <p:cNvSpPr>
            <a:spLocks noGrp="1" noChangeArrowheads="1"/>
          </p:cNvSpPr>
          <p:nvPr>
            <p:ph type="title"/>
          </p:nvPr>
        </p:nvSpPr>
        <p:spPr>
          <a:xfrm>
            <a:off x="1192213" y="188913"/>
            <a:ext cx="7051675" cy="863600"/>
          </a:xfrm>
        </p:spPr>
        <p:txBody>
          <a:bodyPr/>
          <a:lstStyle/>
          <a:p>
            <a:pPr eaLnBrk="1" hangingPunct="1"/>
            <a:r>
              <a:rPr lang="en-US" altLang="zh-CN" sz="3200" smtClean="0">
                <a:latin typeface="黑体" pitchFamily="49" charset="-122"/>
              </a:rPr>
              <a:t>3.3 SQL</a:t>
            </a:r>
            <a:r>
              <a:rPr lang="zh-CN" altLang="en-US" sz="3200" smtClean="0">
                <a:latin typeface="黑体" pitchFamily="49" charset="-122"/>
              </a:rPr>
              <a:t>数据定义</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60803">
                                            <p:txEl>
                                              <p:pRg st="2" end="2"/>
                                            </p:txEl>
                                          </p:spTgt>
                                        </p:tgtEl>
                                        <p:attrNameLst>
                                          <p:attrName>style.visibility</p:attrName>
                                        </p:attrNameLst>
                                      </p:cBhvr>
                                      <p:to>
                                        <p:strVal val="visible"/>
                                      </p:to>
                                    </p:set>
                                    <p:anim calcmode="lin" valueType="num">
                                      <p:cBhvr additive="base">
                                        <p:cTn id="7" dur="500" fill="hold"/>
                                        <p:tgtEl>
                                          <p:spTgt spid="46080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080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60803">
                                            <p:txEl>
                                              <p:pRg st="3" end="3"/>
                                            </p:txEl>
                                          </p:spTgt>
                                        </p:tgtEl>
                                        <p:attrNameLst>
                                          <p:attrName>style.visibility</p:attrName>
                                        </p:attrNameLst>
                                      </p:cBhvr>
                                      <p:to>
                                        <p:strVal val="visible"/>
                                      </p:to>
                                    </p:set>
                                    <p:anim calcmode="lin" valueType="num">
                                      <p:cBhvr additive="base">
                                        <p:cTn id="11" dur="500" fill="hold"/>
                                        <p:tgtEl>
                                          <p:spTgt spid="46080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6080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60803">
                                            <p:txEl>
                                              <p:pRg st="4" end="4"/>
                                            </p:txEl>
                                          </p:spTgt>
                                        </p:tgtEl>
                                        <p:attrNameLst>
                                          <p:attrName>style.visibility</p:attrName>
                                        </p:attrNameLst>
                                      </p:cBhvr>
                                      <p:to>
                                        <p:strVal val="visible"/>
                                      </p:to>
                                    </p:set>
                                    <p:anim calcmode="lin" valueType="num">
                                      <p:cBhvr additive="base">
                                        <p:cTn id="15" dur="500" fill="hold"/>
                                        <p:tgtEl>
                                          <p:spTgt spid="46080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6080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60803">
                                            <p:txEl>
                                              <p:pRg st="5" end="5"/>
                                            </p:txEl>
                                          </p:spTgt>
                                        </p:tgtEl>
                                        <p:attrNameLst>
                                          <p:attrName>style.visibility</p:attrName>
                                        </p:attrNameLst>
                                      </p:cBhvr>
                                      <p:to>
                                        <p:strVal val="visible"/>
                                      </p:to>
                                    </p:set>
                                    <p:anim calcmode="lin" valueType="num">
                                      <p:cBhvr additive="base">
                                        <p:cTn id="19" dur="500" fill="hold"/>
                                        <p:tgtEl>
                                          <p:spTgt spid="46080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080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60803">
                                            <p:txEl>
                                              <p:pRg st="6" end="6"/>
                                            </p:txEl>
                                          </p:spTgt>
                                        </p:tgtEl>
                                        <p:attrNameLst>
                                          <p:attrName>style.visibility</p:attrName>
                                        </p:attrNameLst>
                                      </p:cBhvr>
                                      <p:to>
                                        <p:strVal val="visible"/>
                                      </p:to>
                                    </p:set>
                                    <p:anim calcmode="lin" valueType="num">
                                      <p:cBhvr additive="base">
                                        <p:cTn id="23" dur="500" fill="hold"/>
                                        <p:tgtEl>
                                          <p:spTgt spid="46080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6080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5" name="Rectangle 3"/>
          <p:cNvSpPr>
            <a:spLocks noGrp="1" noChangeArrowheads="1"/>
          </p:cNvSpPr>
          <p:nvPr>
            <p:ph type="body" idx="1"/>
          </p:nvPr>
        </p:nvSpPr>
        <p:spPr>
          <a:xfrm>
            <a:off x="479425" y="1557338"/>
            <a:ext cx="7991475" cy="4968875"/>
          </a:xfrm>
        </p:spPr>
        <p:txBody>
          <a:bodyPr/>
          <a:lstStyle/>
          <a:p>
            <a:pPr eaLnBrk="1" hangingPunct="1">
              <a:lnSpc>
                <a:spcPct val="110000"/>
              </a:lnSpc>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7]  </a:t>
            </a:r>
            <a:r>
              <a:rPr lang="zh-CN" altLang="en-US" sz="2400" smtClean="0">
                <a:latin typeface="黑体" pitchFamily="49" charset="-122"/>
                <a:ea typeface="黑体" pitchFamily="49" charset="-122"/>
              </a:rPr>
              <a:t>建立一个</a:t>
            </a:r>
            <a:r>
              <a:rPr lang="zh-CN" altLang="en-US" sz="2400" smtClean="0">
                <a:ea typeface="黑体" pitchFamily="49" charset="-122"/>
              </a:rPr>
              <a:t>“</a:t>
            </a:r>
            <a:r>
              <a:rPr lang="zh-CN" altLang="en-US" sz="2400" smtClean="0">
                <a:latin typeface="黑体" pitchFamily="49" charset="-122"/>
                <a:ea typeface="黑体" pitchFamily="49" charset="-122"/>
              </a:rPr>
              <a:t>学生选课</a:t>
            </a:r>
            <a:r>
              <a:rPr lang="zh-CN" altLang="en-US" sz="2400" smtClean="0">
                <a:ea typeface="黑体" pitchFamily="49" charset="-122"/>
              </a:rPr>
              <a:t>”</a:t>
            </a:r>
            <a:r>
              <a:rPr lang="zh-CN" altLang="en-US" sz="2400" smtClean="0">
                <a:latin typeface="黑体" pitchFamily="49" charset="-122"/>
                <a:ea typeface="黑体" pitchFamily="49" charset="-122"/>
              </a:rPr>
              <a:t>表</a:t>
            </a:r>
            <a:r>
              <a:rPr lang="en-US" altLang="zh-CN" sz="2400" smtClean="0">
                <a:latin typeface="黑体" pitchFamily="49" charset="-122"/>
                <a:ea typeface="黑体" pitchFamily="49" charset="-122"/>
              </a:rPr>
              <a:t>SC</a:t>
            </a:r>
            <a:r>
              <a:rPr lang="zh-CN" altLang="en-US" sz="2400" smtClean="0">
                <a:latin typeface="黑体" pitchFamily="49" charset="-122"/>
                <a:ea typeface="黑体" pitchFamily="49" charset="-122"/>
              </a:rPr>
              <a:t>，它由学号</a:t>
            </a:r>
            <a:r>
              <a:rPr lang="en-US" altLang="zh-CN" sz="2400" smtClean="0">
                <a:latin typeface="黑体" pitchFamily="49" charset="-122"/>
                <a:ea typeface="黑体" pitchFamily="49" charset="-122"/>
              </a:rPr>
              <a:t>Sno</a:t>
            </a:r>
            <a:r>
              <a:rPr lang="zh-CN" altLang="en-US" sz="2400" smtClean="0">
                <a:latin typeface="黑体" pitchFamily="49" charset="-122"/>
                <a:ea typeface="黑体" pitchFamily="49" charset="-122"/>
              </a:rPr>
              <a:t>、课程号</a:t>
            </a:r>
            <a:r>
              <a:rPr lang="en-US" altLang="zh-CN" sz="2400" smtClean="0">
                <a:latin typeface="黑体" pitchFamily="49" charset="-122"/>
                <a:ea typeface="黑体" pitchFamily="49" charset="-122"/>
              </a:rPr>
              <a:t>Cno</a:t>
            </a:r>
            <a:r>
              <a:rPr lang="zh-CN" altLang="en-US" sz="2400" smtClean="0">
                <a:latin typeface="黑体" pitchFamily="49" charset="-122"/>
                <a:ea typeface="黑体" pitchFamily="49" charset="-122"/>
              </a:rPr>
              <a:t>，修课成绩</a:t>
            </a:r>
            <a:r>
              <a:rPr lang="en-US" altLang="zh-CN" sz="2400" smtClean="0">
                <a:latin typeface="黑体" pitchFamily="49" charset="-122"/>
                <a:ea typeface="黑体" pitchFamily="49" charset="-122"/>
              </a:rPr>
              <a:t>Grade</a:t>
            </a:r>
            <a:r>
              <a:rPr lang="zh-CN" altLang="en-US" sz="2400" smtClean="0">
                <a:latin typeface="黑体" pitchFamily="49" charset="-122"/>
                <a:ea typeface="黑体" pitchFamily="49" charset="-122"/>
              </a:rPr>
              <a:t>组成，其中</a:t>
            </a:r>
            <a:r>
              <a:rPr lang="en-US" altLang="zh-CN" sz="2400" smtClean="0">
                <a:latin typeface="黑体" pitchFamily="49" charset="-122"/>
                <a:ea typeface="黑体" pitchFamily="49" charset="-122"/>
              </a:rPr>
              <a:t>(Sno, Cno)</a:t>
            </a:r>
            <a:r>
              <a:rPr lang="zh-CN" altLang="en-US" sz="2400" smtClean="0">
                <a:latin typeface="黑体" pitchFamily="49" charset="-122"/>
                <a:ea typeface="黑体" pitchFamily="49" charset="-122"/>
              </a:rPr>
              <a:t>为主码。成绩</a:t>
            </a:r>
            <a:r>
              <a:rPr lang="en-US" altLang="zh-CN" sz="2400" smtClean="0">
                <a:latin typeface="黑体" pitchFamily="49" charset="-122"/>
                <a:ea typeface="黑体" pitchFamily="49" charset="-122"/>
              </a:rPr>
              <a:t>grade</a:t>
            </a:r>
            <a:r>
              <a:rPr lang="zh-CN" altLang="en-US" sz="2400" smtClean="0">
                <a:latin typeface="黑体" pitchFamily="49" charset="-122"/>
                <a:ea typeface="黑体" pitchFamily="49" charset="-122"/>
              </a:rPr>
              <a:t>取值在</a:t>
            </a:r>
            <a:r>
              <a:rPr lang="en-US" altLang="zh-CN" sz="2400" smtClean="0">
                <a:latin typeface="黑体" pitchFamily="49" charset="-122"/>
                <a:ea typeface="黑体" pitchFamily="49" charset="-122"/>
              </a:rPr>
              <a:t>1</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100</a:t>
            </a:r>
            <a:r>
              <a:rPr lang="zh-CN" altLang="en-US" sz="2400" smtClean="0">
                <a:latin typeface="黑体" pitchFamily="49" charset="-122"/>
                <a:ea typeface="黑体" pitchFamily="49" charset="-122"/>
              </a:rPr>
              <a:t>之间。</a:t>
            </a:r>
          </a:p>
          <a:p>
            <a:pPr lvl="1" eaLnBrk="1" hangingPunct="1">
              <a:buFont typeface="Wingdings" pitchFamily="2" charset="2"/>
              <a:buNone/>
            </a:pPr>
            <a:r>
              <a:rPr lang="en-US" altLang="zh-CN" sz="2400" smtClean="0">
                <a:latin typeface="黑体" pitchFamily="49" charset="-122"/>
                <a:ea typeface="黑体" pitchFamily="49" charset="-122"/>
              </a:rPr>
              <a:t>CREATE TABLE SC(</a:t>
            </a:r>
          </a:p>
          <a:p>
            <a:pPr lvl="1" eaLnBrk="1" hangingPunct="1">
              <a:buFont typeface="Wingdings" pitchFamily="2" charset="2"/>
              <a:buNone/>
            </a:pPr>
            <a:r>
              <a:rPr lang="en-US" altLang="zh-CN" sz="2400" smtClean="0">
                <a:latin typeface="黑体" pitchFamily="49" charset="-122"/>
                <a:ea typeface="黑体" pitchFamily="49" charset="-122"/>
              </a:rPr>
              <a:t>	  Sno VARCHAR2(10)  not null,</a:t>
            </a:r>
          </a:p>
          <a:p>
            <a:pPr lvl="1" eaLnBrk="1" hangingPunct="1">
              <a:buFont typeface="Wingdings" pitchFamily="2" charset="2"/>
              <a:buNone/>
            </a:pPr>
            <a:r>
              <a:rPr lang="en-US" altLang="zh-CN" sz="2400" smtClean="0">
                <a:latin typeface="黑体" pitchFamily="49" charset="-122"/>
                <a:ea typeface="黑体" pitchFamily="49" charset="-122"/>
              </a:rPr>
              <a:t>    Cno VARCHAR2(10)  not null, </a:t>
            </a:r>
          </a:p>
          <a:p>
            <a:pPr lvl="1" eaLnBrk="1" hangingPunct="1">
              <a:buFont typeface="Wingdings" pitchFamily="2" charset="2"/>
              <a:buNone/>
            </a:pPr>
            <a:r>
              <a:rPr lang="en-US" altLang="zh-CN" sz="2400" smtClean="0">
                <a:latin typeface="黑体" pitchFamily="49" charset="-122"/>
                <a:ea typeface="黑体" pitchFamily="49" charset="-122"/>
              </a:rPr>
              <a:t>    Grade NUMBER</a:t>
            </a:r>
          </a:p>
          <a:p>
            <a:pPr lvl="1" eaLnBrk="1" hangingPunct="1">
              <a:buFont typeface="Wingdings" pitchFamily="2" charset="2"/>
              <a:buNone/>
            </a:pPr>
            <a:r>
              <a:rPr lang="en-US" altLang="zh-CN" sz="2400" smtClean="0">
                <a:latin typeface="黑体" pitchFamily="49" charset="-122"/>
                <a:ea typeface="黑体" pitchFamily="49" charset="-122"/>
              </a:rPr>
              <a:t>    Primary key (Sno, Cno),</a:t>
            </a:r>
          </a:p>
          <a:p>
            <a:pPr lvl="1" eaLnBrk="1" hangingPunct="1">
              <a:buFont typeface="Wingdings" pitchFamily="2" charset="2"/>
              <a:buNone/>
            </a:pPr>
            <a:r>
              <a:rPr lang="en-US" altLang="zh-CN" sz="2400" smtClean="0">
                <a:latin typeface="黑体" pitchFamily="49" charset="-122"/>
                <a:ea typeface="黑体" pitchFamily="49" charset="-122"/>
              </a:rPr>
              <a:t>    Foreign key (sno) references S(sno),</a:t>
            </a:r>
          </a:p>
          <a:p>
            <a:pPr lvl="1" eaLnBrk="1" hangingPunct="1">
              <a:buFont typeface="Wingdings" pitchFamily="2" charset="2"/>
              <a:buNone/>
            </a:pPr>
            <a:r>
              <a:rPr lang="en-US" altLang="zh-CN" sz="2400" smtClean="0">
                <a:latin typeface="黑体" pitchFamily="49" charset="-122"/>
                <a:ea typeface="黑体" pitchFamily="49" charset="-122"/>
              </a:rPr>
              <a:t>    Foreign key (cno) references C(cno));</a:t>
            </a:r>
          </a:p>
        </p:txBody>
      </p:sp>
      <p:sp>
        <p:nvSpPr>
          <p:cNvPr id="346116" name="Text Box 4"/>
          <p:cNvSpPr txBox="1">
            <a:spLocks noChangeArrowheads="1"/>
          </p:cNvSpPr>
          <p:nvPr/>
        </p:nvSpPr>
        <p:spPr bwMode="auto">
          <a:xfrm>
            <a:off x="3563938" y="4149725"/>
            <a:ext cx="5076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400">
                <a:solidFill>
                  <a:schemeClr val="tx1"/>
                </a:solidFill>
                <a:latin typeface="Times New Roman" pitchFamily="18" charset="0"/>
                <a:ea typeface="宋体" pitchFamily="2" charset="-122"/>
              </a:defRPr>
            </a:lvl3pPr>
            <a:lvl4pPr>
              <a:defRPr sz="2000">
                <a:solidFill>
                  <a:schemeClr val="tx1"/>
                </a:solidFill>
                <a:latin typeface="Times New Roman" pitchFamily="18" charset="0"/>
                <a:ea typeface="宋体" pitchFamily="2" charset="-122"/>
              </a:defRPr>
            </a:lvl4pPr>
            <a:lvl5pPr>
              <a:defRPr sz="2000">
                <a:solidFill>
                  <a:schemeClr val="tx1"/>
                </a:solidFill>
                <a:latin typeface="Times New Roman" pitchFamily="18" charset="0"/>
                <a:ea typeface="宋体" pitchFamily="2" charset="-122"/>
              </a:defRPr>
            </a:lvl5pPr>
            <a:lvl6pPr eaLnBrk="0" hangingPunct="0">
              <a:defRPr sz="2000">
                <a:solidFill>
                  <a:schemeClr val="tx1"/>
                </a:solidFill>
                <a:latin typeface="Times New Roman" pitchFamily="18" charset="0"/>
                <a:ea typeface="宋体" pitchFamily="2" charset="-122"/>
              </a:defRPr>
            </a:lvl6pPr>
            <a:lvl7pPr eaLnBrk="0" hangingPunct="0">
              <a:defRPr sz="2000">
                <a:solidFill>
                  <a:schemeClr val="tx1"/>
                </a:solidFill>
                <a:latin typeface="Times New Roman" pitchFamily="18" charset="0"/>
                <a:ea typeface="宋体" pitchFamily="2" charset="-122"/>
              </a:defRPr>
            </a:lvl7pPr>
            <a:lvl8pPr eaLnBrk="0" hangingPunct="0">
              <a:defRPr sz="2000">
                <a:solidFill>
                  <a:schemeClr val="tx1"/>
                </a:solidFill>
                <a:latin typeface="Times New Roman" pitchFamily="18" charset="0"/>
                <a:ea typeface="宋体" pitchFamily="2" charset="-122"/>
              </a:defRPr>
            </a:lvl8pPr>
            <a:lvl9pPr eaLnBrk="0" hangingPunct="0">
              <a:defRPr sz="2000">
                <a:solidFill>
                  <a:schemeClr val="tx1"/>
                </a:solidFill>
                <a:latin typeface="Times New Roman" pitchFamily="18" charset="0"/>
                <a:ea typeface="宋体" pitchFamily="2" charset="-122"/>
              </a:defRPr>
            </a:lvl9pPr>
          </a:lstStyle>
          <a:p>
            <a:pPr>
              <a:spcBef>
                <a:spcPct val="50000"/>
              </a:spcBef>
              <a:defRPr/>
            </a:pPr>
            <a:r>
              <a:rPr kumimoji="1" lang="en-US" altLang="zh-CN" sz="2400" b="0" dirty="0" smtClean="0">
                <a:latin typeface="+mj-ea"/>
                <a:ea typeface="+mj-ea"/>
              </a:rPr>
              <a:t>check(grade&gt;=0 and grade&lt;=</a:t>
            </a:r>
            <a:r>
              <a:rPr kumimoji="1" lang="en-US" altLang="zh-CN" sz="2000" b="0" dirty="0" smtClean="0">
                <a:latin typeface="+mj-ea"/>
                <a:ea typeface="+mj-ea"/>
              </a:rPr>
              <a:t>100</a:t>
            </a:r>
            <a:r>
              <a:rPr kumimoji="1" lang="en-US" altLang="zh-CN" sz="2400" b="0" dirty="0" smtClean="0">
                <a:latin typeface="+mj-ea"/>
                <a:ea typeface="+mj-ea"/>
              </a:rPr>
              <a:t>),</a:t>
            </a:r>
          </a:p>
        </p:txBody>
      </p:sp>
      <p:sp>
        <p:nvSpPr>
          <p:cNvPr id="16388" name="Rectangle 2"/>
          <p:cNvSpPr>
            <a:spLocks noGrp="1" noChangeArrowheads="1"/>
          </p:cNvSpPr>
          <p:nvPr>
            <p:ph type="title"/>
          </p:nvPr>
        </p:nvSpPr>
        <p:spPr>
          <a:xfrm>
            <a:off x="1049338" y="115888"/>
            <a:ext cx="7051675" cy="863600"/>
          </a:xfrm>
        </p:spPr>
        <p:txBody>
          <a:bodyPr/>
          <a:lstStyle/>
          <a:p>
            <a:pPr eaLnBrk="1" hangingPunct="1"/>
            <a:r>
              <a:rPr lang="en-US" altLang="zh-CN" sz="3200" smtClean="0">
                <a:latin typeface="黑体" pitchFamily="49" charset="-122"/>
              </a:rPr>
              <a:t>3.3 SQL</a:t>
            </a:r>
            <a:r>
              <a:rPr lang="zh-CN" altLang="en-US" sz="3200" smtClean="0">
                <a:latin typeface="黑体" pitchFamily="49" charset="-122"/>
              </a:rPr>
              <a:t>数据定义</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46115">
                                            <p:txEl>
                                              <p:pRg st="1" end="1"/>
                                            </p:txEl>
                                          </p:spTgt>
                                        </p:tgtEl>
                                        <p:attrNameLst>
                                          <p:attrName>style.visibility</p:attrName>
                                        </p:attrNameLst>
                                      </p:cBhvr>
                                      <p:to>
                                        <p:strVal val="visible"/>
                                      </p:to>
                                    </p:set>
                                    <p:anim calcmode="lin" valueType="num">
                                      <p:cBhvr additive="base">
                                        <p:cTn id="7" dur="500" fill="hold"/>
                                        <p:tgtEl>
                                          <p:spTgt spid="34611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4611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46115">
                                            <p:txEl>
                                              <p:pRg st="2" end="2"/>
                                            </p:txEl>
                                          </p:spTgt>
                                        </p:tgtEl>
                                        <p:attrNameLst>
                                          <p:attrName>style.visibility</p:attrName>
                                        </p:attrNameLst>
                                      </p:cBhvr>
                                      <p:to>
                                        <p:strVal val="visible"/>
                                      </p:to>
                                    </p:set>
                                    <p:anim calcmode="lin" valueType="num">
                                      <p:cBhvr additive="base">
                                        <p:cTn id="11" dur="500" fill="hold"/>
                                        <p:tgtEl>
                                          <p:spTgt spid="34611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4611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46115">
                                            <p:txEl>
                                              <p:pRg st="3" end="3"/>
                                            </p:txEl>
                                          </p:spTgt>
                                        </p:tgtEl>
                                        <p:attrNameLst>
                                          <p:attrName>style.visibility</p:attrName>
                                        </p:attrNameLst>
                                      </p:cBhvr>
                                      <p:to>
                                        <p:strVal val="visible"/>
                                      </p:to>
                                    </p:set>
                                    <p:anim calcmode="lin" valueType="num">
                                      <p:cBhvr additive="base">
                                        <p:cTn id="15" dur="500" fill="hold"/>
                                        <p:tgtEl>
                                          <p:spTgt spid="346115">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46115">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46115">
                                            <p:txEl>
                                              <p:pRg st="4" end="4"/>
                                            </p:txEl>
                                          </p:spTgt>
                                        </p:tgtEl>
                                        <p:attrNameLst>
                                          <p:attrName>style.visibility</p:attrName>
                                        </p:attrNameLst>
                                      </p:cBhvr>
                                      <p:to>
                                        <p:strVal val="visible"/>
                                      </p:to>
                                    </p:set>
                                    <p:anim calcmode="lin" valueType="num">
                                      <p:cBhvr additive="base">
                                        <p:cTn id="19" dur="500" fill="hold"/>
                                        <p:tgtEl>
                                          <p:spTgt spid="34611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46115">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46115">
                                            <p:txEl>
                                              <p:pRg st="5" end="5"/>
                                            </p:txEl>
                                          </p:spTgt>
                                        </p:tgtEl>
                                        <p:attrNameLst>
                                          <p:attrName>style.visibility</p:attrName>
                                        </p:attrNameLst>
                                      </p:cBhvr>
                                      <p:to>
                                        <p:strVal val="visible"/>
                                      </p:to>
                                    </p:set>
                                    <p:anim calcmode="lin" valueType="num">
                                      <p:cBhvr additive="base">
                                        <p:cTn id="23" dur="500" fill="hold"/>
                                        <p:tgtEl>
                                          <p:spTgt spid="346115">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46115">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46115">
                                            <p:txEl>
                                              <p:pRg st="6" end="6"/>
                                            </p:txEl>
                                          </p:spTgt>
                                        </p:tgtEl>
                                        <p:attrNameLst>
                                          <p:attrName>style.visibility</p:attrName>
                                        </p:attrNameLst>
                                      </p:cBhvr>
                                      <p:to>
                                        <p:strVal val="visible"/>
                                      </p:to>
                                    </p:set>
                                    <p:anim calcmode="lin" valueType="num">
                                      <p:cBhvr additive="base">
                                        <p:cTn id="27" dur="500" fill="hold"/>
                                        <p:tgtEl>
                                          <p:spTgt spid="346115">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46115">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46115">
                                            <p:txEl>
                                              <p:pRg st="7" end="7"/>
                                            </p:txEl>
                                          </p:spTgt>
                                        </p:tgtEl>
                                        <p:attrNameLst>
                                          <p:attrName>style.visibility</p:attrName>
                                        </p:attrNameLst>
                                      </p:cBhvr>
                                      <p:to>
                                        <p:strVal val="visible"/>
                                      </p:to>
                                    </p:set>
                                    <p:anim calcmode="lin" valueType="num">
                                      <p:cBhvr additive="base">
                                        <p:cTn id="31" dur="500" fill="hold"/>
                                        <p:tgtEl>
                                          <p:spTgt spid="346115">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4611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46116"/>
                                        </p:tgtEl>
                                        <p:attrNameLst>
                                          <p:attrName>style.visibility</p:attrName>
                                        </p:attrNameLst>
                                      </p:cBhvr>
                                      <p:to>
                                        <p:strVal val="visible"/>
                                      </p:to>
                                    </p:set>
                                    <p:anim calcmode="lin" valueType="num">
                                      <p:cBhvr additive="base">
                                        <p:cTn id="37" dur="500" fill="hold"/>
                                        <p:tgtEl>
                                          <p:spTgt spid="346116"/>
                                        </p:tgtEl>
                                        <p:attrNameLst>
                                          <p:attrName>ppt_x</p:attrName>
                                        </p:attrNameLst>
                                      </p:cBhvr>
                                      <p:tavLst>
                                        <p:tav tm="0">
                                          <p:val>
                                            <p:strVal val="#ppt_x"/>
                                          </p:val>
                                        </p:tav>
                                        <p:tav tm="100000">
                                          <p:val>
                                            <p:strVal val="#ppt_x"/>
                                          </p:val>
                                        </p:tav>
                                      </p:tavLst>
                                    </p:anim>
                                    <p:anim calcmode="lin" valueType="num">
                                      <p:cBhvr additive="base">
                                        <p:cTn id="38" dur="500" fill="hold"/>
                                        <p:tgtEl>
                                          <p:spTgt spid="3461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61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116013" y="188913"/>
            <a:ext cx="7793037" cy="863600"/>
          </a:xfrm>
        </p:spPr>
        <p:txBody>
          <a:bodyPr/>
          <a:lstStyle/>
          <a:p>
            <a:pPr eaLnBrk="1" hangingPunct="1"/>
            <a:r>
              <a:rPr lang="en-US" altLang="zh-CN" sz="3200" smtClean="0">
                <a:latin typeface="黑体" pitchFamily="49" charset="-122"/>
              </a:rPr>
              <a:t>3.3 SQL</a:t>
            </a:r>
            <a:r>
              <a:rPr lang="zh-CN" altLang="en-US" sz="3200" smtClean="0">
                <a:latin typeface="黑体" pitchFamily="49" charset="-122"/>
              </a:rPr>
              <a:t>数据定义</a:t>
            </a:r>
          </a:p>
        </p:txBody>
      </p:sp>
      <p:sp>
        <p:nvSpPr>
          <p:cNvPr id="17411" name="Rectangle 3"/>
          <p:cNvSpPr>
            <a:spLocks noGrp="1" noChangeArrowheads="1"/>
          </p:cNvSpPr>
          <p:nvPr>
            <p:ph type="body" idx="1"/>
          </p:nvPr>
        </p:nvSpPr>
        <p:spPr>
          <a:xfrm>
            <a:off x="831850" y="1557338"/>
            <a:ext cx="7772400" cy="4464050"/>
          </a:xfrm>
        </p:spPr>
        <p:txBody>
          <a:bodyPr/>
          <a:lstStyle/>
          <a:p>
            <a:pPr eaLnBrk="1" hangingPunct="1">
              <a:lnSpc>
                <a:spcPct val="110000"/>
              </a:lnSpc>
              <a:buFont typeface="Wingdings" pitchFamily="2" charset="2"/>
              <a:buNone/>
            </a:pPr>
            <a:r>
              <a:rPr lang="zh-CN" altLang="en-US" sz="2600" smtClean="0">
                <a:latin typeface="黑体" pitchFamily="49" charset="-122"/>
                <a:ea typeface="黑体" pitchFamily="49" charset="-122"/>
              </a:rPr>
              <a:t>二、数据类型</a:t>
            </a:r>
          </a:p>
          <a:p>
            <a:pPr eaLnBrk="1" hangingPunct="1">
              <a:lnSpc>
                <a:spcPct val="110000"/>
              </a:lnSpc>
            </a:pPr>
            <a:r>
              <a:rPr lang="zh-CN" altLang="en-US" sz="2600" smtClean="0">
                <a:latin typeface="黑体" pitchFamily="49" charset="-122"/>
                <a:ea typeface="黑体" pitchFamily="49" charset="-122"/>
              </a:rPr>
              <a:t>关系模型中一个很重要的概念是</a:t>
            </a:r>
            <a:r>
              <a:rPr lang="zh-CN" altLang="en-US" sz="2600" smtClean="0">
                <a:solidFill>
                  <a:srgbClr val="FF0000"/>
                </a:solidFill>
                <a:latin typeface="黑体" pitchFamily="49" charset="-122"/>
                <a:ea typeface="黑体" pitchFamily="49" charset="-122"/>
              </a:rPr>
              <a:t>域</a:t>
            </a:r>
            <a:r>
              <a:rPr lang="zh-CN" altLang="en-US" sz="2600" smtClean="0">
                <a:latin typeface="黑体" pitchFamily="49" charset="-122"/>
                <a:ea typeface="黑体" pitchFamily="49" charset="-122"/>
              </a:rPr>
              <a:t>，</a:t>
            </a:r>
            <a:r>
              <a:rPr lang="en-US" altLang="zh-CN" sz="2600" smtClean="0">
                <a:latin typeface="黑体" pitchFamily="49" charset="-122"/>
                <a:ea typeface="黑体" pitchFamily="49" charset="-122"/>
              </a:rPr>
              <a:t>SQL</a:t>
            </a:r>
            <a:r>
              <a:rPr lang="zh-CN" altLang="en-US" sz="2600" smtClean="0">
                <a:latin typeface="黑体" pitchFamily="49" charset="-122"/>
                <a:ea typeface="黑体" pitchFamily="49" charset="-122"/>
              </a:rPr>
              <a:t>中域的概念用</a:t>
            </a:r>
            <a:r>
              <a:rPr lang="zh-CN" altLang="en-US" sz="2600" smtClean="0">
                <a:solidFill>
                  <a:srgbClr val="FF0000"/>
                </a:solidFill>
                <a:latin typeface="黑体" pitchFamily="49" charset="-122"/>
                <a:ea typeface="黑体" pitchFamily="49" charset="-122"/>
              </a:rPr>
              <a:t>数据类型</a:t>
            </a:r>
            <a:r>
              <a:rPr lang="zh-CN" altLang="en-US" sz="2600" smtClean="0">
                <a:latin typeface="黑体" pitchFamily="49" charset="-122"/>
                <a:ea typeface="黑体" pitchFamily="49" charset="-122"/>
              </a:rPr>
              <a:t>来实现 </a:t>
            </a:r>
          </a:p>
          <a:p>
            <a:pPr eaLnBrk="1" hangingPunct="1">
              <a:lnSpc>
                <a:spcPct val="110000"/>
              </a:lnSpc>
            </a:pPr>
            <a:r>
              <a:rPr lang="zh-CN" altLang="en-US" sz="2600" smtClean="0">
                <a:latin typeface="黑体" pitchFamily="49" charset="-122"/>
                <a:ea typeface="黑体" pitchFamily="49" charset="-122"/>
              </a:rPr>
              <a:t>定义表的属性时 需要指明其数据类型及长度 </a:t>
            </a:r>
          </a:p>
          <a:p>
            <a:pPr eaLnBrk="1" hangingPunct="1">
              <a:lnSpc>
                <a:spcPct val="110000"/>
              </a:lnSpc>
            </a:pPr>
            <a:r>
              <a:rPr lang="zh-CN" altLang="en-US" sz="2600" smtClean="0">
                <a:latin typeface="黑体" pitchFamily="49" charset="-122"/>
                <a:ea typeface="黑体" pitchFamily="49" charset="-122"/>
              </a:rPr>
              <a:t>选用哪种数据类型 </a:t>
            </a:r>
          </a:p>
          <a:p>
            <a:pPr lvl="1" eaLnBrk="1" hangingPunct="1">
              <a:lnSpc>
                <a:spcPct val="110000"/>
              </a:lnSpc>
            </a:pPr>
            <a:r>
              <a:rPr lang="zh-CN" altLang="en-US" sz="2600" smtClean="0">
                <a:latin typeface="黑体" pitchFamily="49" charset="-122"/>
                <a:ea typeface="黑体" pitchFamily="49" charset="-122"/>
              </a:rPr>
              <a:t>取值范围 </a:t>
            </a:r>
          </a:p>
          <a:p>
            <a:pPr lvl="1" eaLnBrk="1" hangingPunct="1">
              <a:lnSpc>
                <a:spcPct val="110000"/>
              </a:lnSpc>
            </a:pPr>
            <a:r>
              <a:rPr lang="zh-CN" altLang="en-US" sz="2600" smtClean="0">
                <a:latin typeface="黑体" pitchFamily="49" charset="-122"/>
                <a:ea typeface="黑体" pitchFamily="49" charset="-122"/>
              </a:rPr>
              <a:t>要做哪些运算</a:t>
            </a:r>
          </a:p>
          <a:p>
            <a:pPr eaLnBrk="1" hangingPunct="1">
              <a:lnSpc>
                <a:spcPct val="110000"/>
              </a:lnSpc>
            </a:pPr>
            <a:r>
              <a:rPr lang="zh-CN" altLang="en-US" sz="2600" smtClean="0">
                <a:latin typeface="黑体" pitchFamily="49" charset="-122"/>
                <a:ea typeface="黑体" pitchFamily="49" charset="-122"/>
              </a:rPr>
              <a:t>不同的</a:t>
            </a:r>
            <a:r>
              <a:rPr lang="en-US" altLang="zh-CN" sz="2600" smtClean="0">
                <a:latin typeface="黑体" pitchFamily="49" charset="-122"/>
                <a:ea typeface="黑体" pitchFamily="49" charset="-122"/>
              </a:rPr>
              <a:t>RDBMS</a:t>
            </a:r>
            <a:r>
              <a:rPr lang="zh-CN" altLang="en-US" sz="2600" smtClean="0">
                <a:latin typeface="黑体" pitchFamily="49" charset="-122"/>
                <a:ea typeface="黑体" pitchFamily="49" charset="-122"/>
              </a:rPr>
              <a:t>中支持的数据类型不完全相同</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750" y="1125538"/>
            <a:ext cx="7705725" cy="4679950"/>
          </a:xfrm>
        </p:spPr>
        <p:txBody>
          <a:bodyPr/>
          <a:lstStyle/>
          <a:p>
            <a:pPr marL="0" indent="0">
              <a:buFont typeface="Wingdings" pitchFamily="2" charset="2"/>
              <a:buNone/>
            </a:pPr>
            <a:r>
              <a:rPr lang="en-US" altLang="zh-CN" sz="2400" smtClean="0">
                <a:latin typeface="黑体" pitchFamily="49" charset="-122"/>
                <a:ea typeface="黑体" pitchFamily="49" charset="-122"/>
              </a:rPr>
              <a:t>Oracle</a:t>
            </a:r>
            <a:r>
              <a:rPr lang="zh-CN" altLang="en-US" sz="2400" smtClean="0">
                <a:latin typeface="黑体" pitchFamily="49" charset="-122"/>
                <a:ea typeface="黑体" pitchFamily="49" charset="-122"/>
              </a:rPr>
              <a:t>中常用的数据类型</a:t>
            </a:r>
            <a:endParaRPr lang="en-US" altLang="zh-CN" sz="2400" smtClean="0">
              <a:latin typeface="黑体" pitchFamily="49" charset="-122"/>
              <a:ea typeface="黑体" pitchFamily="49" charset="-122"/>
            </a:endParaRPr>
          </a:p>
          <a:p>
            <a:pPr marL="0" indent="0">
              <a:buFont typeface="Wingdings" pitchFamily="2" charset="2"/>
              <a:buNone/>
            </a:pPr>
            <a:r>
              <a:rPr lang="en-US" altLang="zh-CN" sz="2400" smtClean="0">
                <a:solidFill>
                  <a:srgbClr val="FF0000"/>
                </a:solidFill>
                <a:latin typeface="黑体" pitchFamily="49" charset="-122"/>
                <a:ea typeface="黑体" pitchFamily="49" charset="-122"/>
              </a:rPr>
              <a:t>Char</a:t>
            </a:r>
          </a:p>
          <a:p>
            <a:pPr marL="0" indent="0">
              <a:buFont typeface="Wingdings" pitchFamily="2" charset="2"/>
              <a:buNone/>
            </a:pPr>
            <a:r>
              <a:rPr lang="en-US" altLang="zh-CN" sz="2400" smtClean="0">
                <a:latin typeface="黑体" pitchFamily="49" charset="-122"/>
                <a:ea typeface="黑体" pitchFamily="49" charset="-122"/>
              </a:rPr>
              <a:t>    </a:t>
            </a:r>
            <a:r>
              <a:rPr lang="zh-CN" altLang="en-US" sz="2400" smtClean="0">
                <a:latin typeface="黑体" pitchFamily="49" charset="-122"/>
                <a:ea typeface="黑体" pitchFamily="49" charset="-122"/>
              </a:rPr>
              <a:t>固定长度的字符型，最大存放</a:t>
            </a:r>
            <a:r>
              <a:rPr lang="en-US" altLang="zh-CN" sz="2400" smtClean="0">
                <a:latin typeface="黑体" pitchFamily="49" charset="-122"/>
                <a:ea typeface="黑体" pitchFamily="49" charset="-122"/>
              </a:rPr>
              <a:t>2000</a:t>
            </a:r>
            <a:r>
              <a:rPr lang="zh-CN" altLang="en-US" sz="2400" smtClean="0">
                <a:latin typeface="黑体" pitchFamily="49" charset="-122"/>
                <a:ea typeface="黑体" pitchFamily="49" charset="-122"/>
              </a:rPr>
              <a:t>个字符。</a:t>
            </a:r>
            <a:endParaRPr lang="en-US" altLang="zh-CN" sz="2400" smtClean="0">
              <a:latin typeface="黑体" pitchFamily="49" charset="-122"/>
              <a:ea typeface="黑体" pitchFamily="49" charset="-122"/>
            </a:endParaRPr>
          </a:p>
          <a:p>
            <a:pPr marL="0" indent="0">
              <a:buFont typeface="Wingdings" pitchFamily="2" charset="2"/>
              <a:buNone/>
            </a:pPr>
            <a:r>
              <a:rPr lang="en-US" altLang="zh-CN" sz="2400" smtClean="0">
                <a:solidFill>
                  <a:srgbClr val="FF0000"/>
                </a:solidFill>
                <a:latin typeface="黑体" pitchFamily="49" charset="-122"/>
                <a:ea typeface="黑体" pitchFamily="49" charset="-122"/>
              </a:rPr>
              <a:t>Varchar2</a:t>
            </a:r>
          </a:p>
          <a:p>
            <a:pPr marL="0" indent="0">
              <a:buFont typeface="Wingdings" pitchFamily="2" charset="2"/>
              <a:buNone/>
            </a:pPr>
            <a:r>
              <a:rPr lang="en-US" altLang="zh-CN" sz="2400" smtClean="0">
                <a:latin typeface="黑体" pitchFamily="49" charset="-122"/>
                <a:ea typeface="黑体" pitchFamily="49" charset="-122"/>
              </a:rPr>
              <a:t>    </a:t>
            </a:r>
            <a:r>
              <a:rPr lang="zh-CN" altLang="en-US" sz="2400" smtClean="0">
                <a:latin typeface="黑体" pitchFamily="49" charset="-122"/>
                <a:ea typeface="黑体" pitchFamily="49" charset="-122"/>
              </a:rPr>
              <a:t>可变长度的字符型，最大存放</a:t>
            </a:r>
            <a:r>
              <a:rPr lang="en-US" altLang="zh-CN" sz="2400" smtClean="0">
                <a:latin typeface="黑体" pitchFamily="49" charset="-122"/>
                <a:ea typeface="黑体" pitchFamily="49" charset="-122"/>
              </a:rPr>
              <a:t>4000</a:t>
            </a:r>
            <a:r>
              <a:rPr lang="zh-CN" altLang="en-US" sz="2400" smtClean="0">
                <a:latin typeface="黑体" pitchFamily="49" charset="-122"/>
                <a:ea typeface="黑体" pitchFamily="49" charset="-122"/>
              </a:rPr>
              <a:t>个字符。</a:t>
            </a:r>
            <a:endParaRPr lang="en-US" altLang="zh-CN" sz="2400" smtClean="0">
              <a:latin typeface="黑体" pitchFamily="49" charset="-122"/>
              <a:ea typeface="黑体" pitchFamily="49" charset="-122"/>
            </a:endParaRPr>
          </a:p>
          <a:p>
            <a:pPr marL="0" indent="0">
              <a:buFont typeface="Wingdings" pitchFamily="2" charset="2"/>
              <a:buNone/>
            </a:pPr>
            <a:r>
              <a:rPr lang="en-US" altLang="zh-CN" sz="2400" smtClean="0">
                <a:solidFill>
                  <a:srgbClr val="FF0000"/>
                </a:solidFill>
                <a:latin typeface="黑体" pitchFamily="49" charset="-122"/>
                <a:ea typeface="黑体" pitchFamily="49" charset="-122"/>
              </a:rPr>
              <a:t>Number</a:t>
            </a:r>
          </a:p>
          <a:p>
            <a:pPr marL="0" indent="0">
              <a:buFont typeface="Wingdings" pitchFamily="2" charset="2"/>
              <a:buNone/>
            </a:pPr>
            <a:r>
              <a:rPr lang="en-US" altLang="zh-CN" sz="2400" smtClean="0">
                <a:latin typeface="黑体" pitchFamily="49" charset="-122"/>
                <a:ea typeface="黑体" pitchFamily="49" charset="-122"/>
              </a:rPr>
              <a:t>    </a:t>
            </a:r>
            <a:r>
              <a:rPr lang="zh-CN" altLang="en-US" sz="2400" smtClean="0">
                <a:latin typeface="黑体" pitchFamily="49" charset="-122"/>
                <a:ea typeface="黑体" pitchFamily="49" charset="-122"/>
              </a:rPr>
              <a:t>所有的数值型，格式为</a:t>
            </a:r>
            <a:r>
              <a:rPr lang="en-US" altLang="zh-CN" sz="2400" smtClean="0">
                <a:latin typeface="黑体" pitchFamily="49" charset="-122"/>
                <a:ea typeface="黑体" pitchFamily="49" charset="-122"/>
              </a:rPr>
              <a:t>number(p</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s),</a:t>
            </a:r>
            <a:r>
              <a:rPr lang="zh-CN" altLang="en-US" sz="2400" smtClean="0">
                <a:latin typeface="黑体" pitchFamily="49" charset="-122"/>
                <a:ea typeface="黑体" pitchFamily="49" charset="-122"/>
              </a:rPr>
              <a:t>其中</a:t>
            </a:r>
            <a:r>
              <a:rPr lang="en-US" altLang="zh-CN" sz="2400" smtClean="0">
                <a:latin typeface="黑体" pitchFamily="49" charset="-122"/>
                <a:ea typeface="黑体" pitchFamily="49" charset="-122"/>
              </a:rPr>
              <a:t>p</a:t>
            </a:r>
            <a:r>
              <a:rPr lang="zh-CN" altLang="en-US" sz="2400" smtClean="0">
                <a:latin typeface="黑体" pitchFamily="49" charset="-122"/>
                <a:ea typeface="黑体" pitchFamily="49" charset="-122"/>
              </a:rPr>
              <a:t>表示总位数，</a:t>
            </a:r>
            <a:r>
              <a:rPr lang="en-US" altLang="zh-CN" sz="2400" smtClean="0">
                <a:latin typeface="黑体" pitchFamily="49" charset="-122"/>
                <a:ea typeface="黑体" pitchFamily="49" charset="-122"/>
              </a:rPr>
              <a:t>s</a:t>
            </a:r>
            <a:r>
              <a:rPr lang="zh-CN" altLang="en-US" sz="2400" smtClean="0">
                <a:latin typeface="黑体" pitchFamily="49" charset="-122"/>
                <a:ea typeface="黑体" pitchFamily="49" charset="-122"/>
              </a:rPr>
              <a:t>表示小数的位数，</a:t>
            </a:r>
            <a:r>
              <a:rPr lang="en-US" altLang="zh-CN" sz="2400" smtClean="0">
                <a:latin typeface="黑体" pitchFamily="49" charset="-122"/>
                <a:ea typeface="黑体" pitchFamily="49" charset="-122"/>
              </a:rPr>
              <a:t>p</a:t>
            </a:r>
            <a:r>
              <a:rPr lang="zh-CN" altLang="en-US" sz="2400" smtClean="0">
                <a:latin typeface="黑体" pitchFamily="49" charset="-122"/>
                <a:ea typeface="黑体" pitchFamily="49" charset="-122"/>
              </a:rPr>
              <a:t>最大为</a:t>
            </a:r>
            <a:r>
              <a:rPr lang="en-US" altLang="zh-CN" sz="2400" smtClean="0">
                <a:latin typeface="黑体" pitchFamily="49" charset="-122"/>
                <a:ea typeface="黑体" pitchFamily="49" charset="-122"/>
              </a:rPr>
              <a:t>38</a:t>
            </a:r>
            <a:r>
              <a:rPr lang="zh-CN" altLang="en-US" sz="2400" smtClean="0">
                <a:latin typeface="黑体" pitchFamily="49" charset="-122"/>
                <a:ea typeface="黑体" pitchFamily="49" charset="-122"/>
              </a:rPr>
              <a:t>。</a:t>
            </a:r>
            <a:endParaRPr lang="en-US" altLang="zh-CN" sz="2400" smtClean="0">
              <a:latin typeface="黑体" pitchFamily="49" charset="-122"/>
              <a:ea typeface="黑体" pitchFamily="49" charset="-122"/>
            </a:endParaRPr>
          </a:p>
          <a:p>
            <a:pPr marL="0" indent="0">
              <a:buFont typeface="Wingdings" pitchFamily="2" charset="2"/>
              <a:buNone/>
            </a:pPr>
            <a:r>
              <a:rPr lang="en-US" altLang="zh-CN" sz="2400" smtClean="0">
                <a:solidFill>
                  <a:srgbClr val="FF0000"/>
                </a:solidFill>
                <a:latin typeface="黑体" pitchFamily="49" charset="-122"/>
                <a:ea typeface="黑体" pitchFamily="49" charset="-122"/>
              </a:rPr>
              <a:t>Date</a:t>
            </a:r>
          </a:p>
          <a:p>
            <a:pPr marL="0" indent="0">
              <a:buFont typeface="Wingdings" pitchFamily="2" charset="2"/>
              <a:buNone/>
            </a:pPr>
            <a:r>
              <a:rPr lang="en-US" altLang="zh-CN" sz="2400" smtClean="0">
                <a:latin typeface="黑体" pitchFamily="49" charset="-122"/>
                <a:ea typeface="黑体" pitchFamily="49" charset="-122"/>
              </a:rPr>
              <a:t>    </a:t>
            </a:r>
            <a:r>
              <a:rPr lang="zh-CN" altLang="en-US" sz="2400" smtClean="0">
                <a:latin typeface="黑体" pitchFamily="49" charset="-122"/>
                <a:ea typeface="黑体" pitchFamily="49" charset="-122"/>
              </a:rPr>
              <a:t>存放日期时间类型，用</a:t>
            </a:r>
            <a:r>
              <a:rPr lang="en-US" altLang="zh-CN" sz="2400" smtClean="0">
                <a:latin typeface="黑体" pitchFamily="49" charset="-122"/>
                <a:ea typeface="黑体" pitchFamily="49" charset="-122"/>
              </a:rPr>
              <a:t>7</a:t>
            </a:r>
            <a:r>
              <a:rPr lang="zh-CN" altLang="en-US" sz="2400" smtClean="0">
                <a:latin typeface="黑体" pitchFamily="49" charset="-122"/>
                <a:ea typeface="黑体" pitchFamily="49" charset="-122"/>
              </a:rPr>
              <a:t>个字节分别描述年、月、日、时、分、秒。</a:t>
            </a:r>
            <a:endParaRPr lang="en-US" altLang="zh-CN" sz="2400" smtClean="0">
              <a:latin typeface="黑体" pitchFamily="49" charset="-122"/>
              <a:ea typeface="黑体" pitchFamily="49" charset="-122"/>
            </a:endParaRPr>
          </a:p>
        </p:txBody>
      </p:sp>
      <p:sp>
        <p:nvSpPr>
          <p:cNvPr id="18435" name="Rectangle 2"/>
          <p:cNvSpPr>
            <a:spLocks noGrp="1" noChangeArrowheads="1"/>
          </p:cNvSpPr>
          <p:nvPr>
            <p:ph type="title"/>
          </p:nvPr>
        </p:nvSpPr>
        <p:spPr>
          <a:xfrm>
            <a:off x="1192213" y="188913"/>
            <a:ext cx="7051675" cy="863600"/>
          </a:xfrm>
        </p:spPr>
        <p:txBody>
          <a:bodyPr/>
          <a:lstStyle/>
          <a:p>
            <a:pPr eaLnBrk="1" hangingPunct="1"/>
            <a:r>
              <a:rPr lang="en-US" altLang="zh-CN" sz="3200" smtClean="0">
                <a:latin typeface="黑体" pitchFamily="49" charset="-122"/>
              </a:rPr>
              <a:t>3.3 SQL</a:t>
            </a:r>
            <a:r>
              <a:rPr lang="zh-CN" altLang="en-US" sz="3200" smtClean="0">
                <a:latin typeface="黑体" pitchFamily="49" charset="-122"/>
              </a:rPr>
              <a:t>数据定义</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anim calcmode="lin" valueType="num">
                                      <p:cBhvr additive="base">
                                        <p:cTn id="1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 calcmode="lin" valueType="num">
                                      <p:cBhvr additive="base">
                                        <p:cTn id="1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 calcmode="lin" valueType="num">
                                      <p:cBhvr additive="base">
                                        <p:cTn id="2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258888" y="260350"/>
            <a:ext cx="7505700" cy="720725"/>
          </a:xfrm>
        </p:spPr>
        <p:txBody>
          <a:bodyPr/>
          <a:lstStyle/>
          <a:p>
            <a:pPr eaLnBrk="1" hangingPunct="1"/>
            <a:r>
              <a:rPr lang="en-US" altLang="zh-CN" sz="3200" smtClean="0">
                <a:latin typeface="黑体" pitchFamily="49" charset="-122"/>
              </a:rPr>
              <a:t>3.3 SQL</a:t>
            </a:r>
            <a:r>
              <a:rPr lang="zh-CN" altLang="en-US" sz="3200" smtClean="0">
                <a:latin typeface="黑体" pitchFamily="49" charset="-122"/>
              </a:rPr>
              <a:t>数据定义</a:t>
            </a:r>
          </a:p>
        </p:txBody>
      </p:sp>
      <p:sp>
        <p:nvSpPr>
          <p:cNvPr id="19459" name="Rectangle 3"/>
          <p:cNvSpPr>
            <a:spLocks noGrp="1" noChangeArrowheads="1"/>
          </p:cNvSpPr>
          <p:nvPr>
            <p:ph type="body" idx="1"/>
          </p:nvPr>
        </p:nvSpPr>
        <p:spPr>
          <a:xfrm>
            <a:off x="755650" y="1341438"/>
            <a:ext cx="7772400" cy="4751387"/>
          </a:xfrm>
        </p:spPr>
        <p:txBody>
          <a:bodyPr/>
          <a:lstStyle/>
          <a:p>
            <a:pPr algn="just" eaLnBrk="1" hangingPunct="1">
              <a:buFont typeface="Wingdings" pitchFamily="2" charset="2"/>
              <a:buNone/>
            </a:pPr>
            <a:r>
              <a:rPr lang="zh-CN" altLang="en-US" sz="2800" smtClean="0">
                <a:ea typeface="黑体" pitchFamily="49" charset="-122"/>
              </a:rPr>
              <a:t>三、修改基本表</a:t>
            </a:r>
            <a:endParaRPr lang="zh-CN" altLang="en-US" sz="2400" smtClean="0">
              <a:latin typeface="黑体" pitchFamily="49" charset="-122"/>
              <a:ea typeface="黑体" pitchFamily="49" charset="-122"/>
            </a:endParaRPr>
          </a:p>
          <a:p>
            <a:pPr algn="just" eaLnBrk="1" hangingPunct="1">
              <a:buFont typeface="Wingdings" pitchFamily="2" charset="2"/>
              <a:buNone/>
            </a:pPr>
            <a:r>
              <a:rPr lang="en-US" altLang="zh-CN" sz="2400" smtClean="0">
                <a:latin typeface="黑体" pitchFamily="49" charset="-122"/>
                <a:ea typeface="黑体" pitchFamily="49" charset="-122"/>
              </a:rPr>
              <a:t>ALTER TABLE &lt;</a:t>
            </a:r>
            <a:r>
              <a:rPr lang="zh-CN" altLang="en-US" sz="2400" smtClean="0">
                <a:latin typeface="黑体" pitchFamily="49" charset="-122"/>
                <a:ea typeface="黑体" pitchFamily="49" charset="-122"/>
              </a:rPr>
              <a:t>表名</a:t>
            </a:r>
            <a:r>
              <a:rPr lang="en-US" altLang="zh-CN" sz="2400" smtClean="0">
                <a:latin typeface="黑体" pitchFamily="49" charset="-122"/>
                <a:ea typeface="黑体" pitchFamily="49" charset="-122"/>
              </a:rPr>
              <a:t>&gt;</a:t>
            </a:r>
          </a:p>
          <a:p>
            <a:pPr lvl="2" algn="just" eaLnBrk="1" hangingPunct="1">
              <a:buFont typeface="Wingdings" pitchFamily="2" charset="2"/>
              <a:buNone/>
            </a:pPr>
            <a:r>
              <a:rPr lang="en-US" altLang="zh-CN" smtClean="0">
                <a:latin typeface="黑体" pitchFamily="49" charset="-122"/>
                <a:ea typeface="黑体" pitchFamily="49" charset="-122"/>
              </a:rPr>
              <a:t>[ ADD &lt;</a:t>
            </a:r>
            <a:r>
              <a:rPr lang="zh-CN" altLang="en-US" smtClean="0">
                <a:latin typeface="黑体" pitchFamily="49" charset="-122"/>
                <a:ea typeface="黑体" pitchFamily="49" charset="-122"/>
              </a:rPr>
              <a:t>新列名</a:t>
            </a:r>
            <a:r>
              <a:rPr lang="en-US" altLang="zh-CN" smtClean="0">
                <a:latin typeface="黑体" pitchFamily="49" charset="-122"/>
                <a:ea typeface="黑体" pitchFamily="49" charset="-122"/>
              </a:rPr>
              <a:t>&gt; &lt;</a:t>
            </a:r>
            <a:r>
              <a:rPr lang="zh-CN" altLang="en-US" smtClean="0">
                <a:latin typeface="黑体" pitchFamily="49" charset="-122"/>
                <a:ea typeface="黑体" pitchFamily="49" charset="-122"/>
              </a:rPr>
              <a:t>数据类型</a:t>
            </a:r>
            <a:r>
              <a:rPr lang="en-US" altLang="zh-CN" smtClean="0">
                <a:latin typeface="黑体" pitchFamily="49" charset="-122"/>
                <a:ea typeface="黑体" pitchFamily="49" charset="-122"/>
              </a:rPr>
              <a:t>&gt; [ </a:t>
            </a:r>
            <a:r>
              <a:rPr lang="zh-CN" altLang="en-US" smtClean="0">
                <a:latin typeface="黑体" pitchFamily="49" charset="-122"/>
                <a:ea typeface="黑体" pitchFamily="49" charset="-122"/>
              </a:rPr>
              <a:t>完整性约束 </a:t>
            </a:r>
            <a:r>
              <a:rPr lang="en-US" altLang="zh-CN" smtClean="0">
                <a:latin typeface="黑体" pitchFamily="49" charset="-122"/>
                <a:ea typeface="黑体" pitchFamily="49" charset="-122"/>
              </a:rPr>
              <a:t>] ]</a:t>
            </a:r>
          </a:p>
          <a:p>
            <a:pPr lvl="2" algn="just" eaLnBrk="1" hangingPunct="1">
              <a:buFont typeface="Wingdings" pitchFamily="2" charset="2"/>
              <a:buNone/>
            </a:pPr>
            <a:r>
              <a:rPr lang="en-US" altLang="zh-CN" smtClean="0">
                <a:latin typeface="黑体" pitchFamily="49" charset="-122"/>
                <a:ea typeface="黑体" pitchFamily="49" charset="-122"/>
              </a:rPr>
              <a:t>[ DROP &lt;</a:t>
            </a:r>
            <a:r>
              <a:rPr lang="zh-CN" altLang="en-US" smtClean="0">
                <a:latin typeface="黑体" pitchFamily="49" charset="-122"/>
                <a:ea typeface="黑体" pitchFamily="49" charset="-122"/>
              </a:rPr>
              <a:t>完整性约束名</a:t>
            </a:r>
            <a:r>
              <a:rPr lang="en-US" altLang="zh-CN" smtClean="0">
                <a:latin typeface="黑体" pitchFamily="49" charset="-122"/>
                <a:ea typeface="黑体" pitchFamily="49" charset="-122"/>
              </a:rPr>
              <a:t>&gt; ]</a:t>
            </a:r>
          </a:p>
          <a:p>
            <a:pPr lvl="2" algn="just" eaLnBrk="1" hangingPunct="1">
              <a:buFont typeface="Wingdings" pitchFamily="2" charset="2"/>
              <a:buNone/>
            </a:pPr>
            <a:r>
              <a:rPr lang="en-US" altLang="zh-CN" smtClean="0">
                <a:latin typeface="黑体" pitchFamily="49" charset="-122"/>
                <a:ea typeface="黑体" pitchFamily="49" charset="-122"/>
              </a:rPr>
              <a:t>[ MODIFY &lt;</a:t>
            </a:r>
            <a:r>
              <a:rPr lang="zh-CN" altLang="en-US" smtClean="0">
                <a:latin typeface="黑体" pitchFamily="49" charset="-122"/>
                <a:ea typeface="黑体" pitchFamily="49" charset="-122"/>
              </a:rPr>
              <a:t>数据类型</a:t>
            </a:r>
            <a:r>
              <a:rPr lang="en-US" altLang="zh-CN" smtClean="0">
                <a:latin typeface="黑体" pitchFamily="49" charset="-122"/>
                <a:ea typeface="黑体" pitchFamily="49" charset="-122"/>
              </a:rPr>
              <a:t>&gt; ]</a:t>
            </a:r>
            <a:r>
              <a:rPr lang="zh-CN" altLang="en-US" smtClean="0">
                <a:latin typeface="黑体" pitchFamily="49" charset="-122"/>
                <a:ea typeface="黑体" pitchFamily="49" charset="-122"/>
              </a:rPr>
              <a:t>；</a:t>
            </a:r>
          </a:p>
          <a:p>
            <a:pPr algn="just" eaLnBrk="1" hangingPunct="1">
              <a:buFont typeface="Wingdings" pitchFamily="2" charset="2"/>
              <a:buNone/>
            </a:pPr>
            <a:r>
              <a:rPr lang="zh-CN" altLang="en-US" sz="2400" smtClean="0">
                <a:latin typeface="黑体" pitchFamily="49" charset="-122"/>
                <a:ea typeface="黑体" pitchFamily="49" charset="-122"/>
              </a:rPr>
              <a:t>其中：</a:t>
            </a:r>
          </a:p>
          <a:p>
            <a:pPr lvl="1" algn="just" eaLnBrk="1" hangingPunct="1"/>
            <a:r>
              <a:rPr lang="en-US" altLang="zh-CN" sz="2400" smtClean="0">
                <a:solidFill>
                  <a:srgbClr val="FF0000"/>
                </a:solidFill>
                <a:latin typeface="黑体" pitchFamily="49" charset="-122"/>
                <a:ea typeface="黑体" pitchFamily="49" charset="-122"/>
              </a:rPr>
              <a:t>&lt;</a:t>
            </a:r>
            <a:r>
              <a:rPr lang="zh-CN" altLang="en-US" sz="2400" smtClean="0">
                <a:solidFill>
                  <a:srgbClr val="FF0000"/>
                </a:solidFill>
                <a:latin typeface="黑体" pitchFamily="49" charset="-122"/>
                <a:ea typeface="黑体" pitchFamily="49" charset="-122"/>
              </a:rPr>
              <a:t>表名</a:t>
            </a:r>
            <a:r>
              <a:rPr lang="en-US" altLang="zh-CN" sz="2400" smtClean="0">
                <a:solidFill>
                  <a:srgbClr val="FF0000"/>
                </a:solidFill>
                <a:latin typeface="黑体" pitchFamily="49" charset="-122"/>
                <a:ea typeface="黑体" pitchFamily="49" charset="-122"/>
              </a:rPr>
              <a:t>&gt;</a:t>
            </a:r>
            <a:r>
              <a:rPr lang="zh-CN" altLang="en-US" sz="2400" smtClean="0">
                <a:latin typeface="黑体" pitchFamily="49" charset="-122"/>
                <a:ea typeface="黑体" pitchFamily="49" charset="-122"/>
              </a:rPr>
              <a:t>：要修改的基本表</a:t>
            </a:r>
          </a:p>
          <a:p>
            <a:pPr lvl="1" algn="just" eaLnBrk="1" hangingPunct="1"/>
            <a:r>
              <a:rPr lang="en-US" altLang="zh-CN" sz="2400" smtClean="0">
                <a:solidFill>
                  <a:srgbClr val="FF0000"/>
                </a:solidFill>
                <a:latin typeface="黑体" pitchFamily="49" charset="-122"/>
                <a:ea typeface="黑体" pitchFamily="49" charset="-122"/>
              </a:rPr>
              <a:t>ADD</a:t>
            </a:r>
            <a:r>
              <a:rPr lang="zh-CN" altLang="en-US" sz="2400" smtClean="0">
                <a:solidFill>
                  <a:srgbClr val="FF0000"/>
                </a:solidFill>
                <a:latin typeface="黑体" pitchFamily="49" charset="-122"/>
                <a:ea typeface="黑体" pitchFamily="49" charset="-122"/>
              </a:rPr>
              <a:t>子句</a:t>
            </a:r>
            <a:r>
              <a:rPr lang="zh-CN" altLang="en-US" sz="2400" smtClean="0">
                <a:latin typeface="黑体" pitchFamily="49" charset="-122"/>
                <a:ea typeface="黑体" pitchFamily="49" charset="-122"/>
              </a:rPr>
              <a:t>：增加新列和新的完整性约束条件</a:t>
            </a:r>
          </a:p>
          <a:p>
            <a:pPr lvl="1" algn="just" eaLnBrk="1" hangingPunct="1"/>
            <a:r>
              <a:rPr lang="en-US" altLang="zh-CN" sz="2400" smtClean="0">
                <a:solidFill>
                  <a:srgbClr val="FF0000"/>
                </a:solidFill>
                <a:latin typeface="黑体" pitchFamily="49" charset="-122"/>
                <a:ea typeface="黑体" pitchFamily="49" charset="-122"/>
              </a:rPr>
              <a:t>DROP</a:t>
            </a:r>
            <a:r>
              <a:rPr lang="zh-CN" altLang="en-US" sz="2400" smtClean="0">
                <a:solidFill>
                  <a:srgbClr val="FF0000"/>
                </a:solidFill>
                <a:latin typeface="黑体" pitchFamily="49" charset="-122"/>
                <a:ea typeface="黑体" pitchFamily="49" charset="-122"/>
              </a:rPr>
              <a:t>子句</a:t>
            </a:r>
            <a:r>
              <a:rPr lang="zh-CN" altLang="en-US" sz="2400" smtClean="0">
                <a:latin typeface="黑体" pitchFamily="49" charset="-122"/>
                <a:ea typeface="黑体" pitchFamily="49" charset="-122"/>
              </a:rPr>
              <a:t>：删除指定列和完整性约束条件</a:t>
            </a:r>
          </a:p>
          <a:p>
            <a:pPr lvl="1" algn="just" eaLnBrk="1" hangingPunct="1"/>
            <a:r>
              <a:rPr lang="en-US" altLang="zh-CN" sz="2400" smtClean="0">
                <a:solidFill>
                  <a:srgbClr val="FF0000"/>
                </a:solidFill>
                <a:latin typeface="黑体" pitchFamily="49" charset="-122"/>
                <a:ea typeface="黑体" pitchFamily="49" charset="-122"/>
              </a:rPr>
              <a:t>MODIFY</a:t>
            </a:r>
            <a:r>
              <a:rPr lang="zh-CN" altLang="en-US" sz="2400" smtClean="0">
                <a:solidFill>
                  <a:srgbClr val="FF0000"/>
                </a:solidFill>
                <a:latin typeface="黑体" pitchFamily="49" charset="-122"/>
                <a:ea typeface="黑体" pitchFamily="49" charset="-122"/>
              </a:rPr>
              <a:t>子句</a:t>
            </a:r>
            <a:r>
              <a:rPr lang="zh-CN" altLang="en-US" sz="2400" smtClean="0">
                <a:latin typeface="黑体" pitchFamily="49" charset="-122"/>
                <a:ea typeface="黑体" pitchFamily="49" charset="-122"/>
              </a:rPr>
              <a:t>：用于修改列的数据类型</a:t>
            </a: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5" name="Rectangle 3"/>
          <p:cNvSpPr>
            <a:spLocks noGrp="1" noChangeArrowheads="1"/>
          </p:cNvSpPr>
          <p:nvPr>
            <p:ph type="body" idx="1"/>
          </p:nvPr>
        </p:nvSpPr>
        <p:spPr>
          <a:xfrm>
            <a:off x="755650" y="1700213"/>
            <a:ext cx="7772400" cy="4114800"/>
          </a:xfrm>
        </p:spPr>
        <p:txBody>
          <a:bodyPr/>
          <a:lstStyle/>
          <a:p>
            <a:pPr algn="just" eaLnBrk="1" hangingPunct="1">
              <a:lnSpc>
                <a:spcPct val="110000"/>
              </a:lnSpc>
              <a:buFont typeface="Wingdings" pitchFamily="2" charset="2"/>
              <a:buNone/>
            </a:pPr>
            <a:r>
              <a:rPr lang="en-US" altLang="zh-CN" sz="2800" smtClean="0">
                <a:latin typeface="黑体" pitchFamily="49" charset="-122"/>
                <a:ea typeface="黑体" pitchFamily="49" charset="-122"/>
              </a:rPr>
              <a:t>[</a:t>
            </a:r>
            <a:r>
              <a:rPr lang="zh-CN" altLang="en-US" sz="2800" smtClean="0">
                <a:latin typeface="黑体" pitchFamily="49" charset="-122"/>
                <a:ea typeface="黑体" pitchFamily="49" charset="-122"/>
              </a:rPr>
              <a:t>例</a:t>
            </a:r>
            <a:r>
              <a:rPr lang="en-US" altLang="zh-CN" sz="2800" smtClean="0">
                <a:latin typeface="黑体" pitchFamily="49" charset="-122"/>
                <a:ea typeface="黑体" pitchFamily="49" charset="-122"/>
              </a:rPr>
              <a:t>8]  </a:t>
            </a:r>
            <a:r>
              <a:rPr lang="zh-CN" altLang="en-US" sz="2800" smtClean="0">
                <a:latin typeface="黑体" pitchFamily="49" charset="-122"/>
                <a:ea typeface="黑体" pitchFamily="49" charset="-122"/>
              </a:rPr>
              <a:t>向</a:t>
            </a:r>
            <a:r>
              <a:rPr lang="en-US" altLang="zh-CN" sz="2800" smtClean="0">
                <a:latin typeface="黑体" pitchFamily="49" charset="-122"/>
                <a:ea typeface="黑体" pitchFamily="49" charset="-122"/>
              </a:rPr>
              <a:t>S</a:t>
            </a:r>
            <a:r>
              <a:rPr lang="zh-CN" altLang="en-US" sz="2800" smtClean="0">
                <a:latin typeface="黑体" pitchFamily="49" charset="-122"/>
                <a:ea typeface="黑体" pitchFamily="49" charset="-122"/>
              </a:rPr>
              <a:t>表增加</a:t>
            </a:r>
            <a:r>
              <a:rPr lang="zh-CN" altLang="en-US" sz="2800" smtClean="0">
                <a:latin typeface="Courier New" pitchFamily="49" charset="0"/>
                <a:ea typeface="黑体" pitchFamily="49" charset="-122"/>
              </a:rPr>
              <a:t>“</a:t>
            </a:r>
            <a:r>
              <a:rPr lang="zh-CN" altLang="en-US" sz="2800" smtClean="0">
                <a:latin typeface="黑体" pitchFamily="49" charset="-122"/>
                <a:ea typeface="黑体" pitchFamily="49" charset="-122"/>
              </a:rPr>
              <a:t>入学时间</a:t>
            </a:r>
            <a:r>
              <a:rPr lang="zh-CN" altLang="en-US" sz="2800" smtClean="0">
                <a:latin typeface="Courier New" pitchFamily="49" charset="0"/>
                <a:ea typeface="黑体" pitchFamily="49" charset="-122"/>
              </a:rPr>
              <a:t>”</a:t>
            </a:r>
            <a:r>
              <a:rPr lang="zh-CN" altLang="en-US" sz="2800" smtClean="0">
                <a:latin typeface="黑体" pitchFamily="49" charset="-122"/>
                <a:ea typeface="黑体" pitchFamily="49" charset="-122"/>
              </a:rPr>
              <a:t>列，其数据类型为日期型。</a:t>
            </a:r>
          </a:p>
          <a:p>
            <a:pPr lvl="4" algn="just" eaLnBrk="1" hangingPunct="1">
              <a:lnSpc>
                <a:spcPct val="130000"/>
              </a:lnSpc>
              <a:buFont typeface="Wingdings" pitchFamily="2" charset="2"/>
              <a:buNone/>
            </a:pPr>
            <a:endParaRPr lang="zh-CN" altLang="en-US" sz="1800" smtClean="0">
              <a:latin typeface="黑体" pitchFamily="49" charset="-122"/>
              <a:ea typeface="黑体" pitchFamily="49" charset="-122"/>
            </a:endParaRPr>
          </a:p>
          <a:p>
            <a:pPr lvl="1" algn="just" eaLnBrk="1" hangingPunct="1">
              <a:lnSpc>
                <a:spcPct val="130000"/>
              </a:lnSpc>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ALTER TABLE S ADD Scome DATE</a:t>
            </a:r>
            <a:r>
              <a:rPr lang="zh-CN" altLang="en-US" sz="2400" smtClean="0">
                <a:latin typeface="黑体" pitchFamily="49" charset="-122"/>
                <a:ea typeface="黑体" pitchFamily="49" charset="-122"/>
              </a:rPr>
              <a:t>；</a:t>
            </a:r>
          </a:p>
          <a:p>
            <a:pPr lvl="4" algn="ctr" eaLnBrk="1" hangingPunct="1">
              <a:lnSpc>
                <a:spcPct val="130000"/>
              </a:lnSpc>
              <a:buFont typeface="Wingdings" pitchFamily="2" charset="2"/>
              <a:buNone/>
            </a:pPr>
            <a:endParaRPr lang="zh-CN" altLang="en-US" sz="1800" smtClean="0">
              <a:latin typeface="黑体" pitchFamily="49" charset="-122"/>
              <a:ea typeface="黑体" pitchFamily="49" charset="-122"/>
            </a:endParaRPr>
          </a:p>
          <a:p>
            <a:pPr lvl="1" algn="just" eaLnBrk="1" hangingPunct="1">
              <a:lnSpc>
                <a:spcPct val="130000"/>
              </a:lnSpc>
            </a:pPr>
            <a:r>
              <a:rPr lang="zh-CN" altLang="en-US" sz="2400" smtClean="0">
                <a:latin typeface="黑体" pitchFamily="49" charset="-122"/>
                <a:ea typeface="黑体" pitchFamily="49" charset="-122"/>
              </a:rPr>
              <a:t>不论基本表中原来是否已有数据，新增加的列一律为空值。</a:t>
            </a:r>
            <a:r>
              <a:rPr lang="zh-CN" altLang="en-US" sz="2400" smtClean="0">
                <a:latin typeface="Courier New" pitchFamily="49" charset="0"/>
                <a:ea typeface="黑体" pitchFamily="49" charset="-122"/>
              </a:rPr>
              <a:t> </a:t>
            </a:r>
            <a:endParaRPr lang="zh-CN" altLang="en-US" sz="2400" smtClean="0">
              <a:latin typeface="黑体" pitchFamily="49" charset="-122"/>
              <a:ea typeface="黑体" pitchFamily="49" charset="-122"/>
            </a:endParaRPr>
          </a:p>
          <a:p>
            <a:pPr algn="just" eaLnBrk="1" hangingPunct="1">
              <a:lnSpc>
                <a:spcPct val="90000"/>
              </a:lnSpc>
              <a:buFont typeface="Wingdings" pitchFamily="2" charset="2"/>
              <a:buNone/>
            </a:pPr>
            <a:endParaRPr lang="en-US" altLang="zh-CN" sz="2800" smtClean="0">
              <a:latin typeface="黑体" pitchFamily="49" charset="-122"/>
              <a:ea typeface="黑体" pitchFamily="49" charset="-122"/>
            </a:endParaRPr>
          </a:p>
        </p:txBody>
      </p:sp>
      <p:sp>
        <p:nvSpPr>
          <p:cNvPr id="20483" name="Rectangle 2"/>
          <p:cNvSpPr>
            <a:spLocks noGrp="1" noChangeArrowheads="1"/>
          </p:cNvSpPr>
          <p:nvPr>
            <p:ph type="title"/>
          </p:nvPr>
        </p:nvSpPr>
        <p:spPr>
          <a:xfrm>
            <a:off x="1192213" y="188913"/>
            <a:ext cx="7051675" cy="863600"/>
          </a:xfrm>
        </p:spPr>
        <p:txBody>
          <a:bodyPr/>
          <a:lstStyle/>
          <a:p>
            <a:pPr eaLnBrk="1" hangingPunct="1"/>
            <a:r>
              <a:rPr lang="en-US" altLang="zh-CN" sz="3200" smtClean="0">
                <a:latin typeface="黑体" pitchFamily="49" charset="-122"/>
              </a:rPr>
              <a:t>3.3 SQL</a:t>
            </a:r>
            <a:r>
              <a:rPr lang="zh-CN" altLang="en-US" sz="3200" smtClean="0">
                <a:latin typeface="黑体" pitchFamily="49" charset="-122"/>
              </a:rPr>
              <a:t>数据定义</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51235">
                                            <p:txEl>
                                              <p:pRg st="2" end="2"/>
                                            </p:txEl>
                                          </p:spTgt>
                                        </p:tgtEl>
                                        <p:attrNameLst>
                                          <p:attrName>style.visibility</p:attrName>
                                        </p:attrNameLst>
                                      </p:cBhvr>
                                      <p:to>
                                        <p:strVal val="visible"/>
                                      </p:to>
                                    </p:set>
                                    <p:anim calcmode="lin" valueType="num">
                                      <p:cBhvr additive="base">
                                        <p:cTn id="7" dur="500" fill="hold"/>
                                        <p:tgtEl>
                                          <p:spTgt spid="3512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1235">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1235">
                                            <p:txEl>
                                              <p:pRg st="4" end="4"/>
                                            </p:txEl>
                                          </p:spTgt>
                                        </p:tgtEl>
                                        <p:attrNameLst>
                                          <p:attrName>style.visibility</p:attrName>
                                        </p:attrNameLst>
                                      </p:cBhvr>
                                      <p:to>
                                        <p:strVal val="visible"/>
                                      </p:to>
                                    </p:set>
                                    <p:anim calcmode="lin" valueType="num">
                                      <p:cBhvr additive="base">
                                        <p:cTn id="11" dur="500" fill="hold"/>
                                        <p:tgtEl>
                                          <p:spTgt spid="351235">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5123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9" name="Rectangle 3"/>
          <p:cNvSpPr>
            <a:spLocks noGrp="1" noChangeArrowheads="1"/>
          </p:cNvSpPr>
          <p:nvPr>
            <p:ph type="body" idx="1"/>
          </p:nvPr>
        </p:nvSpPr>
        <p:spPr>
          <a:xfrm>
            <a:off x="755650" y="1700213"/>
            <a:ext cx="7920038" cy="3736975"/>
          </a:xfrm>
        </p:spPr>
        <p:txBody>
          <a:bodyPr/>
          <a:lstStyle/>
          <a:p>
            <a:pPr algn="just" eaLnBrk="1" hangingPunct="1">
              <a:lnSpc>
                <a:spcPct val="120000"/>
              </a:lnSpc>
            </a:pPr>
            <a:r>
              <a:rPr lang="zh-CN" altLang="en-US" smtClean="0">
                <a:latin typeface="黑体" pitchFamily="49" charset="-122"/>
                <a:ea typeface="黑体" pitchFamily="49" charset="-122"/>
              </a:rPr>
              <a:t>删除属性列</a:t>
            </a:r>
          </a:p>
          <a:p>
            <a:pPr algn="just" eaLnBrk="1" hangingPunct="1">
              <a:lnSpc>
                <a:spcPct val="120000"/>
              </a:lnSpc>
              <a:buFont typeface="Wingdings" pitchFamily="2" charset="2"/>
              <a:buNone/>
            </a:pPr>
            <a:r>
              <a:rPr lang="zh-CN" altLang="en-US" smtClean="0">
                <a:latin typeface="黑体" pitchFamily="49" charset="-122"/>
                <a:ea typeface="黑体" pitchFamily="49" charset="-122"/>
              </a:rPr>
              <a:t> </a:t>
            </a:r>
            <a:r>
              <a:rPr lang="en-US" altLang="zh-CN" smtClean="0">
                <a:latin typeface="黑体" pitchFamily="49" charset="-122"/>
                <a:ea typeface="黑体" pitchFamily="49" charset="-122"/>
              </a:rPr>
              <a:t>[</a:t>
            </a:r>
            <a:r>
              <a:rPr lang="zh-CN" altLang="en-US" smtClean="0">
                <a:latin typeface="黑体" pitchFamily="49" charset="-122"/>
                <a:ea typeface="黑体" pitchFamily="49" charset="-122"/>
              </a:rPr>
              <a:t>例</a:t>
            </a:r>
            <a:r>
              <a:rPr lang="en-US" altLang="zh-CN" smtClean="0">
                <a:latin typeface="黑体" pitchFamily="49" charset="-122"/>
                <a:ea typeface="黑体" pitchFamily="49" charset="-122"/>
              </a:rPr>
              <a:t>9] </a:t>
            </a:r>
            <a:r>
              <a:rPr lang="zh-CN" altLang="en-US" sz="2800" smtClean="0">
                <a:latin typeface="黑体" pitchFamily="49" charset="-122"/>
                <a:ea typeface="黑体" pitchFamily="49" charset="-122"/>
              </a:rPr>
              <a:t>将属性列</a:t>
            </a:r>
            <a:r>
              <a:rPr lang="en-US" altLang="zh-CN" sz="2800" smtClean="0">
                <a:latin typeface="黑体" pitchFamily="49" charset="-122"/>
                <a:ea typeface="黑体" pitchFamily="49" charset="-122"/>
              </a:rPr>
              <a:t>Scome</a:t>
            </a:r>
            <a:r>
              <a:rPr lang="zh-CN" altLang="en-US" sz="2800" smtClean="0">
                <a:latin typeface="黑体" pitchFamily="49" charset="-122"/>
                <a:ea typeface="黑体" pitchFamily="49" charset="-122"/>
              </a:rPr>
              <a:t>删除：</a:t>
            </a:r>
          </a:p>
          <a:p>
            <a:pPr algn="just" eaLnBrk="1" hangingPunct="1">
              <a:lnSpc>
                <a:spcPct val="120000"/>
              </a:lnSpc>
              <a:buFont typeface="Wingdings" pitchFamily="2" charset="2"/>
              <a:buNone/>
            </a:pPr>
            <a:r>
              <a:rPr lang="zh-CN" altLang="en-US" sz="2800" smtClean="0">
                <a:latin typeface="黑体" pitchFamily="49" charset="-122"/>
                <a:ea typeface="黑体" pitchFamily="49" charset="-122"/>
              </a:rPr>
              <a:t>   </a:t>
            </a:r>
            <a:r>
              <a:rPr lang="en-US" altLang="zh-CN" sz="2800" smtClean="0">
                <a:latin typeface="黑体" pitchFamily="49" charset="-122"/>
                <a:ea typeface="黑体" pitchFamily="49" charset="-122"/>
              </a:rPr>
              <a:t>A</a:t>
            </a:r>
            <a:r>
              <a:rPr lang="en-US" altLang="en-US" sz="2800" smtClean="0">
                <a:latin typeface="黑体" pitchFamily="49" charset="-122"/>
                <a:ea typeface="黑体" pitchFamily="49" charset="-122"/>
              </a:rPr>
              <a:t>lter </a:t>
            </a:r>
            <a:r>
              <a:rPr lang="en-US" altLang="zh-CN" sz="2800" smtClean="0">
                <a:latin typeface="黑体" pitchFamily="49" charset="-122"/>
                <a:ea typeface="黑体" pitchFamily="49" charset="-122"/>
              </a:rPr>
              <a:t>T</a:t>
            </a:r>
            <a:r>
              <a:rPr lang="en-US" altLang="en-US" sz="2800" smtClean="0">
                <a:latin typeface="黑体" pitchFamily="49" charset="-122"/>
                <a:ea typeface="黑体" pitchFamily="49" charset="-122"/>
              </a:rPr>
              <a:t>able </a:t>
            </a:r>
            <a:r>
              <a:rPr lang="en-US" altLang="zh-CN" sz="2800" smtClean="0">
                <a:latin typeface="黑体" pitchFamily="49" charset="-122"/>
                <a:ea typeface="黑体" pitchFamily="49" charset="-122"/>
              </a:rPr>
              <a:t>S</a:t>
            </a:r>
            <a:r>
              <a:rPr lang="en-US" altLang="en-US" sz="2800" smtClean="0">
                <a:latin typeface="黑体" pitchFamily="49" charset="-122"/>
                <a:ea typeface="黑体" pitchFamily="49" charset="-122"/>
              </a:rPr>
              <a:t> drop column </a:t>
            </a:r>
            <a:r>
              <a:rPr lang="en-US" altLang="zh-CN" sz="2800" smtClean="0">
                <a:latin typeface="黑体" pitchFamily="49" charset="-122"/>
                <a:ea typeface="黑体" pitchFamily="49" charset="-122"/>
              </a:rPr>
              <a:t>Scome</a:t>
            </a:r>
            <a:r>
              <a:rPr lang="zh-CN" altLang="en-US" sz="2800" smtClean="0">
                <a:latin typeface="黑体" pitchFamily="49" charset="-122"/>
                <a:ea typeface="黑体" pitchFamily="49" charset="-122"/>
              </a:rPr>
              <a:t>；</a:t>
            </a:r>
          </a:p>
        </p:txBody>
      </p:sp>
      <p:sp>
        <p:nvSpPr>
          <p:cNvPr id="21507" name="Rectangle 2"/>
          <p:cNvSpPr>
            <a:spLocks noGrp="1" noChangeArrowheads="1"/>
          </p:cNvSpPr>
          <p:nvPr>
            <p:ph type="title"/>
          </p:nvPr>
        </p:nvSpPr>
        <p:spPr>
          <a:xfrm>
            <a:off x="1192213" y="188913"/>
            <a:ext cx="7051675" cy="863600"/>
          </a:xfrm>
        </p:spPr>
        <p:txBody>
          <a:bodyPr/>
          <a:lstStyle/>
          <a:p>
            <a:pPr eaLnBrk="1" hangingPunct="1"/>
            <a:r>
              <a:rPr lang="en-US" altLang="zh-CN" sz="3200" smtClean="0">
                <a:latin typeface="黑体" pitchFamily="49" charset="-122"/>
              </a:rPr>
              <a:t>3.3 SQL</a:t>
            </a:r>
            <a:r>
              <a:rPr lang="zh-CN" altLang="en-US" sz="3200" smtClean="0">
                <a:latin typeface="黑体" pitchFamily="49" charset="-122"/>
              </a:rPr>
              <a:t>数据定义</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52259">
                                            <p:txEl>
                                              <p:pRg st="2" end="2"/>
                                            </p:txEl>
                                          </p:spTgt>
                                        </p:tgtEl>
                                        <p:attrNameLst>
                                          <p:attrName>style.visibility</p:attrName>
                                        </p:attrNameLst>
                                      </p:cBhvr>
                                      <p:to>
                                        <p:strVal val="visible"/>
                                      </p:to>
                                    </p:set>
                                    <p:anim calcmode="lin" valueType="num">
                                      <p:cBhvr additive="base">
                                        <p:cTn id="7" dur="500" fill="hold"/>
                                        <p:tgtEl>
                                          <p:spTgt spid="35225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225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3" name="Rectangle 3"/>
          <p:cNvSpPr>
            <a:spLocks noGrp="1" noChangeArrowheads="1"/>
          </p:cNvSpPr>
          <p:nvPr>
            <p:ph type="body" idx="1"/>
          </p:nvPr>
        </p:nvSpPr>
        <p:spPr>
          <a:xfrm>
            <a:off x="323850" y="1557338"/>
            <a:ext cx="8532813" cy="4343400"/>
          </a:xfrm>
        </p:spPr>
        <p:txBody>
          <a:bodyPr/>
          <a:lstStyle/>
          <a:p>
            <a:pPr algn="just" eaLnBrk="1" hangingPunct="1">
              <a:lnSpc>
                <a:spcPct val="90000"/>
              </a:lnSpc>
              <a:buFont typeface="Wingdings" pitchFamily="2" charset="2"/>
              <a:buNone/>
            </a:pPr>
            <a:endParaRPr lang="en-US" altLang="zh-CN" smtClean="0">
              <a:latin typeface="黑体" pitchFamily="49" charset="-122"/>
              <a:ea typeface="黑体" pitchFamily="49" charset="-122"/>
            </a:endParaRPr>
          </a:p>
          <a:p>
            <a:pPr algn="ctr" eaLnBrk="1" hangingPunct="1">
              <a:lnSpc>
                <a:spcPct val="130000"/>
              </a:lnSpc>
              <a:buFont typeface="Wingdings" pitchFamily="2" charset="2"/>
              <a:buNone/>
            </a:pPr>
            <a:r>
              <a:rPr lang="en-US" altLang="zh-CN" sz="2800" smtClean="0">
                <a:latin typeface="黑体" pitchFamily="49" charset="-122"/>
                <a:ea typeface="黑体" pitchFamily="49" charset="-122"/>
              </a:rPr>
              <a:t>[</a:t>
            </a:r>
            <a:r>
              <a:rPr lang="zh-CN" altLang="en-US" sz="2800" smtClean="0">
                <a:latin typeface="黑体" pitchFamily="49" charset="-122"/>
                <a:ea typeface="黑体" pitchFamily="49" charset="-122"/>
              </a:rPr>
              <a:t>例</a:t>
            </a:r>
            <a:r>
              <a:rPr lang="en-US" altLang="zh-CN" sz="2800" smtClean="0">
                <a:latin typeface="黑体" pitchFamily="49" charset="-122"/>
                <a:ea typeface="黑体" pitchFamily="49" charset="-122"/>
              </a:rPr>
              <a:t>10]  </a:t>
            </a:r>
            <a:r>
              <a:rPr lang="zh-CN" altLang="en-US" sz="2800" smtClean="0">
                <a:latin typeface="黑体" pitchFamily="49" charset="-122"/>
                <a:ea typeface="黑体" pitchFamily="49" charset="-122"/>
              </a:rPr>
              <a:t>将姓名的数据类型改为</a:t>
            </a:r>
            <a:r>
              <a:rPr lang="en-US" altLang="zh-CN" sz="2800" smtClean="0">
                <a:latin typeface="黑体" pitchFamily="49" charset="-122"/>
                <a:ea typeface="黑体" pitchFamily="49" charset="-122"/>
              </a:rPr>
              <a:t>Char(20)</a:t>
            </a:r>
            <a:r>
              <a:rPr lang="zh-CN" altLang="en-US" sz="2800" smtClean="0">
                <a:latin typeface="黑体" pitchFamily="49" charset="-122"/>
                <a:ea typeface="黑体" pitchFamily="49" charset="-122"/>
              </a:rPr>
              <a:t>。</a:t>
            </a:r>
          </a:p>
          <a:p>
            <a:pPr lvl="1" algn="just" eaLnBrk="1" hangingPunct="1">
              <a:lnSpc>
                <a:spcPct val="130000"/>
              </a:lnSpc>
              <a:spcBef>
                <a:spcPct val="40000"/>
              </a:spcBef>
              <a:buFont typeface="Wingdings" pitchFamily="2" charset="2"/>
              <a:buNone/>
            </a:pPr>
            <a:r>
              <a:rPr lang="zh-CN" altLang="en-US" sz="2600" smtClean="0">
                <a:latin typeface="黑体" pitchFamily="49" charset="-122"/>
                <a:ea typeface="黑体" pitchFamily="49" charset="-122"/>
              </a:rPr>
              <a:t>  </a:t>
            </a:r>
            <a:r>
              <a:rPr lang="en-US" altLang="zh-CN" sz="2600" smtClean="0">
                <a:latin typeface="黑体" pitchFamily="49" charset="-122"/>
                <a:ea typeface="黑体" pitchFamily="49" charset="-122"/>
              </a:rPr>
              <a:t>ALTER TABLE S MODIFY Sname Char(20);</a:t>
            </a:r>
          </a:p>
          <a:p>
            <a:pPr lvl="1" algn="just" eaLnBrk="1" hangingPunct="1">
              <a:lnSpc>
                <a:spcPct val="130000"/>
              </a:lnSpc>
              <a:buFont typeface="Wingdings" pitchFamily="2" charset="2"/>
              <a:buNone/>
            </a:pPr>
            <a:endParaRPr lang="en-US" altLang="zh-CN" smtClean="0">
              <a:latin typeface="黑体" pitchFamily="49" charset="-122"/>
              <a:ea typeface="黑体" pitchFamily="49" charset="-122"/>
            </a:endParaRPr>
          </a:p>
          <a:p>
            <a:pPr lvl="1" algn="just" eaLnBrk="1" hangingPunct="1">
              <a:lnSpc>
                <a:spcPct val="130000"/>
              </a:lnSpc>
              <a:buFont typeface="Wingdings" pitchFamily="2" charset="2"/>
              <a:buNone/>
            </a:pPr>
            <a:r>
              <a:rPr lang="zh-CN" altLang="en-US" smtClean="0">
                <a:latin typeface="黑体" pitchFamily="49" charset="-122"/>
                <a:ea typeface="黑体" pitchFamily="49" charset="-122"/>
              </a:rPr>
              <a:t>注：修改原有的列定义有可能会破坏已有数据</a:t>
            </a:r>
          </a:p>
        </p:txBody>
      </p:sp>
      <p:sp>
        <p:nvSpPr>
          <p:cNvPr id="22531" name="Rectangle 2"/>
          <p:cNvSpPr>
            <a:spLocks noGrp="1" noChangeArrowheads="1"/>
          </p:cNvSpPr>
          <p:nvPr>
            <p:ph type="title"/>
          </p:nvPr>
        </p:nvSpPr>
        <p:spPr>
          <a:xfrm>
            <a:off x="1192213" y="188913"/>
            <a:ext cx="7051675" cy="863600"/>
          </a:xfrm>
        </p:spPr>
        <p:txBody>
          <a:bodyPr/>
          <a:lstStyle/>
          <a:p>
            <a:pPr eaLnBrk="1" hangingPunct="1"/>
            <a:r>
              <a:rPr lang="en-US" altLang="zh-CN" sz="3200" smtClean="0">
                <a:latin typeface="黑体" pitchFamily="49" charset="-122"/>
              </a:rPr>
              <a:t>3.3 SQL</a:t>
            </a:r>
            <a:r>
              <a:rPr lang="zh-CN" altLang="en-US" sz="3200" smtClean="0">
                <a:latin typeface="黑体" pitchFamily="49" charset="-122"/>
              </a:rPr>
              <a:t>数据定义</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53283">
                                            <p:txEl>
                                              <p:pRg st="2" end="2"/>
                                            </p:txEl>
                                          </p:spTgt>
                                        </p:tgtEl>
                                        <p:attrNameLst>
                                          <p:attrName>style.visibility</p:attrName>
                                        </p:attrNameLst>
                                      </p:cBhvr>
                                      <p:to>
                                        <p:strVal val="visible"/>
                                      </p:to>
                                    </p:set>
                                    <p:anim calcmode="lin" valueType="num">
                                      <p:cBhvr additive="base">
                                        <p:cTn id="7" dur="500" fill="hold"/>
                                        <p:tgtEl>
                                          <p:spTgt spid="35328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328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3283">
                                            <p:txEl>
                                              <p:pRg st="4" end="4"/>
                                            </p:txEl>
                                          </p:spTgt>
                                        </p:tgtEl>
                                        <p:attrNameLst>
                                          <p:attrName>style.visibility</p:attrName>
                                        </p:attrNameLst>
                                      </p:cBhvr>
                                      <p:to>
                                        <p:strVal val="visible"/>
                                      </p:to>
                                    </p:set>
                                    <p:anim calcmode="lin" valueType="num">
                                      <p:cBhvr additive="base">
                                        <p:cTn id="11" dur="500" fill="hold"/>
                                        <p:tgtEl>
                                          <p:spTgt spid="35328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5328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type="body" idx="1"/>
          </p:nvPr>
        </p:nvSpPr>
        <p:spPr>
          <a:xfrm>
            <a:off x="468313" y="2060575"/>
            <a:ext cx="8280400" cy="4114800"/>
          </a:xfrm>
        </p:spPr>
        <p:txBody>
          <a:bodyPr/>
          <a:lstStyle/>
          <a:p>
            <a:pPr algn="just" eaLnBrk="1" hangingPunct="1">
              <a:lnSpc>
                <a:spcPct val="200000"/>
              </a:lnSpc>
              <a:buFont typeface="Wingdings" pitchFamily="2" charset="2"/>
              <a:buNone/>
            </a:pPr>
            <a:r>
              <a:rPr lang="en-US" altLang="zh-CN" smtClean="0">
                <a:latin typeface="黑体" pitchFamily="49" charset="-122"/>
                <a:ea typeface="黑体" pitchFamily="49" charset="-122"/>
              </a:rPr>
              <a:t>[</a:t>
            </a:r>
            <a:r>
              <a:rPr lang="zh-CN" altLang="en-US" smtClean="0">
                <a:latin typeface="黑体" pitchFamily="49" charset="-122"/>
                <a:ea typeface="黑体" pitchFamily="49" charset="-122"/>
              </a:rPr>
              <a:t>例</a:t>
            </a:r>
            <a:r>
              <a:rPr lang="en-US" altLang="zh-CN" smtClean="0">
                <a:latin typeface="黑体" pitchFamily="49" charset="-122"/>
                <a:ea typeface="黑体" pitchFamily="49" charset="-122"/>
              </a:rPr>
              <a:t>11] </a:t>
            </a:r>
            <a:r>
              <a:rPr lang="zh-CN" altLang="en-US" smtClean="0">
                <a:latin typeface="黑体" pitchFamily="49" charset="-122"/>
                <a:ea typeface="黑体" pitchFamily="49" charset="-122"/>
              </a:rPr>
              <a:t>删除学生姓名必须取唯一值的约束。</a:t>
            </a:r>
          </a:p>
          <a:p>
            <a:pPr lvl="1" eaLnBrk="1" hangingPunct="1">
              <a:lnSpc>
                <a:spcPct val="200000"/>
              </a:lnSpc>
              <a:buFont typeface="Wingdings" pitchFamily="2" charset="2"/>
              <a:buNone/>
            </a:pPr>
            <a:r>
              <a:rPr lang="zh-CN" altLang="en-US" smtClean="0">
                <a:latin typeface="黑体" pitchFamily="49" charset="-122"/>
                <a:ea typeface="黑体" pitchFamily="49" charset="-122"/>
              </a:rPr>
              <a:t>		</a:t>
            </a:r>
            <a:r>
              <a:rPr lang="en-US" altLang="zh-CN" smtClean="0">
                <a:latin typeface="黑体" pitchFamily="49" charset="-122"/>
                <a:ea typeface="黑体" pitchFamily="49" charset="-122"/>
              </a:rPr>
              <a:t>ALTER TABLE S DROP CONSTRAINTS </a:t>
            </a:r>
            <a:r>
              <a:rPr lang="zh-CN" altLang="en-US" smtClean="0">
                <a:latin typeface="黑体" pitchFamily="49" charset="-122"/>
                <a:ea typeface="黑体" pitchFamily="49" charset="-122"/>
              </a:rPr>
              <a:t>约束名；</a:t>
            </a:r>
          </a:p>
        </p:txBody>
      </p:sp>
      <p:sp>
        <p:nvSpPr>
          <p:cNvPr id="23555" name="Rectangle 2"/>
          <p:cNvSpPr>
            <a:spLocks noGrp="1" noChangeArrowheads="1"/>
          </p:cNvSpPr>
          <p:nvPr>
            <p:ph type="title"/>
          </p:nvPr>
        </p:nvSpPr>
        <p:spPr>
          <a:xfrm>
            <a:off x="1192213" y="188913"/>
            <a:ext cx="7051675" cy="863600"/>
          </a:xfrm>
        </p:spPr>
        <p:txBody>
          <a:bodyPr/>
          <a:lstStyle/>
          <a:p>
            <a:pPr eaLnBrk="1" hangingPunct="1"/>
            <a:r>
              <a:rPr lang="en-US" altLang="zh-CN" sz="3200" smtClean="0">
                <a:latin typeface="黑体" pitchFamily="49" charset="-122"/>
              </a:rPr>
              <a:t>3.3 SQL</a:t>
            </a:r>
            <a:r>
              <a:rPr lang="zh-CN" altLang="en-US" sz="3200" smtClean="0">
                <a:latin typeface="黑体" pitchFamily="49" charset="-122"/>
              </a:rPr>
              <a:t>数据定义</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type="body" idx="1"/>
          </p:nvPr>
        </p:nvSpPr>
        <p:spPr>
          <a:xfrm>
            <a:off x="682625" y="1700213"/>
            <a:ext cx="7993063" cy="4537075"/>
          </a:xfrm>
        </p:spPr>
        <p:txBody>
          <a:bodyPr/>
          <a:lstStyle/>
          <a:p>
            <a:pPr algn="just" eaLnBrk="1" hangingPunct="1">
              <a:buFont typeface="Wingdings" pitchFamily="2" charset="2"/>
              <a:buNone/>
            </a:pPr>
            <a:r>
              <a:rPr lang="zh-CN" altLang="en-US" sz="2800" smtClean="0">
                <a:latin typeface="黑体" pitchFamily="49" charset="-122"/>
                <a:ea typeface="黑体" pitchFamily="49" charset="-122"/>
              </a:rPr>
              <a:t>四、删除基本表</a:t>
            </a:r>
          </a:p>
          <a:p>
            <a:pPr algn="just" eaLnBrk="1" hangingPunct="1">
              <a:buFont typeface="Wingdings" pitchFamily="2" charset="2"/>
              <a:buNone/>
            </a:pPr>
            <a:r>
              <a:rPr lang="zh-CN" altLang="en-US" sz="2800" smtClean="0">
                <a:latin typeface="黑体" pitchFamily="49" charset="-122"/>
                <a:ea typeface="黑体" pitchFamily="49" charset="-122"/>
              </a:rPr>
              <a:t>  语句格式：</a:t>
            </a:r>
          </a:p>
          <a:p>
            <a:pPr algn="just" eaLnBrk="1" hangingPunct="1">
              <a:buFont typeface="Wingdings" pitchFamily="2" charset="2"/>
              <a:buNone/>
            </a:pPr>
            <a:r>
              <a:rPr lang="zh-CN" altLang="en-US" sz="2800" smtClean="0">
                <a:latin typeface="黑体" pitchFamily="49" charset="-122"/>
                <a:ea typeface="黑体" pitchFamily="49" charset="-122"/>
              </a:rPr>
              <a:t>    </a:t>
            </a:r>
            <a:r>
              <a:rPr lang="en-US" altLang="zh-CN" sz="2800" smtClean="0">
                <a:latin typeface="黑体" pitchFamily="49" charset="-122"/>
                <a:ea typeface="黑体" pitchFamily="49" charset="-122"/>
              </a:rPr>
              <a:t>DROP TABLE &lt;</a:t>
            </a:r>
            <a:r>
              <a:rPr lang="zh-CN" altLang="en-US" sz="2800" smtClean="0">
                <a:latin typeface="黑体" pitchFamily="49" charset="-122"/>
                <a:ea typeface="黑体" pitchFamily="49" charset="-122"/>
              </a:rPr>
              <a:t>表名</a:t>
            </a:r>
            <a:r>
              <a:rPr lang="en-US" altLang="zh-CN" sz="2800" smtClean="0">
                <a:latin typeface="黑体" pitchFamily="49" charset="-122"/>
                <a:ea typeface="黑体" pitchFamily="49" charset="-122"/>
              </a:rPr>
              <a:t>&gt;</a:t>
            </a:r>
            <a:r>
              <a:rPr lang="en-US" altLang="zh-CN" sz="3600" smtClean="0">
                <a:latin typeface="黑体" pitchFamily="49" charset="-122"/>
                <a:ea typeface="黑体" pitchFamily="49" charset="-122"/>
              </a:rPr>
              <a:t> </a:t>
            </a:r>
            <a:r>
              <a:rPr lang="en-US" altLang="zh-CN" sz="3600" smtClean="0">
                <a:latin typeface="Courier New" pitchFamily="49" charset="0"/>
                <a:ea typeface="黑体" pitchFamily="49" charset="-122"/>
              </a:rPr>
              <a:t> </a:t>
            </a:r>
            <a:endParaRPr lang="en-US" altLang="zh-CN" sz="2400" smtClean="0">
              <a:latin typeface="黑体" pitchFamily="49" charset="-122"/>
              <a:ea typeface="黑体" pitchFamily="49" charset="-122"/>
            </a:endParaRPr>
          </a:p>
        </p:txBody>
      </p:sp>
      <p:sp>
        <p:nvSpPr>
          <p:cNvPr id="24579" name="Rectangle 2"/>
          <p:cNvSpPr>
            <a:spLocks noGrp="1" noChangeArrowheads="1"/>
          </p:cNvSpPr>
          <p:nvPr>
            <p:ph type="title"/>
          </p:nvPr>
        </p:nvSpPr>
        <p:spPr>
          <a:xfrm>
            <a:off x="1192213" y="188913"/>
            <a:ext cx="7051675" cy="863600"/>
          </a:xfrm>
        </p:spPr>
        <p:txBody>
          <a:bodyPr/>
          <a:lstStyle/>
          <a:p>
            <a:pPr eaLnBrk="1" hangingPunct="1"/>
            <a:r>
              <a:rPr lang="en-US" altLang="zh-CN" sz="3200" smtClean="0">
                <a:latin typeface="黑体" pitchFamily="49" charset="-122"/>
              </a:rPr>
              <a:t>3.3 SQL</a:t>
            </a:r>
            <a:r>
              <a:rPr lang="zh-CN" altLang="en-US" sz="3200" smtClean="0">
                <a:latin typeface="黑体" pitchFamily="49" charset="-122"/>
              </a:rPr>
              <a:t>数据定义</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a:xfrm>
            <a:off x="611188" y="1268413"/>
            <a:ext cx="7775575" cy="4824412"/>
          </a:xfrm>
        </p:spPr>
        <p:txBody>
          <a:bodyPr/>
          <a:lstStyle/>
          <a:p>
            <a:pPr algn="just" eaLnBrk="1" hangingPunct="1"/>
            <a:r>
              <a:rPr lang="zh-CN" altLang="en-US" sz="2800" smtClean="0">
                <a:latin typeface="黑体" pitchFamily="49" charset="-122"/>
                <a:ea typeface="黑体" pitchFamily="49" charset="-122"/>
              </a:rPr>
              <a:t>建立索引是加快查询速度的有效手段</a:t>
            </a:r>
          </a:p>
          <a:p>
            <a:pPr algn="just" eaLnBrk="1" hangingPunct="1"/>
            <a:r>
              <a:rPr lang="zh-CN" altLang="en-US" sz="2800" smtClean="0">
                <a:latin typeface="黑体" pitchFamily="49" charset="-122"/>
                <a:ea typeface="黑体" pitchFamily="49" charset="-122"/>
              </a:rPr>
              <a:t>建立索引</a:t>
            </a:r>
          </a:p>
          <a:p>
            <a:pPr lvl="1" algn="just" eaLnBrk="1" hangingPunct="1"/>
            <a:r>
              <a:rPr lang="en-US" altLang="zh-CN" sz="2400" smtClean="0">
                <a:latin typeface="黑体" pitchFamily="49" charset="-122"/>
                <a:ea typeface="黑体" pitchFamily="49" charset="-122"/>
              </a:rPr>
              <a:t>DBA</a:t>
            </a:r>
            <a:r>
              <a:rPr lang="zh-CN" altLang="en-US" sz="2400" smtClean="0">
                <a:latin typeface="黑体" pitchFamily="49" charset="-122"/>
                <a:ea typeface="黑体" pitchFamily="49" charset="-122"/>
              </a:rPr>
              <a:t>或表的属主（即建立表的人）根据需要建立</a:t>
            </a:r>
          </a:p>
          <a:p>
            <a:pPr lvl="1" algn="just" eaLnBrk="1" hangingPunct="1"/>
            <a:r>
              <a:rPr lang="zh-CN" altLang="en-US" sz="2400" smtClean="0">
                <a:latin typeface="黑体" pitchFamily="49" charset="-122"/>
                <a:ea typeface="黑体" pitchFamily="49" charset="-122"/>
              </a:rPr>
              <a:t>有些</a:t>
            </a:r>
            <a:r>
              <a:rPr lang="en-US" altLang="zh-CN" sz="2400" smtClean="0">
                <a:latin typeface="黑体" pitchFamily="49" charset="-122"/>
                <a:ea typeface="黑体" pitchFamily="49" charset="-122"/>
              </a:rPr>
              <a:t>DBMS</a:t>
            </a:r>
            <a:r>
              <a:rPr lang="zh-CN" altLang="en-US" sz="2400" smtClean="0">
                <a:latin typeface="黑体" pitchFamily="49" charset="-122"/>
                <a:ea typeface="黑体" pitchFamily="49" charset="-122"/>
              </a:rPr>
              <a:t>自动建立以下列上的索引</a:t>
            </a:r>
          </a:p>
          <a:p>
            <a:pPr lvl="2" algn="just" eaLnBrk="1" hangingPunct="1"/>
            <a:r>
              <a:rPr lang="zh-CN" altLang="en-US" sz="2000" smtClean="0">
                <a:latin typeface="黑体" pitchFamily="49" charset="-122"/>
                <a:ea typeface="黑体" pitchFamily="49" charset="-122"/>
              </a:rPr>
              <a:t> </a:t>
            </a:r>
            <a:r>
              <a:rPr lang="en-US" altLang="zh-CN" smtClean="0">
                <a:latin typeface="黑体" pitchFamily="49" charset="-122"/>
                <a:ea typeface="黑体" pitchFamily="49" charset="-122"/>
              </a:rPr>
              <a:t>PRIMARY  KEY</a:t>
            </a:r>
          </a:p>
          <a:p>
            <a:pPr lvl="2" algn="just" eaLnBrk="1" hangingPunct="1"/>
            <a:r>
              <a:rPr lang="en-US" altLang="zh-CN" smtClean="0">
                <a:latin typeface="黑体" pitchFamily="49" charset="-122"/>
                <a:ea typeface="黑体" pitchFamily="49" charset="-122"/>
              </a:rPr>
              <a:t> UNIQUE</a:t>
            </a:r>
            <a:endParaRPr lang="en-US" altLang="zh-CN" sz="2000" smtClean="0">
              <a:latin typeface="黑体" pitchFamily="49" charset="-122"/>
              <a:ea typeface="黑体" pitchFamily="49" charset="-122"/>
            </a:endParaRPr>
          </a:p>
          <a:p>
            <a:pPr algn="just" eaLnBrk="1" hangingPunct="1"/>
            <a:r>
              <a:rPr lang="zh-CN" altLang="en-US" sz="2800" smtClean="0">
                <a:latin typeface="黑体" pitchFamily="49" charset="-122"/>
                <a:ea typeface="黑体" pitchFamily="49" charset="-122"/>
              </a:rPr>
              <a:t>维护索引</a:t>
            </a:r>
          </a:p>
          <a:p>
            <a:pPr lvl="1" algn="just" eaLnBrk="1" hangingPunct="1"/>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DBMS</a:t>
            </a:r>
            <a:r>
              <a:rPr lang="zh-CN" altLang="en-US" sz="2400" smtClean="0">
                <a:latin typeface="黑体" pitchFamily="49" charset="-122"/>
                <a:ea typeface="黑体" pitchFamily="49" charset="-122"/>
              </a:rPr>
              <a:t>自动完成</a:t>
            </a:r>
            <a:r>
              <a:rPr lang="zh-CN" altLang="en-US" sz="2400" smtClean="0">
                <a:latin typeface="Courier New" pitchFamily="49" charset="0"/>
                <a:ea typeface="黑体" pitchFamily="49" charset="-122"/>
              </a:rPr>
              <a:t> </a:t>
            </a:r>
            <a:endParaRPr lang="zh-CN" altLang="en-US" sz="2400" smtClean="0">
              <a:latin typeface="黑体" pitchFamily="49" charset="-122"/>
              <a:ea typeface="黑体" pitchFamily="49" charset="-122"/>
            </a:endParaRPr>
          </a:p>
          <a:p>
            <a:pPr algn="just" eaLnBrk="1" hangingPunct="1"/>
            <a:r>
              <a:rPr lang="zh-CN" altLang="en-US" sz="2800" smtClean="0">
                <a:latin typeface="黑体" pitchFamily="49" charset="-122"/>
                <a:ea typeface="黑体" pitchFamily="49" charset="-122"/>
              </a:rPr>
              <a:t>使用索引</a:t>
            </a:r>
          </a:p>
          <a:p>
            <a:pPr lvl="1" algn="just" eaLnBrk="1" hangingPunct="1"/>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DBMS</a:t>
            </a:r>
            <a:r>
              <a:rPr lang="zh-CN" altLang="en-US" sz="2400" smtClean="0">
                <a:latin typeface="黑体" pitchFamily="49" charset="-122"/>
                <a:ea typeface="黑体" pitchFamily="49" charset="-122"/>
              </a:rPr>
              <a:t>自动选择是否使用索引以及使用哪些索引</a:t>
            </a:r>
          </a:p>
        </p:txBody>
      </p:sp>
      <p:sp>
        <p:nvSpPr>
          <p:cNvPr id="25603" name="Rectangle 2"/>
          <p:cNvSpPr>
            <a:spLocks noGrp="1" noChangeArrowheads="1"/>
          </p:cNvSpPr>
          <p:nvPr>
            <p:ph type="title"/>
          </p:nvPr>
        </p:nvSpPr>
        <p:spPr>
          <a:xfrm>
            <a:off x="1192213" y="188913"/>
            <a:ext cx="7051675" cy="863600"/>
          </a:xfrm>
        </p:spPr>
        <p:txBody>
          <a:bodyPr/>
          <a:lstStyle/>
          <a:p>
            <a:pPr eaLnBrk="1" hangingPunct="1"/>
            <a:r>
              <a:rPr lang="en-US" altLang="zh-CN" sz="3200" smtClean="0">
                <a:latin typeface="黑体" pitchFamily="49" charset="-122"/>
              </a:rPr>
              <a:t>3.3 SQL</a:t>
            </a:r>
            <a:r>
              <a:rPr lang="zh-CN" altLang="en-US" sz="3200" smtClean="0">
                <a:latin typeface="黑体" pitchFamily="49" charset="-122"/>
              </a:rPr>
              <a:t>数据定义</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81"/>
          <p:cNvSpPr>
            <a:spLocks noGrp="1" noChangeArrowheads="1"/>
          </p:cNvSpPr>
          <p:nvPr>
            <p:ph type="title"/>
          </p:nvPr>
        </p:nvSpPr>
        <p:spPr>
          <a:xfrm>
            <a:off x="827088" y="-19050"/>
            <a:ext cx="8229600" cy="1125538"/>
          </a:xfrm>
        </p:spPr>
        <p:txBody>
          <a:bodyPr/>
          <a:lstStyle/>
          <a:p>
            <a:pPr eaLnBrk="1" hangingPunct="1"/>
            <a:r>
              <a:rPr lang="en-US" altLang="zh-CN" smtClean="0">
                <a:latin typeface="黑体" pitchFamily="49" charset="-122"/>
              </a:rPr>
              <a:t>3.3 SQL</a:t>
            </a:r>
            <a:r>
              <a:rPr lang="zh-CN" altLang="en-US" smtClean="0">
                <a:latin typeface="黑体" pitchFamily="49" charset="-122"/>
              </a:rPr>
              <a:t>数据定义</a:t>
            </a:r>
          </a:p>
        </p:txBody>
      </p:sp>
      <p:graphicFrame>
        <p:nvGraphicFramePr>
          <p:cNvPr id="497820" name="Group 156"/>
          <p:cNvGraphicFramePr>
            <a:graphicFrameLocks noGrp="1"/>
          </p:cNvGraphicFramePr>
          <p:nvPr>
            <p:ph sz="half" idx="1"/>
          </p:nvPr>
        </p:nvGraphicFramePr>
        <p:xfrm>
          <a:off x="4140200" y="1636713"/>
          <a:ext cx="3816350" cy="2952750"/>
        </p:xfrm>
        <a:graphic>
          <a:graphicData uri="http://schemas.openxmlformats.org/drawingml/2006/table">
            <a:tbl>
              <a:tblPr/>
              <a:tblGrid>
                <a:gridCol w="1214437"/>
                <a:gridCol w="1020763"/>
                <a:gridCol w="819150"/>
                <a:gridCol w="762000"/>
              </a:tblGrid>
              <a:tr h="439738">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dirty="0" err="1" smtClean="0">
                          <a:ln>
                            <a:noFill/>
                          </a:ln>
                          <a:solidFill>
                            <a:schemeClr val="tx1"/>
                          </a:solidFill>
                          <a:effectLst/>
                          <a:latin typeface="Tahoma" pitchFamily="34" charset="0"/>
                          <a:ea typeface="宋体" pitchFamily="2" charset="-122"/>
                        </a:rPr>
                        <a:t>Sno</a:t>
                      </a:r>
                      <a:endParaRPr kumimoji="1" lang="en-US" altLang="zh-CN" sz="1800" b="1" i="0" u="none" strike="noStrike" cap="none" normalizeH="0" baseline="0" dirty="0" smtClean="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dirty="0" err="1" smtClean="0">
                          <a:ln>
                            <a:noFill/>
                          </a:ln>
                          <a:solidFill>
                            <a:schemeClr val="tx1"/>
                          </a:solidFill>
                          <a:effectLst/>
                          <a:latin typeface="Tahoma" pitchFamily="34" charset="0"/>
                          <a:ea typeface="宋体" pitchFamily="2" charset="-122"/>
                        </a:rPr>
                        <a:t>Sname</a:t>
                      </a:r>
                      <a:endParaRPr kumimoji="1" lang="en-US" altLang="zh-CN" sz="1800" b="1" i="0" u="none" strike="noStrike" cap="none" normalizeH="0" baseline="0" dirty="0" smtClean="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smtClean="0">
                          <a:ln>
                            <a:noFill/>
                          </a:ln>
                          <a:solidFill>
                            <a:schemeClr val="tx1"/>
                          </a:solidFill>
                          <a:effectLst/>
                          <a:latin typeface="Tahoma" pitchFamily="34" charset="0"/>
                          <a:ea typeface="宋体" pitchFamily="2" charset="-122"/>
                        </a:rPr>
                        <a:t>Ssex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smtClean="0">
                          <a:ln>
                            <a:noFill/>
                          </a:ln>
                          <a:solidFill>
                            <a:schemeClr val="tx1"/>
                          </a:solidFill>
                          <a:effectLst/>
                          <a:latin typeface="Times New Roman"/>
                          <a:ea typeface="宋体" pitchFamily="2" charset="-122"/>
                        </a:rPr>
                        <a:t>……</a:t>
                      </a:r>
                      <a:endParaRPr kumimoji="1" lang="en-US" altLang="zh-CN" sz="1800" b="1" i="0" u="none" strike="noStrike" cap="none" normalizeH="0" baseline="0" smtClean="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2750">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smtClean="0">
                          <a:ln>
                            <a:noFill/>
                          </a:ln>
                          <a:solidFill>
                            <a:schemeClr val="tx1"/>
                          </a:solidFill>
                          <a:effectLst/>
                          <a:latin typeface="Times New Roman"/>
                          <a:ea typeface="宋体" pitchFamily="2" charset="-122"/>
                        </a:rPr>
                        <a:t>……</a:t>
                      </a:r>
                      <a:endParaRPr kumimoji="1" lang="en-US" altLang="zh-CN" sz="1800" b="1" i="0" u="none" strike="noStrike" cap="none" normalizeH="0" baseline="0" smtClean="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smtClean="0">
                          <a:ln>
                            <a:noFill/>
                          </a:ln>
                          <a:solidFill>
                            <a:schemeClr val="tx1"/>
                          </a:solidFill>
                          <a:effectLst/>
                          <a:latin typeface="Times New Roman"/>
                          <a:ea typeface="宋体" pitchFamily="2" charset="-122"/>
                        </a:rPr>
                        <a:t>……</a:t>
                      </a:r>
                      <a:endParaRPr kumimoji="1" lang="en-US" altLang="zh-CN" sz="1800" b="1" i="0" u="none" strike="noStrike" cap="none" normalizeH="0" baseline="0" smtClean="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smtClean="0">
                          <a:ln>
                            <a:noFill/>
                          </a:ln>
                          <a:solidFill>
                            <a:schemeClr val="tx1"/>
                          </a:solidFill>
                          <a:effectLst/>
                          <a:latin typeface="Times New Roman"/>
                          <a:ea typeface="宋体" pitchFamily="2" charset="-122"/>
                        </a:rPr>
                        <a:t>……</a:t>
                      </a:r>
                      <a:endParaRPr kumimoji="1" lang="en-US" altLang="zh-CN" sz="1800" b="1" i="0" u="none" strike="noStrike" cap="none" normalizeH="0" baseline="0" smtClean="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endParaRPr kumimoji="1" lang="zh-CN" altLang="zh-CN" sz="1800" b="1" i="0" u="none" strike="noStrike" cap="none" normalizeH="0" baseline="0" smtClean="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0850">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0" i="0" u="none" strike="noStrike" cap="none" normalizeH="0" baseline="0" dirty="0" smtClean="0">
                          <a:ln>
                            <a:noFill/>
                          </a:ln>
                          <a:solidFill>
                            <a:schemeClr val="tx1"/>
                          </a:solidFill>
                          <a:effectLst/>
                          <a:latin typeface="Tahoma" pitchFamily="34" charset="0"/>
                          <a:ea typeface="宋体" pitchFamily="2" charset="-122"/>
                        </a:rPr>
                        <a:t>0412001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zh-CN" altLang="en-US" sz="1800" b="1" i="0" u="none" strike="noStrike" cap="none" normalizeH="0" baseline="0" smtClean="0">
                          <a:ln>
                            <a:noFill/>
                          </a:ln>
                          <a:solidFill>
                            <a:schemeClr val="tx1"/>
                          </a:solidFill>
                          <a:effectLst/>
                          <a:latin typeface="Tahoma" pitchFamily="34" charset="0"/>
                          <a:ea typeface="宋体" pitchFamily="2" charset="-122"/>
                        </a:rPr>
                        <a:t>李勇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zh-CN" altLang="en-US" sz="1800" b="1" i="0" u="none" strike="noStrike" cap="none" normalizeH="0" baseline="0" smtClean="0">
                          <a:ln>
                            <a:noFill/>
                          </a:ln>
                          <a:solidFill>
                            <a:schemeClr val="tx1"/>
                          </a:solidFill>
                          <a:effectLst/>
                          <a:latin typeface="Tahoma" pitchFamily="34" charset="0"/>
                          <a:ea typeface="宋体" pitchFamily="2" charset="-122"/>
                        </a:rPr>
                        <a:t>男</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endParaRPr kumimoji="1" lang="zh-CN" altLang="zh-CN" sz="1800" b="1" i="0" u="none" strike="noStrike" cap="none" normalizeH="0" baseline="0" smtClean="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2750">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0" i="0" u="none" strike="noStrike" cap="none" normalizeH="0" baseline="0" dirty="0" smtClean="0">
                          <a:ln>
                            <a:noFill/>
                          </a:ln>
                          <a:solidFill>
                            <a:schemeClr val="tx1"/>
                          </a:solidFill>
                          <a:effectLst/>
                          <a:latin typeface="Tahoma" pitchFamily="34" charset="0"/>
                          <a:ea typeface="宋体" pitchFamily="2" charset="-122"/>
                        </a:rPr>
                        <a:t>0431130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zh-CN" altLang="en-US" sz="1800" b="1" i="0" u="none" strike="noStrike" cap="none" normalizeH="0" baseline="0" smtClean="0">
                          <a:ln>
                            <a:noFill/>
                          </a:ln>
                          <a:solidFill>
                            <a:schemeClr val="tx1"/>
                          </a:solidFill>
                          <a:effectLst/>
                          <a:latin typeface="Tahoma" pitchFamily="34" charset="0"/>
                          <a:ea typeface="宋体" pitchFamily="2" charset="-122"/>
                        </a:rPr>
                        <a:t>钱小平</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zh-CN" altLang="en-US" sz="1800" b="1" i="0" u="none" strike="noStrike" cap="none" normalizeH="0" baseline="0" smtClean="0">
                          <a:ln>
                            <a:noFill/>
                          </a:ln>
                          <a:solidFill>
                            <a:schemeClr val="tx1"/>
                          </a:solidFill>
                          <a:effectLst/>
                          <a:latin typeface="Tahoma" pitchFamily="34" charset="0"/>
                          <a:ea typeface="宋体" pitchFamily="2" charset="-122"/>
                        </a:rPr>
                        <a:t>男</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endParaRPr kumimoji="1" lang="zh-CN" altLang="zh-CN" sz="1800" b="1" i="0" u="none" strike="noStrike" cap="none" normalizeH="0" baseline="0" smtClean="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1163">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0" i="0" u="none" strike="noStrike" cap="none" normalizeH="0" baseline="0" dirty="0" smtClean="0">
                          <a:ln>
                            <a:noFill/>
                          </a:ln>
                          <a:solidFill>
                            <a:schemeClr val="tx1"/>
                          </a:solidFill>
                          <a:effectLst/>
                          <a:latin typeface="Tahoma" pitchFamily="34" charset="0"/>
                          <a:ea typeface="宋体" pitchFamily="2" charset="-122"/>
                        </a:rPr>
                        <a:t>0421102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zh-CN" altLang="en-US" sz="1800" b="1" i="0" u="none" strike="noStrike" cap="none" normalizeH="0" baseline="0" smtClean="0">
                          <a:ln>
                            <a:noFill/>
                          </a:ln>
                          <a:solidFill>
                            <a:schemeClr val="tx1"/>
                          </a:solidFill>
                          <a:effectLst/>
                          <a:latin typeface="Tahoma" pitchFamily="34" charset="0"/>
                          <a:ea typeface="宋体" pitchFamily="2" charset="-122"/>
                        </a:rPr>
                        <a:t>李丽</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zh-CN" altLang="en-US" sz="1800" b="1" i="0" u="none" strike="noStrike" cap="none" normalizeH="0" baseline="0" smtClean="0">
                          <a:ln>
                            <a:noFill/>
                          </a:ln>
                          <a:solidFill>
                            <a:schemeClr val="tx1"/>
                          </a:solidFill>
                          <a:effectLst/>
                          <a:latin typeface="Tahoma" pitchFamily="34" charset="0"/>
                          <a:ea typeface="宋体" pitchFamily="2" charset="-122"/>
                        </a:rPr>
                        <a:t>女</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endParaRPr kumimoji="1" lang="zh-CN" altLang="zh-CN" sz="1800" b="1" i="0" u="none" strike="noStrike" cap="none" normalizeH="0" baseline="0" smtClean="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2750">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0" i="0" u="none" strike="noStrike" cap="none" normalizeH="0" baseline="0" dirty="0" smtClean="0">
                          <a:ln>
                            <a:noFill/>
                          </a:ln>
                          <a:solidFill>
                            <a:schemeClr val="tx1"/>
                          </a:solidFill>
                          <a:effectLst/>
                          <a:latin typeface="Tahoma" pitchFamily="34" charset="0"/>
                          <a:ea typeface="宋体" pitchFamily="2" charset="-122"/>
                        </a:rPr>
                        <a:t>0412102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zh-CN" altLang="en-US" sz="1800" b="1" i="0" u="none" strike="noStrike" cap="none" normalizeH="0" baseline="0" smtClean="0">
                          <a:ln>
                            <a:noFill/>
                          </a:ln>
                          <a:solidFill>
                            <a:schemeClr val="tx1"/>
                          </a:solidFill>
                          <a:effectLst/>
                          <a:latin typeface="Tahoma" pitchFamily="34" charset="0"/>
                          <a:ea typeface="宋体" pitchFamily="2" charset="-122"/>
                        </a:rPr>
                        <a:t>姚晨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zh-CN" altLang="en-US" sz="1800" b="1" i="0" u="none" strike="noStrike" cap="none" normalizeH="0" baseline="0" smtClean="0">
                          <a:ln>
                            <a:noFill/>
                          </a:ln>
                          <a:solidFill>
                            <a:schemeClr val="tx1"/>
                          </a:solidFill>
                          <a:effectLst/>
                          <a:latin typeface="Tahoma" pitchFamily="34" charset="0"/>
                          <a:ea typeface="宋体" pitchFamily="2" charset="-122"/>
                        </a:rPr>
                        <a:t>女</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endParaRPr kumimoji="1" lang="zh-CN" altLang="zh-CN" sz="1800" b="1" i="0" u="none" strike="noStrike" cap="none" normalizeH="0" baseline="0" dirty="0" smtClean="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2750">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dirty="0" smtClean="0">
                          <a:ln>
                            <a:noFill/>
                          </a:ln>
                          <a:solidFill>
                            <a:schemeClr val="tx1"/>
                          </a:solidFill>
                          <a:effectLst/>
                          <a:latin typeface="Times New Roman"/>
                          <a:ea typeface="宋体" pitchFamily="2" charset="-122"/>
                        </a:rPr>
                        <a:t>……</a:t>
                      </a:r>
                      <a:endParaRPr kumimoji="1" lang="en-US" altLang="zh-CN" sz="1800" b="1" i="0" u="none" strike="noStrike" cap="none" normalizeH="0" baseline="0" dirty="0" smtClean="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smtClean="0">
                          <a:ln>
                            <a:noFill/>
                          </a:ln>
                          <a:solidFill>
                            <a:schemeClr val="tx1"/>
                          </a:solidFill>
                          <a:effectLst/>
                          <a:latin typeface="Times New Roman"/>
                          <a:ea typeface="宋体" pitchFamily="2" charset="-122"/>
                        </a:rPr>
                        <a:t>……</a:t>
                      </a:r>
                      <a:endParaRPr kumimoji="1" lang="en-US" altLang="zh-CN" sz="1800" b="1" i="0" u="none" strike="noStrike" cap="none" normalizeH="0" baseline="0" smtClean="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smtClean="0">
                          <a:ln>
                            <a:noFill/>
                          </a:ln>
                          <a:solidFill>
                            <a:schemeClr val="tx1"/>
                          </a:solidFill>
                          <a:effectLst/>
                          <a:latin typeface="Times New Roman"/>
                          <a:ea typeface="宋体" pitchFamily="2" charset="-122"/>
                        </a:rPr>
                        <a:t>……</a:t>
                      </a:r>
                      <a:endParaRPr kumimoji="1" lang="en-US" altLang="zh-CN" sz="1800" b="1" i="0" u="none" strike="noStrike" cap="none" normalizeH="0" baseline="0" smtClean="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endParaRPr kumimoji="1" lang="zh-CN" altLang="zh-CN" sz="1800" b="1" i="0" u="none" strike="noStrike" cap="none" normalizeH="0" baseline="0" dirty="0" smtClean="0">
                        <a:ln>
                          <a:noFill/>
                        </a:ln>
                        <a:solidFill>
                          <a:schemeClr val="tx1"/>
                        </a:solidFill>
                        <a:effectLst/>
                        <a:latin typeface="Tahoma"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97902" name="Group 238"/>
          <p:cNvGraphicFramePr>
            <a:graphicFrameLocks noGrp="1"/>
          </p:cNvGraphicFramePr>
          <p:nvPr>
            <p:ph sz="half" idx="2"/>
          </p:nvPr>
        </p:nvGraphicFramePr>
        <p:xfrm>
          <a:off x="828675" y="2212975"/>
          <a:ext cx="2376488" cy="2816225"/>
        </p:xfrm>
        <a:graphic>
          <a:graphicData uri="http://schemas.openxmlformats.org/drawingml/2006/table">
            <a:tbl>
              <a:tblPr/>
              <a:tblGrid>
                <a:gridCol w="1152525"/>
                <a:gridCol w="1223963"/>
              </a:tblGrid>
              <a:tr h="338312">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dirty="0" err="1" smtClean="0">
                          <a:ln>
                            <a:noFill/>
                          </a:ln>
                          <a:solidFill>
                            <a:schemeClr val="tx1"/>
                          </a:solidFill>
                          <a:effectLst/>
                          <a:latin typeface="Tahoma" pitchFamily="34" charset="0"/>
                          <a:ea typeface="宋体" pitchFamily="2" charset="-122"/>
                        </a:rPr>
                        <a:t>Sno</a:t>
                      </a:r>
                      <a:endParaRPr kumimoji="1" lang="en-US" altLang="zh-CN" sz="1800" b="1" i="0" u="none" strike="noStrike" cap="none" normalizeH="0" baseline="0" dirty="0" smtClean="0">
                        <a:ln>
                          <a:noFill/>
                        </a:ln>
                        <a:solidFill>
                          <a:schemeClr val="tx1"/>
                        </a:solidFill>
                        <a:effectLst/>
                        <a:latin typeface="Tahoma" pitchFamily="34" charset="0"/>
                        <a:ea typeface="宋体"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zh-CN" altLang="en-US" sz="1800" b="1" i="0" u="none" strike="noStrike" cap="none" normalizeH="0" baseline="0" smtClean="0">
                          <a:ln>
                            <a:noFill/>
                          </a:ln>
                          <a:solidFill>
                            <a:schemeClr val="tx1"/>
                          </a:solidFill>
                          <a:effectLst/>
                          <a:latin typeface="Tahoma" pitchFamily="34" charset="0"/>
                          <a:ea typeface="宋体" pitchFamily="2" charset="-122"/>
                        </a:rPr>
                        <a:t>存储地址</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312">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smtClean="0">
                          <a:ln>
                            <a:noFill/>
                          </a:ln>
                          <a:solidFill>
                            <a:schemeClr val="tx1"/>
                          </a:solidFill>
                          <a:effectLst/>
                          <a:latin typeface="Times New Roman"/>
                          <a:ea typeface="宋体" pitchFamily="2" charset="-122"/>
                        </a:rPr>
                        <a:t>……</a:t>
                      </a:r>
                      <a:endParaRPr kumimoji="1" lang="en-US" altLang="zh-CN" sz="1800" b="1" i="0" u="none" strike="noStrike" cap="none" normalizeH="0" baseline="0" smtClean="0">
                        <a:ln>
                          <a:noFill/>
                        </a:ln>
                        <a:solidFill>
                          <a:schemeClr val="tx1"/>
                        </a:solidFill>
                        <a:effectLst/>
                        <a:latin typeface="Tahoma" pitchFamily="34" charset="0"/>
                        <a:ea typeface="宋体"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endParaRPr kumimoji="1" lang="zh-CN" altLang="zh-CN" sz="1800" b="1" i="0" u="none" strike="noStrike" cap="none" normalizeH="0" baseline="0" smtClean="0">
                        <a:ln>
                          <a:noFill/>
                        </a:ln>
                        <a:solidFill>
                          <a:schemeClr val="tx1"/>
                        </a:solidFill>
                        <a:effectLst/>
                        <a:latin typeface="Tahoma" pitchFamily="34" charset="0"/>
                        <a:ea typeface="宋体"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44">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0" i="0" u="none" strike="noStrike" cap="none" normalizeH="0" baseline="0" dirty="0" smtClean="0">
                          <a:ln>
                            <a:noFill/>
                          </a:ln>
                          <a:solidFill>
                            <a:schemeClr val="tx1"/>
                          </a:solidFill>
                          <a:effectLst/>
                          <a:latin typeface="Tahoma" pitchFamily="34" charset="0"/>
                          <a:ea typeface="宋体" pitchFamily="2" charset="-122"/>
                        </a:rPr>
                        <a:t>0412001</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zh-CN" sz="1800" b="0" i="0" u="none" strike="noStrike" cap="none" normalizeH="0" baseline="0" smtClean="0">
                        <a:ln>
                          <a:noFill/>
                        </a:ln>
                        <a:solidFill>
                          <a:schemeClr val="tx1"/>
                        </a:solidFill>
                        <a:effectLst/>
                        <a:latin typeface="Tahoma" pitchFamily="34" charset="0"/>
                        <a:ea typeface="宋体"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4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0" i="0" u="none" strike="noStrike" cap="none" normalizeH="0" baseline="0" dirty="0" smtClean="0">
                          <a:ln>
                            <a:noFill/>
                          </a:ln>
                          <a:solidFill>
                            <a:schemeClr val="tx1"/>
                          </a:solidFill>
                          <a:effectLst/>
                          <a:latin typeface="Tahoma" pitchFamily="34" charset="0"/>
                          <a:ea typeface="宋体" pitchFamily="2" charset="-122"/>
                        </a:rPr>
                        <a:t>0412102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zh-CN" sz="1800" b="0" i="0" u="none" strike="noStrike" cap="none" normalizeH="0" baseline="0" smtClean="0">
                        <a:ln>
                          <a:noFill/>
                        </a:ln>
                        <a:solidFill>
                          <a:schemeClr val="tx1"/>
                        </a:solidFill>
                        <a:effectLst/>
                        <a:latin typeface="Tahoma" pitchFamily="34" charset="0"/>
                        <a:ea typeface="宋体"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312">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smtClean="0">
                          <a:ln>
                            <a:noFill/>
                          </a:ln>
                          <a:solidFill>
                            <a:schemeClr val="tx1"/>
                          </a:solidFill>
                          <a:effectLst/>
                          <a:latin typeface="Times New Roman"/>
                          <a:ea typeface="宋体" pitchFamily="2" charset="-122"/>
                        </a:rPr>
                        <a:t>……</a:t>
                      </a:r>
                      <a:endParaRPr kumimoji="1" lang="en-US" altLang="zh-CN" sz="1800" b="1" i="0" u="none" strike="noStrike" cap="none" normalizeH="0" baseline="0" smtClean="0">
                        <a:ln>
                          <a:noFill/>
                        </a:ln>
                        <a:solidFill>
                          <a:schemeClr val="tx1"/>
                        </a:solidFill>
                        <a:effectLst/>
                        <a:latin typeface="Tahoma" pitchFamily="34" charset="0"/>
                        <a:ea typeface="宋体"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endParaRPr kumimoji="1" lang="zh-CN" altLang="zh-CN" sz="1800" b="1" i="0" u="none" strike="noStrike" cap="none" normalizeH="0" baseline="0" smtClean="0">
                        <a:ln>
                          <a:noFill/>
                        </a:ln>
                        <a:solidFill>
                          <a:schemeClr val="tx1"/>
                        </a:solidFill>
                        <a:effectLst/>
                        <a:latin typeface="Tahoma" pitchFamily="34" charset="0"/>
                        <a:ea typeface="宋体"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4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800" b="0" i="0" u="none" strike="noStrike" cap="none" normalizeH="0" baseline="0" dirty="0" smtClean="0">
                          <a:ln>
                            <a:noFill/>
                          </a:ln>
                          <a:solidFill>
                            <a:schemeClr val="tx1"/>
                          </a:solidFill>
                          <a:effectLst/>
                          <a:latin typeface="Tahoma" pitchFamily="34" charset="0"/>
                          <a:ea typeface="宋体" pitchFamily="2" charset="-122"/>
                        </a:rPr>
                        <a:t>0421102</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zh-CN" sz="1800" b="0" i="0" u="none" strike="noStrike" cap="none" normalizeH="0" baseline="0" dirty="0" smtClean="0">
                        <a:ln>
                          <a:noFill/>
                        </a:ln>
                        <a:solidFill>
                          <a:schemeClr val="tx1"/>
                        </a:solidFill>
                        <a:effectLst/>
                        <a:latin typeface="Tahoma" pitchFamily="34" charset="0"/>
                        <a:ea typeface="宋体"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312">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1" i="0" u="none" strike="noStrike" cap="none" normalizeH="0" baseline="0" smtClean="0">
                          <a:ln>
                            <a:noFill/>
                          </a:ln>
                          <a:solidFill>
                            <a:schemeClr val="tx1"/>
                          </a:solidFill>
                          <a:effectLst/>
                          <a:latin typeface="Times New Roman"/>
                          <a:ea typeface="宋体" pitchFamily="2" charset="-122"/>
                        </a:rPr>
                        <a:t>……</a:t>
                      </a:r>
                      <a:endParaRPr kumimoji="1" lang="en-US" altLang="zh-CN" sz="1800" b="1" i="0" u="none" strike="noStrike" cap="none" normalizeH="0" baseline="0" smtClean="0">
                        <a:ln>
                          <a:noFill/>
                        </a:ln>
                        <a:solidFill>
                          <a:schemeClr val="tx1"/>
                        </a:solidFill>
                        <a:effectLst/>
                        <a:latin typeface="Tahoma" pitchFamily="34" charset="0"/>
                        <a:ea typeface="宋体"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endParaRPr kumimoji="1" lang="zh-CN" altLang="zh-CN" sz="1800" b="1" i="0" u="none" strike="noStrike" cap="none" normalizeH="0" baseline="0" smtClean="0">
                        <a:ln>
                          <a:noFill/>
                        </a:ln>
                        <a:solidFill>
                          <a:schemeClr val="tx1"/>
                        </a:solidFill>
                        <a:effectLst/>
                        <a:latin typeface="Tahoma" pitchFamily="34" charset="0"/>
                        <a:ea typeface="宋体"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5744">
                <a:tc>
                  <a:txBody>
                    <a:bodyPr/>
                    <a:lstStyle/>
                    <a:p>
                      <a:pPr marL="0" marR="0" lvl="0" indent="0" algn="ctr" defTabSz="914400" rtl="0" eaLnBrk="1" fontAlgn="base" latinLnBrk="0" hangingPunct="1">
                        <a:lnSpc>
                          <a:spcPct val="90000"/>
                        </a:lnSpc>
                        <a:spcBef>
                          <a:spcPct val="0"/>
                        </a:spcBef>
                        <a:spcAft>
                          <a:spcPct val="0"/>
                        </a:spcAft>
                        <a:buClr>
                          <a:schemeClr val="folHlink"/>
                        </a:buClr>
                        <a:buSzPct val="60000"/>
                        <a:buFont typeface="Wingdings" pitchFamily="2" charset="2"/>
                        <a:buNone/>
                        <a:tabLst/>
                      </a:pPr>
                      <a:r>
                        <a:rPr kumimoji="1" lang="en-US" altLang="zh-CN" sz="1800" b="0" i="0" u="none" strike="noStrike" cap="none" normalizeH="0" baseline="0" dirty="0" smtClean="0">
                          <a:ln>
                            <a:noFill/>
                          </a:ln>
                          <a:solidFill>
                            <a:schemeClr val="tx1"/>
                          </a:solidFill>
                          <a:effectLst/>
                          <a:latin typeface="Tahoma" pitchFamily="34" charset="0"/>
                          <a:ea typeface="宋体" pitchFamily="2" charset="-122"/>
                        </a:rPr>
                        <a:t>0431130</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1" lang="zh-CN" altLang="zh-CN" sz="1800" b="0" i="0" u="none" strike="noStrike" cap="none" normalizeH="0" baseline="0" smtClean="0">
                        <a:ln>
                          <a:noFill/>
                        </a:ln>
                        <a:solidFill>
                          <a:schemeClr val="tx1"/>
                        </a:solidFill>
                        <a:effectLst/>
                        <a:latin typeface="Tahoma" pitchFamily="34" charset="0"/>
                        <a:ea typeface="宋体" pitchFamily="2" charset="-122"/>
                      </a:endParaRP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6698" name="Text Box 239"/>
          <p:cNvSpPr txBox="1">
            <a:spLocks noChangeArrowheads="1"/>
          </p:cNvSpPr>
          <p:nvPr/>
        </p:nvSpPr>
        <p:spPr bwMode="auto">
          <a:xfrm>
            <a:off x="5292725" y="4805363"/>
            <a:ext cx="23764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spcBef>
                <a:spcPct val="50000"/>
              </a:spcBef>
            </a:pPr>
            <a:r>
              <a:rPr lang="en-US" altLang="zh-CN" sz="2000">
                <a:latin typeface="Arial" charset="0"/>
                <a:ea typeface="黑体" pitchFamily="49" charset="-122"/>
              </a:rPr>
              <a:t>Student</a:t>
            </a:r>
            <a:r>
              <a:rPr lang="zh-CN" altLang="en-US" sz="2000">
                <a:latin typeface="Arial" charset="0"/>
                <a:ea typeface="黑体" pitchFamily="49" charset="-122"/>
              </a:rPr>
              <a:t>表</a:t>
            </a:r>
          </a:p>
        </p:txBody>
      </p:sp>
      <p:sp>
        <p:nvSpPr>
          <p:cNvPr id="26699" name="Text Box 240"/>
          <p:cNvSpPr txBox="1">
            <a:spLocks noChangeArrowheads="1"/>
          </p:cNvSpPr>
          <p:nvPr/>
        </p:nvSpPr>
        <p:spPr bwMode="auto">
          <a:xfrm>
            <a:off x="1116013" y="5092700"/>
            <a:ext cx="17287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spcBef>
                <a:spcPct val="50000"/>
              </a:spcBef>
            </a:pPr>
            <a:r>
              <a:rPr lang="en-US" altLang="zh-CN" sz="1800">
                <a:latin typeface="Arial" charset="0"/>
                <a:ea typeface="黑体" pitchFamily="49" charset="-122"/>
              </a:rPr>
              <a:t>Student</a:t>
            </a:r>
            <a:r>
              <a:rPr lang="zh-CN" altLang="en-US" sz="1800">
                <a:latin typeface="Arial" charset="0"/>
                <a:ea typeface="黑体" pitchFamily="49" charset="-122"/>
              </a:rPr>
              <a:t>索引表</a:t>
            </a:r>
          </a:p>
        </p:txBody>
      </p:sp>
      <p:grpSp>
        <p:nvGrpSpPr>
          <p:cNvPr id="26700" name="组合 9"/>
          <p:cNvGrpSpPr>
            <a:grpSpLocks/>
          </p:cNvGrpSpPr>
          <p:nvPr/>
        </p:nvGrpSpPr>
        <p:grpSpPr bwMode="auto">
          <a:xfrm>
            <a:off x="2989263" y="2644775"/>
            <a:ext cx="1150937" cy="431800"/>
            <a:chOff x="3491880" y="2996952"/>
            <a:chExt cx="1152128" cy="432048"/>
          </a:xfrm>
        </p:grpSpPr>
        <p:cxnSp>
          <p:nvCxnSpPr>
            <p:cNvPr id="26713" name="直接连接符 2"/>
            <p:cNvCxnSpPr>
              <a:cxnSpLocks noChangeShapeType="1"/>
            </p:cNvCxnSpPr>
            <p:nvPr/>
          </p:nvCxnSpPr>
          <p:spPr bwMode="auto">
            <a:xfrm>
              <a:off x="3491880" y="3429000"/>
              <a:ext cx="720080" cy="0"/>
            </a:xfrm>
            <a:prstGeom prst="line">
              <a:avLst/>
            </a:prstGeom>
            <a:noFill/>
            <a:ln w="15875" algn="ctr">
              <a:solidFill>
                <a:schemeClr val="tx1"/>
              </a:solidFill>
              <a:round/>
              <a:headEnd/>
              <a:tailEnd/>
            </a:ln>
            <a:extLst>
              <a:ext uri="{909E8E84-426E-40DD-AFC4-6F175D3DCCD1}">
                <a14:hiddenFill xmlns:a14="http://schemas.microsoft.com/office/drawing/2010/main">
                  <a:noFill/>
                </a14:hiddenFill>
              </a:ext>
            </a:extLst>
          </p:spPr>
        </p:cxnSp>
        <p:cxnSp>
          <p:nvCxnSpPr>
            <p:cNvPr id="26714" name="直接连接符 4"/>
            <p:cNvCxnSpPr>
              <a:cxnSpLocks noChangeShapeType="1"/>
            </p:cNvCxnSpPr>
            <p:nvPr/>
          </p:nvCxnSpPr>
          <p:spPr bwMode="auto">
            <a:xfrm>
              <a:off x="4211960" y="2996952"/>
              <a:ext cx="0" cy="432048"/>
            </a:xfrm>
            <a:prstGeom prst="line">
              <a:avLst/>
            </a:prstGeom>
            <a:noFill/>
            <a:ln w="15875" algn="ctr">
              <a:solidFill>
                <a:schemeClr val="tx1"/>
              </a:solidFill>
              <a:round/>
              <a:headEnd/>
              <a:tailEnd/>
            </a:ln>
            <a:extLst>
              <a:ext uri="{909E8E84-426E-40DD-AFC4-6F175D3DCCD1}">
                <a14:hiddenFill xmlns:a14="http://schemas.microsoft.com/office/drawing/2010/main">
                  <a:noFill/>
                </a14:hiddenFill>
              </a:ext>
            </a:extLst>
          </p:spPr>
        </p:cxnSp>
        <p:cxnSp>
          <p:nvCxnSpPr>
            <p:cNvPr id="26715" name="直接箭头连接符 7"/>
            <p:cNvCxnSpPr>
              <a:cxnSpLocks noChangeShapeType="1"/>
            </p:cNvCxnSpPr>
            <p:nvPr/>
          </p:nvCxnSpPr>
          <p:spPr bwMode="auto">
            <a:xfrm>
              <a:off x="4211960" y="2996952"/>
              <a:ext cx="432048" cy="0"/>
            </a:xfrm>
            <a:prstGeom prst="straightConnector1">
              <a:avLst/>
            </a:prstGeom>
            <a:noFill/>
            <a:ln w="15875" algn="ctr">
              <a:solidFill>
                <a:schemeClr val="tx1"/>
              </a:solidFill>
              <a:round/>
              <a:headEnd/>
              <a:tailEnd type="arrow" w="med" len="med"/>
            </a:ln>
            <a:extLst>
              <a:ext uri="{909E8E84-426E-40DD-AFC4-6F175D3DCCD1}">
                <a14:hiddenFill xmlns:a14="http://schemas.microsoft.com/office/drawing/2010/main">
                  <a:noFill/>
                </a14:hiddenFill>
              </a:ext>
            </a:extLst>
          </p:spPr>
        </p:cxnSp>
      </p:grpSp>
      <p:grpSp>
        <p:nvGrpSpPr>
          <p:cNvPr id="26701" name="组合 29"/>
          <p:cNvGrpSpPr>
            <a:grpSpLocks/>
          </p:cNvGrpSpPr>
          <p:nvPr/>
        </p:nvGrpSpPr>
        <p:grpSpPr bwMode="auto">
          <a:xfrm>
            <a:off x="2989263" y="3436938"/>
            <a:ext cx="1150937" cy="576262"/>
            <a:chOff x="3491880" y="3789040"/>
            <a:chExt cx="1152128" cy="576064"/>
          </a:xfrm>
        </p:grpSpPr>
        <p:cxnSp>
          <p:nvCxnSpPr>
            <p:cNvPr id="26710" name="直接连接符 11"/>
            <p:cNvCxnSpPr>
              <a:cxnSpLocks noChangeShapeType="1"/>
            </p:cNvCxnSpPr>
            <p:nvPr/>
          </p:nvCxnSpPr>
          <p:spPr bwMode="auto">
            <a:xfrm>
              <a:off x="3491880" y="3789040"/>
              <a:ext cx="720080" cy="0"/>
            </a:xfrm>
            <a:prstGeom prst="line">
              <a:avLst/>
            </a:prstGeom>
            <a:noFill/>
            <a:ln w="15875" algn="ctr">
              <a:solidFill>
                <a:schemeClr val="tx1"/>
              </a:solidFill>
              <a:round/>
              <a:headEnd/>
              <a:tailEnd/>
            </a:ln>
            <a:extLst>
              <a:ext uri="{909E8E84-426E-40DD-AFC4-6F175D3DCCD1}">
                <a14:hiddenFill xmlns:a14="http://schemas.microsoft.com/office/drawing/2010/main">
                  <a:noFill/>
                </a14:hiddenFill>
              </a:ext>
            </a:extLst>
          </p:spPr>
        </p:cxnSp>
        <p:cxnSp>
          <p:nvCxnSpPr>
            <p:cNvPr id="26711" name="直接连接符 13"/>
            <p:cNvCxnSpPr>
              <a:cxnSpLocks noChangeShapeType="1"/>
            </p:cNvCxnSpPr>
            <p:nvPr/>
          </p:nvCxnSpPr>
          <p:spPr bwMode="auto">
            <a:xfrm>
              <a:off x="4211960" y="3789040"/>
              <a:ext cx="0" cy="576064"/>
            </a:xfrm>
            <a:prstGeom prst="line">
              <a:avLst/>
            </a:prstGeom>
            <a:noFill/>
            <a:ln w="15875" algn="ctr">
              <a:solidFill>
                <a:schemeClr val="tx1"/>
              </a:solidFill>
              <a:round/>
              <a:headEnd/>
              <a:tailEnd/>
            </a:ln>
            <a:extLst>
              <a:ext uri="{909E8E84-426E-40DD-AFC4-6F175D3DCCD1}">
                <a14:hiddenFill xmlns:a14="http://schemas.microsoft.com/office/drawing/2010/main">
                  <a:noFill/>
                </a14:hiddenFill>
              </a:ext>
            </a:extLst>
          </p:spPr>
        </p:cxnSp>
        <p:cxnSp>
          <p:nvCxnSpPr>
            <p:cNvPr id="26712" name="直接箭头连接符 15"/>
            <p:cNvCxnSpPr>
              <a:cxnSpLocks noChangeShapeType="1"/>
            </p:cNvCxnSpPr>
            <p:nvPr/>
          </p:nvCxnSpPr>
          <p:spPr bwMode="auto">
            <a:xfrm>
              <a:off x="4211960" y="4365104"/>
              <a:ext cx="432048" cy="0"/>
            </a:xfrm>
            <a:prstGeom prst="straightConnector1">
              <a:avLst/>
            </a:prstGeom>
            <a:noFill/>
            <a:ln w="15875" algn="ctr">
              <a:solidFill>
                <a:schemeClr val="tx1"/>
              </a:solidFill>
              <a:round/>
              <a:headEnd/>
              <a:tailEnd type="arrow" w="med" len="med"/>
            </a:ln>
            <a:extLst>
              <a:ext uri="{909E8E84-426E-40DD-AFC4-6F175D3DCCD1}">
                <a14:hiddenFill xmlns:a14="http://schemas.microsoft.com/office/drawing/2010/main">
                  <a:noFill/>
                </a14:hiddenFill>
              </a:ext>
            </a:extLst>
          </p:spPr>
        </p:cxnSp>
      </p:grpSp>
      <p:grpSp>
        <p:nvGrpSpPr>
          <p:cNvPr id="26702" name="组合 27"/>
          <p:cNvGrpSpPr>
            <a:grpSpLocks/>
          </p:cNvGrpSpPr>
          <p:nvPr/>
        </p:nvGrpSpPr>
        <p:grpSpPr bwMode="auto">
          <a:xfrm>
            <a:off x="2989263" y="3584575"/>
            <a:ext cx="1150937" cy="581025"/>
            <a:chOff x="3491880" y="3937744"/>
            <a:chExt cx="1152128" cy="579760"/>
          </a:xfrm>
        </p:grpSpPr>
        <p:cxnSp>
          <p:nvCxnSpPr>
            <p:cNvPr id="26707" name="直接连接符 22"/>
            <p:cNvCxnSpPr>
              <a:cxnSpLocks noChangeShapeType="1"/>
            </p:cNvCxnSpPr>
            <p:nvPr/>
          </p:nvCxnSpPr>
          <p:spPr bwMode="auto">
            <a:xfrm>
              <a:off x="3491880" y="4509120"/>
              <a:ext cx="864096" cy="0"/>
            </a:xfrm>
            <a:prstGeom prst="line">
              <a:avLst/>
            </a:prstGeom>
            <a:noFill/>
            <a:ln w="15875" algn="ctr">
              <a:solidFill>
                <a:schemeClr val="tx1"/>
              </a:solidFill>
              <a:round/>
              <a:headEnd/>
              <a:tailEnd/>
            </a:ln>
            <a:extLst>
              <a:ext uri="{909E8E84-426E-40DD-AFC4-6F175D3DCCD1}">
                <a14:hiddenFill xmlns:a14="http://schemas.microsoft.com/office/drawing/2010/main">
                  <a:noFill/>
                </a14:hiddenFill>
              </a:ext>
            </a:extLst>
          </p:spPr>
        </p:cxnSp>
        <p:cxnSp>
          <p:nvCxnSpPr>
            <p:cNvPr id="26708" name="直接连接符 24"/>
            <p:cNvCxnSpPr>
              <a:cxnSpLocks noChangeShapeType="1"/>
            </p:cNvCxnSpPr>
            <p:nvPr/>
          </p:nvCxnSpPr>
          <p:spPr bwMode="auto">
            <a:xfrm>
              <a:off x="4359280" y="3941440"/>
              <a:ext cx="0" cy="576064"/>
            </a:xfrm>
            <a:prstGeom prst="line">
              <a:avLst/>
            </a:prstGeom>
            <a:noFill/>
            <a:ln w="15875" algn="ctr">
              <a:solidFill>
                <a:schemeClr val="tx1"/>
              </a:solidFill>
              <a:round/>
              <a:headEnd/>
              <a:tailEnd/>
            </a:ln>
            <a:extLst>
              <a:ext uri="{909E8E84-426E-40DD-AFC4-6F175D3DCCD1}">
                <a14:hiddenFill xmlns:a14="http://schemas.microsoft.com/office/drawing/2010/main">
                  <a:noFill/>
                </a14:hiddenFill>
              </a:ext>
            </a:extLst>
          </p:spPr>
        </p:cxnSp>
        <p:cxnSp>
          <p:nvCxnSpPr>
            <p:cNvPr id="26709" name="直接箭头连接符 26"/>
            <p:cNvCxnSpPr>
              <a:cxnSpLocks noChangeShapeType="1"/>
            </p:cNvCxnSpPr>
            <p:nvPr/>
          </p:nvCxnSpPr>
          <p:spPr bwMode="auto">
            <a:xfrm>
              <a:off x="4355976" y="3937744"/>
              <a:ext cx="288032" cy="3696"/>
            </a:xfrm>
            <a:prstGeom prst="straightConnector1">
              <a:avLst/>
            </a:prstGeom>
            <a:noFill/>
            <a:ln w="15875" algn="ctr">
              <a:solidFill>
                <a:schemeClr val="tx1"/>
              </a:solidFill>
              <a:round/>
              <a:headEnd/>
              <a:tailEnd type="arrow" w="med" len="med"/>
            </a:ln>
            <a:extLst>
              <a:ext uri="{909E8E84-426E-40DD-AFC4-6F175D3DCCD1}">
                <a14:hiddenFill xmlns:a14="http://schemas.microsoft.com/office/drawing/2010/main">
                  <a:noFill/>
                </a14:hiddenFill>
              </a:ext>
            </a:extLst>
          </p:spPr>
        </p:cxnSp>
      </p:grpSp>
      <p:grpSp>
        <p:nvGrpSpPr>
          <p:cNvPr id="26703" name="组合 25"/>
          <p:cNvGrpSpPr>
            <a:grpSpLocks/>
          </p:cNvGrpSpPr>
          <p:nvPr/>
        </p:nvGrpSpPr>
        <p:grpSpPr bwMode="auto">
          <a:xfrm>
            <a:off x="2989263" y="3148013"/>
            <a:ext cx="1150937" cy="1728787"/>
            <a:chOff x="3491880" y="3501008"/>
            <a:chExt cx="1151558" cy="1728192"/>
          </a:xfrm>
        </p:grpSpPr>
        <p:cxnSp>
          <p:nvCxnSpPr>
            <p:cNvPr id="26704" name="直接连接符 28"/>
            <p:cNvCxnSpPr>
              <a:cxnSpLocks noChangeShapeType="1"/>
            </p:cNvCxnSpPr>
            <p:nvPr/>
          </p:nvCxnSpPr>
          <p:spPr bwMode="auto">
            <a:xfrm>
              <a:off x="3491880" y="5229200"/>
              <a:ext cx="576064" cy="0"/>
            </a:xfrm>
            <a:prstGeom prst="line">
              <a:avLst/>
            </a:prstGeom>
            <a:noFill/>
            <a:ln w="15875" algn="ctr">
              <a:solidFill>
                <a:schemeClr val="tx1"/>
              </a:solidFill>
              <a:round/>
              <a:headEnd/>
              <a:tailEnd/>
            </a:ln>
            <a:extLst>
              <a:ext uri="{909E8E84-426E-40DD-AFC4-6F175D3DCCD1}">
                <a14:hiddenFill xmlns:a14="http://schemas.microsoft.com/office/drawing/2010/main">
                  <a:noFill/>
                </a14:hiddenFill>
              </a:ext>
            </a:extLst>
          </p:spPr>
        </p:cxnSp>
        <p:cxnSp>
          <p:nvCxnSpPr>
            <p:cNvPr id="26705" name="直接连接符 30"/>
            <p:cNvCxnSpPr>
              <a:cxnSpLocks noChangeShapeType="1"/>
            </p:cNvCxnSpPr>
            <p:nvPr/>
          </p:nvCxnSpPr>
          <p:spPr bwMode="auto">
            <a:xfrm>
              <a:off x="4067944" y="3501008"/>
              <a:ext cx="0" cy="1722616"/>
            </a:xfrm>
            <a:prstGeom prst="line">
              <a:avLst/>
            </a:prstGeom>
            <a:noFill/>
            <a:ln w="15875" algn="ctr">
              <a:solidFill>
                <a:schemeClr val="tx1"/>
              </a:solidFill>
              <a:round/>
              <a:headEnd/>
              <a:tailEnd/>
            </a:ln>
            <a:extLst>
              <a:ext uri="{909E8E84-426E-40DD-AFC4-6F175D3DCCD1}">
                <a14:hiddenFill xmlns:a14="http://schemas.microsoft.com/office/drawing/2010/main">
                  <a:noFill/>
                </a14:hiddenFill>
              </a:ext>
            </a:extLst>
          </p:spPr>
        </p:cxnSp>
        <p:cxnSp>
          <p:nvCxnSpPr>
            <p:cNvPr id="26706" name="直接箭头连接符 33"/>
            <p:cNvCxnSpPr>
              <a:cxnSpLocks noChangeShapeType="1"/>
            </p:cNvCxnSpPr>
            <p:nvPr/>
          </p:nvCxnSpPr>
          <p:spPr bwMode="auto">
            <a:xfrm flipV="1">
              <a:off x="4067944" y="3501073"/>
              <a:ext cx="575494" cy="0"/>
            </a:xfrm>
            <a:prstGeom prst="straightConnector1">
              <a:avLst/>
            </a:prstGeom>
            <a:noFill/>
            <a:ln w="15875" algn="ctr">
              <a:solidFill>
                <a:schemeClr val="tx1"/>
              </a:solidFill>
              <a:round/>
              <a:headEnd/>
              <a:tailEnd type="arrow" w="med" len="med"/>
            </a:ln>
            <a:extLst>
              <a:ext uri="{909E8E84-426E-40DD-AFC4-6F175D3DCCD1}">
                <a14:hiddenFill xmlns:a14="http://schemas.microsoft.com/office/drawing/2010/main">
                  <a:noFill/>
                </a14:hiddenFill>
              </a:ext>
            </a:extLst>
          </p:spPr>
        </p:cxnSp>
      </p:gr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539750" y="1125538"/>
            <a:ext cx="7777163" cy="4679950"/>
          </a:xfrm>
        </p:spPr>
        <p:txBody>
          <a:bodyPr/>
          <a:lstStyle/>
          <a:p>
            <a:pPr eaLnBrk="1" hangingPunct="1">
              <a:lnSpc>
                <a:spcPct val="130000"/>
              </a:lnSpc>
            </a:pPr>
            <a:r>
              <a:rPr lang="zh-CN" altLang="en-US" smtClean="0">
                <a:ea typeface="黑体" pitchFamily="49" charset="-122"/>
              </a:rPr>
              <a:t>建立索引的考虑</a:t>
            </a:r>
            <a:endParaRPr lang="zh-CN" altLang="en-US" sz="2800" smtClean="0">
              <a:latin typeface="黑体" pitchFamily="49" charset="-122"/>
              <a:ea typeface="黑体" pitchFamily="49" charset="-122"/>
            </a:endParaRPr>
          </a:p>
          <a:p>
            <a:pPr lvl="1" eaLnBrk="1" hangingPunct="1">
              <a:lnSpc>
                <a:spcPct val="130000"/>
              </a:lnSpc>
            </a:pPr>
            <a:r>
              <a:rPr lang="zh-CN" altLang="en-US" sz="2600" smtClean="0">
                <a:latin typeface="黑体" pitchFamily="49" charset="-122"/>
                <a:ea typeface="黑体" pitchFamily="49" charset="-122"/>
              </a:rPr>
              <a:t>索引为性能所带来的好处是有代价的，因为索引在数据库中会占用一定的存储空间。</a:t>
            </a:r>
          </a:p>
          <a:p>
            <a:pPr lvl="1" eaLnBrk="1" hangingPunct="1">
              <a:lnSpc>
                <a:spcPct val="130000"/>
              </a:lnSpc>
            </a:pPr>
            <a:r>
              <a:rPr lang="zh-CN" altLang="en-US" sz="2600" smtClean="0">
                <a:latin typeface="黑体" pitchFamily="49" charset="-122"/>
                <a:ea typeface="黑体" pitchFamily="49" charset="-122"/>
              </a:rPr>
              <a:t>在对数据进行插入、更改和删除操作时，需要对索引进行维护，这需要花费额外的时间。</a:t>
            </a:r>
          </a:p>
          <a:p>
            <a:pPr lvl="1" eaLnBrk="1" hangingPunct="1">
              <a:lnSpc>
                <a:spcPct val="130000"/>
              </a:lnSpc>
            </a:pPr>
            <a:r>
              <a:rPr lang="zh-CN" altLang="en-US" sz="2600" smtClean="0">
                <a:latin typeface="黑体" pitchFamily="49" charset="-122"/>
                <a:ea typeface="黑体" pitchFamily="49" charset="-122"/>
              </a:rPr>
              <a:t>在设计和创建索引时，应确保对性能的提高程度大于在存储空间和处理资源方面的代价。 </a:t>
            </a:r>
          </a:p>
        </p:txBody>
      </p:sp>
      <p:sp>
        <p:nvSpPr>
          <p:cNvPr id="27651" name="Rectangle 2"/>
          <p:cNvSpPr>
            <a:spLocks noGrp="1" noChangeArrowheads="1"/>
          </p:cNvSpPr>
          <p:nvPr>
            <p:ph type="title"/>
          </p:nvPr>
        </p:nvSpPr>
        <p:spPr>
          <a:xfrm>
            <a:off x="1116013" y="115888"/>
            <a:ext cx="7361237" cy="865187"/>
          </a:xfrm>
        </p:spPr>
        <p:txBody>
          <a:bodyPr/>
          <a:lstStyle/>
          <a:p>
            <a:pPr eaLnBrk="1" hangingPunct="1"/>
            <a:r>
              <a:rPr lang="en-US" altLang="zh-CN" smtClean="0">
                <a:latin typeface="黑体" pitchFamily="49" charset="-122"/>
              </a:rPr>
              <a:t>3.3 SQL</a:t>
            </a:r>
            <a:r>
              <a:rPr lang="zh-CN" altLang="en-US" smtClean="0">
                <a:latin typeface="黑体" pitchFamily="49" charset="-122"/>
              </a:rPr>
              <a:t>数据定义</a:t>
            </a:r>
            <a:endParaRPr lang="zh-CN" altLang="en-US" smtClean="0"/>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noChangeArrowheads="1"/>
          </p:cNvSpPr>
          <p:nvPr>
            <p:ph type="body" idx="1"/>
          </p:nvPr>
        </p:nvSpPr>
        <p:spPr>
          <a:xfrm>
            <a:off x="539750" y="1557338"/>
            <a:ext cx="7772400" cy="4114800"/>
          </a:xfrm>
        </p:spPr>
        <p:txBody>
          <a:bodyPr/>
          <a:lstStyle/>
          <a:p>
            <a:pPr eaLnBrk="1" hangingPunct="1">
              <a:lnSpc>
                <a:spcPct val="120000"/>
              </a:lnSpc>
            </a:pPr>
            <a:r>
              <a:rPr lang="zh-CN" altLang="en-US" sz="2800" smtClean="0">
                <a:ea typeface="黑体" pitchFamily="49" charset="-122"/>
              </a:rPr>
              <a:t>创建索引的方法可以分为</a:t>
            </a:r>
            <a:r>
              <a:rPr lang="zh-CN" altLang="en-US" sz="2800" smtClean="0">
                <a:solidFill>
                  <a:srgbClr val="FF0000"/>
                </a:solidFill>
                <a:ea typeface="黑体" pitchFamily="49" charset="-122"/>
              </a:rPr>
              <a:t>直接方法</a:t>
            </a:r>
            <a:r>
              <a:rPr lang="zh-CN" altLang="en-US" sz="2800" smtClean="0">
                <a:ea typeface="黑体" pitchFamily="49" charset="-122"/>
              </a:rPr>
              <a:t>和</a:t>
            </a:r>
            <a:r>
              <a:rPr lang="zh-CN" altLang="en-US" sz="2800" smtClean="0">
                <a:solidFill>
                  <a:srgbClr val="FF0000"/>
                </a:solidFill>
                <a:ea typeface="黑体" pitchFamily="49" charset="-122"/>
              </a:rPr>
              <a:t>间接方法</a:t>
            </a:r>
          </a:p>
          <a:p>
            <a:pPr eaLnBrk="1" hangingPunct="1">
              <a:lnSpc>
                <a:spcPct val="120000"/>
              </a:lnSpc>
            </a:pPr>
            <a:r>
              <a:rPr lang="zh-CN" altLang="en-US" sz="2800" smtClean="0">
                <a:ea typeface="黑体" pitchFamily="49" charset="-122"/>
              </a:rPr>
              <a:t>直接创建索引的方法就是使用</a:t>
            </a:r>
            <a:r>
              <a:rPr lang="en-US" altLang="zh-CN" sz="2800" smtClean="0">
                <a:ea typeface="黑体" pitchFamily="49" charset="-122"/>
              </a:rPr>
              <a:t>CREATE INDEX</a:t>
            </a:r>
            <a:r>
              <a:rPr lang="zh-CN" altLang="en-US" sz="2800" smtClean="0">
                <a:ea typeface="黑体" pitchFamily="49" charset="-122"/>
              </a:rPr>
              <a:t>语句直接创建</a:t>
            </a:r>
          </a:p>
          <a:p>
            <a:pPr eaLnBrk="1" hangingPunct="1">
              <a:lnSpc>
                <a:spcPct val="120000"/>
              </a:lnSpc>
            </a:pPr>
            <a:r>
              <a:rPr lang="zh-CN" altLang="en-US" sz="2800" smtClean="0">
                <a:ea typeface="黑体" pitchFamily="49" charset="-122"/>
              </a:rPr>
              <a:t>间接创建索引就是通过创建其他对象而附加创建了索引，例如在表中定义</a:t>
            </a:r>
            <a:r>
              <a:rPr lang="zh-CN" altLang="en-US" sz="2800" smtClean="0">
                <a:solidFill>
                  <a:srgbClr val="FF0000"/>
                </a:solidFill>
                <a:ea typeface="黑体" pitchFamily="49" charset="-122"/>
              </a:rPr>
              <a:t>主键约束</a:t>
            </a:r>
            <a:r>
              <a:rPr lang="zh-CN" altLang="en-US" sz="2800" smtClean="0">
                <a:ea typeface="黑体" pitchFamily="49" charset="-122"/>
              </a:rPr>
              <a:t>或</a:t>
            </a:r>
            <a:r>
              <a:rPr lang="zh-CN" altLang="en-US" sz="2800" smtClean="0">
                <a:solidFill>
                  <a:srgbClr val="FF0000"/>
                </a:solidFill>
                <a:ea typeface="黑体" pitchFamily="49" charset="-122"/>
              </a:rPr>
              <a:t>唯一约束</a:t>
            </a:r>
            <a:r>
              <a:rPr lang="zh-CN" altLang="en-US" sz="2800" smtClean="0">
                <a:ea typeface="黑体" pitchFamily="49" charset="-122"/>
              </a:rPr>
              <a:t>时，同时也创建了索引。</a:t>
            </a:r>
          </a:p>
        </p:txBody>
      </p:sp>
      <p:sp>
        <p:nvSpPr>
          <p:cNvPr id="28675" name="Rectangle 2"/>
          <p:cNvSpPr>
            <a:spLocks noGrp="1" noChangeArrowheads="1"/>
          </p:cNvSpPr>
          <p:nvPr>
            <p:ph type="title"/>
          </p:nvPr>
        </p:nvSpPr>
        <p:spPr>
          <a:xfrm>
            <a:off x="900113" y="188913"/>
            <a:ext cx="6892925" cy="782637"/>
          </a:xfrm>
        </p:spPr>
        <p:txBody>
          <a:bodyPr/>
          <a:lstStyle/>
          <a:p>
            <a:pPr eaLnBrk="1" hangingPunct="1"/>
            <a:r>
              <a:rPr lang="en-US" altLang="zh-CN" smtClean="0">
                <a:latin typeface="黑体" pitchFamily="49" charset="-122"/>
              </a:rPr>
              <a:t>3.3 SQL</a:t>
            </a:r>
            <a:r>
              <a:rPr lang="zh-CN" altLang="en-US" smtClean="0">
                <a:latin typeface="黑体" pitchFamily="49" charset="-122"/>
              </a:rPr>
              <a:t>数据定义</a:t>
            </a:r>
            <a:endParaRPr lang="zh-CN" altLang="en-US" smtClean="0"/>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395288" y="981075"/>
            <a:ext cx="7793037" cy="633413"/>
          </a:xfrm>
        </p:spPr>
        <p:txBody>
          <a:bodyPr/>
          <a:lstStyle/>
          <a:p>
            <a:pPr eaLnBrk="1" hangingPunct="1"/>
            <a:r>
              <a:rPr lang="zh-CN" altLang="en-US" sz="2800" smtClean="0">
                <a:solidFill>
                  <a:schemeClr val="tx1"/>
                </a:solidFill>
                <a:latin typeface="黑体" pitchFamily="49" charset="-122"/>
              </a:rPr>
              <a:t>一、建立索引</a:t>
            </a:r>
            <a:r>
              <a:rPr lang="zh-CN" altLang="en-US" sz="2800" smtClean="0">
                <a:latin typeface="黑体" pitchFamily="49" charset="-122"/>
              </a:rPr>
              <a:t> </a:t>
            </a:r>
          </a:p>
        </p:txBody>
      </p:sp>
      <p:sp>
        <p:nvSpPr>
          <p:cNvPr id="29699" name="Rectangle 3"/>
          <p:cNvSpPr>
            <a:spLocks noGrp="1" noChangeArrowheads="1"/>
          </p:cNvSpPr>
          <p:nvPr>
            <p:ph type="body" idx="1"/>
          </p:nvPr>
        </p:nvSpPr>
        <p:spPr>
          <a:xfrm>
            <a:off x="468313" y="1628775"/>
            <a:ext cx="8208962" cy="4752975"/>
          </a:xfrm>
        </p:spPr>
        <p:txBody>
          <a:bodyPr/>
          <a:lstStyle/>
          <a:p>
            <a:pPr algn="just" eaLnBrk="1" hangingPunct="1">
              <a:lnSpc>
                <a:spcPts val="2800"/>
              </a:lnSpc>
            </a:pPr>
            <a:r>
              <a:rPr lang="zh-CN" altLang="en-US" sz="2400" smtClean="0">
                <a:latin typeface="黑体" pitchFamily="49" charset="-122"/>
                <a:ea typeface="黑体" pitchFamily="49" charset="-122"/>
              </a:rPr>
              <a:t>语句格式</a:t>
            </a:r>
          </a:p>
          <a:p>
            <a:pPr lvl="1" algn="just" eaLnBrk="1" hangingPunct="1">
              <a:lnSpc>
                <a:spcPts val="2800"/>
              </a:lnSpc>
              <a:buFont typeface="Wingdings" pitchFamily="2" charset="2"/>
              <a:buNone/>
            </a:pPr>
            <a:r>
              <a:rPr lang="en-US" altLang="zh-CN" sz="2400" smtClean="0">
                <a:latin typeface="黑体" pitchFamily="49" charset="-122"/>
                <a:ea typeface="黑体" pitchFamily="49" charset="-122"/>
              </a:rPr>
              <a:t>CREATE </a:t>
            </a:r>
            <a:r>
              <a:rPr lang="en-US" altLang="zh-CN" sz="2200" smtClean="0">
                <a:solidFill>
                  <a:srgbClr val="FF0000"/>
                </a:solidFill>
                <a:latin typeface="黑体" pitchFamily="49" charset="-122"/>
                <a:ea typeface="黑体" pitchFamily="49" charset="-122"/>
              </a:rPr>
              <a:t>[UNIQUE|BITMAP]</a:t>
            </a:r>
            <a:r>
              <a:rPr lang="en-US" altLang="zh-CN" sz="2400" smtClean="0">
                <a:solidFill>
                  <a:srgbClr val="FF0000"/>
                </a:solidFill>
                <a:latin typeface="黑体" pitchFamily="49" charset="-122"/>
                <a:ea typeface="黑体" pitchFamily="49" charset="-122"/>
              </a:rPr>
              <a:t> </a:t>
            </a:r>
            <a:r>
              <a:rPr lang="en-US" altLang="zh-CN" sz="2400" smtClean="0">
                <a:latin typeface="黑体" pitchFamily="49" charset="-122"/>
                <a:ea typeface="黑体" pitchFamily="49" charset="-122"/>
              </a:rPr>
              <a:t>INDEX &lt;</a:t>
            </a:r>
            <a:r>
              <a:rPr lang="zh-CN" altLang="en-US" sz="2400" smtClean="0">
                <a:latin typeface="黑体" pitchFamily="49" charset="-122"/>
                <a:ea typeface="黑体" pitchFamily="49" charset="-122"/>
              </a:rPr>
              <a:t>索引名</a:t>
            </a:r>
            <a:r>
              <a:rPr lang="en-US" altLang="zh-CN" sz="2400" smtClean="0">
                <a:latin typeface="黑体" pitchFamily="49" charset="-122"/>
                <a:ea typeface="黑体" pitchFamily="49" charset="-122"/>
              </a:rPr>
              <a:t>&gt;    </a:t>
            </a:r>
          </a:p>
          <a:p>
            <a:pPr lvl="1" algn="just" eaLnBrk="1" hangingPunct="1">
              <a:lnSpc>
                <a:spcPts val="2800"/>
              </a:lnSpc>
              <a:buFont typeface="Wingdings" pitchFamily="2" charset="2"/>
              <a:buNone/>
            </a:pPr>
            <a:r>
              <a:rPr lang="en-US" altLang="zh-CN" sz="2400" smtClean="0">
                <a:latin typeface="黑体" pitchFamily="49" charset="-122"/>
                <a:ea typeface="黑体" pitchFamily="49" charset="-122"/>
              </a:rPr>
              <a:t>ON &lt;</a:t>
            </a:r>
            <a:r>
              <a:rPr lang="zh-CN" altLang="en-US" sz="2400" smtClean="0">
                <a:latin typeface="黑体" pitchFamily="49" charset="-122"/>
                <a:ea typeface="黑体" pitchFamily="49" charset="-122"/>
              </a:rPr>
              <a:t>表名</a:t>
            </a:r>
            <a:r>
              <a:rPr lang="en-US" altLang="zh-CN" sz="2400" smtClean="0">
                <a:latin typeface="黑体" pitchFamily="49" charset="-122"/>
                <a:ea typeface="黑体" pitchFamily="49" charset="-122"/>
              </a:rPr>
              <a:t>&gt;(&lt;</a:t>
            </a:r>
            <a:r>
              <a:rPr lang="zh-CN" altLang="en-US" sz="2400" smtClean="0">
                <a:latin typeface="黑体" pitchFamily="49" charset="-122"/>
                <a:ea typeface="黑体" pitchFamily="49" charset="-122"/>
              </a:rPr>
              <a:t>列名</a:t>
            </a:r>
            <a:r>
              <a:rPr lang="en-US" altLang="zh-CN" sz="2400" smtClean="0">
                <a:latin typeface="黑体" pitchFamily="49" charset="-122"/>
                <a:ea typeface="黑体" pitchFamily="49" charset="-122"/>
              </a:rPr>
              <a:t>&gt;[&lt;</a:t>
            </a:r>
            <a:r>
              <a:rPr lang="zh-CN" altLang="en-US" sz="2400" smtClean="0">
                <a:latin typeface="黑体" pitchFamily="49" charset="-122"/>
                <a:ea typeface="黑体" pitchFamily="49" charset="-122"/>
              </a:rPr>
              <a:t>次序</a:t>
            </a:r>
            <a:r>
              <a:rPr lang="en-US" altLang="zh-CN" sz="2400" smtClean="0">
                <a:latin typeface="黑体" pitchFamily="49" charset="-122"/>
                <a:ea typeface="黑体" pitchFamily="49" charset="-122"/>
              </a:rPr>
              <a:t>&gt;][,&lt;</a:t>
            </a:r>
            <a:r>
              <a:rPr lang="zh-CN" altLang="en-US" sz="2400" smtClean="0">
                <a:latin typeface="黑体" pitchFamily="49" charset="-122"/>
                <a:ea typeface="黑体" pitchFamily="49" charset="-122"/>
              </a:rPr>
              <a:t>列名</a:t>
            </a:r>
            <a:r>
              <a:rPr lang="en-US" altLang="zh-CN" sz="2400" smtClean="0">
                <a:latin typeface="黑体" pitchFamily="49" charset="-122"/>
                <a:ea typeface="黑体" pitchFamily="49" charset="-122"/>
              </a:rPr>
              <a:t>&gt;[&lt;</a:t>
            </a:r>
            <a:r>
              <a:rPr lang="zh-CN" altLang="en-US" sz="2400" smtClean="0">
                <a:latin typeface="黑体" pitchFamily="49" charset="-122"/>
                <a:ea typeface="黑体" pitchFamily="49" charset="-122"/>
              </a:rPr>
              <a:t>次序</a:t>
            </a:r>
            <a:r>
              <a:rPr lang="en-US" altLang="zh-CN" sz="2400" smtClean="0">
                <a:latin typeface="黑体" pitchFamily="49" charset="-122"/>
                <a:ea typeface="黑体" pitchFamily="49" charset="-122"/>
              </a:rPr>
              <a:t>&gt;] ]</a:t>
            </a:r>
            <a:r>
              <a:rPr lang="en-US" altLang="zh-CN" sz="2400" smtClean="0">
                <a:latin typeface="Courier New" pitchFamily="49" charset="0"/>
                <a:ea typeface="黑体" pitchFamily="49" charset="-122"/>
              </a:rPr>
              <a:t>…</a:t>
            </a: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		</a:t>
            </a:r>
          </a:p>
          <a:p>
            <a:pPr lvl="1" algn="just" eaLnBrk="1" hangingPunct="1">
              <a:lnSpc>
                <a:spcPts val="2800"/>
              </a:lnSpc>
            </a:pPr>
            <a:r>
              <a:rPr lang="zh-CN" altLang="en-US" sz="2000" smtClean="0">
                <a:latin typeface="黑体" pitchFamily="49" charset="-122"/>
                <a:ea typeface="黑体" pitchFamily="49" charset="-122"/>
              </a:rPr>
              <a:t>用</a:t>
            </a:r>
            <a:r>
              <a:rPr lang="en-US" altLang="zh-CN" sz="2000" smtClean="0">
                <a:solidFill>
                  <a:srgbClr val="FF0000"/>
                </a:solidFill>
                <a:latin typeface="黑体" pitchFamily="49" charset="-122"/>
                <a:ea typeface="黑体" pitchFamily="49" charset="-122"/>
              </a:rPr>
              <a:t>&lt;</a:t>
            </a:r>
            <a:r>
              <a:rPr lang="zh-CN" altLang="en-US" sz="2000" smtClean="0">
                <a:solidFill>
                  <a:srgbClr val="FF0000"/>
                </a:solidFill>
                <a:latin typeface="黑体" pitchFamily="49" charset="-122"/>
                <a:ea typeface="黑体" pitchFamily="49" charset="-122"/>
              </a:rPr>
              <a:t>次序</a:t>
            </a:r>
            <a:r>
              <a:rPr lang="en-US" altLang="zh-CN" sz="2000" smtClean="0">
                <a:solidFill>
                  <a:srgbClr val="FF0000"/>
                </a:solidFill>
                <a:latin typeface="黑体" pitchFamily="49" charset="-122"/>
                <a:ea typeface="黑体" pitchFamily="49" charset="-122"/>
              </a:rPr>
              <a:t>&gt;</a:t>
            </a:r>
            <a:r>
              <a:rPr lang="zh-CN" altLang="en-US" sz="2000" smtClean="0">
                <a:latin typeface="黑体" pitchFamily="49" charset="-122"/>
                <a:ea typeface="黑体" pitchFamily="49" charset="-122"/>
              </a:rPr>
              <a:t>指定索引值的排列次序，升序：</a:t>
            </a:r>
            <a:r>
              <a:rPr lang="en-US" altLang="zh-CN" sz="2000" smtClean="0">
                <a:latin typeface="黑体" pitchFamily="49" charset="-122"/>
                <a:ea typeface="黑体" pitchFamily="49" charset="-122"/>
              </a:rPr>
              <a:t>ASC</a:t>
            </a:r>
            <a:r>
              <a:rPr lang="zh-CN" altLang="en-US" sz="2000" smtClean="0">
                <a:latin typeface="黑体" pitchFamily="49" charset="-122"/>
                <a:ea typeface="黑体" pitchFamily="49" charset="-122"/>
              </a:rPr>
              <a:t>，降序：</a:t>
            </a:r>
            <a:r>
              <a:rPr lang="en-US" altLang="zh-CN" sz="2000" smtClean="0">
                <a:latin typeface="黑体" pitchFamily="49" charset="-122"/>
                <a:ea typeface="黑体" pitchFamily="49" charset="-122"/>
              </a:rPr>
              <a:t>DESC</a:t>
            </a:r>
            <a:r>
              <a:rPr lang="zh-CN" altLang="en-US" sz="2000" smtClean="0">
                <a:latin typeface="黑体" pitchFamily="49" charset="-122"/>
                <a:ea typeface="黑体" pitchFamily="49" charset="-122"/>
              </a:rPr>
              <a:t>。缺省值：</a:t>
            </a:r>
            <a:r>
              <a:rPr lang="en-US" altLang="zh-CN" sz="2000" smtClean="0">
                <a:latin typeface="黑体" pitchFamily="49" charset="-122"/>
                <a:ea typeface="黑体" pitchFamily="49" charset="-122"/>
              </a:rPr>
              <a:t>ASC</a:t>
            </a:r>
          </a:p>
          <a:p>
            <a:pPr lvl="1" algn="just" eaLnBrk="1" hangingPunct="1">
              <a:lnSpc>
                <a:spcPts val="2800"/>
              </a:lnSpc>
            </a:pPr>
            <a:r>
              <a:rPr lang="en-US" altLang="zh-CN" sz="2000" smtClean="0">
                <a:solidFill>
                  <a:srgbClr val="FF0000"/>
                </a:solidFill>
                <a:latin typeface="黑体" pitchFamily="49" charset="-122"/>
                <a:ea typeface="黑体" pitchFamily="49" charset="-122"/>
              </a:rPr>
              <a:t>UNIQUE</a:t>
            </a:r>
            <a:r>
              <a:rPr lang="zh-CN" altLang="en-US" sz="2000" smtClean="0">
                <a:latin typeface="黑体" pitchFamily="49" charset="-122"/>
                <a:ea typeface="黑体" pitchFamily="49" charset="-122"/>
              </a:rPr>
              <a:t>表明此索引的每一个索引值只对应唯一的数据记录</a:t>
            </a:r>
          </a:p>
          <a:p>
            <a:pPr lvl="1" eaLnBrk="1" hangingPunct="1">
              <a:lnSpc>
                <a:spcPts val="2800"/>
              </a:lnSpc>
            </a:pPr>
            <a:r>
              <a:rPr lang="en-US" altLang="zh-CN" sz="2000" smtClean="0">
                <a:solidFill>
                  <a:srgbClr val="FF0000"/>
                </a:solidFill>
                <a:latin typeface="黑体" pitchFamily="49" charset="-122"/>
                <a:ea typeface="黑体" pitchFamily="49" charset="-122"/>
              </a:rPr>
              <a:t>BITMAP</a:t>
            </a:r>
            <a:r>
              <a:rPr lang="zh-CN" altLang="en-US" sz="2000" smtClean="0">
                <a:latin typeface="黑体" pitchFamily="49" charset="-122"/>
                <a:ea typeface="黑体" pitchFamily="49" charset="-122"/>
              </a:rPr>
              <a:t>表示要建立的索引是位图索引，位图索引主要用来节省空间，减少</a:t>
            </a:r>
            <a:r>
              <a:rPr lang="en-US" altLang="zh-CN" sz="2000" smtClean="0">
                <a:latin typeface="黑体" pitchFamily="49" charset="-122"/>
                <a:ea typeface="黑体" pitchFamily="49" charset="-122"/>
              </a:rPr>
              <a:t>ORACLE</a:t>
            </a:r>
            <a:r>
              <a:rPr lang="zh-CN" altLang="en-US" sz="2000" smtClean="0">
                <a:latin typeface="黑体" pitchFamily="49" charset="-122"/>
                <a:ea typeface="黑体" pitchFamily="49" charset="-122"/>
              </a:rPr>
              <a:t>对数据块的访问。在</a:t>
            </a:r>
            <a:r>
              <a:rPr lang="en-US" altLang="zh-CN" sz="2000" smtClean="0">
                <a:latin typeface="黑体" pitchFamily="49" charset="-122"/>
                <a:ea typeface="黑体" pitchFamily="49" charset="-122"/>
              </a:rPr>
              <a:t>OLAP(</a:t>
            </a:r>
            <a:r>
              <a:rPr lang="zh-CN" altLang="en-US" sz="2000" smtClean="0">
                <a:latin typeface="黑体" pitchFamily="49" charset="-122"/>
                <a:ea typeface="黑体" pitchFamily="49" charset="-122"/>
              </a:rPr>
              <a:t>数据分析处理</a:t>
            </a:r>
            <a:r>
              <a:rPr lang="en-US" altLang="zh-CN" sz="2000" smtClean="0">
                <a:latin typeface="黑体" pitchFamily="49" charset="-122"/>
                <a:ea typeface="黑体" pitchFamily="49" charset="-122"/>
              </a:rPr>
              <a:t>)</a:t>
            </a:r>
            <a:r>
              <a:rPr lang="zh-CN" altLang="en-US" sz="2000" smtClean="0">
                <a:latin typeface="黑体" pitchFamily="49" charset="-122"/>
                <a:ea typeface="黑体" pitchFamily="49" charset="-122"/>
              </a:rPr>
              <a:t>中应用位图索引有优势。</a:t>
            </a:r>
          </a:p>
        </p:txBody>
      </p:sp>
      <p:sp>
        <p:nvSpPr>
          <p:cNvPr id="29700" name="Rectangle 2"/>
          <p:cNvSpPr txBox="1">
            <a:spLocks noChangeArrowheads="1"/>
          </p:cNvSpPr>
          <p:nvPr/>
        </p:nvSpPr>
        <p:spPr bwMode="auto">
          <a:xfrm>
            <a:off x="885825" y="188913"/>
            <a:ext cx="72040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eaLnBrk="1" hangingPunct="1"/>
            <a:r>
              <a:rPr kumimoji="1" lang="en-US" altLang="zh-CN" sz="3600" b="0">
                <a:solidFill>
                  <a:schemeClr val="bg1"/>
                </a:solidFill>
                <a:latin typeface="黑体" pitchFamily="49" charset="-122"/>
                <a:ea typeface="黑体" pitchFamily="49" charset="-122"/>
              </a:rPr>
              <a:t>3.3 SQL</a:t>
            </a:r>
            <a:r>
              <a:rPr kumimoji="1" lang="zh-CN" altLang="en-US" sz="3600" b="0">
                <a:solidFill>
                  <a:schemeClr val="bg1"/>
                </a:solidFill>
                <a:latin typeface="黑体" pitchFamily="49" charset="-122"/>
                <a:ea typeface="黑体" pitchFamily="49" charset="-122"/>
              </a:rPr>
              <a:t>数据定义</a:t>
            </a: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9" name="Rectangle 3"/>
          <p:cNvSpPr>
            <a:spLocks noGrp="1" noChangeArrowheads="1"/>
          </p:cNvSpPr>
          <p:nvPr>
            <p:ph type="body" idx="1"/>
          </p:nvPr>
        </p:nvSpPr>
        <p:spPr>
          <a:xfrm>
            <a:off x="539750" y="1844675"/>
            <a:ext cx="7772400" cy="4114800"/>
          </a:xfrm>
        </p:spPr>
        <p:txBody>
          <a:bodyPr/>
          <a:lstStyle/>
          <a:p>
            <a:pPr algn="just" eaLnBrk="1" hangingPunct="1">
              <a:lnSpc>
                <a:spcPct val="90000"/>
              </a:lnSpc>
              <a:buFont typeface="Wingdings" pitchFamily="2" charset="2"/>
              <a:buNone/>
            </a:pPr>
            <a:r>
              <a:rPr lang="en-US" altLang="zh-CN" sz="2600" smtClean="0">
                <a:latin typeface="黑体" pitchFamily="49" charset="-122"/>
                <a:ea typeface="黑体" pitchFamily="49" charset="-122"/>
              </a:rPr>
              <a:t>  [</a:t>
            </a:r>
            <a:r>
              <a:rPr lang="zh-CN" altLang="en-US" sz="2600" smtClean="0">
                <a:latin typeface="黑体" pitchFamily="49" charset="-122"/>
                <a:ea typeface="黑体" pitchFamily="49" charset="-122"/>
              </a:rPr>
              <a:t>例</a:t>
            </a:r>
            <a:r>
              <a:rPr lang="en-US" altLang="zh-CN" sz="2600" smtClean="0">
                <a:latin typeface="黑体" pitchFamily="49" charset="-122"/>
                <a:ea typeface="黑体" pitchFamily="49" charset="-122"/>
              </a:rPr>
              <a:t>12]  </a:t>
            </a:r>
            <a:r>
              <a:rPr lang="zh-CN" altLang="en-US" sz="2600" smtClean="0">
                <a:latin typeface="黑体" pitchFamily="49" charset="-122"/>
                <a:ea typeface="黑体" pitchFamily="49" charset="-122"/>
              </a:rPr>
              <a:t>在</a:t>
            </a:r>
            <a:r>
              <a:rPr lang="en-US" altLang="zh-CN" sz="2600" smtClean="0">
                <a:latin typeface="黑体" pitchFamily="49" charset="-122"/>
                <a:ea typeface="黑体" pitchFamily="49" charset="-122"/>
              </a:rPr>
              <a:t>C</a:t>
            </a:r>
            <a:r>
              <a:rPr lang="zh-CN" altLang="en-US" sz="2600" smtClean="0">
                <a:latin typeface="黑体" pitchFamily="49" charset="-122"/>
                <a:ea typeface="黑体" pitchFamily="49" charset="-122"/>
              </a:rPr>
              <a:t>表中的</a:t>
            </a:r>
            <a:r>
              <a:rPr lang="en-US" altLang="zh-CN" sz="2600" smtClean="0">
                <a:latin typeface="黑体" pitchFamily="49" charset="-122"/>
                <a:ea typeface="黑体" pitchFamily="49" charset="-122"/>
              </a:rPr>
              <a:t>cname</a:t>
            </a:r>
            <a:r>
              <a:rPr lang="zh-CN" altLang="en-US" sz="2600" smtClean="0">
                <a:latin typeface="黑体" pitchFamily="49" charset="-122"/>
                <a:ea typeface="黑体" pitchFamily="49" charset="-122"/>
              </a:rPr>
              <a:t>属性列上建立索引。</a:t>
            </a:r>
          </a:p>
          <a:p>
            <a:pPr algn="just" eaLnBrk="1" hangingPunct="1">
              <a:lnSpc>
                <a:spcPct val="90000"/>
              </a:lnSpc>
              <a:buFont typeface="Wingdings" pitchFamily="2" charset="2"/>
              <a:buNone/>
            </a:pPr>
            <a:endParaRPr lang="zh-CN" altLang="en-US" sz="2600" smtClean="0">
              <a:latin typeface="黑体" pitchFamily="49" charset="-122"/>
              <a:ea typeface="黑体" pitchFamily="49" charset="-122"/>
            </a:endParaRPr>
          </a:p>
          <a:p>
            <a:pPr lvl="1" algn="just" eaLnBrk="1" hangingPunct="1">
              <a:lnSpc>
                <a:spcPct val="90000"/>
              </a:lnSpc>
              <a:buFont typeface="Wingdings" pitchFamily="2" charset="2"/>
              <a:buNone/>
            </a:pPr>
            <a:r>
              <a:rPr lang="en-US" altLang="zh-CN" sz="2600" smtClean="0">
                <a:latin typeface="黑体" pitchFamily="49" charset="-122"/>
                <a:ea typeface="黑体" pitchFamily="49" charset="-122"/>
              </a:rPr>
              <a:t>   CREATE INDEX  ind_cname ON  C(cname)</a:t>
            </a:r>
            <a:r>
              <a:rPr lang="zh-CN" altLang="en-US" sz="2600" smtClean="0">
                <a:latin typeface="黑体" pitchFamily="49" charset="-122"/>
                <a:ea typeface="黑体" pitchFamily="49" charset="-122"/>
              </a:rPr>
              <a:t>；</a:t>
            </a:r>
          </a:p>
        </p:txBody>
      </p:sp>
      <p:sp>
        <p:nvSpPr>
          <p:cNvPr id="30723" name="Rectangle 2"/>
          <p:cNvSpPr>
            <a:spLocks noGrp="1" noChangeArrowheads="1"/>
          </p:cNvSpPr>
          <p:nvPr>
            <p:ph type="title"/>
          </p:nvPr>
        </p:nvSpPr>
        <p:spPr>
          <a:xfrm>
            <a:off x="827088" y="260350"/>
            <a:ext cx="7793037" cy="638175"/>
          </a:xfrm>
        </p:spPr>
        <p:txBody>
          <a:bodyPr/>
          <a:lstStyle/>
          <a:p>
            <a:pPr eaLnBrk="1" hangingPunct="1"/>
            <a:r>
              <a:rPr lang="en-US" altLang="zh-CN" smtClean="0">
                <a:latin typeface="黑体" pitchFamily="49" charset="-122"/>
              </a:rPr>
              <a:t>3.3 SQL</a:t>
            </a:r>
            <a:r>
              <a:rPr lang="zh-CN" altLang="en-US" smtClean="0">
                <a:latin typeface="黑体" pitchFamily="49" charset="-122"/>
              </a:rPr>
              <a:t>数据定义</a:t>
            </a:r>
            <a:endParaRPr lang="zh-CN" alt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2" fill="hold" nodeType="clickEffect">
                                  <p:stCondLst>
                                    <p:cond delay="0"/>
                                  </p:stCondLst>
                                  <p:childTnLst>
                                    <p:set>
                                      <p:cBhvr>
                                        <p:cTn id="6" dur="1" fill="hold">
                                          <p:stCondLst>
                                            <p:cond delay="0"/>
                                          </p:stCondLst>
                                        </p:cTn>
                                        <p:tgtEl>
                                          <p:spTgt spid="357379">
                                            <p:txEl>
                                              <p:pRg st="0" end="0"/>
                                            </p:txEl>
                                          </p:spTgt>
                                        </p:tgtEl>
                                        <p:attrNameLst>
                                          <p:attrName>style.visibility</p:attrName>
                                        </p:attrNameLst>
                                      </p:cBhvr>
                                      <p:to>
                                        <p:strVal val="visible"/>
                                      </p:to>
                                    </p:set>
                                    <p:animEffect transition="in" filter="slide(fromRight)">
                                      <p:cBhvr>
                                        <p:cTn id="7" dur="500"/>
                                        <p:tgtEl>
                                          <p:spTgt spid="3573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0" presetClass="entr" presetSubtype="0" decel="100000" fill="hold" nodeType="clickEffect">
                                  <p:stCondLst>
                                    <p:cond delay="0"/>
                                  </p:stCondLst>
                                  <p:childTnLst>
                                    <p:set>
                                      <p:cBhvr>
                                        <p:cTn id="11" dur="1" fill="hold">
                                          <p:stCondLst>
                                            <p:cond delay="0"/>
                                          </p:stCondLst>
                                        </p:cTn>
                                        <p:tgtEl>
                                          <p:spTgt spid="357379">
                                            <p:txEl>
                                              <p:pRg st="2" end="2"/>
                                            </p:txEl>
                                          </p:spTgt>
                                        </p:tgtEl>
                                        <p:attrNameLst>
                                          <p:attrName>style.visibility</p:attrName>
                                        </p:attrNameLst>
                                      </p:cBhvr>
                                      <p:to>
                                        <p:strVal val="visible"/>
                                      </p:to>
                                    </p:set>
                                    <p:anim calcmode="lin" valueType="num">
                                      <p:cBhvr>
                                        <p:cTn id="12" dur="1000" fill="hold"/>
                                        <p:tgtEl>
                                          <p:spTgt spid="357379">
                                            <p:txEl>
                                              <p:pRg st="2" end="2"/>
                                            </p:txEl>
                                          </p:spTgt>
                                        </p:tgtEl>
                                        <p:attrNameLst>
                                          <p:attrName>ppt_w</p:attrName>
                                        </p:attrNameLst>
                                      </p:cBhvr>
                                      <p:tavLst>
                                        <p:tav tm="0">
                                          <p:val>
                                            <p:strVal val="#ppt_w+.3"/>
                                          </p:val>
                                        </p:tav>
                                        <p:tav tm="100000">
                                          <p:val>
                                            <p:strVal val="#ppt_w"/>
                                          </p:val>
                                        </p:tav>
                                      </p:tavLst>
                                    </p:anim>
                                    <p:anim calcmode="lin" valueType="num">
                                      <p:cBhvr>
                                        <p:cTn id="13" dur="1000" fill="hold"/>
                                        <p:tgtEl>
                                          <p:spTgt spid="357379">
                                            <p:txEl>
                                              <p:pRg st="2" end="2"/>
                                            </p:txEl>
                                          </p:spTgt>
                                        </p:tgtEl>
                                        <p:attrNameLst>
                                          <p:attrName>ppt_h</p:attrName>
                                        </p:attrNameLst>
                                      </p:cBhvr>
                                      <p:tavLst>
                                        <p:tav tm="0">
                                          <p:val>
                                            <p:strVal val="#ppt_h"/>
                                          </p:val>
                                        </p:tav>
                                        <p:tav tm="100000">
                                          <p:val>
                                            <p:strVal val="#ppt_h"/>
                                          </p:val>
                                        </p:tav>
                                      </p:tavLst>
                                    </p:anim>
                                    <p:animEffect transition="in" filter="fade">
                                      <p:cBhvr>
                                        <p:cTn id="14" dur="1000"/>
                                        <p:tgtEl>
                                          <p:spTgt spid="3573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9" name="Rectangle 3"/>
          <p:cNvSpPr>
            <a:spLocks noGrp="1" noChangeArrowheads="1"/>
          </p:cNvSpPr>
          <p:nvPr>
            <p:ph type="body" idx="1"/>
          </p:nvPr>
        </p:nvSpPr>
        <p:spPr>
          <a:xfrm>
            <a:off x="611188" y="2276475"/>
            <a:ext cx="7772400" cy="4114800"/>
          </a:xfrm>
        </p:spPr>
        <p:txBody>
          <a:bodyPr/>
          <a:lstStyle/>
          <a:p>
            <a:pPr algn="just" eaLnBrk="1" hangingPunct="1">
              <a:lnSpc>
                <a:spcPct val="90000"/>
              </a:lnSpc>
              <a:buFont typeface="Wingdings" pitchFamily="2" charset="2"/>
              <a:buNone/>
            </a:pPr>
            <a:r>
              <a:rPr lang="zh-CN" altLang="en-US" sz="2600" smtClean="0">
                <a:latin typeface="黑体" pitchFamily="49" charset="-122"/>
                <a:ea typeface="黑体" pitchFamily="49" charset="-122"/>
              </a:rPr>
              <a:t>语法格式：</a:t>
            </a:r>
            <a:endParaRPr lang="en-US" altLang="zh-CN" sz="2600" smtClean="0">
              <a:latin typeface="黑体" pitchFamily="49" charset="-122"/>
              <a:ea typeface="黑体" pitchFamily="49" charset="-122"/>
            </a:endParaRPr>
          </a:p>
          <a:p>
            <a:pPr algn="ctr" eaLnBrk="1" hangingPunct="1">
              <a:lnSpc>
                <a:spcPct val="90000"/>
              </a:lnSpc>
              <a:buFont typeface="Wingdings" pitchFamily="2" charset="2"/>
              <a:buNone/>
            </a:pPr>
            <a:r>
              <a:rPr lang="en-US" altLang="zh-CN" sz="2600" smtClean="0">
                <a:latin typeface="黑体" pitchFamily="49" charset="-122"/>
                <a:ea typeface="黑体" pitchFamily="49" charset="-122"/>
              </a:rPr>
              <a:t>ALTER INDEX &lt;</a:t>
            </a:r>
            <a:r>
              <a:rPr lang="zh-CN" altLang="en-US" sz="2600" smtClean="0">
                <a:latin typeface="黑体" pitchFamily="49" charset="-122"/>
                <a:ea typeface="黑体" pitchFamily="49" charset="-122"/>
              </a:rPr>
              <a:t>旧索引名</a:t>
            </a:r>
            <a:r>
              <a:rPr lang="en-US" altLang="zh-CN" sz="2600" smtClean="0">
                <a:latin typeface="黑体" pitchFamily="49" charset="-122"/>
                <a:ea typeface="黑体" pitchFamily="49" charset="-122"/>
              </a:rPr>
              <a:t>&gt; RENAME TO &lt;</a:t>
            </a:r>
            <a:r>
              <a:rPr lang="zh-CN" altLang="en-US" sz="2600" smtClean="0">
                <a:latin typeface="黑体" pitchFamily="49" charset="-122"/>
                <a:ea typeface="黑体" pitchFamily="49" charset="-122"/>
              </a:rPr>
              <a:t>新索引名</a:t>
            </a:r>
            <a:r>
              <a:rPr lang="en-US" altLang="zh-CN" sz="2600" smtClean="0">
                <a:latin typeface="黑体" pitchFamily="49" charset="-122"/>
                <a:ea typeface="黑体" pitchFamily="49" charset="-122"/>
              </a:rPr>
              <a:t>&gt;;</a:t>
            </a:r>
          </a:p>
          <a:p>
            <a:pPr algn="ctr" eaLnBrk="1" hangingPunct="1">
              <a:lnSpc>
                <a:spcPct val="90000"/>
              </a:lnSpc>
              <a:buFont typeface="Wingdings" pitchFamily="2" charset="2"/>
              <a:buNone/>
            </a:pPr>
            <a:endParaRPr lang="en-US" altLang="zh-CN" sz="2600" smtClean="0">
              <a:latin typeface="黑体" pitchFamily="49" charset="-122"/>
              <a:ea typeface="黑体" pitchFamily="49" charset="-122"/>
            </a:endParaRPr>
          </a:p>
          <a:p>
            <a:pPr eaLnBrk="1" hangingPunct="1">
              <a:lnSpc>
                <a:spcPct val="90000"/>
              </a:lnSpc>
              <a:buFontTx/>
              <a:buNone/>
            </a:pPr>
            <a:r>
              <a:rPr lang="en-US" altLang="zh-CN" sz="2600" smtClean="0">
                <a:latin typeface="黑体" pitchFamily="49" charset="-122"/>
                <a:ea typeface="黑体" pitchFamily="49" charset="-122"/>
              </a:rPr>
              <a:t>[</a:t>
            </a:r>
            <a:r>
              <a:rPr lang="zh-CN" altLang="en-US" sz="2600" smtClean="0">
                <a:latin typeface="黑体" pitchFamily="49" charset="-122"/>
                <a:ea typeface="黑体" pitchFamily="49" charset="-122"/>
              </a:rPr>
              <a:t>例</a:t>
            </a:r>
            <a:r>
              <a:rPr lang="en-US" altLang="zh-CN" sz="2600" smtClean="0">
                <a:latin typeface="黑体" pitchFamily="49" charset="-122"/>
                <a:ea typeface="黑体" pitchFamily="49" charset="-122"/>
              </a:rPr>
              <a:t>13]  </a:t>
            </a:r>
            <a:r>
              <a:rPr lang="zh-CN" altLang="en-US" sz="2600" smtClean="0">
                <a:latin typeface="黑体" pitchFamily="49" charset="-122"/>
                <a:ea typeface="黑体" pitchFamily="49" charset="-122"/>
              </a:rPr>
              <a:t>将</a:t>
            </a:r>
            <a:r>
              <a:rPr lang="en-US" altLang="zh-CN" sz="2600" smtClean="0">
                <a:latin typeface="黑体" pitchFamily="49" charset="-122"/>
                <a:ea typeface="黑体" pitchFamily="49" charset="-122"/>
              </a:rPr>
              <a:t>C</a:t>
            </a:r>
            <a:r>
              <a:rPr lang="zh-CN" altLang="en-US" sz="2600" smtClean="0">
                <a:latin typeface="黑体" pitchFamily="49" charset="-122"/>
                <a:ea typeface="黑体" pitchFamily="49" charset="-122"/>
              </a:rPr>
              <a:t>表的</a:t>
            </a:r>
            <a:r>
              <a:rPr lang="en-US" altLang="zh-CN" sz="2600" smtClean="0">
                <a:latin typeface="黑体" pitchFamily="49" charset="-122"/>
                <a:ea typeface="黑体" pitchFamily="49" charset="-122"/>
              </a:rPr>
              <a:t>ind_cname</a:t>
            </a:r>
            <a:r>
              <a:rPr lang="zh-CN" altLang="en-US" sz="2600" smtClean="0">
                <a:latin typeface="黑体" pitchFamily="49" charset="-122"/>
                <a:ea typeface="黑体" pitchFamily="49" charset="-122"/>
              </a:rPr>
              <a:t>索引的名称进行修改。</a:t>
            </a:r>
          </a:p>
          <a:p>
            <a:pPr eaLnBrk="1" hangingPunct="1">
              <a:lnSpc>
                <a:spcPct val="90000"/>
              </a:lnSpc>
              <a:buFont typeface="Wingdings" pitchFamily="2" charset="2"/>
              <a:buNone/>
            </a:pPr>
            <a:endParaRPr lang="en-US" altLang="zh-CN" sz="2600" smtClean="0">
              <a:latin typeface="黑体" pitchFamily="49" charset="-122"/>
              <a:ea typeface="黑体" pitchFamily="49" charset="-122"/>
            </a:endParaRPr>
          </a:p>
        </p:txBody>
      </p:sp>
      <p:sp>
        <p:nvSpPr>
          <p:cNvPr id="31747" name="Rectangle 2"/>
          <p:cNvSpPr>
            <a:spLocks noGrp="1" noChangeArrowheads="1"/>
          </p:cNvSpPr>
          <p:nvPr>
            <p:ph type="title"/>
          </p:nvPr>
        </p:nvSpPr>
        <p:spPr>
          <a:xfrm>
            <a:off x="827088" y="260350"/>
            <a:ext cx="7793037" cy="638175"/>
          </a:xfrm>
        </p:spPr>
        <p:txBody>
          <a:bodyPr/>
          <a:lstStyle/>
          <a:p>
            <a:pPr eaLnBrk="1" hangingPunct="1"/>
            <a:r>
              <a:rPr lang="en-US" altLang="zh-CN" smtClean="0">
                <a:latin typeface="黑体" pitchFamily="49" charset="-122"/>
              </a:rPr>
              <a:t>3.3 SQL</a:t>
            </a:r>
            <a:r>
              <a:rPr lang="zh-CN" altLang="en-US" smtClean="0">
                <a:latin typeface="黑体" pitchFamily="49" charset="-122"/>
              </a:rPr>
              <a:t>数据定义</a:t>
            </a:r>
            <a:endParaRPr lang="zh-CN" altLang="en-US" smtClean="0"/>
          </a:p>
        </p:txBody>
      </p:sp>
      <p:sp>
        <p:nvSpPr>
          <p:cNvPr id="31748" name="Rectangle 2"/>
          <p:cNvSpPr txBox="1">
            <a:spLocks noChangeArrowheads="1"/>
          </p:cNvSpPr>
          <p:nvPr/>
        </p:nvSpPr>
        <p:spPr bwMode="auto">
          <a:xfrm>
            <a:off x="755650" y="1492250"/>
            <a:ext cx="7793038"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eaLnBrk="1" hangingPunct="1"/>
            <a:r>
              <a:rPr lang="zh-CN" altLang="en-US" sz="2800">
                <a:latin typeface="Arial" charset="0"/>
                <a:ea typeface="黑体" pitchFamily="49" charset="-122"/>
              </a:rPr>
              <a:t>二、修改索引</a:t>
            </a:r>
            <a:r>
              <a:rPr lang="zh-CN" altLang="en-US" sz="2800">
                <a:solidFill>
                  <a:schemeClr val="bg1"/>
                </a:solidFill>
                <a:latin typeface="Arial" charset="0"/>
                <a:ea typeface="黑体" pitchFamily="49"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2" fill="hold" nodeType="clickEffect">
                                  <p:stCondLst>
                                    <p:cond delay="0"/>
                                  </p:stCondLst>
                                  <p:childTnLst>
                                    <p:set>
                                      <p:cBhvr>
                                        <p:cTn id="6" dur="1" fill="hold">
                                          <p:stCondLst>
                                            <p:cond delay="0"/>
                                          </p:stCondLst>
                                        </p:cTn>
                                        <p:tgtEl>
                                          <p:spTgt spid="357379">
                                            <p:txEl>
                                              <p:pRg st="0" end="0"/>
                                            </p:txEl>
                                          </p:spTgt>
                                        </p:tgtEl>
                                        <p:attrNameLst>
                                          <p:attrName>style.visibility</p:attrName>
                                        </p:attrNameLst>
                                      </p:cBhvr>
                                      <p:to>
                                        <p:strVal val="visible"/>
                                      </p:to>
                                    </p:set>
                                    <p:animEffect transition="in" filter="slide(fromRight)">
                                      <p:cBhvr>
                                        <p:cTn id="7" dur="500"/>
                                        <p:tgtEl>
                                          <p:spTgt spid="3573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2" fill="hold" nodeType="clickEffect">
                                  <p:stCondLst>
                                    <p:cond delay="0"/>
                                  </p:stCondLst>
                                  <p:childTnLst>
                                    <p:set>
                                      <p:cBhvr>
                                        <p:cTn id="11" dur="1" fill="hold">
                                          <p:stCondLst>
                                            <p:cond delay="0"/>
                                          </p:stCondLst>
                                        </p:cTn>
                                        <p:tgtEl>
                                          <p:spTgt spid="357379">
                                            <p:txEl>
                                              <p:pRg st="1" end="1"/>
                                            </p:txEl>
                                          </p:spTgt>
                                        </p:tgtEl>
                                        <p:attrNameLst>
                                          <p:attrName>style.visibility</p:attrName>
                                        </p:attrNameLst>
                                      </p:cBhvr>
                                      <p:to>
                                        <p:strVal val="visible"/>
                                      </p:to>
                                    </p:set>
                                    <p:animEffect transition="in" filter="slide(fromRight)">
                                      <p:cBhvr>
                                        <p:cTn id="12" dur="500"/>
                                        <p:tgtEl>
                                          <p:spTgt spid="3573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2" fill="hold" nodeType="clickEffect">
                                  <p:stCondLst>
                                    <p:cond delay="0"/>
                                  </p:stCondLst>
                                  <p:childTnLst>
                                    <p:set>
                                      <p:cBhvr>
                                        <p:cTn id="16" dur="1" fill="hold">
                                          <p:stCondLst>
                                            <p:cond delay="0"/>
                                          </p:stCondLst>
                                        </p:cTn>
                                        <p:tgtEl>
                                          <p:spTgt spid="357379">
                                            <p:txEl>
                                              <p:pRg st="3" end="3"/>
                                            </p:txEl>
                                          </p:spTgt>
                                        </p:tgtEl>
                                        <p:attrNameLst>
                                          <p:attrName>style.visibility</p:attrName>
                                        </p:attrNameLst>
                                      </p:cBhvr>
                                      <p:to>
                                        <p:strVal val="visible"/>
                                      </p:to>
                                    </p:set>
                                    <p:animEffect transition="in" filter="slide(fromRight)">
                                      <p:cBhvr>
                                        <p:cTn id="17" dur="500"/>
                                        <p:tgtEl>
                                          <p:spTgt spid="3573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76275" y="1125538"/>
            <a:ext cx="7793038" cy="631825"/>
          </a:xfrm>
        </p:spPr>
        <p:txBody>
          <a:bodyPr/>
          <a:lstStyle/>
          <a:p>
            <a:pPr eaLnBrk="1" hangingPunct="1"/>
            <a:r>
              <a:rPr lang="zh-CN" altLang="en-US" sz="2800" smtClean="0">
                <a:solidFill>
                  <a:schemeClr val="tx1"/>
                </a:solidFill>
              </a:rPr>
              <a:t>三、删除索引</a:t>
            </a:r>
            <a:r>
              <a:rPr lang="zh-CN" altLang="en-US" sz="2800" smtClean="0"/>
              <a:t> </a:t>
            </a:r>
          </a:p>
        </p:txBody>
      </p:sp>
      <p:sp>
        <p:nvSpPr>
          <p:cNvPr id="32771" name="Rectangle 3"/>
          <p:cNvSpPr>
            <a:spLocks noGrp="1" noChangeArrowheads="1"/>
          </p:cNvSpPr>
          <p:nvPr>
            <p:ph type="body" idx="1"/>
          </p:nvPr>
        </p:nvSpPr>
        <p:spPr>
          <a:xfrm>
            <a:off x="685800" y="1844675"/>
            <a:ext cx="7775575" cy="4248150"/>
          </a:xfrm>
        </p:spPr>
        <p:txBody>
          <a:bodyPr/>
          <a:lstStyle/>
          <a:p>
            <a:pPr algn="just" eaLnBrk="1" hangingPunct="1">
              <a:lnSpc>
                <a:spcPct val="120000"/>
              </a:lnSpc>
              <a:buFont typeface="Wingdings" pitchFamily="2" charset="2"/>
              <a:buNone/>
            </a:pPr>
            <a:r>
              <a:rPr lang="zh-CN" altLang="en-US" sz="2800" smtClean="0">
                <a:latin typeface="黑体" pitchFamily="49" charset="-122"/>
                <a:ea typeface="黑体" pitchFamily="49" charset="-122"/>
              </a:rPr>
              <a:t>语句格式：     </a:t>
            </a:r>
          </a:p>
          <a:p>
            <a:pPr algn="just" eaLnBrk="1" hangingPunct="1">
              <a:lnSpc>
                <a:spcPct val="120000"/>
              </a:lnSpc>
              <a:buFont typeface="Wingdings" pitchFamily="2" charset="2"/>
              <a:buNone/>
            </a:pPr>
            <a:r>
              <a:rPr lang="zh-CN" altLang="en-US" sz="2800" smtClean="0">
                <a:latin typeface="黑体" pitchFamily="49" charset="-122"/>
                <a:ea typeface="黑体" pitchFamily="49" charset="-122"/>
              </a:rPr>
              <a:t>       </a:t>
            </a:r>
            <a:r>
              <a:rPr lang="en-US" altLang="zh-CN" sz="2800" smtClean="0">
                <a:latin typeface="黑体" pitchFamily="49" charset="-122"/>
                <a:ea typeface="黑体" pitchFamily="49" charset="-122"/>
              </a:rPr>
              <a:t>DROP INDEX &lt;</a:t>
            </a:r>
            <a:r>
              <a:rPr lang="zh-CN" altLang="en-US" sz="2800" smtClean="0">
                <a:latin typeface="黑体" pitchFamily="49" charset="-122"/>
                <a:ea typeface="黑体" pitchFamily="49" charset="-122"/>
              </a:rPr>
              <a:t>索引名</a:t>
            </a:r>
            <a:r>
              <a:rPr lang="en-US" altLang="zh-CN" sz="2800" smtClean="0">
                <a:latin typeface="黑体" pitchFamily="49" charset="-122"/>
                <a:ea typeface="黑体" pitchFamily="49" charset="-122"/>
              </a:rPr>
              <a:t>&gt;</a:t>
            </a:r>
            <a:r>
              <a:rPr lang="zh-CN" altLang="en-US" sz="2800" smtClean="0">
                <a:latin typeface="黑体" pitchFamily="49" charset="-122"/>
                <a:ea typeface="黑体" pitchFamily="49" charset="-122"/>
              </a:rPr>
              <a:t>；</a:t>
            </a:r>
          </a:p>
          <a:p>
            <a:pPr eaLnBrk="1" hangingPunct="1">
              <a:lnSpc>
                <a:spcPct val="120000"/>
              </a:lnSpc>
            </a:pPr>
            <a:r>
              <a:rPr lang="zh-CN" altLang="en-US" sz="2800" smtClean="0">
                <a:latin typeface="黑体" pitchFamily="49" charset="-122"/>
                <a:ea typeface="黑体" pitchFamily="49" charset="-122"/>
              </a:rPr>
              <a:t>删除索引时，系统会从数据字典中删去有关该索引的描述。</a:t>
            </a:r>
          </a:p>
          <a:p>
            <a:pPr eaLnBrk="1" hangingPunct="1">
              <a:lnSpc>
                <a:spcPct val="120000"/>
              </a:lnSpc>
              <a:buFont typeface="Wingdings" pitchFamily="2" charset="2"/>
              <a:buNone/>
            </a:pPr>
            <a:r>
              <a:rPr lang="en-US" altLang="zh-CN" sz="2800" smtClean="0">
                <a:latin typeface="黑体" pitchFamily="49" charset="-122"/>
                <a:ea typeface="黑体" pitchFamily="49" charset="-122"/>
              </a:rPr>
              <a:t>[</a:t>
            </a:r>
            <a:r>
              <a:rPr lang="zh-CN" altLang="en-US" sz="2800" smtClean="0">
                <a:latin typeface="黑体" pitchFamily="49" charset="-122"/>
                <a:ea typeface="黑体" pitchFamily="49" charset="-122"/>
              </a:rPr>
              <a:t>例</a:t>
            </a:r>
            <a:r>
              <a:rPr lang="en-US" altLang="zh-CN" sz="2800" smtClean="0">
                <a:latin typeface="黑体" pitchFamily="49" charset="-122"/>
                <a:ea typeface="黑体" pitchFamily="49" charset="-122"/>
              </a:rPr>
              <a:t>14]  </a:t>
            </a:r>
            <a:r>
              <a:rPr lang="zh-CN" altLang="en-US" sz="2800" smtClean="0">
                <a:latin typeface="黑体" pitchFamily="49" charset="-122"/>
                <a:ea typeface="黑体" pitchFamily="49" charset="-122"/>
              </a:rPr>
              <a:t>删除</a:t>
            </a:r>
            <a:r>
              <a:rPr lang="en-US" altLang="zh-CN" sz="2800" smtClean="0">
                <a:latin typeface="黑体" pitchFamily="49" charset="-122"/>
                <a:ea typeface="黑体" pitchFamily="49" charset="-122"/>
              </a:rPr>
              <a:t>c</a:t>
            </a:r>
            <a:r>
              <a:rPr lang="zh-CN" altLang="en-US" sz="2800" smtClean="0">
                <a:latin typeface="黑体" pitchFamily="49" charset="-122"/>
                <a:ea typeface="黑体" pitchFamily="49" charset="-122"/>
              </a:rPr>
              <a:t>表的</a:t>
            </a:r>
            <a:r>
              <a:rPr lang="en-US" altLang="zh-CN" sz="2800" smtClean="0">
                <a:latin typeface="黑体" pitchFamily="49" charset="-122"/>
                <a:ea typeface="黑体" pitchFamily="49" charset="-122"/>
              </a:rPr>
              <a:t>ind_cname</a:t>
            </a:r>
            <a:r>
              <a:rPr lang="zh-CN" altLang="en-US" sz="2800" smtClean="0">
                <a:latin typeface="黑体" pitchFamily="49" charset="-122"/>
                <a:ea typeface="黑体" pitchFamily="49" charset="-122"/>
              </a:rPr>
              <a:t>索引。</a:t>
            </a:r>
          </a:p>
          <a:p>
            <a:pPr lvl="2" eaLnBrk="1" hangingPunct="1">
              <a:lnSpc>
                <a:spcPct val="120000"/>
              </a:lnSpc>
              <a:buFont typeface="Wingdings" pitchFamily="2" charset="2"/>
              <a:buNone/>
            </a:pPr>
            <a:r>
              <a:rPr lang="zh-CN" altLang="en-US" sz="2800" smtClean="0">
                <a:latin typeface="黑体" pitchFamily="49" charset="-122"/>
                <a:ea typeface="黑体" pitchFamily="49" charset="-122"/>
              </a:rPr>
              <a:t>	  </a:t>
            </a:r>
            <a:r>
              <a:rPr lang="en-US" altLang="zh-CN" sz="2800" smtClean="0">
                <a:latin typeface="黑体" pitchFamily="49" charset="-122"/>
                <a:ea typeface="黑体" pitchFamily="49" charset="-122"/>
              </a:rPr>
              <a:t>DROP INDEX ind_cname</a:t>
            </a:r>
            <a:r>
              <a:rPr lang="zh-CN" altLang="en-US" sz="2800" smtClean="0">
                <a:latin typeface="黑体" pitchFamily="49" charset="-122"/>
                <a:ea typeface="黑体" pitchFamily="49" charset="-122"/>
              </a:rPr>
              <a:t>；</a:t>
            </a:r>
          </a:p>
        </p:txBody>
      </p:sp>
      <p:sp>
        <p:nvSpPr>
          <p:cNvPr id="32772" name="Rectangle 2"/>
          <p:cNvSpPr txBox="1">
            <a:spLocks noChangeArrowheads="1"/>
          </p:cNvSpPr>
          <p:nvPr/>
        </p:nvSpPr>
        <p:spPr bwMode="auto">
          <a:xfrm>
            <a:off x="971550" y="260350"/>
            <a:ext cx="7204075"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eaLnBrk="1" hangingPunct="1"/>
            <a:r>
              <a:rPr kumimoji="1" lang="en-US" altLang="zh-CN" sz="3600" b="0">
                <a:solidFill>
                  <a:schemeClr val="bg1"/>
                </a:solidFill>
                <a:latin typeface="黑体" pitchFamily="49" charset="-122"/>
                <a:ea typeface="黑体" pitchFamily="49" charset="-122"/>
              </a:rPr>
              <a:t>3.3 SQL</a:t>
            </a:r>
            <a:r>
              <a:rPr kumimoji="1" lang="zh-CN" altLang="en-US" sz="3600" b="0">
                <a:solidFill>
                  <a:schemeClr val="bg1"/>
                </a:solidFill>
                <a:latin typeface="黑体" pitchFamily="49" charset="-122"/>
                <a:ea typeface="黑体" pitchFamily="49" charset="-122"/>
              </a:rPr>
              <a:t>数据定义</a:t>
            </a: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042988" y="260350"/>
            <a:ext cx="7721600" cy="720725"/>
          </a:xfrm>
        </p:spPr>
        <p:txBody>
          <a:bodyPr/>
          <a:lstStyle/>
          <a:p>
            <a:pPr eaLnBrk="1" hangingPunct="1"/>
            <a:r>
              <a:rPr lang="en-US" altLang="zh-CN" smtClean="0">
                <a:latin typeface="黑体" pitchFamily="49" charset="-122"/>
              </a:rPr>
              <a:t>3.4  </a:t>
            </a:r>
            <a:r>
              <a:rPr lang="zh-CN" altLang="en-US" smtClean="0">
                <a:latin typeface="黑体" pitchFamily="49" charset="-122"/>
              </a:rPr>
              <a:t>查  询 </a:t>
            </a:r>
          </a:p>
        </p:txBody>
      </p:sp>
      <p:sp>
        <p:nvSpPr>
          <p:cNvPr id="33795" name="Rectangle 3"/>
          <p:cNvSpPr>
            <a:spLocks noGrp="1" noChangeArrowheads="1"/>
          </p:cNvSpPr>
          <p:nvPr>
            <p:ph type="body" idx="1"/>
          </p:nvPr>
        </p:nvSpPr>
        <p:spPr>
          <a:xfrm>
            <a:off x="1835150" y="1700213"/>
            <a:ext cx="5108575" cy="3667125"/>
          </a:xfrm>
        </p:spPr>
        <p:txBody>
          <a:bodyPr/>
          <a:lstStyle/>
          <a:p>
            <a:pPr algn="just" eaLnBrk="1" hangingPunct="1">
              <a:buFont typeface="Wingdings" pitchFamily="2" charset="2"/>
              <a:buNone/>
            </a:pPr>
            <a:r>
              <a:rPr lang="en-US" altLang="zh-CN" smtClean="0">
                <a:solidFill>
                  <a:srgbClr val="FF0000"/>
                </a:solidFill>
                <a:latin typeface="黑体" pitchFamily="49" charset="-122"/>
                <a:ea typeface="黑体" pitchFamily="49" charset="-122"/>
              </a:rPr>
              <a:t>3.4.1 </a:t>
            </a:r>
            <a:r>
              <a:rPr lang="zh-CN" altLang="en-US" smtClean="0">
                <a:solidFill>
                  <a:srgbClr val="FF0000"/>
                </a:solidFill>
                <a:latin typeface="黑体" pitchFamily="49" charset="-122"/>
                <a:ea typeface="黑体" pitchFamily="49" charset="-122"/>
              </a:rPr>
              <a:t>概述</a:t>
            </a:r>
          </a:p>
          <a:p>
            <a:pPr algn="just" eaLnBrk="1" hangingPunct="1">
              <a:buFont typeface="Wingdings" pitchFamily="2" charset="2"/>
              <a:buNone/>
            </a:pPr>
            <a:r>
              <a:rPr lang="en-US" altLang="zh-CN" smtClean="0">
                <a:latin typeface="黑体" pitchFamily="49" charset="-122"/>
                <a:ea typeface="黑体" pitchFamily="49" charset="-122"/>
              </a:rPr>
              <a:t>3.4.2 </a:t>
            </a:r>
            <a:r>
              <a:rPr lang="zh-CN" altLang="en-US" smtClean="0">
                <a:latin typeface="黑体" pitchFamily="49" charset="-122"/>
                <a:ea typeface="黑体" pitchFamily="49" charset="-122"/>
              </a:rPr>
              <a:t>单表查询</a:t>
            </a:r>
          </a:p>
          <a:p>
            <a:pPr algn="just" eaLnBrk="1" hangingPunct="1">
              <a:buFont typeface="Wingdings" pitchFamily="2" charset="2"/>
              <a:buNone/>
            </a:pPr>
            <a:r>
              <a:rPr lang="en-US" altLang="zh-CN" smtClean="0">
                <a:latin typeface="黑体" pitchFamily="49" charset="-122"/>
                <a:ea typeface="黑体" pitchFamily="49" charset="-122"/>
              </a:rPr>
              <a:t>3.4.4 </a:t>
            </a:r>
            <a:r>
              <a:rPr lang="zh-CN" altLang="en-US" smtClean="0">
                <a:latin typeface="黑体" pitchFamily="49" charset="-122"/>
                <a:ea typeface="黑体" pitchFamily="49" charset="-122"/>
              </a:rPr>
              <a:t>连接查询</a:t>
            </a:r>
          </a:p>
          <a:p>
            <a:pPr algn="just" eaLnBrk="1" hangingPunct="1">
              <a:buFont typeface="Wingdings" pitchFamily="2" charset="2"/>
              <a:buNone/>
            </a:pPr>
            <a:r>
              <a:rPr lang="en-US" altLang="zh-CN" smtClean="0">
                <a:latin typeface="黑体" pitchFamily="49" charset="-122"/>
                <a:ea typeface="黑体" pitchFamily="49" charset="-122"/>
              </a:rPr>
              <a:t>3.4.4 </a:t>
            </a:r>
            <a:r>
              <a:rPr lang="zh-CN" altLang="en-US" smtClean="0">
                <a:latin typeface="黑体" pitchFamily="49" charset="-122"/>
                <a:ea typeface="黑体" pitchFamily="49" charset="-122"/>
              </a:rPr>
              <a:t>嵌套查询</a:t>
            </a:r>
          </a:p>
          <a:p>
            <a:pPr algn="just" eaLnBrk="1" hangingPunct="1">
              <a:buFont typeface="Wingdings" pitchFamily="2" charset="2"/>
              <a:buNone/>
            </a:pPr>
            <a:r>
              <a:rPr lang="en-US" altLang="zh-CN" smtClean="0">
                <a:latin typeface="黑体" pitchFamily="49" charset="-122"/>
                <a:ea typeface="黑体" pitchFamily="49" charset="-122"/>
              </a:rPr>
              <a:t>3.4.5 </a:t>
            </a:r>
            <a:r>
              <a:rPr lang="zh-CN" altLang="en-US" smtClean="0">
                <a:latin typeface="黑体" pitchFamily="49" charset="-122"/>
                <a:ea typeface="黑体" pitchFamily="49" charset="-122"/>
              </a:rPr>
              <a:t>集合查询</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827088" y="188913"/>
            <a:ext cx="6119812" cy="863600"/>
          </a:xfrm>
        </p:spPr>
        <p:txBody>
          <a:bodyPr/>
          <a:lstStyle/>
          <a:p>
            <a:pPr eaLnBrk="1" hangingPunct="1"/>
            <a:r>
              <a:rPr lang="en-US" altLang="zh-CN" smtClean="0">
                <a:latin typeface="黑体" pitchFamily="49" charset="-122"/>
              </a:rPr>
              <a:t>3.4.1 </a:t>
            </a:r>
            <a:r>
              <a:rPr lang="zh-CN" altLang="en-US" smtClean="0">
                <a:latin typeface="黑体" pitchFamily="49" charset="-122"/>
              </a:rPr>
              <a:t>概述 </a:t>
            </a:r>
          </a:p>
        </p:txBody>
      </p:sp>
      <p:sp>
        <p:nvSpPr>
          <p:cNvPr id="34819" name="Rectangle 3"/>
          <p:cNvSpPr>
            <a:spLocks noGrp="1" noChangeArrowheads="1"/>
          </p:cNvSpPr>
          <p:nvPr>
            <p:ph type="body" idx="1"/>
          </p:nvPr>
        </p:nvSpPr>
        <p:spPr>
          <a:xfrm>
            <a:off x="539750" y="1987550"/>
            <a:ext cx="8280400" cy="4321175"/>
          </a:xfrm>
        </p:spPr>
        <p:txBody>
          <a:bodyPr/>
          <a:lstStyle/>
          <a:p>
            <a:pPr algn="just" eaLnBrk="1" hangingPunct="1"/>
            <a:r>
              <a:rPr lang="zh-CN" altLang="en-US" sz="2400" smtClean="0">
                <a:latin typeface="黑体" pitchFamily="49" charset="-122"/>
                <a:ea typeface="黑体" pitchFamily="49" charset="-122"/>
              </a:rPr>
              <a:t>语句格式</a:t>
            </a:r>
          </a:p>
          <a:p>
            <a:pPr marL="819150" lvl="1" algn="just" eaLnBrk="1" hangingPunct="1">
              <a:buFont typeface="Wingdings" pitchFamily="2" charset="2"/>
              <a:buNone/>
            </a:pPr>
            <a:r>
              <a:rPr lang="en-US" altLang="zh-CN" sz="2400" smtClean="0">
                <a:solidFill>
                  <a:srgbClr val="FF0000"/>
                </a:solidFill>
                <a:latin typeface="黑体" pitchFamily="49" charset="-122"/>
                <a:ea typeface="黑体" pitchFamily="49" charset="-122"/>
              </a:rPr>
              <a:t>SELECT</a:t>
            </a:r>
            <a:r>
              <a:rPr lang="en-US" altLang="zh-CN" sz="2400" smtClean="0">
                <a:latin typeface="黑体" pitchFamily="49" charset="-122"/>
                <a:ea typeface="黑体" pitchFamily="49" charset="-122"/>
              </a:rPr>
              <a:t> [ALL|DISTINCT] &lt;</a:t>
            </a:r>
            <a:r>
              <a:rPr lang="zh-CN" altLang="en-US" sz="2400" smtClean="0">
                <a:latin typeface="黑体" pitchFamily="49" charset="-122"/>
                <a:ea typeface="黑体" pitchFamily="49" charset="-122"/>
              </a:rPr>
              <a:t>目标列表达式</a:t>
            </a:r>
            <a:r>
              <a:rPr lang="en-US" altLang="zh-CN" sz="2400" smtClean="0">
                <a:latin typeface="黑体" pitchFamily="49" charset="-122"/>
                <a:ea typeface="黑体" pitchFamily="49" charset="-122"/>
              </a:rPr>
              <a:t>&gt;[</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&lt;</a:t>
            </a:r>
            <a:r>
              <a:rPr lang="zh-CN" altLang="en-US" sz="2400" smtClean="0">
                <a:latin typeface="黑体" pitchFamily="49" charset="-122"/>
                <a:ea typeface="黑体" pitchFamily="49" charset="-122"/>
              </a:rPr>
              <a:t>目标列表达式</a:t>
            </a:r>
            <a:r>
              <a:rPr lang="en-US" altLang="zh-CN" sz="2400" smtClean="0">
                <a:latin typeface="黑体" pitchFamily="49" charset="-122"/>
                <a:ea typeface="黑体" pitchFamily="49" charset="-122"/>
              </a:rPr>
              <a:t>&gt;] </a:t>
            </a:r>
            <a:r>
              <a:rPr lang="en-US" altLang="zh-CN" sz="2400" smtClean="0">
                <a:latin typeface="Courier New" pitchFamily="49" charset="0"/>
                <a:ea typeface="黑体" pitchFamily="49" charset="-122"/>
              </a:rPr>
              <a:t>…</a:t>
            </a:r>
            <a:endParaRPr lang="en-US" altLang="zh-CN" sz="2400" smtClean="0">
              <a:latin typeface="黑体" pitchFamily="49" charset="-122"/>
              <a:ea typeface="黑体" pitchFamily="49" charset="-122"/>
            </a:endParaRPr>
          </a:p>
          <a:p>
            <a:pPr marL="819150" lvl="1" algn="just" eaLnBrk="1" hangingPunct="1">
              <a:buFont typeface="Wingdings" pitchFamily="2" charset="2"/>
              <a:buNone/>
            </a:pPr>
            <a:r>
              <a:rPr lang="en-US" altLang="zh-CN" sz="2400" smtClean="0">
                <a:solidFill>
                  <a:srgbClr val="FF0000"/>
                </a:solidFill>
                <a:latin typeface="黑体" pitchFamily="49" charset="-122"/>
                <a:ea typeface="黑体" pitchFamily="49" charset="-122"/>
              </a:rPr>
              <a:t>FROM</a:t>
            </a:r>
            <a:r>
              <a:rPr lang="en-US" altLang="zh-CN" sz="2400" smtClean="0">
                <a:solidFill>
                  <a:srgbClr val="D75B5B"/>
                </a:solidFill>
                <a:latin typeface="黑体" pitchFamily="49" charset="-122"/>
                <a:ea typeface="黑体" pitchFamily="49" charset="-122"/>
              </a:rPr>
              <a:t> </a:t>
            </a:r>
            <a:r>
              <a:rPr lang="en-US" altLang="zh-CN" sz="2400" smtClean="0">
                <a:latin typeface="黑体" pitchFamily="49" charset="-122"/>
                <a:ea typeface="黑体" pitchFamily="49" charset="-122"/>
              </a:rPr>
              <a:t>&lt;</a:t>
            </a:r>
            <a:r>
              <a:rPr lang="zh-CN" altLang="en-US" sz="2400" smtClean="0">
                <a:latin typeface="黑体" pitchFamily="49" charset="-122"/>
                <a:ea typeface="黑体" pitchFamily="49" charset="-122"/>
              </a:rPr>
              <a:t>表名或视图名</a:t>
            </a:r>
            <a:r>
              <a:rPr lang="en-US" altLang="zh-CN" sz="2400" smtClean="0">
                <a:latin typeface="黑体" pitchFamily="49" charset="-122"/>
                <a:ea typeface="黑体" pitchFamily="49" charset="-122"/>
              </a:rPr>
              <a:t>&gt;[</a:t>
            </a: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&lt;</a:t>
            </a:r>
            <a:r>
              <a:rPr lang="zh-CN" altLang="en-US" sz="2400" smtClean="0">
                <a:latin typeface="黑体" pitchFamily="49" charset="-122"/>
                <a:ea typeface="黑体" pitchFamily="49" charset="-122"/>
              </a:rPr>
              <a:t>表名或视图名</a:t>
            </a:r>
            <a:r>
              <a:rPr lang="en-US" altLang="zh-CN" sz="2400" smtClean="0">
                <a:latin typeface="黑体" pitchFamily="49" charset="-122"/>
                <a:ea typeface="黑体" pitchFamily="49" charset="-122"/>
              </a:rPr>
              <a:t>&gt; ] </a:t>
            </a:r>
            <a:r>
              <a:rPr lang="en-US" altLang="zh-CN" sz="2400" smtClean="0">
                <a:latin typeface="Courier New" pitchFamily="49" charset="0"/>
                <a:ea typeface="黑体" pitchFamily="49" charset="-122"/>
              </a:rPr>
              <a:t>…</a:t>
            </a:r>
            <a:endParaRPr lang="en-US" altLang="zh-CN" sz="2400" smtClean="0">
              <a:latin typeface="黑体" pitchFamily="49" charset="-122"/>
              <a:ea typeface="黑体" pitchFamily="49" charset="-122"/>
            </a:endParaRPr>
          </a:p>
          <a:p>
            <a:pPr marL="819150" lvl="1" algn="just" eaLnBrk="1" hangingPunct="1">
              <a:buFont typeface="Wingdings" pitchFamily="2" charset="2"/>
              <a:buNone/>
            </a:pPr>
            <a:r>
              <a:rPr lang="en-US" altLang="zh-CN" sz="2400" smtClean="0">
                <a:latin typeface="黑体" pitchFamily="49" charset="-122"/>
                <a:ea typeface="黑体" pitchFamily="49" charset="-122"/>
              </a:rPr>
              <a:t>[ </a:t>
            </a:r>
            <a:r>
              <a:rPr lang="en-US" altLang="zh-CN" sz="2400" smtClean="0">
                <a:solidFill>
                  <a:srgbClr val="FF0000"/>
                </a:solidFill>
                <a:latin typeface="黑体" pitchFamily="49" charset="-122"/>
                <a:ea typeface="黑体" pitchFamily="49" charset="-122"/>
              </a:rPr>
              <a:t>WHERE</a:t>
            </a:r>
            <a:r>
              <a:rPr lang="en-US" altLang="zh-CN" sz="2400" smtClean="0">
                <a:latin typeface="黑体" pitchFamily="49" charset="-122"/>
                <a:ea typeface="黑体" pitchFamily="49" charset="-122"/>
              </a:rPr>
              <a:t> &lt;</a:t>
            </a:r>
            <a:r>
              <a:rPr lang="zh-CN" altLang="en-US" sz="2400" smtClean="0">
                <a:latin typeface="黑体" pitchFamily="49" charset="-122"/>
                <a:ea typeface="黑体" pitchFamily="49" charset="-122"/>
              </a:rPr>
              <a:t>条件表达式</a:t>
            </a:r>
            <a:r>
              <a:rPr lang="en-US" altLang="zh-CN" sz="2400" smtClean="0">
                <a:latin typeface="黑体" pitchFamily="49" charset="-122"/>
                <a:ea typeface="黑体" pitchFamily="49" charset="-122"/>
              </a:rPr>
              <a:t>&gt; ]</a:t>
            </a:r>
          </a:p>
          <a:p>
            <a:pPr marL="819150" lvl="1" algn="just" eaLnBrk="1" hangingPunct="1">
              <a:buFont typeface="Wingdings" pitchFamily="2" charset="2"/>
              <a:buNone/>
            </a:pPr>
            <a:r>
              <a:rPr lang="en-US" altLang="zh-CN" sz="2400" smtClean="0">
                <a:latin typeface="黑体" pitchFamily="49" charset="-122"/>
                <a:ea typeface="黑体" pitchFamily="49" charset="-122"/>
              </a:rPr>
              <a:t>[ </a:t>
            </a:r>
            <a:r>
              <a:rPr lang="en-US" altLang="zh-CN" sz="2400" smtClean="0">
                <a:solidFill>
                  <a:srgbClr val="FF0000"/>
                </a:solidFill>
                <a:latin typeface="黑体" pitchFamily="49" charset="-122"/>
                <a:ea typeface="黑体" pitchFamily="49" charset="-122"/>
              </a:rPr>
              <a:t>GROUP BY </a:t>
            </a:r>
            <a:r>
              <a:rPr lang="en-US" altLang="zh-CN" sz="2400" smtClean="0">
                <a:latin typeface="黑体" pitchFamily="49" charset="-122"/>
                <a:ea typeface="黑体" pitchFamily="49" charset="-122"/>
              </a:rPr>
              <a:t>&lt;</a:t>
            </a:r>
            <a:r>
              <a:rPr lang="zh-CN" altLang="en-US" sz="2400" smtClean="0">
                <a:latin typeface="黑体" pitchFamily="49" charset="-122"/>
                <a:ea typeface="黑体" pitchFamily="49" charset="-122"/>
              </a:rPr>
              <a:t>列名</a:t>
            </a:r>
            <a:r>
              <a:rPr lang="en-US" altLang="zh-CN" sz="2400" smtClean="0">
                <a:latin typeface="黑体" pitchFamily="49" charset="-122"/>
                <a:ea typeface="黑体" pitchFamily="49" charset="-122"/>
              </a:rPr>
              <a:t>1&gt; [ </a:t>
            </a:r>
            <a:r>
              <a:rPr lang="en-US" altLang="zh-CN" sz="2400" smtClean="0">
                <a:solidFill>
                  <a:srgbClr val="FF0000"/>
                </a:solidFill>
                <a:latin typeface="黑体" pitchFamily="49" charset="-122"/>
                <a:ea typeface="黑体" pitchFamily="49" charset="-122"/>
              </a:rPr>
              <a:t>HAVING</a:t>
            </a:r>
            <a:r>
              <a:rPr lang="en-US" altLang="zh-CN" sz="2400" smtClean="0">
                <a:latin typeface="黑体" pitchFamily="49" charset="-122"/>
                <a:ea typeface="黑体" pitchFamily="49" charset="-122"/>
              </a:rPr>
              <a:t> &lt;</a:t>
            </a:r>
            <a:r>
              <a:rPr lang="zh-CN" altLang="en-US" sz="2400" smtClean="0">
                <a:latin typeface="黑体" pitchFamily="49" charset="-122"/>
                <a:ea typeface="黑体" pitchFamily="49" charset="-122"/>
              </a:rPr>
              <a:t>条件表达式</a:t>
            </a:r>
            <a:r>
              <a:rPr lang="en-US" altLang="zh-CN" sz="2400" smtClean="0">
                <a:latin typeface="黑体" pitchFamily="49" charset="-122"/>
                <a:ea typeface="黑体" pitchFamily="49" charset="-122"/>
              </a:rPr>
              <a:t>&gt; ] ]</a:t>
            </a:r>
          </a:p>
          <a:p>
            <a:pPr marL="819150" lvl="1" algn="just" eaLnBrk="1" hangingPunct="1">
              <a:buFont typeface="Wingdings" pitchFamily="2" charset="2"/>
              <a:buNone/>
            </a:pPr>
            <a:r>
              <a:rPr lang="en-US" altLang="zh-CN" sz="2400" smtClean="0">
                <a:latin typeface="黑体" pitchFamily="49" charset="-122"/>
                <a:ea typeface="黑体" pitchFamily="49" charset="-122"/>
              </a:rPr>
              <a:t>[ </a:t>
            </a:r>
            <a:r>
              <a:rPr lang="en-US" altLang="zh-CN" sz="2400" smtClean="0">
                <a:solidFill>
                  <a:srgbClr val="FF0000"/>
                </a:solidFill>
                <a:latin typeface="黑体" pitchFamily="49" charset="-122"/>
                <a:ea typeface="黑体" pitchFamily="49" charset="-122"/>
              </a:rPr>
              <a:t>ORDER BY</a:t>
            </a:r>
            <a:r>
              <a:rPr lang="en-US" altLang="zh-CN" sz="2400" smtClean="0">
                <a:latin typeface="黑体" pitchFamily="49" charset="-122"/>
                <a:ea typeface="黑体" pitchFamily="49" charset="-122"/>
              </a:rPr>
              <a:t> &lt;</a:t>
            </a:r>
            <a:r>
              <a:rPr lang="zh-CN" altLang="en-US" sz="2400" smtClean="0">
                <a:latin typeface="黑体" pitchFamily="49" charset="-122"/>
                <a:ea typeface="黑体" pitchFamily="49" charset="-122"/>
              </a:rPr>
              <a:t>列名</a:t>
            </a:r>
            <a:r>
              <a:rPr lang="en-US" altLang="zh-CN" sz="2400" smtClean="0">
                <a:latin typeface="黑体" pitchFamily="49" charset="-122"/>
                <a:ea typeface="黑体" pitchFamily="49" charset="-122"/>
              </a:rPr>
              <a:t>2&gt; [ ASC|DESC ] ]</a:t>
            </a:r>
            <a:r>
              <a:rPr lang="zh-CN" altLang="en-US" sz="2400" smtClean="0">
                <a:latin typeface="黑体" pitchFamily="49" charset="-122"/>
                <a:ea typeface="黑体" pitchFamily="49" charset="-122"/>
              </a:rPr>
              <a:t>；</a:t>
            </a:r>
          </a:p>
          <a:p>
            <a:pPr marL="819150" lvl="1" algn="just" eaLnBrk="1" hangingPunct="1">
              <a:buFont typeface="Wingdings" pitchFamily="2" charset="2"/>
              <a:buNone/>
            </a:pPr>
            <a:r>
              <a:rPr lang="zh-CN" altLang="en-US" sz="2400" smtClean="0">
                <a:latin typeface="Courier New" pitchFamily="49" charset="0"/>
                <a:ea typeface="黑体" pitchFamily="49" charset="-122"/>
              </a:rPr>
              <a:t> </a:t>
            </a:r>
            <a:endParaRPr lang="zh-CN" altLang="en-US" sz="2400" smtClean="0">
              <a:latin typeface="黑体" pitchFamily="49" charset="-122"/>
              <a:ea typeface="黑体" pitchFamily="49" charset="-122"/>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971550" y="260350"/>
            <a:ext cx="7793038" cy="792163"/>
          </a:xfrm>
        </p:spPr>
        <p:txBody>
          <a:bodyPr/>
          <a:lstStyle/>
          <a:p>
            <a:pPr eaLnBrk="1" hangingPunct="1"/>
            <a:r>
              <a:rPr lang="en-US" altLang="zh-CN" smtClean="0">
                <a:latin typeface="黑体" pitchFamily="49" charset="-122"/>
              </a:rPr>
              <a:t>3.4.2  </a:t>
            </a:r>
            <a:r>
              <a:rPr lang="zh-CN" altLang="en-US" smtClean="0">
                <a:latin typeface="黑体" pitchFamily="49" charset="-122"/>
              </a:rPr>
              <a:t>单表查询 </a:t>
            </a:r>
          </a:p>
        </p:txBody>
      </p:sp>
      <p:sp>
        <p:nvSpPr>
          <p:cNvPr id="35843" name="Rectangle 3"/>
          <p:cNvSpPr>
            <a:spLocks noGrp="1" noChangeArrowheads="1"/>
          </p:cNvSpPr>
          <p:nvPr>
            <p:ph type="body" idx="1"/>
          </p:nvPr>
        </p:nvSpPr>
        <p:spPr>
          <a:xfrm>
            <a:off x="611188" y="1412875"/>
            <a:ext cx="7772400" cy="4114800"/>
          </a:xfrm>
        </p:spPr>
        <p:txBody>
          <a:bodyPr/>
          <a:lstStyle/>
          <a:p>
            <a:pPr algn="just" eaLnBrk="1" hangingPunct="1">
              <a:lnSpc>
                <a:spcPct val="130000"/>
              </a:lnSpc>
              <a:buFont typeface="Wingdings" pitchFamily="2" charset="2"/>
              <a:buNone/>
            </a:pPr>
            <a:r>
              <a:rPr lang="en-US" altLang="zh-CN" sz="2400" smtClean="0">
                <a:latin typeface="黑体" pitchFamily="49" charset="-122"/>
                <a:ea typeface="黑体" pitchFamily="49" charset="-122"/>
              </a:rPr>
              <a:t>    </a:t>
            </a:r>
            <a:r>
              <a:rPr lang="zh-CN" altLang="en-US" sz="2400" smtClean="0">
                <a:latin typeface="黑体" pitchFamily="49" charset="-122"/>
                <a:ea typeface="黑体" pitchFamily="49" charset="-122"/>
              </a:rPr>
              <a:t>查询仅涉及一个表，是一种最简单的查询操作</a:t>
            </a:r>
            <a:endParaRPr lang="zh-CN" altLang="en-US" sz="2800" smtClean="0">
              <a:latin typeface="黑体" pitchFamily="49" charset="-122"/>
              <a:ea typeface="黑体" pitchFamily="49" charset="-122"/>
            </a:endParaRPr>
          </a:p>
          <a:p>
            <a:pPr lvl="1" algn="just" eaLnBrk="1" hangingPunct="1">
              <a:lnSpc>
                <a:spcPct val="130000"/>
              </a:lnSpc>
              <a:buFont typeface="Wingdings" pitchFamily="2" charset="2"/>
              <a:buNone/>
            </a:pPr>
            <a:r>
              <a:rPr lang="zh-CN" altLang="en-US" sz="2400" smtClean="0">
                <a:latin typeface="黑体" pitchFamily="49" charset="-122"/>
                <a:ea typeface="黑体" pitchFamily="49" charset="-122"/>
              </a:rPr>
              <a:t>一、选择表中的若干列</a:t>
            </a:r>
          </a:p>
          <a:p>
            <a:pPr lvl="1" algn="just" eaLnBrk="1" hangingPunct="1">
              <a:lnSpc>
                <a:spcPct val="130000"/>
              </a:lnSpc>
              <a:buFont typeface="Wingdings" pitchFamily="2" charset="2"/>
              <a:buNone/>
            </a:pPr>
            <a:r>
              <a:rPr lang="zh-CN" altLang="en-US" sz="2400" smtClean="0">
                <a:latin typeface="黑体" pitchFamily="49" charset="-122"/>
                <a:ea typeface="黑体" pitchFamily="49" charset="-122"/>
              </a:rPr>
              <a:t>二、选择表中的若干元组</a:t>
            </a:r>
          </a:p>
          <a:p>
            <a:pPr lvl="1" algn="just" eaLnBrk="1" hangingPunct="1">
              <a:lnSpc>
                <a:spcPct val="130000"/>
              </a:lnSpc>
              <a:buFont typeface="Wingdings" pitchFamily="2" charset="2"/>
              <a:buNone/>
            </a:pPr>
            <a:r>
              <a:rPr lang="zh-CN" altLang="en-US" sz="2400" smtClean="0">
                <a:latin typeface="黑体" pitchFamily="49" charset="-122"/>
                <a:ea typeface="黑体" pitchFamily="49" charset="-122"/>
              </a:rPr>
              <a:t>三、对查询结果排序</a:t>
            </a:r>
          </a:p>
          <a:p>
            <a:pPr lvl="1" algn="just" eaLnBrk="1" hangingPunct="1">
              <a:lnSpc>
                <a:spcPct val="130000"/>
              </a:lnSpc>
              <a:buFont typeface="Wingdings" pitchFamily="2" charset="2"/>
              <a:buNone/>
            </a:pPr>
            <a:r>
              <a:rPr lang="zh-CN" altLang="en-US" sz="2400" smtClean="0">
                <a:latin typeface="黑体" pitchFamily="49" charset="-122"/>
                <a:ea typeface="黑体" pitchFamily="49" charset="-122"/>
              </a:rPr>
              <a:t>四、使用集函数</a:t>
            </a:r>
          </a:p>
          <a:p>
            <a:pPr lvl="1" eaLnBrk="1" hangingPunct="1">
              <a:lnSpc>
                <a:spcPct val="130000"/>
              </a:lnSpc>
              <a:buFont typeface="Wingdings" pitchFamily="2" charset="2"/>
              <a:buNone/>
            </a:pPr>
            <a:r>
              <a:rPr lang="zh-CN" altLang="en-US" sz="2400" smtClean="0">
                <a:latin typeface="黑体" pitchFamily="49" charset="-122"/>
                <a:ea typeface="黑体" pitchFamily="49" charset="-122"/>
              </a:rPr>
              <a:t>五、对查询结果分组</a:t>
            </a:r>
            <a:r>
              <a:rPr lang="zh-CN" altLang="en-US" sz="2000" smtClean="0">
                <a:latin typeface="黑体" pitchFamily="49" charset="-122"/>
                <a:ea typeface="黑体" pitchFamily="49" charset="-122"/>
              </a:rPr>
              <a:t> </a:t>
            </a: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100138" y="260350"/>
            <a:ext cx="7793037" cy="792163"/>
          </a:xfrm>
        </p:spPr>
        <p:txBody>
          <a:bodyPr/>
          <a:lstStyle/>
          <a:p>
            <a:pPr eaLnBrk="1" hangingPunct="1"/>
            <a:r>
              <a:rPr lang="en-US" altLang="zh-CN" smtClean="0">
                <a:latin typeface="黑体" pitchFamily="49" charset="-122"/>
              </a:rPr>
              <a:t>3.4.2  </a:t>
            </a:r>
            <a:r>
              <a:rPr lang="zh-CN" altLang="en-US" smtClean="0">
                <a:latin typeface="黑体" pitchFamily="49" charset="-122"/>
              </a:rPr>
              <a:t>单表查询 </a:t>
            </a:r>
          </a:p>
        </p:txBody>
      </p:sp>
      <p:sp>
        <p:nvSpPr>
          <p:cNvPr id="36867" name="Rectangle 3"/>
          <p:cNvSpPr>
            <a:spLocks noGrp="1" noChangeArrowheads="1"/>
          </p:cNvSpPr>
          <p:nvPr>
            <p:ph type="body" idx="1"/>
          </p:nvPr>
        </p:nvSpPr>
        <p:spPr>
          <a:xfrm>
            <a:off x="684213" y="1844675"/>
            <a:ext cx="7772400" cy="4114800"/>
          </a:xfrm>
        </p:spPr>
        <p:txBody>
          <a:bodyPr/>
          <a:lstStyle/>
          <a:p>
            <a:pPr algn="just" eaLnBrk="1" hangingPunct="1">
              <a:lnSpc>
                <a:spcPct val="130000"/>
              </a:lnSpc>
              <a:buFont typeface="Wingdings" pitchFamily="2" charset="2"/>
              <a:buNone/>
            </a:pPr>
            <a:r>
              <a:rPr lang="zh-CN" altLang="en-US" smtClean="0">
                <a:latin typeface="黑体" pitchFamily="49" charset="-122"/>
                <a:ea typeface="黑体" pitchFamily="49" charset="-122"/>
              </a:rPr>
              <a:t>一、选择表中的若干列</a:t>
            </a:r>
          </a:p>
          <a:p>
            <a:pPr algn="just" eaLnBrk="1" hangingPunct="1">
              <a:lnSpc>
                <a:spcPct val="130000"/>
              </a:lnSpc>
              <a:buFont typeface="Wingdings" pitchFamily="2" charset="2"/>
              <a:buNone/>
            </a:pPr>
            <a:r>
              <a:rPr lang="zh-CN" altLang="en-US" smtClean="0">
                <a:latin typeface="黑体" pitchFamily="49" charset="-122"/>
                <a:ea typeface="黑体" pitchFamily="49" charset="-122"/>
              </a:rPr>
              <a:t>  </a:t>
            </a:r>
            <a:r>
              <a:rPr lang="en-US" altLang="zh-CN" smtClean="0">
                <a:latin typeface="黑体" pitchFamily="49" charset="-122"/>
                <a:ea typeface="黑体" pitchFamily="49" charset="-122"/>
              </a:rPr>
              <a:t>1. </a:t>
            </a:r>
            <a:r>
              <a:rPr lang="zh-CN" altLang="en-US" smtClean="0">
                <a:latin typeface="黑体" pitchFamily="49" charset="-122"/>
                <a:ea typeface="黑体" pitchFamily="49" charset="-122"/>
              </a:rPr>
              <a:t>查询指定列</a:t>
            </a:r>
          </a:p>
          <a:p>
            <a:pPr eaLnBrk="1" hangingPunct="1">
              <a:buFont typeface="Wingdings" pitchFamily="2" charset="2"/>
              <a:buNone/>
            </a:pPr>
            <a:r>
              <a:rPr lang="zh-CN" altLang="en-US" smtClean="0">
                <a:latin typeface="黑体" pitchFamily="49" charset="-122"/>
                <a:ea typeface="黑体" pitchFamily="49" charset="-122"/>
              </a:rPr>
              <a:t>  </a:t>
            </a:r>
            <a:r>
              <a:rPr lang="en-US" altLang="zh-CN" smtClean="0">
                <a:latin typeface="黑体" pitchFamily="49" charset="-122"/>
                <a:ea typeface="黑体" pitchFamily="49" charset="-122"/>
              </a:rPr>
              <a:t>2. </a:t>
            </a:r>
            <a:r>
              <a:rPr lang="zh-CN" altLang="en-US" smtClean="0">
                <a:latin typeface="黑体" pitchFamily="49" charset="-122"/>
                <a:ea typeface="黑体" pitchFamily="49" charset="-122"/>
              </a:rPr>
              <a:t>查询全部列</a:t>
            </a:r>
          </a:p>
          <a:p>
            <a:pPr eaLnBrk="1" hangingPunct="1">
              <a:buFont typeface="Wingdings" pitchFamily="2" charset="2"/>
              <a:buNone/>
            </a:pPr>
            <a:r>
              <a:rPr lang="zh-CN" altLang="en-US" smtClean="0">
                <a:latin typeface="黑体" pitchFamily="49" charset="-122"/>
                <a:ea typeface="黑体" pitchFamily="49" charset="-122"/>
              </a:rPr>
              <a:t>  </a:t>
            </a:r>
            <a:r>
              <a:rPr lang="en-US" altLang="zh-CN" smtClean="0">
                <a:latin typeface="黑体" pitchFamily="49" charset="-122"/>
                <a:ea typeface="黑体" pitchFamily="49" charset="-122"/>
              </a:rPr>
              <a:t>3. </a:t>
            </a:r>
            <a:r>
              <a:rPr lang="zh-CN" altLang="en-US" smtClean="0">
                <a:latin typeface="黑体" pitchFamily="49" charset="-122"/>
                <a:ea typeface="黑体" pitchFamily="49" charset="-122"/>
              </a:rPr>
              <a:t>查询经过计算的值</a:t>
            </a: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971550" y="260350"/>
            <a:ext cx="7793038" cy="720725"/>
          </a:xfrm>
        </p:spPr>
        <p:txBody>
          <a:bodyPr/>
          <a:lstStyle/>
          <a:p>
            <a:pPr eaLnBrk="1" hangingPunct="1"/>
            <a:r>
              <a:rPr lang="en-US" altLang="zh-CN" smtClean="0">
                <a:latin typeface="黑体" pitchFamily="49" charset="-122"/>
              </a:rPr>
              <a:t>3.4.2  </a:t>
            </a:r>
            <a:r>
              <a:rPr lang="zh-CN" altLang="en-US" smtClean="0">
                <a:latin typeface="黑体" pitchFamily="49" charset="-122"/>
              </a:rPr>
              <a:t>单表查询 </a:t>
            </a:r>
          </a:p>
        </p:txBody>
      </p:sp>
      <p:sp>
        <p:nvSpPr>
          <p:cNvPr id="37891" name="Rectangle 3"/>
          <p:cNvSpPr>
            <a:spLocks noGrp="1" noChangeArrowheads="1"/>
          </p:cNvSpPr>
          <p:nvPr>
            <p:ph type="body" idx="1"/>
          </p:nvPr>
        </p:nvSpPr>
        <p:spPr>
          <a:xfrm>
            <a:off x="971550" y="1835150"/>
            <a:ext cx="7272338" cy="4114800"/>
          </a:xfrm>
        </p:spPr>
        <p:txBody>
          <a:bodyPr/>
          <a:lstStyle/>
          <a:p>
            <a:pPr algn="just" eaLnBrk="1" hangingPunct="1">
              <a:lnSpc>
                <a:spcPct val="120000"/>
              </a:lnSpc>
              <a:buFont typeface="Wingdings" pitchFamily="2" charset="2"/>
              <a:buNone/>
            </a:pPr>
            <a:r>
              <a:rPr lang="zh-CN" altLang="en-US" smtClean="0">
                <a:latin typeface="黑体" pitchFamily="49" charset="-122"/>
                <a:ea typeface="黑体" pitchFamily="49" charset="-122"/>
              </a:rPr>
              <a:t>二、选择表中的若干元组</a:t>
            </a:r>
          </a:p>
          <a:p>
            <a:pPr algn="just" eaLnBrk="1" hangingPunct="1">
              <a:lnSpc>
                <a:spcPct val="120000"/>
              </a:lnSpc>
              <a:buFont typeface="Wingdings" pitchFamily="2" charset="2"/>
              <a:buNone/>
            </a:pPr>
            <a:r>
              <a:rPr lang="zh-CN" altLang="en-US" smtClean="0">
                <a:latin typeface="黑体" pitchFamily="49" charset="-122"/>
                <a:ea typeface="黑体" pitchFamily="49" charset="-122"/>
              </a:rPr>
              <a:t>  </a:t>
            </a:r>
            <a:r>
              <a:rPr lang="en-US" altLang="zh-CN" smtClean="0">
                <a:latin typeface="黑体" pitchFamily="49" charset="-122"/>
                <a:ea typeface="黑体" pitchFamily="49" charset="-122"/>
              </a:rPr>
              <a:t>1</a:t>
            </a:r>
            <a:r>
              <a:rPr lang="en-US" altLang="zh-CN" b="1" smtClean="0">
                <a:latin typeface="黑体" pitchFamily="49" charset="-122"/>
                <a:ea typeface="黑体" pitchFamily="49" charset="-122"/>
              </a:rPr>
              <a:t>. </a:t>
            </a:r>
            <a:r>
              <a:rPr lang="zh-CN" altLang="en-US" smtClean="0">
                <a:latin typeface="黑体" pitchFamily="49" charset="-122"/>
                <a:ea typeface="黑体" pitchFamily="49" charset="-122"/>
              </a:rPr>
              <a:t>消除取值重复的行</a:t>
            </a:r>
            <a:r>
              <a:rPr lang="en-US" altLang="zh-CN" smtClean="0">
                <a:latin typeface="黑体" pitchFamily="49" charset="-122"/>
                <a:ea typeface="黑体" pitchFamily="49" charset="-122"/>
              </a:rPr>
              <a:t>(Distinct)</a:t>
            </a:r>
          </a:p>
          <a:p>
            <a:pPr eaLnBrk="1" hangingPunct="1">
              <a:lnSpc>
                <a:spcPct val="120000"/>
              </a:lnSpc>
              <a:buFont typeface="Wingdings" pitchFamily="2" charset="2"/>
              <a:buNone/>
            </a:pPr>
            <a:r>
              <a:rPr lang="en-US" altLang="zh-CN" smtClean="0">
                <a:latin typeface="黑体" pitchFamily="49" charset="-122"/>
                <a:ea typeface="黑体" pitchFamily="49" charset="-122"/>
              </a:rPr>
              <a:t>  2</a:t>
            </a:r>
            <a:r>
              <a:rPr lang="en-US" altLang="zh-CN" b="1" smtClean="0">
                <a:latin typeface="黑体" pitchFamily="49" charset="-122"/>
                <a:ea typeface="黑体" pitchFamily="49" charset="-122"/>
              </a:rPr>
              <a:t>. </a:t>
            </a:r>
            <a:r>
              <a:rPr lang="zh-CN" altLang="en-US" smtClean="0">
                <a:latin typeface="黑体" pitchFamily="49" charset="-122"/>
                <a:ea typeface="黑体" pitchFamily="49" charset="-122"/>
              </a:rPr>
              <a:t>查询满足条件的元组 </a:t>
            </a: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88950" y="1052513"/>
            <a:ext cx="8229600" cy="744537"/>
          </a:xfrm>
        </p:spPr>
        <p:txBody>
          <a:bodyPr/>
          <a:lstStyle/>
          <a:p>
            <a:pPr eaLnBrk="1" hangingPunct="1"/>
            <a:r>
              <a:rPr lang="en-US" altLang="zh-CN" sz="2800" smtClean="0">
                <a:solidFill>
                  <a:schemeClr val="tx1"/>
                </a:solidFill>
                <a:latin typeface="黑体" pitchFamily="49" charset="-122"/>
              </a:rPr>
              <a:t>2.</a:t>
            </a:r>
            <a:r>
              <a:rPr lang="zh-CN" altLang="en-US" sz="2800" smtClean="0">
                <a:solidFill>
                  <a:schemeClr val="tx1"/>
                </a:solidFill>
                <a:latin typeface="黑体" pitchFamily="49" charset="-122"/>
              </a:rPr>
              <a:t>查询满足条件的元组</a:t>
            </a:r>
          </a:p>
        </p:txBody>
      </p:sp>
      <p:sp>
        <p:nvSpPr>
          <p:cNvPr id="38915" name="Rectangle 4"/>
          <p:cNvSpPr>
            <a:spLocks noChangeArrowheads="1"/>
          </p:cNvSpPr>
          <p:nvPr/>
        </p:nvSpPr>
        <p:spPr bwMode="auto">
          <a:xfrm>
            <a:off x="1187450" y="1700213"/>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p>
            <a:endParaRPr lang="zh-CN" altLang="en-US" sz="2400">
              <a:latin typeface="Arial" charset="0"/>
              <a:ea typeface="黑体" pitchFamily="49" charset="-122"/>
            </a:endParaRPr>
          </a:p>
        </p:txBody>
      </p:sp>
      <p:sp>
        <p:nvSpPr>
          <p:cNvPr id="38916" name="Rectangle 5"/>
          <p:cNvSpPr>
            <a:spLocks noChangeArrowheads="1"/>
          </p:cNvSpPr>
          <p:nvPr/>
        </p:nvSpPr>
        <p:spPr bwMode="auto">
          <a:xfrm>
            <a:off x="1371600" y="1752600"/>
            <a:ext cx="70104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p>
            <a:endParaRPr lang="zh-CN" altLang="en-US" sz="2400">
              <a:latin typeface="Arial" charset="0"/>
              <a:ea typeface="黑体" pitchFamily="49" charset="-122"/>
            </a:endParaRPr>
          </a:p>
        </p:txBody>
      </p:sp>
      <p:sp>
        <p:nvSpPr>
          <p:cNvPr id="38917" name="Rectangle 6"/>
          <p:cNvSpPr>
            <a:spLocks noChangeArrowheads="1"/>
          </p:cNvSpPr>
          <p:nvPr/>
        </p:nvSpPr>
        <p:spPr bwMode="auto">
          <a:xfrm>
            <a:off x="971550" y="1557338"/>
            <a:ext cx="7162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90000" tIns="46800" rIns="90000" bIns="46800" anchor="ctr"/>
          <a:lstStyle/>
          <a:p>
            <a:pPr eaLnBrk="1" hangingPunct="1"/>
            <a:r>
              <a:rPr kumimoji="1" lang="en-US" altLang="zh-CN" sz="2400" b="0">
                <a:latin typeface="黑体" pitchFamily="49" charset="-122"/>
                <a:ea typeface="黑体" pitchFamily="49" charset="-122"/>
              </a:rPr>
              <a:t>WHERE</a:t>
            </a:r>
            <a:r>
              <a:rPr kumimoji="1" lang="zh-CN" altLang="en-US" sz="2400" b="0">
                <a:latin typeface="黑体" pitchFamily="49" charset="-122"/>
                <a:ea typeface="黑体" pitchFamily="49" charset="-122"/>
              </a:rPr>
              <a:t>子句常用的查询条件</a:t>
            </a:r>
          </a:p>
        </p:txBody>
      </p:sp>
      <p:graphicFrame>
        <p:nvGraphicFramePr>
          <p:cNvPr id="381108" name="Group 180"/>
          <p:cNvGraphicFramePr>
            <a:graphicFrameLocks noGrp="1"/>
          </p:cNvGraphicFramePr>
          <p:nvPr>
            <p:ph idx="1"/>
          </p:nvPr>
        </p:nvGraphicFramePr>
        <p:xfrm>
          <a:off x="971550" y="2276475"/>
          <a:ext cx="7300913" cy="3533775"/>
        </p:xfrm>
        <a:graphic>
          <a:graphicData uri="http://schemas.openxmlformats.org/drawingml/2006/table">
            <a:tbl>
              <a:tblPr/>
              <a:tblGrid>
                <a:gridCol w="1512888"/>
                <a:gridCol w="5788025"/>
              </a:tblGrid>
              <a:tr h="5048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smtClean="0">
                          <a:ln>
                            <a:noFill/>
                          </a:ln>
                          <a:solidFill>
                            <a:schemeClr val="tx1"/>
                          </a:solidFill>
                          <a:effectLst/>
                          <a:latin typeface="Tahoma" pitchFamily="34" charset="0"/>
                          <a:ea typeface="黑体" pitchFamily="2" charset="-122"/>
                        </a:rPr>
                        <a:t>查询条件</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400" b="0" i="0" u="none" strike="noStrike" cap="none" normalizeH="0" baseline="0" smtClean="0">
                          <a:ln>
                            <a:noFill/>
                          </a:ln>
                          <a:solidFill>
                            <a:schemeClr val="tx1"/>
                          </a:solidFill>
                          <a:effectLst/>
                          <a:latin typeface="Tahoma" pitchFamily="34" charset="0"/>
                          <a:ea typeface="黑体" pitchFamily="2" charset="-122"/>
                        </a:rPr>
                        <a:t>谓词</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0" i="0" u="none" strike="noStrike" cap="none" normalizeH="0" baseline="0" smtClean="0">
                          <a:ln>
                            <a:noFill/>
                          </a:ln>
                          <a:solidFill>
                            <a:schemeClr val="tx1"/>
                          </a:solidFill>
                          <a:effectLst/>
                          <a:latin typeface="Tahoma" pitchFamily="34" charset="0"/>
                          <a:ea typeface="黑体" pitchFamily="2" charset="-122"/>
                        </a:rPr>
                        <a:t>比较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0" i="0" u="none" strike="noStrike" cap="none" normalizeH="0" baseline="0" smtClean="0">
                          <a:ln>
                            <a:noFill/>
                          </a:ln>
                          <a:solidFill>
                            <a:schemeClr val="tx1"/>
                          </a:solidFill>
                          <a:effectLst/>
                          <a:latin typeface="Tahoma" pitchFamily="34" charset="0"/>
                          <a:ea typeface="黑体" pitchFamily="2" charset="-122"/>
                        </a:rPr>
                        <a:t>＝</a:t>
                      </a:r>
                      <a:r>
                        <a:rPr kumimoji="1" lang="en-US" altLang="zh-CN" sz="2000" b="0" i="0" u="none" strike="noStrike" cap="none" normalizeH="0" baseline="0" smtClean="0">
                          <a:ln>
                            <a:noFill/>
                          </a:ln>
                          <a:solidFill>
                            <a:schemeClr val="tx1"/>
                          </a:solidFill>
                          <a:effectLst/>
                          <a:latin typeface="Tahoma" pitchFamily="34" charset="0"/>
                          <a:ea typeface="黑体" pitchFamily="2" charset="-122"/>
                        </a:rPr>
                        <a:t>,&gt;,&lt;,&gt;=,&lt;=,!=,&lt;&gt;,!&gt;,!&lt;;not+</a:t>
                      </a:r>
                      <a:r>
                        <a:rPr kumimoji="1" lang="zh-CN" altLang="en-US" sz="2000" b="0" i="0" u="none" strike="noStrike" cap="none" normalizeH="0" baseline="0" smtClean="0">
                          <a:ln>
                            <a:noFill/>
                          </a:ln>
                          <a:solidFill>
                            <a:schemeClr val="tx1"/>
                          </a:solidFill>
                          <a:effectLst/>
                          <a:latin typeface="Tahoma" pitchFamily="34" charset="0"/>
                          <a:ea typeface="黑体" pitchFamily="2" charset="-122"/>
                        </a:rPr>
                        <a:t>上述比较运算符</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0" i="0" u="none" strike="noStrike" cap="none" normalizeH="0" baseline="0" smtClean="0">
                          <a:ln>
                            <a:noFill/>
                          </a:ln>
                          <a:solidFill>
                            <a:schemeClr val="tx1"/>
                          </a:solidFill>
                          <a:effectLst/>
                          <a:latin typeface="Tahoma" pitchFamily="34" charset="0"/>
                          <a:ea typeface="黑体" pitchFamily="2" charset="-122"/>
                        </a:rPr>
                        <a:t>确定范围</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smtClean="0">
                          <a:ln>
                            <a:noFill/>
                          </a:ln>
                          <a:solidFill>
                            <a:schemeClr val="tx1"/>
                          </a:solidFill>
                          <a:effectLst/>
                          <a:latin typeface="Tahoma" pitchFamily="34" charset="0"/>
                          <a:ea typeface="黑体" pitchFamily="2" charset="-122"/>
                        </a:rPr>
                        <a:t>Between and</a:t>
                      </a:r>
                      <a:r>
                        <a:rPr kumimoji="1" lang="zh-CN" altLang="en-US" sz="2000" b="0" i="0" u="none" strike="noStrike" cap="none" normalizeH="0" baseline="0" smtClean="0">
                          <a:ln>
                            <a:noFill/>
                          </a:ln>
                          <a:solidFill>
                            <a:schemeClr val="tx1"/>
                          </a:solidFill>
                          <a:effectLst/>
                          <a:latin typeface="Tahoma" pitchFamily="34" charset="0"/>
                          <a:ea typeface="黑体" pitchFamily="2" charset="-122"/>
                        </a:rPr>
                        <a:t>，</a:t>
                      </a:r>
                      <a:r>
                        <a:rPr kumimoji="1" lang="en-US" altLang="zh-CN" sz="2000" b="0" i="0" u="none" strike="noStrike" cap="none" normalizeH="0" baseline="0" smtClean="0">
                          <a:ln>
                            <a:noFill/>
                          </a:ln>
                          <a:solidFill>
                            <a:schemeClr val="tx1"/>
                          </a:solidFill>
                          <a:effectLst/>
                          <a:latin typeface="Tahoma" pitchFamily="34" charset="0"/>
                          <a:ea typeface="黑体" pitchFamily="2" charset="-122"/>
                        </a:rPr>
                        <a:t>not between and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0" i="0" u="none" strike="noStrike" cap="none" normalizeH="0" baseline="0" smtClean="0">
                          <a:ln>
                            <a:noFill/>
                          </a:ln>
                          <a:solidFill>
                            <a:schemeClr val="tx1"/>
                          </a:solidFill>
                          <a:effectLst/>
                          <a:latin typeface="Tahoma" pitchFamily="34" charset="0"/>
                          <a:ea typeface="黑体" pitchFamily="2" charset="-122"/>
                        </a:rPr>
                        <a:t>确定集合</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smtClean="0">
                          <a:ln>
                            <a:noFill/>
                          </a:ln>
                          <a:solidFill>
                            <a:schemeClr val="tx1"/>
                          </a:solidFill>
                          <a:effectLst/>
                          <a:latin typeface="Tahoma" pitchFamily="34" charset="0"/>
                          <a:ea typeface="黑体" pitchFamily="2" charset="-122"/>
                        </a:rPr>
                        <a:t>In</a:t>
                      </a:r>
                      <a:r>
                        <a:rPr kumimoji="1" lang="zh-CN" altLang="en-US" sz="2000" b="0" i="0" u="none" strike="noStrike" cap="none" normalizeH="0" baseline="0" smtClean="0">
                          <a:ln>
                            <a:noFill/>
                          </a:ln>
                          <a:solidFill>
                            <a:schemeClr val="tx1"/>
                          </a:solidFill>
                          <a:effectLst/>
                          <a:latin typeface="Tahoma" pitchFamily="34" charset="0"/>
                          <a:ea typeface="黑体" pitchFamily="2" charset="-122"/>
                        </a:rPr>
                        <a:t>，</a:t>
                      </a:r>
                      <a:r>
                        <a:rPr kumimoji="1" lang="en-US" altLang="zh-CN" sz="2000" b="0" i="0" u="none" strike="noStrike" cap="none" normalizeH="0" baseline="0" smtClean="0">
                          <a:ln>
                            <a:noFill/>
                          </a:ln>
                          <a:solidFill>
                            <a:schemeClr val="tx1"/>
                          </a:solidFill>
                          <a:effectLst/>
                          <a:latin typeface="Tahoma" pitchFamily="34" charset="0"/>
                          <a:ea typeface="黑体" pitchFamily="2" charset="-122"/>
                        </a:rPr>
                        <a:t>not in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0" i="0" u="none" strike="noStrike" cap="none" normalizeH="0" baseline="0" smtClean="0">
                          <a:ln>
                            <a:noFill/>
                          </a:ln>
                          <a:solidFill>
                            <a:schemeClr val="tx1"/>
                          </a:solidFill>
                          <a:effectLst/>
                          <a:latin typeface="Tahoma" pitchFamily="34" charset="0"/>
                          <a:ea typeface="黑体" pitchFamily="2" charset="-122"/>
                        </a:rPr>
                        <a:t>字符匹配</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smtClean="0">
                          <a:ln>
                            <a:noFill/>
                          </a:ln>
                          <a:solidFill>
                            <a:schemeClr val="tx1"/>
                          </a:solidFill>
                          <a:effectLst/>
                          <a:latin typeface="Tahoma" pitchFamily="34" charset="0"/>
                          <a:ea typeface="黑体" pitchFamily="2" charset="-122"/>
                        </a:rPr>
                        <a:t>Like</a:t>
                      </a:r>
                      <a:r>
                        <a:rPr kumimoji="1" lang="zh-CN" altLang="en-US" sz="2000" b="0" i="0" u="none" strike="noStrike" cap="none" normalizeH="0" baseline="0" smtClean="0">
                          <a:ln>
                            <a:noFill/>
                          </a:ln>
                          <a:solidFill>
                            <a:schemeClr val="tx1"/>
                          </a:solidFill>
                          <a:effectLst/>
                          <a:latin typeface="Tahoma" pitchFamily="34" charset="0"/>
                          <a:ea typeface="黑体" pitchFamily="2" charset="-122"/>
                        </a:rPr>
                        <a:t>，</a:t>
                      </a:r>
                      <a:r>
                        <a:rPr kumimoji="1" lang="en-US" altLang="zh-CN" sz="2000" b="0" i="0" u="none" strike="noStrike" cap="none" normalizeH="0" baseline="0" smtClean="0">
                          <a:ln>
                            <a:noFill/>
                          </a:ln>
                          <a:solidFill>
                            <a:schemeClr val="tx1"/>
                          </a:solidFill>
                          <a:effectLst/>
                          <a:latin typeface="Tahoma" pitchFamily="34" charset="0"/>
                          <a:ea typeface="黑体" pitchFamily="2" charset="-122"/>
                        </a:rPr>
                        <a:t>not like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0" i="0" u="none" strike="noStrike" cap="none" normalizeH="0" baseline="0" smtClean="0">
                          <a:ln>
                            <a:noFill/>
                          </a:ln>
                          <a:solidFill>
                            <a:schemeClr val="tx1"/>
                          </a:solidFill>
                          <a:effectLst/>
                          <a:latin typeface="Tahoma" pitchFamily="34" charset="0"/>
                          <a:ea typeface="黑体" pitchFamily="2" charset="-122"/>
                        </a:rPr>
                        <a:t>空值</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smtClean="0">
                          <a:ln>
                            <a:noFill/>
                          </a:ln>
                          <a:solidFill>
                            <a:schemeClr val="tx1"/>
                          </a:solidFill>
                          <a:effectLst/>
                          <a:latin typeface="Tahoma" pitchFamily="34" charset="0"/>
                          <a:ea typeface="黑体" pitchFamily="2" charset="-122"/>
                        </a:rPr>
                        <a:t>Is null</a:t>
                      </a:r>
                      <a:r>
                        <a:rPr kumimoji="1" lang="zh-CN" altLang="en-US" sz="2000" b="0" i="0" u="none" strike="noStrike" cap="none" normalizeH="0" baseline="0" smtClean="0">
                          <a:ln>
                            <a:noFill/>
                          </a:ln>
                          <a:solidFill>
                            <a:schemeClr val="tx1"/>
                          </a:solidFill>
                          <a:effectLst/>
                          <a:latin typeface="Tahoma" pitchFamily="34" charset="0"/>
                          <a:ea typeface="黑体" pitchFamily="2" charset="-122"/>
                        </a:rPr>
                        <a:t>，</a:t>
                      </a:r>
                      <a:r>
                        <a:rPr kumimoji="1" lang="en-US" altLang="zh-CN" sz="2000" b="0" i="0" u="none" strike="noStrike" cap="none" normalizeH="0" baseline="0" smtClean="0">
                          <a:ln>
                            <a:noFill/>
                          </a:ln>
                          <a:solidFill>
                            <a:schemeClr val="tx1"/>
                          </a:solidFill>
                          <a:effectLst/>
                          <a:latin typeface="Tahoma" pitchFamily="34" charset="0"/>
                          <a:ea typeface="黑体" pitchFamily="2" charset="-122"/>
                        </a:rPr>
                        <a:t>is not null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zh-CN" altLang="en-US" sz="2000" b="0" i="0" u="none" strike="noStrike" cap="none" normalizeH="0" baseline="0" smtClean="0">
                          <a:ln>
                            <a:noFill/>
                          </a:ln>
                          <a:solidFill>
                            <a:schemeClr val="tx1"/>
                          </a:solidFill>
                          <a:effectLst/>
                          <a:latin typeface="Tahoma" pitchFamily="34" charset="0"/>
                          <a:ea typeface="黑体" pitchFamily="2" charset="-122"/>
                        </a:rPr>
                        <a:t>多重条件</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2000" b="0" i="0" u="none" strike="noStrike" cap="none" normalizeH="0" baseline="0" smtClean="0">
                          <a:ln>
                            <a:noFill/>
                          </a:ln>
                          <a:solidFill>
                            <a:schemeClr val="tx1"/>
                          </a:solidFill>
                          <a:effectLst/>
                          <a:latin typeface="Tahoma" pitchFamily="34" charset="0"/>
                          <a:ea typeface="黑体" pitchFamily="2" charset="-122"/>
                        </a:rPr>
                        <a:t>And</a:t>
                      </a:r>
                      <a:r>
                        <a:rPr kumimoji="1" lang="zh-CN" altLang="en-US" sz="2000" b="0" i="0" u="none" strike="noStrike" cap="none" normalizeH="0" baseline="0" smtClean="0">
                          <a:ln>
                            <a:noFill/>
                          </a:ln>
                          <a:solidFill>
                            <a:schemeClr val="tx1"/>
                          </a:solidFill>
                          <a:effectLst/>
                          <a:latin typeface="Tahoma" pitchFamily="34" charset="0"/>
                          <a:ea typeface="黑体" pitchFamily="2" charset="-122"/>
                        </a:rPr>
                        <a:t>，</a:t>
                      </a:r>
                      <a:r>
                        <a:rPr kumimoji="1" lang="en-US" altLang="zh-CN" sz="2000" b="0" i="0" u="none" strike="noStrike" cap="none" normalizeH="0" baseline="0" smtClean="0">
                          <a:ln>
                            <a:noFill/>
                          </a:ln>
                          <a:solidFill>
                            <a:schemeClr val="tx1"/>
                          </a:solidFill>
                          <a:effectLst/>
                          <a:latin typeface="Tahoma" pitchFamily="34" charset="0"/>
                          <a:ea typeface="黑体" pitchFamily="2" charset="-122"/>
                        </a:rPr>
                        <a:t>or</a:t>
                      </a:r>
                      <a:r>
                        <a:rPr kumimoji="1" lang="zh-CN" altLang="en-US" sz="2000" b="0" i="0" u="none" strike="noStrike" cap="none" normalizeH="0" baseline="0" smtClean="0">
                          <a:ln>
                            <a:noFill/>
                          </a:ln>
                          <a:solidFill>
                            <a:schemeClr val="tx1"/>
                          </a:solidFill>
                          <a:effectLst/>
                          <a:latin typeface="Tahoma" pitchFamily="34" charset="0"/>
                          <a:ea typeface="黑体" pitchFamily="2" charset="-122"/>
                        </a:rPr>
                        <a:t>，</a:t>
                      </a:r>
                      <a:r>
                        <a:rPr kumimoji="1" lang="en-US" altLang="zh-CN" sz="2000" b="0" i="0" u="none" strike="noStrike" cap="none" normalizeH="0" baseline="0" smtClean="0">
                          <a:ln>
                            <a:noFill/>
                          </a:ln>
                          <a:solidFill>
                            <a:schemeClr val="tx1"/>
                          </a:solidFill>
                          <a:effectLst/>
                          <a:latin typeface="Tahoma" pitchFamily="34" charset="0"/>
                          <a:ea typeface="黑体" pitchFamily="2" charset="-122"/>
                        </a:rPr>
                        <a:t>not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 name="Rectangle 2"/>
          <p:cNvSpPr txBox="1">
            <a:spLocks noChangeArrowheads="1"/>
          </p:cNvSpPr>
          <p:nvPr/>
        </p:nvSpPr>
        <p:spPr bwMode="auto">
          <a:xfrm>
            <a:off x="468313" y="260350"/>
            <a:ext cx="77930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smtClean="0">
                <a:latin typeface="黑体" pitchFamily="49" charset="-122"/>
              </a:rPr>
              <a:t>3.4.2  </a:t>
            </a:r>
            <a:r>
              <a:rPr lang="zh-CN" altLang="en-US" b="0" kern="0" smtClean="0">
                <a:latin typeface="黑体" pitchFamily="49" charset="-122"/>
              </a:rPr>
              <a:t>单表查询 </a:t>
            </a:r>
            <a:endParaRPr lang="zh-CN" altLang="en-US" b="0" kern="0" dirty="0" smtClean="0">
              <a:latin typeface="黑体" pitchFamily="49" charset="-122"/>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395288" y="1125538"/>
            <a:ext cx="7793037" cy="638175"/>
          </a:xfrm>
        </p:spPr>
        <p:txBody>
          <a:bodyPr/>
          <a:lstStyle/>
          <a:p>
            <a:pPr eaLnBrk="1" hangingPunct="1"/>
            <a:r>
              <a:rPr lang="zh-CN" altLang="en-US" sz="2800" smtClean="0">
                <a:solidFill>
                  <a:schemeClr val="tx1"/>
                </a:solidFill>
                <a:latin typeface="黑体" pitchFamily="49" charset="-122"/>
              </a:rPr>
              <a:t>（</a:t>
            </a:r>
            <a:r>
              <a:rPr lang="en-US" altLang="zh-CN" sz="2800" smtClean="0">
                <a:solidFill>
                  <a:schemeClr val="tx1"/>
                </a:solidFill>
                <a:latin typeface="黑体" pitchFamily="49" charset="-122"/>
              </a:rPr>
              <a:t>4</a:t>
            </a:r>
            <a:r>
              <a:rPr lang="zh-CN" altLang="en-US" sz="2800" smtClean="0">
                <a:solidFill>
                  <a:schemeClr val="tx1"/>
                </a:solidFill>
                <a:latin typeface="黑体" pitchFamily="49" charset="-122"/>
              </a:rPr>
              <a:t>）字符串匹配</a:t>
            </a:r>
          </a:p>
        </p:txBody>
      </p:sp>
      <p:sp>
        <p:nvSpPr>
          <p:cNvPr id="39939" name="Rectangle 3"/>
          <p:cNvSpPr>
            <a:spLocks noGrp="1" noChangeArrowheads="1"/>
          </p:cNvSpPr>
          <p:nvPr>
            <p:ph type="body" idx="1"/>
          </p:nvPr>
        </p:nvSpPr>
        <p:spPr>
          <a:xfrm>
            <a:off x="755650" y="1700213"/>
            <a:ext cx="7488238" cy="4392612"/>
          </a:xfrm>
        </p:spPr>
        <p:txBody>
          <a:bodyPr/>
          <a:lstStyle/>
          <a:p>
            <a:pPr algn="just" eaLnBrk="1" hangingPunct="1">
              <a:lnSpc>
                <a:spcPct val="190000"/>
              </a:lnSpc>
            </a:pPr>
            <a:r>
              <a:rPr lang="zh-CN" altLang="en-US" sz="2400" smtClean="0">
                <a:latin typeface="黑体" pitchFamily="49" charset="-122"/>
                <a:ea typeface="黑体" pitchFamily="49" charset="-122"/>
              </a:rPr>
              <a:t>谓词</a:t>
            </a:r>
            <a:r>
              <a:rPr lang="en-US" altLang="zh-CN" sz="2400" smtClean="0">
                <a:latin typeface="黑体" pitchFamily="49" charset="-122"/>
                <a:ea typeface="黑体" pitchFamily="49" charset="-122"/>
              </a:rPr>
              <a:t>Like</a:t>
            </a:r>
            <a:r>
              <a:rPr lang="zh-CN" altLang="en-US" sz="2400" smtClean="0">
                <a:latin typeface="黑体" pitchFamily="49" charset="-122"/>
                <a:ea typeface="黑体" pitchFamily="49" charset="-122"/>
              </a:rPr>
              <a:t>可以用来进行字符串的匹配。格式如下：</a:t>
            </a:r>
          </a:p>
          <a:p>
            <a:pPr algn="just" eaLnBrk="1" hangingPunct="1">
              <a:lnSpc>
                <a:spcPct val="190000"/>
              </a:lnSpc>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[NOT] LIKE  &lt;</a:t>
            </a:r>
            <a:r>
              <a:rPr lang="zh-CN" altLang="en-US" sz="2400" smtClean="0">
                <a:latin typeface="黑体" pitchFamily="49" charset="-122"/>
                <a:ea typeface="黑体" pitchFamily="49" charset="-122"/>
              </a:rPr>
              <a:t>匹配串</a:t>
            </a:r>
            <a:r>
              <a:rPr lang="en-US" altLang="zh-CN" sz="2400" smtClean="0">
                <a:latin typeface="黑体" pitchFamily="49" charset="-122"/>
                <a:ea typeface="黑体" pitchFamily="49" charset="-122"/>
              </a:rPr>
              <a:t>&gt;  [ESCAPE  &lt;</a:t>
            </a:r>
            <a:r>
              <a:rPr lang="zh-CN" altLang="en-US" sz="2400" smtClean="0">
                <a:latin typeface="黑体" pitchFamily="49" charset="-122"/>
                <a:ea typeface="黑体" pitchFamily="49" charset="-122"/>
              </a:rPr>
              <a:t>换码字符</a:t>
            </a:r>
            <a:r>
              <a:rPr lang="en-US" altLang="zh-CN" sz="2400" smtClean="0">
                <a:latin typeface="黑体" pitchFamily="49" charset="-122"/>
                <a:ea typeface="黑体" pitchFamily="49" charset="-122"/>
              </a:rPr>
              <a:t>&gt;]</a:t>
            </a:r>
          </a:p>
          <a:p>
            <a:pPr algn="just" eaLnBrk="1" hangingPunct="1">
              <a:lnSpc>
                <a:spcPct val="160000"/>
              </a:lnSpc>
            </a:pPr>
            <a:r>
              <a:rPr lang="zh-CN" altLang="en-US" sz="2400" smtClean="0">
                <a:latin typeface="黑体" pitchFamily="49" charset="-122"/>
                <a:ea typeface="黑体" pitchFamily="49" charset="-122"/>
              </a:rPr>
              <a:t>查找指定的属性列值与</a:t>
            </a:r>
            <a:r>
              <a:rPr lang="en-US" altLang="zh-CN" sz="2400" smtClean="0">
                <a:latin typeface="黑体" pitchFamily="49" charset="-122"/>
                <a:ea typeface="黑体" pitchFamily="49" charset="-122"/>
              </a:rPr>
              <a:t>&lt;</a:t>
            </a:r>
            <a:r>
              <a:rPr lang="zh-CN" altLang="en-US" sz="2400" smtClean="0">
                <a:latin typeface="黑体" pitchFamily="49" charset="-122"/>
                <a:ea typeface="黑体" pitchFamily="49" charset="-122"/>
              </a:rPr>
              <a:t>匹配串</a:t>
            </a:r>
            <a:r>
              <a:rPr lang="en-US" altLang="zh-CN" sz="2400" smtClean="0">
                <a:latin typeface="黑体" pitchFamily="49" charset="-122"/>
                <a:ea typeface="黑体" pitchFamily="49" charset="-122"/>
              </a:rPr>
              <a:t>&gt;</a:t>
            </a:r>
            <a:r>
              <a:rPr lang="zh-CN" altLang="en-US" sz="2400" smtClean="0">
                <a:latin typeface="黑体" pitchFamily="49" charset="-122"/>
                <a:ea typeface="黑体" pitchFamily="49" charset="-122"/>
              </a:rPr>
              <a:t>相匹配的元组。</a:t>
            </a:r>
            <a:r>
              <a:rPr lang="en-US" altLang="zh-CN" sz="2400" smtClean="0">
                <a:latin typeface="黑体" pitchFamily="49" charset="-122"/>
                <a:ea typeface="黑体" pitchFamily="49" charset="-122"/>
              </a:rPr>
              <a:t>&lt;</a:t>
            </a:r>
            <a:r>
              <a:rPr lang="zh-CN" altLang="en-US" sz="2400" smtClean="0">
                <a:latin typeface="黑体" pitchFamily="49" charset="-122"/>
                <a:ea typeface="黑体" pitchFamily="49" charset="-122"/>
              </a:rPr>
              <a:t>匹配串</a:t>
            </a:r>
            <a:r>
              <a:rPr lang="en-US" altLang="zh-CN" sz="2400" smtClean="0">
                <a:latin typeface="黑体" pitchFamily="49" charset="-122"/>
                <a:ea typeface="黑体" pitchFamily="49" charset="-122"/>
              </a:rPr>
              <a:t>&gt;</a:t>
            </a:r>
            <a:r>
              <a:rPr lang="zh-CN" altLang="en-US" sz="2400" smtClean="0">
                <a:latin typeface="黑体" pitchFamily="49" charset="-122"/>
                <a:ea typeface="黑体" pitchFamily="49" charset="-122"/>
              </a:rPr>
              <a:t>可以是一个完整的字符串，也可以含有通配符％和</a:t>
            </a:r>
            <a:r>
              <a:rPr lang="en-US" altLang="zh-CN" sz="2400" smtClean="0">
                <a:latin typeface="黑体" pitchFamily="49" charset="-122"/>
                <a:ea typeface="黑体" pitchFamily="49" charset="-122"/>
              </a:rPr>
              <a:t>_</a:t>
            </a:r>
            <a:r>
              <a:rPr lang="zh-CN" altLang="en-US" sz="2400" smtClean="0">
                <a:latin typeface="黑体" pitchFamily="49" charset="-122"/>
                <a:ea typeface="黑体" pitchFamily="49" charset="-122"/>
              </a:rPr>
              <a:t>。</a:t>
            </a:r>
          </a:p>
        </p:txBody>
      </p:sp>
      <p:sp>
        <p:nvSpPr>
          <p:cNvPr id="4" name="Rectangle 2"/>
          <p:cNvSpPr txBox="1">
            <a:spLocks noChangeArrowheads="1"/>
          </p:cNvSpPr>
          <p:nvPr/>
        </p:nvSpPr>
        <p:spPr bwMode="auto">
          <a:xfrm>
            <a:off x="684213" y="231775"/>
            <a:ext cx="77930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smtClean="0">
                <a:latin typeface="黑体" pitchFamily="49" charset="-122"/>
              </a:rPr>
              <a:t>3.4.2  </a:t>
            </a:r>
            <a:r>
              <a:rPr lang="zh-CN" altLang="en-US" b="0" kern="0" smtClean="0">
                <a:latin typeface="黑体" pitchFamily="49" charset="-122"/>
              </a:rPr>
              <a:t>单表查询 </a:t>
            </a:r>
            <a:endParaRPr lang="zh-CN" altLang="en-US" b="0" kern="0" dirty="0" smtClean="0">
              <a:latin typeface="黑体" pitchFamily="49" charset="-122"/>
            </a:endParaRP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68313" y="1052513"/>
            <a:ext cx="7793037" cy="576262"/>
          </a:xfrm>
        </p:spPr>
        <p:txBody>
          <a:bodyPr/>
          <a:lstStyle/>
          <a:p>
            <a:pPr eaLnBrk="1" hangingPunct="1"/>
            <a:r>
              <a:rPr lang="en-US" altLang="zh-CN" sz="2800" smtClean="0">
                <a:solidFill>
                  <a:schemeClr val="tx1"/>
                </a:solidFill>
              </a:rPr>
              <a:t>  </a:t>
            </a:r>
            <a:r>
              <a:rPr lang="zh-CN" altLang="en-US" sz="2800" smtClean="0">
                <a:solidFill>
                  <a:schemeClr val="tx1"/>
                </a:solidFill>
              </a:rPr>
              <a:t>通配符</a:t>
            </a:r>
          </a:p>
        </p:txBody>
      </p:sp>
      <p:sp>
        <p:nvSpPr>
          <p:cNvPr id="40963" name="Rectangle 3"/>
          <p:cNvSpPr>
            <a:spLocks noGrp="1" noChangeArrowheads="1"/>
          </p:cNvSpPr>
          <p:nvPr>
            <p:ph type="body" idx="1"/>
          </p:nvPr>
        </p:nvSpPr>
        <p:spPr>
          <a:xfrm>
            <a:off x="611188" y="1700213"/>
            <a:ext cx="8137525" cy="4537075"/>
          </a:xfrm>
        </p:spPr>
        <p:txBody>
          <a:bodyPr/>
          <a:lstStyle/>
          <a:p>
            <a:pPr eaLnBrk="1" hangingPunct="1">
              <a:lnSpc>
                <a:spcPct val="140000"/>
              </a:lnSpc>
            </a:pPr>
            <a:r>
              <a:rPr lang="en-US" altLang="zh-CN" sz="2400" smtClean="0">
                <a:latin typeface="黑体" pitchFamily="49" charset="-122"/>
                <a:ea typeface="黑体" pitchFamily="49" charset="-122"/>
              </a:rPr>
              <a:t>% (</a:t>
            </a:r>
            <a:r>
              <a:rPr lang="zh-CN" altLang="en-US" sz="2400" smtClean="0">
                <a:latin typeface="黑体" pitchFamily="49" charset="-122"/>
                <a:ea typeface="黑体" pitchFamily="49" charset="-122"/>
              </a:rPr>
              <a:t>百分号</a:t>
            </a:r>
            <a:r>
              <a:rPr lang="en-US" altLang="zh-CN" sz="2400" smtClean="0">
                <a:latin typeface="黑体" pitchFamily="49" charset="-122"/>
                <a:ea typeface="黑体" pitchFamily="49" charset="-122"/>
              </a:rPr>
              <a:t>)  </a:t>
            </a:r>
            <a:r>
              <a:rPr lang="zh-CN" altLang="en-US" sz="2400" smtClean="0">
                <a:latin typeface="黑体" pitchFamily="49" charset="-122"/>
                <a:ea typeface="黑体" pitchFamily="49" charset="-122"/>
              </a:rPr>
              <a:t>代表任意长度（长度可以为</a:t>
            </a:r>
            <a:r>
              <a:rPr lang="en-US" altLang="zh-CN" sz="2400" smtClean="0">
                <a:latin typeface="黑体" pitchFamily="49" charset="-122"/>
                <a:ea typeface="黑体" pitchFamily="49" charset="-122"/>
              </a:rPr>
              <a:t>0</a:t>
            </a:r>
            <a:r>
              <a:rPr lang="zh-CN" altLang="en-US" sz="2400" smtClean="0">
                <a:latin typeface="黑体" pitchFamily="49" charset="-122"/>
                <a:ea typeface="黑体" pitchFamily="49" charset="-122"/>
              </a:rPr>
              <a:t>）的字符串</a:t>
            </a:r>
          </a:p>
          <a:p>
            <a:pPr lvl="1" eaLnBrk="1" hangingPunct="1">
              <a:lnSpc>
                <a:spcPct val="140000"/>
              </a:lnSpc>
            </a:pP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a%b</a:t>
            </a:r>
            <a:r>
              <a:rPr lang="zh-CN" altLang="en-US" sz="2400" smtClean="0">
                <a:latin typeface="黑体" pitchFamily="49" charset="-122"/>
                <a:ea typeface="黑体" pitchFamily="49" charset="-122"/>
              </a:rPr>
              <a:t>表示以</a:t>
            </a:r>
            <a:r>
              <a:rPr lang="en-US" altLang="zh-CN" sz="2400" smtClean="0">
                <a:latin typeface="黑体" pitchFamily="49" charset="-122"/>
                <a:ea typeface="黑体" pitchFamily="49" charset="-122"/>
              </a:rPr>
              <a:t>a</a:t>
            </a:r>
            <a:r>
              <a:rPr lang="zh-CN" altLang="en-US" sz="2400" smtClean="0">
                <a:latin typeface="黑体" pitchFamily="49" charset="-122"/>
                <a:ea typeface="黑体" pitchFamily="49" charset="-122"/>
              </a:rPr>
              <a:t>开头，以</a:t>
            </a:r>
            <a:r>
              <a:rPr lang="en-US" altLang="zh-CN" sz="2400" smtClean="0">
                <a:latin typeface="黑体" pitchFamily="49" charset="-122"/>
                <a:ea typeface="黑体" pitchFamily="49" charset="-122"/>
              </a:rPr>
              <a:t>b</a:t>
            </a:r>
            <a:r>
              <a:rPr lang="zh-CN" altLang="en-US" sz="2400" smtClean="0">
                <a:latin typeface="黑体" pitchFamily="49" charset="-122"/>
                <a:ea typeface="黑体" pitchFamily="49" charset="-122"/>
              </a:rPr>
              <a:t>结尾的任意长度的字符串。如</a:t>
            </a:r>
            <a:r>
              <a:rPr lang="en-US" altLang="zh-CN" sz="2400" smtClean="0">
                <a:latin typeface="黑体" pitchFamily="49" charset="-122"/>
                <a:ea typeface="黑体" pitchFamily="49" charset="-122"/>
              </a:rPr>
              <a:t>acb</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addgb</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ab </a:t>
            </a:r>
            <a:r>
              <a:rPr lang="zh-CN" altLang="en-US" sz="2400" smtClean="0">
                <a:latin typeface="黑体" pitchFamily="49" charset="-122"/>
                <a:ea typeface="黑体" pitchFamily="49" charset="-122"/>
              </a:rPr>
              <a:t>等都满足该匹配串</a:t>
            </a:r>
          </a:p>
          <a:p>
            <a:pPr eaLnBrk="1" hangingPunct="1">
              <a:lnSpc>
                <a:spcPct val="140000"/>
              </a:lnSpc>
            </a:pPr>
            <a:r>
              <a:rPr lang="en-US" altLang="zh-CN" sz="2400" smtClean="0">
                <a:latin typeface="黑体" pitchFamily="49" charset="-122"/>
                <a:ea typeface="黑体" pitchFamily="49" charset="-122"/>
              </a:rPr>
              <a:t>_ (</a:t>
            </a:r>
            <a:r>
              <a:rPr lang="zh-CN" altLang="en-US" sz="2400" smtClean="0">
                <a:latin typeface="黑体" pitchFamily="49" charset="-122"/>
                <a:ea typeface="黑体" pitchFamily="49" charset="-122"/>
              </a:rPr>
              <a:t>下横线</a:t>
            </a:r>
            <a:r>
              <a:rPr lang="en-US" altLang="zh-CN" sz="2400" smtClean="0">
                <a:latin typeface="黑体" pitchFamily="49" charset="-122"/>
                <a:ea typeface="黑体" pitchFamily="49" charset="-122"/>
              </a:rPr>
              <a:t>)  </a:t>
            </a:r>
            <a:r>
              <a:rPr lang="zh-CN" altLang="en-US" sz="2400" smtClean="0">
                <a:latin typeface="黑体" pitchFamily="49" charset="-122"/>
                <a:ea typeface="黑体" pitchFamily="49" charset="-122"/>
              </a:rPr>
              <a:t>代表任意单个字符</a:t>
            </a:r>
          </a:p>
          <a:p>
            <a:pPr lvl="1" eaLnBrk="1" hangingPunct="1">
              <a:lnSpc>
                <a:spcPct val="140000"/>
              </a:lnSpc>
            </a:pP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a_b</a:t>
            </a:r>
            <a:r>
              <a:rPr lang="zh-CN" altLang="en-US" sz="2400" smtClean="0">
                <a:latin typeface="黑体" pitchFamily="49" charset="-122"/>
                <a:ea typeface="黑体" pitchFamily="49" charset="-122"/>
              </a:rPr>
              <a:t>表示以</a:t>
            </a:r>
            <a:r>
              <a:rPr lang="en-US" altLang="zh-CN" sz="2400" smtClean="0">
                <a:latin typeface="黑体" pitchFamily="49" charset="-122"/>
                <a:ea typeface="黑体" pitchFamily="49" charset="-122"/>
              </a:rPr>
              <a:t>a</a:t>
            </a:r>
            <a:r>
              <a:rPr lang="zh-CN" altLang="en-US" sz="2400" smtClean="0">
                <a:latin typeface="黑体" pitchFamily="49" charset="-122"/>
                <a:ea typeface="黑体" pitchFamily="49" charset="-122"/>
              </a:rPr>
              <a:t>开头，以</a:t>
            </a:r>
            <a:r>
              <a:rPr lang="en-US" altLang="zh-CN" sz="2400" smtClean="0">
                <a:latin typeface="黑体" pitchFamily="49" charset="-122"/>
                <a:ea typeface="黑体" pitchFamily="49" charset="-122"/>
              </a:rPr>
              <a:t>b</a:t>
            </a:r>
            <a:r>
              <a:rPr lang="zh-CN" altLang="en-US" sz="2400" smtClean="0">
                <a:latin typeface="黑体" pitchFamily="49" charset="-122"/>
                <a:ea typeface="黑体" pitchFamily="49" charset="-122"/>
              </a:rPr>
              <a:t>结尾的长度为</a:t>
            </a:r>
            <a:r>
              <a:rPr lang="en-US" altLang="zh-CN" sz="2400" smtClean="0">
                <a:latin typeface="黑体" pitchFamily="49" charset="-122"/>
                <a:ea typeface="黑体" pitchFamily="49" charset="-122"/>
              </a:rPr>
              <a:t>3</a:t>
            </a:r>
            <a:r>
              <a:rPr lang="zh-CN" altLang="en-US" sz="2400" smtClean="0">
                <a:latin typeface="黑体" pitchFamily="49" charset="-122"/>
                <a:ea typeface="黑体" pitchFamily="49" charset="-122"/>
              </a:rPr>
              <a:t>的任意字符串。如</a:t>
            </a:r>
            <a:r>
              <a:rPr lang="en-US" altLang="zh-CN" sz="2400" smtClean="0">
                <a:latin typeface="黑体" pitchFamily="49" charset="-122"/>
                <a:ea typeface="黑体" pitchFamily="49" charset="-122"/>
              </a:rPr>
              <a:t>acb</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afb</a:t>
            </a:r>
            <a:r>
              <a:rPr lang="zh-CN" altLang="en-US" sz="2400" smtClean="0">
                <a:latin typeface="黑体" pitchFamily="49" charset="-122"/>
                <a:ea typeface="黑体" pitchFamily="49" charset="-122"/>
              </a:rPr>
              <a:t>等都满足该匹配串</a:t>
            </a:r>
          </a:p>
        </p:txBody>
      </p:sp>
      <p:sp>
        <p:nvSpPr>
          <p:cNvPr id="4" name="Rectangle 2"/>
          <p:cNvSpPr txBox="1">
            <a:spLocks noChangeArrowheads="1"/>
          </p:cNvSpPr>
          <p:nvPr/>
        </p:nvSpPr>
        <p:spPr bwMode="auto">
          <a:xfrm>
            <a:off x="539750" y="260350"/>
            <a:ext cx="779303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smtClean="0">
                <a:latin typeface="黑体" pitchFamily="49" charset="-122"/>
              </a:rPr>
              <a:t>3.4.2  </a:t>
            </a:r>
            <a:r>
              <a:rPr lang="zh-CN" altLang="en-US" b="0" kern="0" smtClean="0">
                <a:latin typeface="黑体" pitchFamily="49" charset="-122"/>
              </a:rPr>
              <a:t>单表查询 </a:t>
            </a:r>
            <a:endParaRPr lang="zh-CN" altLang="en-US" b="0" kern="0" dirty="0" smtClean="0">
              <a:latin typeface="黑体" pitchFamily="49" charset="-122"/>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684213" y="1196975"/>
            <a:ext cx="7793037" cy="647700"/>
          </a:xfrm>
        </p:spPr>
        <p:txBody>
          <a:bodyPr/>
          <a:lstStyle/>
          <a:p>
            <a:pPr eaLnBrk="1" hangingPunct="1"/>
            <a:r>
              <a:rPr lang="en-US" altLang="zh-CN" sz="2800" smtClean="0">
                <a:solidFill>
                  <a:schemeClr val="tx1"/>
                </a:solidFill>
                <a:latin typeface="黑体" pitchFamily="49" charset="-122"/>
              </a:rPr>
              <a:t>ESCAPE </a:t>
            </a:r>
            <a:r>
              <a:rPr lang="zh-CN" altLang="en-US" sz="2800" smtClean="0">
                <a:solidFill>
                  <a:schemeClr val="tx1"/>
                </a:solidFill>
                <a:latin typeface="黑体" pitchFamily="49" charset="-122"/>
              </a:rPr>
              <a:t>短语</a:t>
            </a:r>
          </a:p>
        </p:txBody>
      </p:sp>
      <p:sp>
        <p:nvSpPr>
          <p:cNvPr id="41987" name="Rectangle 3"/>
          <p:cNvSpPr>
            <a:spLocks noGrp="1" noChangeArrowheads="1"/>
          </p:cNvSpPr>
          <p:nvPr>
            <p:ph type="body" idx="1"/>
          </p:nvPr>
        </p:nvSpPr>
        <p:spPr>
          <a:xfrm>
            <a:off x="539750" y="1628775"/>
            <a:ext cx="7920038" cy="4114800"/>
          </a:xfrm>
        </p:spPr>
        <p:txBody>
          <a:bodyPr/>
          <a:lstStyle/>
          <a:p>
            <a:pPr lvl="4" eaLnBrk="1" hangingPunct="1">
              <a:buFont typeface="Wingdings" pitchFamily="2" charset="2"/>
              <a:buNone/>
            </a:pPr>
            <a:endParaRPr lang="en-US" altLang="zh-CN" sz="2400" smtClean="0">
              <a:latin typeface="黑体" pitchFamily="49" charset="-122"/>
              <a:ea typeface="黑体" pitchFamily="49" charset="-122"/>
            </a:endParaRPr>
          </a:p>
          <a:p>
            <a:pPr lvl="1" eaLnBrk="1" hangingPunct="1">
              <a:lnSpc>
                <a:spcPct val="120000"/>
              </a:lnSpc>
            </a:pPr>
            <a:r>
              <a:rPr lang="zh-CN" altLang="en-US" sz="2400" smtClean="0">
                <a:latin typeface="黑体" pitchFamily="49" charset="-122"/>
                <a:ea typeface="黑体" pitchFamily="49" charset="-122"/>
              </a:rPr>
              <a:t>当用户要查询的字符串本身就含有 </a:t>
            </a:r>
            <a:r>
              <a:rPr lang="en-US" altLang="zh-CN" sz="2400" smtClean="0">
                <a:latin typeface="黑体" pitchFamily="49" charset="-122"/>
                <a:ea typeface="黑体" pitchFamily="49" charset="-122"/>
              </a:rPr>
              <a:t>% </a:t>
            </a:r>
            <a:r>
              <a:rPr lang="zh-CN" altLang="en-US" sz="2400" smtClean="0">
                <a:latin typeface="黑体" pitchFamily="49" charset="-122"/>
                <a:ea typeface="黑体" pitchFamily="49" charset="-122"/>
              </a:rPr>
              <a:t>或 </a:t>
            </a:r>
            <a:r>
              <a:rPr lang="en-US" altLang="zh-CN" sz="2400" smtClean="0">
                <a:latin typeface="黑体" pitchFamily="49" charset="-122"/>
                <a:ea typeface="黑体" pitchFamily="49" charset="-122"/>
              </a:rPr>
              <a:t>_ </a:t>
            </a:r>
            <a:r>
              <a:rPr lang="zh-CN" altLang="en-US" sz="2400" smtClean="0">
                <a:latin typeface="黑体" pitchFamily="49" charset="-122"/>
                <a:ea typeface="黑体" pitchFamily="49" charset="-122"/>
              </a:rPr>
              <a:t>时，要使用</a:t>
            </a:r>
            <a:r>
              <a:rPr lang="en-US" altLang="zh-CN" sz="2400" smtClean="0">
                <a:latin typeface="黑体" pitchFamily="49" charset="-122"/>
                <a:ea typeface="黑体" pitchFamily="49" charset="-122"/>
              </a:rPr>
              <a:t>ESCAPE '&lt;</a:t>
            </a:r>
            <a:r>
              <a:rPr lang="zh-CN" altLang="en-US" sz="2400" smtClean="0">
                <a:latin typeface="黑体" pitchFamily="49" charset="-122"/>
                <a:ea typeface="黑体" pitchFamily="49" charset="-122"/>
              </a:rPr>
              <a:t>换码字符</a:t>
            </a:r>
            <a:r>
              <a:rPr lang="en-US" altLang="zh-CN" sz="2400" smtClean="0">
                <a:latin typeface="黑体" pitchFamily="49" charset="-122"/>
                <a:ea typeface="黑体" pitchFamily="49" charset="-122"/>
              </a:rPr>
              <a:t>&gt;' </a:t>
            </a:r>
            <a:r>
              <a:rPr lang="zh-CN" altLang="en-US" sz="2400" smtClean="0">
                <a:latin typeface="黑体" pitchFamily="49" charset="-122"/>
                <a:ea typeface="黑体" pitchFamily="49" charset="-122"/>
              </a:rPr>
              <a:t>短语对通配符进行转义。</a:t>
            </a:r>
          </a:p>
        </p:txBody>
      </p:sp>
      <p:sp>
        <p:nvSpPr>
          <p:cNvPr id="4" name="Rectangle 2"/>
          <p:cNvSpPr txBox="1">
            <a:spLocks noChangeArrowheads="1"/>
          </p:cNvSpPr>
          <p:nvPr/>
        </p:nvSpPr>
        <p:spPr bwMode="auto">
          <a:xfrm>
            <a:off x="971550" y="260350"/>
            <a:ext cx="779303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smtClean="0">
                <a:latin typeface="黑体" pitchFamily="49" charset="-122"/>
              </a:rPr>
              <a:t>3.4.2  </a:t>
            </a:r>
            <a:r>
              <a:rPr lang="zh-CN" altLang="en-US" b="0" kern="0" smtClean="0">
                <a:latin typeface="黑体" pitchFamily="49" charset="-122"/>
              </a:rPr>
              <a:t>单表查询 </a:t>
            </a:r>
            <a:endParaRPr lang="zh-CN" altLang="en-US" b="0" kern="0" dirty="0" smtClean="0">
              <a:latin typeface="黑体" pitchFamily="49" charset="-122"/>
            </a:endParaRP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1" name="Rectangle 3"/>
          <p:cNvSpPr>
            <a:spLocks noGrp="1" noChangeArrowheads="1"/>
          </p:cNvSpPr>
          <p:nvPr>
            <p:ph type="body" idx="1"/>
          </p:nvPr>
        </p:nvSpPr>
        <p:spPr>
          <a:xfrm>
            <a:off x="684213" y="1628775"/>
            <a:ext cx="7772400" cy="4114800"/>
          </a:xfrm>
        </p:spPr>
        <p:txBody>
          <a:bodyPr/>
          <a:lstStyle/>
          <a:p>
            <a:pPr eaLnBrk="1" hangingPunct="1">
              <a:lnSpc>
                <a:spcPct val="120000"/>
              </a:lnSpc>
              <a:buFont typeface="Wingdings" pitchFamily="2" charset="2"/>
              <a:buNone/>
            </a:pPr>
            <a:r>
              <a:rPr lang="zh-CN" altLang="en-US" sz="2800" smtClean="0">
                <a:latin typeface="黑体" pitchFamily="49" charset="-122"/>
                <a:ea typeface="黑体" pitchFamily="49" charset="-122"/>
              </a:rPr>
              <a:t>使用换码字符将通配符转义为普通字符</a:t>
            </a:r>
          </a:p>
          <a:p>
            <a:pPr eaLnBrk="1" hangingPunct="1">
              <a:lnSpc>
                <a:spcPct val="120000"/>
              </a:lnSpc>
              <a:buFont typeface="Wingdings" pitchFamily="2" charset="2"/>
              <a:buNone/>
            </a:pPr>
            <a:endParaRPr lang="zh-CN" altLang="en-US" sz="1200" smtClean="0">
              <a:latin typeface="黑体" pitchFamily="49" charset="-122"/>
              <a:ea typeface="黑体" pitchFamily="49" charset="-122"/>
            </a:endParaRPr>
          </a:p>
          <a:p>
            <a:pPr eaLnBrk="1" hangingPunct="1">
              <a:lnSpc>
                <a:spcPct val="120000"/>
              </a:lnSpc>
              <a:buFont typeface="Wingdings" pitchFamily="2" charset="2"/>
              <a:buNone/>
            </a:pPr>
            <a:r>
              <a:rPr lang="en-US" altLang="zh-CN" sz="2800" smtClean="0">
                <a:latin typeface="黑体" pitchFamily="49" charset="-122"/>
                <a:ea typeface="黑体" pitchFamily="49" charset="-122"/>
              </a:rPr>
              <a:t>[</a:t>
            </a:r>
            <a:r>
              <a:rPr lang="zh-CN" altLang="en-US" sz="2800" smtClean="0">
                <a:latin typeface="黑体" pitchFamily="49" charset="-122"/>
                <a:ea typeface="黑体" pitchFamily="49" charset="-122"/>
              </a:rPr>
              <a:t>例</a:t>
            </a:r>
            <a:r>
              <a:rPr lang="en-US" altLang="zh-CN" sz="2800" smtClean="0">
                <a:latin typeface="黑体" pitchFamily="49" charset="-122"/>
                <a:ea typeface="黑体" pitchFamily="49" charset="-122"/>
              </a:rPr>
              <a:t>15]  </a:t>
            </a:r>
            <a:r>
              <a:rPr lang="zh-CN" altLang="en-US" sz="2800" smtClean="0">
                <a:latin typeface="黑体" pitchFamily="49" charset="-122"/>
                <a:ea typeface="黑体" pitchFamily="49" charset="-122"/>
              </a:rPr>
              <a:t>查询以</a:t>
            </a:r>
            <a:r>
              <a:rPr lang="en-US" altLang="zh-CN" sz="2800" smtClean="0">
                <a:latin typeface="黑体" pitchFamily="49" charset="-122"/>
                <a:ea typeface="黑体" pitchFamily="49" charset="-122"/>
              </a:rPr>
              <a:t>"DB_"</a:t>
            </a:r>
            <a:r>
              <a:rPr lang="zh-CN" altLang="en-US" sz="2800" smtClean="0">
                <a:latin typeface="黑体" pitchFamily="49" charset="-122"/>
                <a:ea typeface="黑体" pitchFamily="49" charset="-122"/>
              </a:rPr>
              <a:t>开头，且倒数第</a:t>
            </a:r>
            <a:r>
              <a:rPr lang="en-US" altLang="zh-CN" sz="2800" smtClean="0">
                <a:latin typeface="黑体" pitchFamily="49" charset="-122"/>
                <a:ea typeface="黑体" pitchFamily="49" charset="-122"/>
              </a:rPr>
              <a:t>3</a:t>
            </a:r>
            <a:r>
              <a:rPr lang="zh-CN" altLang="en-US" sz="2800" smtClean="0">
                <a:latin typeface="黑体" pitchFamily="49" charset="-122"/>
                <a:ea typeface="黑体" pitchFamily="49" charset="-122"/>
              </a:rPr>
              <a:t>个字符为</a:t>
            </a:r>
            <a:r>
              <a:rPr lang="en-US" altLang="zh-CN" sz="2800" smtClean="0">
                <a:latin typeface="黑体" pitchFamily="49" charset="-122"/>
                <a:ea typeface="黑体" pitchFamily="49" charset="-122"/>
              </a:rPr>
              <a:t>i</a:t>
            </a:r>
            <a:r>
              <a:rPr lang="zh-CN" altLang="en-US" sz="2800" smtClean="0">
                <a:latin typeface="黑体" pitchFamily="49" charset="-122"/>
                <a:ea typeface="黑体" pitchFamily="49" charset="-122"/>
              </a:rPr>
              <a:t>的课程的详细情况。</a:t>
            </a:r>
          </a:p>
          <a:p>
            <a:pPr eaLnBrk="1" hangingPunct="1">
              <a:lnSpc>
                <a:spcPct val="120000"/>
              </a:lnSpc>
              <a:buFont typeface="Wingdings" pitchFamily="2" charset="2"/>
              <a:buNone/>
            </a:pPr>
            <a:r>
              <a:rPr lang="zh-CN" altLang="en-US" sz="2400" smtClean="0">
                <a:latin typeface="黑体" pitchFamily="49" charset="-122"/>
                <a:ea typeface="黑体" pitchFamily="49" charset="-122"/>
              </a:rPr>
              <a:t>   </a:t>
            </a:r>
            <a:r>
              <a:rPr lang="en-US" altLang="zh-CN" sz="2400" smtClean="0"/>
              <a:t>SELECT  *</a:t>
            </a:r>
          </a:p>
          <a:p>
            <a:pPr eaLnBrk="1" hangingPunct="1">
              <a:lnSpc>
                <a:spcPct val="120000"/>
              </a:lnSpc>
              <a:buFont typeface="Wingdings" pitchFamily="2" charset="2"/>
              <a:buNone/>
            </a:pPr>
            <a:r>
              <a:rPr lang="en-US" altLang="zh-CN" sz="2400" smtClean="0"/>
              <a:t>     FROM   C</a:t>
            </a:r>
          </a:p>
          <a:p>
            <a:pPr eaLnBrk="1" hangingPunct="1">
              <a:lnSpc>
                <a:spcPct val="120000"/>
              </a:lnSpc>
              <a:buFont typeface="Wingdings" pitchFamily="2" charset="2"/>
              <a:buNone/>
            </a:pPr>
            <a:r>
              <a:rPr lang="en-US" altLang="zh-CN" sz="2400" smtClean="0"/>
              <a:t>     WHERE  Cname LIKE  'DB\_%i_ _' ESCAPE '\'</a:t>
            </a:r>
            <a:r>
              <a:rPr lang="zh-CN" altLang="en-US" sz="2800" smtClean="0">
                <a:latin typeface="黑体" pitchFamily="49" charset="-122"/>
                <a:ea typeface="黑体" pitchFamily="49" charset="-122"/>
              </a:rPr>
              <a:t>；</a:t>
            </a:r>
          </a:p>
        </p:txBody>
      </p:sp>
      <p:sp>
        <p:nvSpPr>
          <p:cNvPr id="43011" name="Rectangle 2"/>
          <p:cNvSpPr>
            <a:spLocks noGrp="1" noChangeArrowheads="1"/>
          </p:cNvSpPr>
          <p:nvPr>
            <p:ph type="title"/>
          </p:nvPr>
        </p:nvSpPr>
        <p:spPr>
          <a:xfrm>
            <a:off x="971550" y="260350"/>
            <a:ext cx="7793038" cy="720725"/>
          </a:xfrm>
        </p:spPr>
        <p:txBody>
          <a:bodyPr/>
          <a:lstStyle/>
          <a:p>
            <a:pPr eaLnBrk="1" hangingPunct="1"/>
            <a:r>
              <a:rPr lang="en-US" altLang="zh-CN" smtClean="0">
                <a:latin typeface="黑体" pitchFamily="49" charset="-122"/>
              </a:rPr>
              <a:t>3.4.2  </a:t>
            </a:r>
            <a:r>
              <a:rPr lang="zh-CN" altLang="en-US" smtClean="0">
                <a:latin typeface="黑体" pitchFamily="49" charset="-122"/>
              </a:rPr>
              <a:t>单表查询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96291">
                                            <p:txEl>
                                              <p:pRg st="2" end="2"/>
                                            </p:txEl>
                                          </p:spTgt>
                                        </p:tgtEl>
                                        <p:attrNameLst>
                                          <p:attrName>style.visibility</p:attrName>
                                        </p:attrNameLst>
                                      </p:cBhvr>
                                      <p:to>
                                        <p:strVal val="visible"/>
                                      </p:to>
                                    </p:set>
                                    <p:anim calcmode="lin" valueType="num">
                                      <p:cBhvr additive="base">
                                        <p:cTn id="7" dur="500" fill="hold"/>
                                        <p:tgtEl>
                                          <p:spTgt spid="39629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62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96291">
                                            <p:txEl>
                                              <p:pRg st="3" end="3"/>
                                            </p:txEl>
                                          </p:spTgt>
                                        </p:tgtEl>
                                        <p:attrNameLst>
                                          <p:attrName>style.visibility</p:attrName>
                                        </p:attrNameLst>
                                      </p:cBhvr>
                                      <p:to>
                                        <p:strVal val="visible"/>
                                      </p:to>
                                    </p:set>
                                    <p:anim calcmode="lin" valueType="num">
                                      <p:cBhvr additive="base">
                                        <p:cTn id="13" dur="500" fill="hold"/>
                                        <p:tgtEl>
                                          <p:spTgt spid="39629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96291">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96291">
                                            <p:txEl>
                                              <p:pRg st="4" end="4"/>
                                            </p:txEl>
                                          </p:spTgt>
                                        </p:tgtEl>
                                        <p:attrNameLst>
                                          <p:attrName>style.visibility</p:attrName>
                                        </p:attrNameLst>
                                      </p:cBhvr>
                                      <p:to>
                                        <p:strVal val="visible"/>
                                      </p:to>
                                    </p:set>
                                    <p:anim calcmode="lin" valueType="num">
                                      <p:cBhvr additive="base">
                                        <p:cTn id="17" dur="500" fill="hold"/>
                                        <p:tgtEl>
                                          <p:spTgt spid="396291">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96291">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96291">
                                            <p:txEl>
                                              <p:pRg st="5" end="5"/>
                                            </p:txEl>
                                          </p:spTgt>
                                        </p:tgtEl>
                                        <p:attrNameLst>
                                          <p:attrName>style.visibility</p:attrName>
                                        </p:attrNameLst>
                                      </p:cBhvr>
                                      <p:to>
                                        <p:strVal val="visible"/>
                                      </p:to>
                                    </p:set>
                                    <p:anim calcmode="lin" valueType="num">
                                      <p:cBhvr additive="base">
                                        <p:cTn id="21" dur="500" fill="hold"/>
                                        <p:tgtEl>
                                          <p:spTgt spid="396291">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9629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250825" y="981075"/>
            <a:ext cx="7793038" cy="709613"/>
          </a:xfrm>
        </p:spPr>
        <p:txBody>
          <a:bodyPr/>
          <a:lstStyle/>
          <a:p>
            <a:pPr eaLnBrk="1" hangingPunct="1"/>
            <a:r>
              <a:rPr lang="en-US" altLang="zh-CN" sz="2800" smtClean="0">
                <a:solidFill>
                  <a:schemeClr val="tx1"/>
                </a:solidFill>
                <a:latin typeface="黑体" pitchFamily="49" charset="-122"/>
              </a:rPr>
              <a:t>(5) </a:t>
            </a:r>
            <a:r>
              <a:rPr lang="zh-CN" altLang="en-US" sz="2800" smtClean="0">
                <a:solidFill>
                  <a:schemeClr val="tx1"/>
                </a:solidFill>
                <a:latin typeface="黑体" pitchFamily="49" charset="-122"/>
              </a:rPr>
              <a:t>涉及空值的查询</a:t>
            </a:r>
          </a:p>
        </p:txBody>
      </p:sp>
      <p:sp>
        <p:nvSpPr>
          <p:cNvPr id="397315" name="Rectangle 3"/>
          <p:cNvSpPr>
            <a:spLocks noGrp="1" noChangeArrowheads="1"/>
          </p:cNvSpPr>
          <p:nvPr>
            <p:ph type="body" idx="1"/>
          </p:nvPr>
        </p:nvSpPr>
        <p:spPr>
          <a:xfrm>
            <a:off x="611188" y="1700213"/>
            <a:ext cx="7772400" cy="4114800"/>
          </a:xfrm>
        </p:spPr>
        <p:txBody>
          <a:bodyPr/>
          <a:lstStyle/>
          <a:p>
            <a:pPr eaLnBrk="1" hangingPunct="1">
              <a:lnSpc>
                <a:spcPct val="120000"/>
              </a:lnSpc>
            </a:pPr>
            <a:r>
              <a:rPr lang="en-US" altLang="zh-CN" sz="2400" smtClean="0">
                <a:latin typeface="黑体" pitchFamily="49" charset="-122"/>
                <a:ea typeface="黑体" pitchFamily="49" charset="-122"/>
              </a:rPr>
              <a:t> </a:t>
            </a:r>
            <a:r>
              <a:rPr lang="zh-CN" altLang="en-US" sz="2400" smtClean="0">
                <a:latin typeface="黑体" pitchFamily="49" charset="-122"/>
                <a:ea typeface="黑体" pitchFamily="49" charset="-122"/>
              </a:rPr>
              <a:t>使用谓词 </a:t>
            </a:r>
            <a:r>
              <a:rPr lang="en-US" altLang="zh-CN" sz="2400" smtClean="0">
                <a:latin typeface="黑体" pitchFamily="49" charset="-122"/>
                <a:ea typeface="黑体" pitchFamily="49" charset="-122"/>
              </a:rPr>
              <a:t>IS NULL </a:t>
            </a:r>
            <a:r>
              <a:rPr lang="zh-CN" altLang="en-US" sz="2400" smtClean="0">
                <a:latin typeface="黑体" pitchFamily="49" charset="-122"/>
                <a:ea typeface="黑体" pitchFamily="49" charset="-122"/>
              </a:rPr>
              <a:t>或 </a:t>
            </a:r>
            <a:r>
              <a:rPr lang="en-US" altLang="zh-CN" sz="2400" smtClean="0">
                <a:latin typeface="黑体" pitchFamily="49" charset="-122"/>
                <a:ea typeface="黑体" pitchFamily="49" charset="-122"/>
              </a:rPr>
              <a:t>IS NOT NULL</a:t>
            </a:r>
          </a:p>
          <a:p>
            <a:pPr eaLnBrk="1" hangingPunct="1">
              <a:lnSpc>
                <a:spcPct val="120000"/>
              </a:lnSpc>
            </a:pPr>
            <a:r>
              <a:rPr lang="en-US" altLang="zh-CN" sz="2400" smtClean="0">
                <a:latin typeface="黑体" pitchFamily="49" charset="-122"/>
                <a:ea typeface="黑体" pitchFamily="49" charset="-122"/>
              </a:rPr>
              <a:t> </a:t>
            </a:r>
            <a:r>
              <a:rPr lang="en-US" altLang="zh-CN" sz="2400" smtClean="0">
                <a:ea typeface="黑体" pitchFamily="49" charset="-122"/>
              </a:rPr>
              <a:t>“</a:t>
            </a:r>
            <a:r>
              <a:rPr lang="en-US" altLang="zh-CN" sz="2400" smtClean="0">
                <a:latin typeface="黑体" pitchFamily="49" charset="-122"/>
                <a:ea typeface="黑体" pitchFamily="49" charset="-122"/>
              </a:rPr>
              <a:t>IS NULL</a:t>
            </a:r>
            <a:r>
              <a:rPr lang="en-US" altLang="zh-CN" sz="2400" smtClean="0">
                <a:ea typeface="黑体" pitchFamily="49" charset="-122"/>
              </a:rPr>
              <a:t>”</a:t>
            </a:r>
            <a:r>
              <a:rPr lang="en-US" altLang="zh-CN" sz="2400" smtClean="0">
                <a:latin typeface="黑体" pitchFamily="49" charset="-122"/>
                <a:ea typeface="黑体" pitchFamily="49" charset="-122"/>
              </a:rPr>
              <a:t> </a:t>
            </a:r>
            <a:r>
              <a:rPr lang="zh-CN" altLang="en-US" sz="2400" smtClean="0">
                <a:latin typeface="黑体" pitchFamily="49" charset="-122"/>
                <a:ea typeface="黑体" pitchFamily="49" charset="-122"/>
              </a:rPr>
              <a:t>不能用 </a:t>
            </a:r>
            <a:r>
              <a:rPr lang="zh-CN" altLang="en-US" sz="2400" smtClean="0">
                <a:ea typeface="黑体" pitchFamily="49" charset="-122"/>
              </a:rPr>
              <a:t>“</a:t>
            </a:r>
            <a:r>
              <a:rPr lang="en-US" altLang="zh-CN" sz="2400" smtClean="0">
                <a:latin typeface="黑体" pitchFamily="49" charset="-122"/>
                <a:ea typeface="黑体" pitchFamily="49" charset="-122"/>
              </a:rPr>
              <a:t>= NULL</a:t>
            </a:r>
            <a:r>
              <a:rPr lang="en-US" altLang="zh-CN" sz="2400" smtClean="0">
                <a:ea typeface="黑体" pitchFamily="49" charset="-122"/>
              </a:rPr>
              <a:t>”</a:t>
            </a:r>
            <a:r>
              <a:rPr lang="en-US" altLang="zh-CN" sz="2400" smtClean="0">
                <a:latin typeface="黑体" pitchFamily="49" charset="-122"/>
                <a:ea typeface="黑体" pitchFamily="49" charset="-122"/>
              </a:rPr>
              <a:t> </a:t>
            </a:r>
            <a:r>
              <a:rPr lang="zh-CN" altLang="en-US" sz="2400" smtClean="0">
                <a:latin typeface="黑体" pitchFamily="49" charset="-122"/>
                <a:ea typeface="黑体" pitchFamily="49" charset="-122"/>
              </a:rPr>
              <a:t>代替</a:t>
            </a:r>
          </a:p>
          <a:p>
            <a:pPr eaLnBrk="1" hangingPunct="1">
              <a:lnSpc>
                <a:spcPct val="130000"/>
              </a:lnSpc>
              <a:buFont typeface="Wingdings" pitchFamily="2" charset="2"/>
              <a:buNone/>
            </a:pPr>
            <a:r>
              <a:rPr lang="en-US" altLang="zh-CN" sz="2000" smtClean="0">
                <a:latin typeface="黑体" pitchFamily="49" charset="-122"/>
                <a:ea typeface="黑体" pitchFamily="49" charset="-122"/>
              </a:rPr>
              <a:t>[</a:t>
            </a:r>
            <a:r>
              <a:rPr lang="zh-CN" altLang="en-US" sz="2000" smtClean="0">
                <a:latin typeface="黑体" pitchFamily="49" charset="-122"/>
                <a:ea typeface="黑体" pitchFamily="49" charset="-122"/>
              </a:rPr>
              <a:t>例</a:t>
            </a:r>
            <a:r>
              <a:rPr lang="en-US" altLang="zh-CN" sz="2000" smtClean="0">
                <a:latin typeface="黑体" pitchFamily="49" charset="-122"/>
                <a:ea typeface="黑体" pitchFamily="49" charset="-122"/>
              </a:rPr>
              <a:t>16]  </a:t>
            </a:r>
            <a:r>
              <a:rPr lang="zh-CN" altLang="en-US" sz="2000" smtClean="0">
                <a:latin typeface="黑体" pitchFamily="49" charset="-122"/>
                <a:ea typeface="黑体" pitchFamily="49" charset="-122"/>
              </a:rPr>
              <a:t>某些学生选修课程后没有参加考试，所以有选课记录，但没有考试成绩。查询缺少成绩的学生的学号和相应的课程号。</a:t>
            </a:r>
          </a:p>
        </p:txBody>
      </p:sp>
      <p:sp>
        <p:nvSpPr>
          <p:cNvPr id="4" name="Rectangle 2"/>
          <p:cNvSpPr txBox="1">
            <a:spLocks noChangeArrowheads="1"/>
          </p:cNvSpPr>
          <p:nvPr/>
        </p:nvSpPr>
        <p:spPr bwMode="auto">
          <a:xfrm>
            <a:off x="971550" y="260350"/>
            <a:ext cx="779303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smtClean="0">
                <a:latin typeface="黑体" pitchFamily="49" charset="-122"/>
              </a:rPr>
              <a:t>3.4.2  </a:t>
            </a:r>
            <a:r>
              <a:rPr lang="zh-CN" altLang="en-US" b="0" kern="0" smtClean="0">
                <a:latin typeface="黑体" pitchFamily="49" charset="-122"/>
              </a:rPr>
              <a:t>单表查询 </a:t>
            </a:r>
            <a:endParaRPr lang="zh-CN" altLang="en-US" b="0" kern="0" dirty="0" smtClean="0">
              <a:latin typeface="黑体"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7315">
                                            <p:txEl>
                                              <p:pRg st="0" end="0"/>
                                            </p:txEl>
                                          </p:spTgt>
                                        </p:tgtEl>
                                        <p:attrNameLst>
                                          <p:attrName>style.visibility</p:attrName>
                                        </p:attrNameLst>
                                      </p:cBhvr>
                                      <p:to>
                                        <p:strVal val="visible"/>
                                      </p:to>
                                    </p:set>
                                    <p:animEffect transition="in" filter="box(in)">
                                      <p:cBhvr>
                                        <p:cTn id="7" dur="500"/>
                                        <p:tgtEl>
                                          <p:spTgt spid="397315">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97315">
                                            <p:txEl>
                                              <p:pRg st="1" end="1"/>
                                            </p:txEl>
                                          </p:spTgt>
                                        </p:tgtEl>
                                        <p:attrNameLst>
                                          <p:attrName>style.visibility</p:attrName>
                                        </p:attrNameLst>
                                      </p:cBhvr>
                                      <p:to>
                                        <p:strVal val="visible"/>
                                      </p:to>
                                    </p:set>
                                    <p:animEffect transition="in" filter="box(in)">
                                      <p:cBhvr>
                                        <p:cTn id="10" dur="500"/>
                                        <p:tgtEl>
                                          <p:spTgt spid="39731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0" presetClass="entr" presetSubtype="0" decel="100000" fill="hold" nodeType="clickEffect">
                                  <p:stCondLst>
                                    <p:cond delay="0"/>
                                  </p:stCondLst>
                                  <p:childTnLst>
                                    <p:set>
                                      <p:cBhvr>
                                        <p:cTn id="14" dur="1" fill="hold">
                                          <p:stCondLst>
                                            <p:cond delay="0"/>
                                          </p:stCondLst>
                                        </p:cTn>
                                        <p:tgtEl>
                                          <p:spTgt spid="397315">
                                            <p:txEl>
                                              <p:pRg st="2" end="2"/>
                                            </p:txEl>
                                          </p:spTgt>
                                        </p:tgtEl>
                                        <p:attrNameLst>
                                          <p:attrName>style.visibility</p:attrName>
                                        </p:attrNameLst>
                                      </p:cBhvr>
                                      <p:to>
                                        <p:strVal val="visible"/>
                                      </p:to>
                                    </p:set>
                                    <p:anim calcmode="lin" valueType="num">
                                      <p:cBhvr>
                                        <p:cTn id="15" dur="1000" fill="hold"/>
                                        <p:tgtEl>
                                          <p:spTgt spid="397315">
                                            <p:txEl>
                                              <p:pRg st="2" end="2"/>
                                            </p:txEl>
                                          </p:spTgt>
                                        </p:tgtEl>
                                        <p:attrNameLst>
                                          <p:attrName>ppt_w</p:attrName>
                                        </p:attrNameLst>
                                      </p:cBhvr>
                                      <p:tavLst>
                                        <p:tav tm="0">
                                          <p:val>
                                            <p:strVal val="#ppt_w+.3"/>
                                          </p:val>
                                        </p:tav>
                                        <p:tav tm="100000">
                                          <p:val>
                                            <p:strVal val="#ppt_w"/>
                                          </p:val>
                                        </p:tav>
                                      </p:tavLst>
                                    </p:anim>
                                    <p:anim calcmode="lin" valueType="num">
                                      <p:cBhvr>
                                        <p:cTn id="16" dur="1000" fill="hold"/>
                                        <p:tgtEl>
                                          <p:spTgt spid="397315">
                                            <p:txEl>
                                              <p:pRg st="2" end="2"/>
                                            </p:txEl>
                                          </p:spTgt>
                                        </p:tgtEl>
                                        <p:attrNameLst>
                                          <p:attrName>ppt_h</p:attrName>
                                        </p:attrNameLst>
                                      </p:cBhvr>
                                      <p:tavLst>
                                        <p:tav tm="0">
                                          <p:val>
                                            <p:strVal val="#ppt_h"/>
                                          </p:val>
                                        </p:tav>
                                        <p:tav tm="100000">
                                          <p:val>
                                            <p:strVal val="#ppt_h"/>
                                          </p:val>
                                        </p:tav>
                                      </p:tavLst>
                                    </p:anim>
                                    <p:animEffect transition="in" filter="fade">
                                      <p:cBhvr>
                                        <p:cTn id="17" dur="1000"/>
                                        <p:tgtEl>
                                          <p:spTgt spid="3973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539750" y="1052513"/>
            <a:ext cx="7793038" cy="638175"/>
          </a:xfrm>
        </p:spPr>
        <p:txBody>
          <a:bodyPr/>
          <a:lstStyle/>
          <a:p>
            <a:pPr eaLnBrk="1" hangingPunct="1"/>
            <a:r>
              <a:rPr lang="en-US" altLang="zh-CN" sz="2800" smtClean="0">
                <a:solidFill>
                  <a:schemeClr val="tx1"/>
                </a:solidFill>
                <a:latin typeface="黑体" pitchFamily="49" charset="-122"/>
              </a:rPr>
              <a:t>(6) </a:t>
            </a:r>
            <a:r>
              <a:rPr lang="zh-CN" altLang="en-US" sz="2800" smtClean="0">
                <a:solidFill>
                  <a:schemeClr val="tx1"/>
                </a:solidFill>
                <a:latin typeface="黑体" pitchFamily="49" charset="-122"/>
              </a:rPr>
              <a:t>多重条件查询</a:t>
            </a:r>
          </a:p>
        </p:txBody>
      </p:sp>
      <p:sp>
        <p:nvSpPr>
          <p:cNvPr id="45059" name="Rectangle 3"/>
          <p:cNvSpPr>
            <a:spLocks noGrp="1" noChangeArrowheads="1"/>
          </p:cNvSpPr>
          <p:nvPr>
            <p:ph type="body" idx="1"/>
          </p:nvPr>
        </p:nvSpPr>
        <p:spPr>
          <a:xfrm>
            <a:off x="760413" y="1690688"/>
            <a:ext cx="7772400" cy="4114800"/>
          </a:xfrm>
        </p:spPr>
        <p:txBody>
          <a:bodyPr/>
          <a:lstStyle/>
          <a:p>
            <a:pPr eaLnBrk="1" hangingPunct="1">
              <a:lnSpc>
                <a:spcPct val="140000"/>
              </a:lnSpc>
              <a:buFont typeface="Wingdings" pitchFamily="2" charset="2"/>
              <a:buNone/>
            </a:pPr>
            <a:r>
              <a:rPr lang="zh-CN" altLang="en-US" sz="2800" smtClean="0">
                <a:latin typeface="黑体" pitchFamily="49" charset="-122"/>
                <a:ea typeface="黑体" pitchFamily="49" charset="-122"/>
              </a:rPr>
              <a:t>用逻辑运算符</a:t>
            </a:r>
            <a:r>
              <a:rPr lang="en-US" altLang="zh-CN" sz="2800" smtClean="0">
                <a:latin typeface="黑体" pitchFamily="49" charset="-122"/>
                <a:ea typeface="黑体" pitchFamily="49" charset="-122"/>
              </a:rPr>
              <a:t>AND</a:t>
            </a:r>
            <a:r>
              <a:rPr lang="zh-CN" altLang="en-US" sz="2800" smtClean="0">
                <a:latin typeface="黑体" pitchFamily="49" charset="-122"/>
                <a:ea typeface="黑体" pitchFamily="49" charset="-122"/>
              </a:rPr>
              <a:t>和</a:t>
            </a:r>
            <a:r>
              <a:rPr lang="en-US" altLang="zh-CN" sz="2800" smtClean="0">
                <a:latin typeface="黑体" pitchFamily="49" charset="-122"/>
                <a:ea typeface="黑体" pitchFamily="49" charset="-122"/>
              </a:rPr>
              <a:t>OR</a:t>
            </a:r>
            <a:r>
              <a:rPr lang="zh-CN" altLang="en-US" sz="2800" smtClean="0">
                <a:latin typeface="黑体" pitchFamily="49" charset="-122"/>
                <a:ea typeface="黑体" pitchFamily="49" charset="-122"/>
              </a:rPr>
              <a:t>来联结多个查询条件</a:t>
            </a:r>
            <a:endParaRPr lang="zh-CN" altLang="en-US" smtClean="0">
              <a:latin typeface="黑体" pitchFamily="49" charset="-122"/>
              <a:ea typeface="黑体" pitchFamily="49" charset="-122"/>
            </a:endParaRPr>
          </a:p>
          <a:p>
            <a:pPr lvl="2" eaLnBrk="1" hangingPunct="1">
              <a:lnSpc>
                <a:spcPct val="140000"/>
              </a:lnSpc>
            </a:pPr>
            <a:r>
              <a:rPr lang="zh-CN" altLang="en-US" smtClean="0">
                <a:latin typeface="黑体" pitchFamily="49" charset="-122"/>
                <a:ea typeface="黑体" pitchFamily="49" charset="-122"/>
              </a:rPr>
              <a:t> </a:t>
            </a:r>
            <a:r>
              <a:rPr lang="en-US" altLang="zh-CN" smtClean="0">
                <a:latin typeface="黑体" pitchFamily="49" charset="-122"/>
                <a:ea typeface="黑体" pitchFamily="49" charset="-122"/>
              </a:rPr>
              <a:t>AND</a:t>
            </a:r>
            <a:r>
              <a:rPr lang="zh-CN" altLang="en-US" smtClean="0">
                <a:latin typeface="黑体" pitchFamily="49" charset="-122"/>
                <a:ea typeface="黑体" pitchFamily="49" charset="-122"/>
              </a:rPr>
              <a:t>的优先级高于</a:t>
            </a:r>
            <a:r>
              <a:rPr lang="en-US" altLang="zh-CN" smtClean="0">
                <a:latin typeface="黑体" pitchFamily="49" charset="-122"/>
                <a:ea typeface="黑体" pitchFamily="49" charset="-122"/>
              </a:rPr>
              <a:t>OR</a:t>
            </a:r>
          </a:p>
          <a:p>
            <a:pPr lvl="2" eaLnBrk="1" hangingPunct="1">
              <a:lnSpc>
                <a:spcPct val="140000"/>
              </a:lnSpc>
            </a:pPr>
            <a:r>
              <a:rPr lang="en-US" altLang="zh-CN" smtClean="0">
                <a:latin typeface="黑体" pitchFamily="49" charset="-122"/>
                <a:ea typeface="黑体" pitchFamily="49" charset="-122"/>
              </a:rPr>
              <a:t> </a:t>
            </a:r>
            <a:r>
              <a:rPr lang="zh-CN" altLang="en-US" smtClean="0">
                <a:latin typeface="黑体" pitchFamily="49" charset="-122"/>
                <a:ea typeface="黑体" pitchFamily="49" charset="-122"/>
              </a:rPr>
              <a:t>可以用括号改变优先级</a:t>
            </a:r>
          </a:p>
          <a:p>
            <a:pPr eaLnBrk="1" hangingPunct="1">
              <a:lnSpc>
                <a:spcPct val="140000"/>
              </a:lnSpc>
              <a:buFont typeface="Wingdings" pitchFamily="2" charset="2"/>
              <a:buNone/>
            </a:pPr>
            <a:r>
              <a:rPr lang="zh-CN" altLang="en-US" sz="2800" smtClean="0">
                <a:latin typeface="黑体" pitchFamily="49" charset="-122"/>
                <a:ea typeface="黑体" pitchFamily="49" charset="-122"/>
              </a:rPr>
              <a:t>可用来实现多种其他谓词</a:t>
            </a:r>
            <a:endParaRPr lang="zh-CN" altLang="en-US" smtClean="0">
              <a:latin typeface="黑体" pitchFamily="49" charset="-122"/>
              <a:ea typeface="黑体" pitchFamily="49" charset="-122"/>
            </a:endParaRPr>
          </a:p>
          <a:p>
            <a:pPr lvl="2" eaLnBrk="1" hangingPunct="1">
              <a:lnSpc>
                <a:spcPct val="140000"/>
              </a:lnSpc>
            </a:pPr>
            <a:r>
              <a:rPr lang="zh-CN" altLang="en-US" smtClean="0">
                <a:latin typeface="黑体" pitchFamily="49" charset="-122"/>
                <a:ea typeface="黑体" pitchFamily="49" charset="-122"/>
              </a:rPr>
              <a:t> </a:t>
            </a:r>
            <a:r>
              <a:rPr lang="en-US" altLang="zh-CN" smtClean="0">
                <a:latin typeface="黑体" pitchFamily="49" charset="-122"/>
                <a:ea typeface="黑体" pitchFamily="49" charset="-122"/>
              </a:rPr>
              <a:t>[NOT] IN</a:t>
            </a:r>
          </a:p>
          <a:p>
            <a:pPr lvl="2" eaLnBrk="1" hangingPunct="1">
              <a:lnSpc>
                <a:spcPct val="140000"/>
              </a:lnSpc>
            </a:pPr>
            <a:r>
              <a:rPr lang="en-US" altLang="zh-CN" smtClean="0">
                <a:latin typeface="黑体" pitchFamily="49" charset="-122"/>
                <a:ea typeface="黑体" pitchFamily="49" charset="-122"/>
              </a:rPr>
              <a:t> [NOT] BETWEEN </a:t>
            </a:r>
            <a:r>
              <a:rPr lang="en-US" altLang="zh-CN" smtClean="0">
                <a:ea typeface="黑体" pitchFamily="49" charset="-122"/>
              </a:rPr>
              <a:t>…</a:t>
            </a:r>
            <a:r>
              <a:rPr lang="en-US" altLang="zh-CN" smtClean="0">
                <a:latin typeface="黑体" pitchFamily="49" charset="-122"/>
                <a:ea typeface="黑体" pitchFamily="49" charset="-122"/>
              </a:rPr>
              <a:t>   AND  </a:t>
            </a:r>
            <a:r>
              <a:rPr lang="en-US" altLang="zh-CN" smtClean="0">
                <a:ea typeface="黑体" pitchFamily="49" charset="-122"/>
              </a:rPr>
              <a:t>…</a:t>
            </a:r>
            <a:endParaRPr lang="en-US" altLang="zh-CN" smtClean="0">
              <a:latin typeface="黑体" pitchFamily="49" charset="-122"/>
              <a:ea typeface="黑体" pitchFamily="49" charset="-122"/>
            </a:endParaRPr>
          </a:p>
        </p:txBody>
      </p:sp>
      <p:sp>
        <p:nvSpPr>
          <p:cNvPr id="4" name="Rectangle 2"/>
          <p:cNvSpPr txBox="1">
            <a:spLocks noChangeArrowheads="1"/>
          </p:cNvSpPr>
          <p:nvPr/>
        </p:nvSpPr>
        <p:spPr bwMode="auto">
          <a:xfrm>
            <a:off x="971550" y="260350"/>
            <a:ext cx="779303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smtClean="0">
                <a:latin typeface="黑体" pitchFamily="49" charset="-122"/>
              </a:rPr>
              <a:t>3.4.2  </a:t>
            </a:r>
            <a:r>
              <a:rPr lang="zh-CN" altLang="en-US" b="0" kern="0" smtClean="0">
                <a:latin typeface="黑体" pitchFamily="49" charset="-122"/>
              </a:rPr>
              <a:t>单表查询 </a:t>
            </a:r>
            <a:endParaRPr lang="zh-CN" altLang="en-US" b="0" kern="0" dirty="0" smtClean="0">
              <a:latin typeface="黑体" pitchFamily="49" charset="-122"/>
            </a:endParaRP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323850" y="908050"/>
            <a:ext cx="7793038" cy="720725"/>
          </a:xfrm>
        </p:spPr>
        <p:txBody>
          <a:bodyPr/>
          <a:lstStyle/>
          <a:p>
            <a:pPr eaLnBrk="1" hangingPunct="1"/>
            <a:r>
              <a:rPr lang="zh-CN" altLang="en-US" sz="2800" smtClean="0">
                <a:solidFill>
                  <a:schemeClr val="tx1"/>
                </a:solidFill>
                <a:latin typeface="黑体" pitchFamily="49" charset="-122"/>
              </a:rPr>
              <a:t>三、对查询结果排序 </a:t>
            </a:r>
          </a:p>
        </p:txBody>
      </p:sp>
      <p:sp>
        <p:nvSpPr>
          <p:cNvPr id="46083" name="Rectangle 3"/>
          <p:cNvSpPr>
            <a:spLocks noGrp="1" noChangeArrowheads="1"/>
          </p:cNvSpPr>
          <p:nvPr>
            <p:ph type="body" idx="1"/>
          </p:nvPr>
        </p:nvSpPr>
        <p:spPr>
          <a:xfrm>
            <a:off x="684213" y="1628775"/>
            <a:ext cx="7772400" cy="4114800"/>
          </a:xfrm>
        </p:spPr>
        <p:txBody>
          <a:bodyPr/>
          <a:lstStyle/>
          <a:p>
            <a:pPr algn="just" eaLnBrk="1" hangingPunct="1">
              <a:lnSpc>
                <a:spcPct val="150000"/>
              </a:lnSpc>
              <a:buFont typeface="宋体" pitchFamily="2" charset="-122"/>
              <a:buNone/>
            </a:pPr>
            <a:r>
              <a:rPr lang="en-US" altLang="zh-CN" sz="2800" smtClean="0">
                <a:latin typeface="黑体" pitchFamily="49" charset="-122"/>
                <a:ea typeface="黑体" pitchFamily="49" charset="-122"/>
              </a:rPr>
              <a:t>	</a:t>
            </a:r>
            <a:r>
              <a:rPr lang="zh-CN" altLang="en-US" sz="2800" smtClean="0">
                <a:latin typeface="黑体" pitchFamily="49" charset="-122"/>
                <a:ea typeface="黑体" pitchFamily="49" charset="-122"/>
              </a:rPr>
              <a:t>使用</a:t>
            </a:r>
            <a:r>
              <a:rPr lang="en-US" altLang="zh-CN" sz="2800" smtClean="0">
                <a:latin typeface="黑体" pitchFamily="49" charset="-122"/>
                <a:ea typeface="黑体" pitchFamily="49" charset="-122"/>
              </a:rPr>
              <a:t>ORDER BY</a:t>
            </a:r>
            <a:r>
              <a:rPr lang="zh-CN" altLang="en-US" sz="2800" smtClean="0">
                <a:latin typeface="黑体" pitchFamily="49" charset="-122"/>
                <a:ea typeface="黑体" pitchFamily="49" charset="-122"/>
              </a:rPr>
              <a:t>子句</a:t>
            </a:r>
            <a:endParaRPr lang="zh-CN" altLang="en-US" smtClean="0">
              <a:latin typeface="黑体" pitchFamily="49" charset="-122"/>
              <a:ea typeface="黑体" pitchFamily="49" charset="-122"/>
            </a:endParaRPr>
          </a:p>
          <a:p>
            <a:pPr lvl="2" algn="just" eaLnBrk="1" hangingPunct="1">
              <a:lnSpc>
                <a:spcPct val="150000"/>
              </a:lnSpc>
            </a:pPr>
            <a:r>
              <a:rPr lang="zh-CN" altLang="en-US" smtClean="0">
                <a:latin typeface="黑体" pitchFamily="49" charset="-122"/>
                <a:ea typeface="黑体" pitchFamily="49" charset="-122"/>
              </a:rPr>
              <a:t> 可以按一个或多个属性列排序</a:t>
            </a:r>
          </a:p>
          <a:p>
            <a:pPr lvl="2" algn="just" eaLnBrk="1" hangingPunct="1">
              <a:lnSpc>
                <a:spcPct val="150000"/>
              </a:lnSpc>
            </a:pPr>
            <a:r>
              <a:rPr lang="zh-CN" altLang="en-US" smtClean="0">
                <a:latin typeface="黑体" pitchFamily="49" charset="-122"/>
                <a:ea typeface="黑体" pitchFamily="49" charset="-122"/>
              </a:rPr>
              <a:t> 升序：</a:t>
            </a:r>
            <a:r>
              <a:rPr lang="en-US" altLang="zh-CN" smtClean="0">
                <a:latin typeface="黑体" pitchFamily="49" charset="-122"/>
                <a:ea typeface="黑体" pitchFamily="49" charset="-122"/>
              </a:rPr>
              <a:t>ASC</a:t>
            </a:r>
            <a:r>
              <a:rPr lang="zh-CN" altLang="en-US" smtClean="0">
                <a:latin typeface="黑体" pitchFamily="49" charset="-122"/>
                <a:ea typeface="黑体" pitchFamily="49" charset="-122"/>
              </a:rPr>
              <a:t>；降序：</a:t>
            </a:r>
            <a:r>
              <a:rPr lang="en-US" altLang="zh-CN" smtClean="0">
                <a:latin typeface="黑体" pitchFamily="49" charset="-122"/>
                <a:ea typeface="黑体" pitchFamily="49" charset="-122"/>
              </a:rPr>
              <a:t>DESC</a:t>
            </a:r>
            <a:r>
              <a:rPr lang="zh-CN" altLang="en-US" smtClean="0">
                <a:latin typeface="黑体" pitchFamily="49" charset="-122"/>
                <a:ea typeface="黑体" pitchFamily="49" charset="-122"/>
              </a:rPr>
              <a:t>；缺省值为升序</a:t>
            </a:r>
          </a:p>
          <a:p>
            <a:pPr lvl="1" algn="just" eaLnBrk="1" hangingPunct="1">
              <a:lnSpc>
                <a:spcPct val="150000"/>
              </a:lnSpc>
              <a:buFont typeface="Wingdings" pitchFamily="2" charset="2"/>
              <a:buNone/>
            </a:pPr>
            <a:r>
              <a:rPr lang="zh-CN" altLang="en-US" smtClean="0">
                <a:latin typeface="黑体" pitchFamily="49" charset="-122"/>
                <a:ea typeface="黑体" pitchFamily="49" charset="-122"/>
              </a:rPr>
              <a:t>当排序列含空值时</a:t>
            </a:r>
          </a:p>
          <a:p>
            <a:pPr lvl="2" algn="just" eaLnBrk="1" hangingPunct="1">
              <a:lnSpc>
                <a:spcPct val="150000"/>
              </a:lnSpc>
            </a:pPr>
            <a:r>
              <a:rPr lang="en-US" altLang="zh-CN" smtClean="0">
                <a:latin typeface="黑体" pitchFamily="49" charset="-122"/>
                <a:ea typeface="黑体" pitchFamily="49" charset="-122"/>
              </a:rPr>
              <a:t>ASC</a:t>
            </a:r>
            <a:r>
              <a:rPr lang="zh-CN" altLang="en-US" smtClean="0">
                <a:latin typeface="黑体" pitchFamily="49" charset="-122"/>
                <a:ea typeface="黑体" pitchFamily="49" charset="-122"/>
              </a:rPr>
              <a:t>：排序列为空值的元组最后显示</a:t>
            </a:r>
          </a:p>
          <a:p>
            <a:pPr lvl="2" algn="just" eaLnBrk="1" hangingPunct="1">
              <a:lnSpc>
                <a:spcPct val="150000"/>
              </a:lnSpc>
            </a:pPr>
            <a:r>
              <a:rPr lang="en-US" altLang="zh-CN" smtClean="0">
                <a:latin typeface="黑体" pitchFamily="49" charset="-122"/>
                <a:ea typeface="黑体" pitchFamily="49" charset="-122"/>
              </a:rPr>
              <a:t>DESC</a:t>
            </a:r>
            <a:r>
              <a:rPr lang="zh-CN" altLang="en-US" smtClean="0">
                <a:latin typeface="黑体" pitchFamily="49" charset="-122"/>
                <a:ea typeface="黑体" pitchFamily="49" charset="-122"/>
              </a:rPr>
              <a:t>：排序列为空值的元组最先显示 </a:t>
            </a:r>
          </a:p>
        </p:txBody>
      </p:sp>
      <p:sp>
        <p:nvSpPr>
          <p:cNvPr id="4" name="Rectangle 2"/>
          <p:cNvSpPr txBox="1">
            <a:spLocks noChangeArrowheads="1"/>
          </p:cNvSpPr>
          <p:nvPr/>
        </p:nvSpPr>
        <p:spPr bwMode="auto">
          <a:xfrm>
            <a:off x="971550" y="260350"/>
            <a:ext cx="779303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smtClean="0">
                <a:latin typeface="黑体" pitchFamily="49" charset="-122"/>
              </a:rPr>
              <a:t>3.4.2  </a:t>
            </a:r>
            <a:r>
              <a:rPr lang="zh-CN" altLang="en-US" b="0" kern="0" smtClean="0">
                <a:latin typeface="黑体" pitchFamily="49" charset="-122"/>
              </a:rPr>
              <a:t>单表查询 </a:t>
            </a:r>
            <a:endParaRPr lang="zh-CN" altLang="en-US" b="0" kern="0" dirty="0" smtClean="0">
              <a:latin typeface="黑体" pitchFamily="49" charset="-122"/>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539750" y="1052513"/>
            <a:ext cx="7793038" cy="647700"/>
          </a:xfrm>
        </p:spPr>
        <p:txBody>
          <a:bodyPr/>
          <a:lstStyle/>
          <a:p>
            <a:pPr eaLnBrk="1" hangingPunct="1"/>
            <a:r>
              <a:rPr lang="zh-CN" altLang="en-US" sz="2800" smtClean="0">
                <a:solidFill>
                  <a:schemeClr val="tx1"/>
                </a:solidFill>
                <a:latin typeface="黑体" pitchFamily="49" charset="-122"/>
              </a:rPr>
              <a:t>对查询结果排序</a:t>
            </a:r>
          </a:p>
        </p:txBody>
      </p:sp>
      <p:sp>
        <p:nvSpPr>
          <p:cNvPr id="404483" name="Rectangle 3"/>
          <p:cNvSpPr>
            <a:spLocks noGrp="1" noChangeArrowheads="1"/>
          </p:cNvSpPr>
          <p:nvPr>
            <p:ph type="body" idx="1"/>
          </p:nvPr>
        </p:nvSpPr>
        <p:spPr>
          <a:xfrm>
            <a:off x="684213" y="1700213"/>
            <a:ext cx="7272337" cy="4114800"/>
          </a:xfrm>
        </p:spPr>
        <p:txBody>
          <a:bodyPr/>
          <a:lstStyle/>
          <a:p>
            <a:pPr algn="just" eaLnBrk="1" hangingPunct="1">
              <a:lnSpc>
                <a:spcPct val="110000"/>
              </a:lnSpc>
              <a:buFont typeface="Wingdings" pitchFamily="2" charset="2"/>
              <a:buNone/>
            </a:pPr>
            <a:r>
              <a:rPr lang="en-US" altLang="zh-CN" sz="2600" smtClean="0">
                <a:latin typeface="黑体" pitchFamily="49" charset="-122"/>
                <a:ea typeface="黑体" pitchFamily="49" charset="-122"/>
              </a:rPr>
              <a:t>[</a:t>
            </a:r>
            <a:r>
              <a:rPr lang="zh-CN" altLang="en-US" sz="2600" smtClean="0">
                <a:latin typeface="黑体" pitchFamily="49" charset="-122"/>
                <a:ea typeface="黑体" pitchFamily="49" charset="-122"/>
              </a:rPr>
              <a:t>例</a:t>
            </a:r>
            <a:r>
              <a:rPr lang="en-US" altLang="zh-CN" sz="2600" smtClean="0">
                <a:latin typeface="黑体" pitchFamily="49" charset="-122"/>
                <a:ea typeface="黑体" pitchFamily="49" charset="-122"/>
              </a:rPr>
              <a:t>18]  </a:t>
            </a:r>
            <a:r>
              <a:rPr lang="zh-CN" altLang="en-US" sz="2600" smtClean="0">
                <a:latin typeface="黑体" pitchFamily="49" charset="-122"/>
                <a:ea typeface="黑体" pitchFamily="49" charset="-122"/>
              </a:rPr>
              <a:t>查询选修了</a:t>
            </a:r>
            <a:r>
              <a:rPr lang="en-US" altLang="zh-CN" sz="2600" smtClean="0">
                <a:latin typeface="黑体" pitchFamily="49" charset="-122"/>
                <a:ea typeface="黑体" pitchFamily="49" charset="-122"/>
              </a:rPr>
              <a:t>003</a:t>
            </a:r>
            <a:r>
              <a:rPr lang="zh-CN" altLang="en-US" sz="2600" smtClean="0">
                <a:latin typeface="黑体" pitchFamily="49" charset="-122"/>
                <a:ea typeface="黑体" pitchFamily="49" charset="-122"/>
              </a:rPr>
              <a:t>号课程的学生的学号及其成绩，查询结果按分数降序排列。</a:t>
            </a:r>
          </a:p>
          <a:p>
            <a:pPr lvl="1" algn="just" eaLnBrk="1" hangingPunct="1">
              <a:lnSpc>
                <a:spcPct val="110000"/>
              </a:lnSpc>
              <a:buFont typeface="Wingdings" pitchFamily="2" charset="2"/>
              <a:buNone/>
            </a:pPr>
            <a:endParaRPr lang="zh-CN" altLang="en-US" sz="2600" smtClean="0">
              <a:latin typeface="黑体" pitchFamily="49" charset="-122"/>
              <a:ea typeface="黑体" pitchFamily="49" charset="-122"/>
            </a:endParaRPr>
          </a:p>
          <a:p>
            <a:pPr algn="just" eaLnBrk="1" hangingPunct="1">
              <a:lnSpc>
                <a:spcPct val="110000"/>
              </a:lnSpc>
              <a:buFont typeface="Wingdings" pitchFamily="2" charset="2"/>
              <a:buNone/>
            </a:pPr>
            <a:r>
              <a:rPr lang="zh-CN" altLang="en-US" sz="2600" smtClean="0">
                <a:latin typeface="黑体" pitchFamily="49" charset="-122"/>
                <a:ea typeface="黑体" pitchFamily="49" charset="-122"/>
              </a:rPr>
              <a:t>    </a:t>
            </a:r>
          </a:p>
        </p:txBody>
      </p:sp>
      <p:sp>
        <p:nvSpPr>
          <p:cNvPr id="4" name="Rectangle 2"/>
          <p:cNvSpPr txBox="1">
            <a:spLocks noChangeArrowheads="1"/>
          </p:cNvSpPr>
          <p:nvPr/>
        </p:nvSpPr>
        <p:spPr bwMode="auto">
          <a:xfrm>
            <a:off x="971550" y="260350"/>
            <a:ext cx="779303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smtClean="0">
                <a:latin typeface="黑体" pitchFamily="49" charset="-122"/>
              </a:rPr>
              <a:t>3.4.2  </a:t>
            </a:r>
            <a:r>
              <a:rPr lang="zh-CN" altLang="en-US" b="0" kern="0" smtClean="0">
                <a:latin typeface="黑体" pitchFamily="49" charset="-122"/>
              </a:rPr>
              <a:t>单表查询 </a:t>
            </a:r>
            <a:endParaRPr lang="zh-CN" altLang="en-US" b="0" kern="0" dirty="0" smtClean="0">
              <a:latin typeface="黑体"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404483">
                                            <p:txEl>
                                              <p:pRg st="2" end="2"/>
                                            </p:txEl>
                                          </p:spTgt>
                                        </p:tgtEl>
                                        <p:attrNameLst>
                                          <p:attrName>style.visibility</p:attrName>
                                        </p:attrNameLst>
                                      </p:cBhvr>
                                      <p:to>
                                        <p:strVal val="visible"/>
                                      </p:to>
                                    </p:set>
                                    <p:animEffect transition="in" filter="slide(fromBottom)">
                                      <p:cBhvr>
                                        <p:cTn id="7" dur="500"/>
                                        <p:tgtEl>
                                          <p:spTgt spid="4044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539750" y="1052513"/>
            <a:ext cx="7793038" cy="638175"/>
          </a:xfrm>
        </p:spPr>
        <p:txBody>
          <a:bodyPr/>
          <a:lstStyle/>
          <a:p>
            <a:pPr eaLnBrk="1" hangingPunct="1"/>
            <a:r>
              <a:rPr lang="zh-CN" altLang="en-US" sz="2800" smtClean="0">
                <a:solidFill>
                  <a:schemeClr val="tx1"/>
                </a:solidFill>
              </a:rPr>
              <a:t>四、使用集函数 </a:t>
            </a:r>
          </a:p>
        </p:txBody>
      </p:sp>
      <p:sp>
        <p:nvSpPr>
          <p:cNvPr id="48131" name="Rectangle 3"/>
          <p:cNvSpPr>
            <a:spLocks noGrp="1" noChangeArrowheads="1"/>
          </p:cNvSpPr>
          <p:nvPr>
            <p:ph type="body" idx="1"/>
          </p:nvPr>
        </p:nvSpPr>
        <p:spPr>
          <a:xfrm>
            <a:off x="827088" y="1700213"/>
            <a:ext cx="7772400" cy="4114800"/>
          </a:xfrm>
        </p:spPr>
        <p:txBody>
          <a:bodyPr/>
          <a:lstStyle/>
          <a:p>
            <a:pPr algn="just" eaLnBrk="1" hangingPunct="1">
              <a:buFont typeface="Wingdings" pitchFamily="2" charset="2"/>
              <a:buNone/>
            </a:pPr>
            <a:r>
              <a:rPr lang="en-US" altLang="zh-CN" sz="2800" smtClean="0">
                <a:latin typeface="黑体" pitchFamily="49" charset="-122"/>
                <a:ea typeface="黑体" pitchFamily="49" charset="-122"/>
              </a:rPr>
              <a:t>5</a:t>
            </a:r>
            <a:r>
              <a:rPr lang="zh-CN" altLang="en-US" sz="2800" smtClean="0">
                <a:latin typeface="黑体" pitchFamily="49" charset="-122"/>
                <a:ea typeface="黑体" pitchFamily="49" charset="-122"/>
              </a:rPr>
              <a:t>类主要集函数</a:t>
            </a:r>
          </a:p>
          <a:p>
            <a:pPr lvl="1" algn="just" eaLnBrk="1" hangingPunct="1">
              <a:lnSpc>
                <a:spcPct val="110000"/>
              </a:lnSpc>
            </a:pPr>
            <a:r>
              <a:rPr lang="zh-CN" altLang="en-US" sz="2400" smtClean="0">
                <a:latin typeface="黑体" pitchFamily="49" charset="-122"/>
                <a:ea typeface="黑体" pitchFamily="49" charset="-122"/>
              </a:rPr>
              <a:t>计数</a:t>
            </a:r>
          </a:p>
          <a:p>
            <a:pPr lvl="2" algn="just" eaLnBrk="1" hangingPunct="1">
              <a:lnSpc>
                <a:spcPct val="110000"/>
              </a:lnSpc>
              <a:buFont typeface="Wingdings" pitchFamily="2" charset="2"/>
              <a:buNone/>
            </a:pPr>
            <a:r>
              <a:rPr lang="en-US" altLang="zh-CN" smtClean="0">
                <a:latin typeface="黑体" pitchFamily="49" charset="-122"/>
                <a:ea typeface="黑体" pitchFamily="49" charset="-122"/>
              </a:rPr>
              <a:t>COUNT</a:t>
            </a:r>
            <a:r>
              <a:rPr lang="zh-CN" altLang="en-US" smtClean="0">
                <a:latin typeface="黑体" pitchFamily="49" charset="-122"/>
                <a:ea typeface="黑体" pitchFamily="49" charset="-122"/>
              </a:rPr>
              <a:t>（</a:t>
            </a:r>
            <a:r>
              <a:rPr lang="en-US" altLang="zh-CN" smtClean="0">
                <a:latin typeface="黑体" pitchFamily="49" charset="-122"/>
                <a:ea typeface="黑体" pitchFamily="49" charset="-122"/>
              </a:rPr>
              <a:t>[DISTINCT|</a:t>
            </a:r>
            <a:r>
              <a:rPr lang="en-US" altLang="zh-CN" u="sng" smtClean="0">
                <a:latin typeface="黑体" pitchFamily="49" charset="-122"/>
                <a:ea typeface="黑体" pitchFamily="49" charset="-122"/>
              </a:rPr>
              <a:t>ALL</a:t>
            </a:r>
            <a:r>
              <a:rPr lang="en-US" altLang="zh-CN" smtClean="0">
                <a:latin typeface="黑体" pitchFamily="49" charset="-122"/>
                <a:ea typeface="黑体" pitchFamily="49" charset="-122"/>
              </a:rPr>
              <a:t>] *</a:t>
            </a:r>
            <a:r>
              <a:rPr lang="zh-CN" altLang="en-US" smtClean="0">
                <a:latin typeface="黑体" pitchFamily="49" charset="-122"/>
                <a:ea typeface="黑体" pitchFamily="49" charset="-122"/>
              </a:rPr>
              <a:t>）</a:t>
            </a:r>
          </a:p>
          <a:p>
            <a:pPr lvl="2" algn="just" eaLnBrk="1" hangingPunct="1">
              <a:lnSpc>
                <a:spcPct val="110000"/>
              </a:lnSpc>
              <a:buFont typeface="Wingdings" pitchFamily="2" charset="2"/>
              <a:buNone/>
            </a:pPr>
            <a:r>
              <a:rPr lang="en-US" altLang="zh-CN" smtClean="0">
                <a:latin typeface="黑体" pitchFamily="49" charset="-122"/>
                <a:ea typeface="黑体" pitchFamily="49" charset="-122"/>
              </a:rPr>
              <a:t>COUNT</a:t>
            </a:r>
            <a:r>
              <a:rPr lang="zh-CN" altLang="en-US" smtClean="0">
                <a:latin typeface="黑体" pitchFamily="49" charset="-122"/>
                <a:ea typeface="黑体" pitchFamily="49" charset="-122"/>
              </a:rPr>
              <a:t>（</a:t>
            </a:r>
            <a:r>
              <a:rPr lang="en-US" altLang="zh-CN" smtClean="0">
                <a:latin typeface="黑体" pitchFamily="49" charset="-122"/>
                <a:ea typeface="黑体" pitchFamily="49" charset="-122"/>
              </a:rPr>
              <a:t>[DISTINCT|</a:t>
            </a:r>
            <a:r>
              <a:rPr lang="en-US" altLang="zh-CN" u="sng" smtClean="0">
                <a:latin typeface="黑体" pitchFamily="49" charset="-122"/>
                <a:ea typeface="黑体" pitchFamily="49" charset="-122"/>
              </a:rPr>
              <a:t>ALL</a:t>
            </a:r>
            <a:r>
              <a:rPr lang="en-US" altLang="zh-CN" smtClean="0">
                <a:latin typeface="黑体" pitchFamily="49" charset="-122"/>
                <a:ea typeface="黑体" pitchFamily="49" charset="-122"/>
              </a:rPr>
              <a:t>] &lt;</a:t>
            </a:r>
            <a:r>
              <a:rPr lang="zh-CN" altLang="en-US" smtClean="0">
                <a:latin typeface="黑体" pitchFamily="49" charset="-122"/>
                <a:ea typeface="黑体" pitchFamily="49" charset="-122"/>
              </a:rPr>
              <a:t>列名</a:t>
            </a:r>
            <a:r>
              <a:rPr lang="en-US" altLang="zh-CN" smtClean="0">
                <a:latin typeface="黑体" pitchFamily="49" charset="-122"/>
                <a:ea typeface="黑体" pitchFamily="49" charset="-122"/>
              </a:rPr>
              <a:t>&gt;</a:t>
            </a:r>
            <a:r>
              <a:rPr lang="zh-CN" altLang="en-US" smtClean="0">
                <a:latin typeface="黑体" pitchFamily="49" charset="-122"/>
                <a:ea typeface="黑体" pitchFamily="49" charset="-122"/>
              </a:rPr>
              <a:t>）</a:t>
            </a:r>
          </a:p>
          <a:p>
            <a:pPr lvl="1" algn="just" eaLnBrk="1" hangingPunct="1">
              <a:lnSpc>
                <a:spcPct val="110000"/>
              </a:lnSpc>
            </a:pPr>
            <a:r>
              <a:rPr lang="zh-CN" altLang="en-US" sz="2400" smtClean="0">
                <a:latin typeface="黑体" pitchFamily="49" charset="-122"/>
                <a:ea typeface="黑体" pitchFamily="49" charset="-122"/>
              </a:rPr>
              <a:t>计算总和</a:t>
            </a:r>
            <a:endParaRPr lang="zh-CN" altLang="en-US" sz="2000" smtClean="0">
              <a:latin typeface="黑体" pitchFamily="49" charset="-122"/>
              <a:ea typeface="黑体" pitchFamily="49" charset="-122"/>
            </a:endParaRPr>
          </a:p>
          <a:p>
            <a:pPr lvl="2" algn="just" eaLnBrk="1" hangingPunct="1">
              <a:lnSpc>
                <a:spcPct val="110000"/>
              </a:lnSpc>
              <a:buFont typeface="Wingdings" pitchFamily="2" charset="2"/>
              <a:buNone/>
            </a:pPr>
            <a:r>
              <a:rPr lang="en-US" altLang="zh-CN" smtClean="0">
                <a:latin typeface="黑体" pitchFamily="49" charset="-122"/>
                <a:ea typeface="黑体" pitchFamily="49" charset="-122"/>
              </a:rPr>
              <a:t>SUM</a:t>
            </a:r>
            <a:r>
              <a:rPr lang="zh-CN" altLang="en-US" smtClean="0">
                <a:latin typeface="黑体" pitchFamily="49" charset="-122"/>
                <a:ea typeface="黑体" pitchFamily="49" charset="-122"/>
              </a:rPr>
              <a:t>（</a:t>
            </a:r>
            <a:r>
              <a:rPr lang="en-US" altLang="zh-CN" smtClean="0">
                <a:latin typeface="黑体" pitchFamily="49" charset="-122"/>
                <a:ea typeface="黑体" pitchFamily="49" charset="-122"/>
              </a:rPr>
              <a:t>[DISTINCT|</a:t>
            </a:r>
            <a:r>
              <a:rPr lang="en-US" altLang="zh-CN" u="sng" smtClean="0">
                <a:latin typeface="黑体" pitchFamily="49" charset="-122"/>
                <a:ea typeface="黑体" pitchFamily="49" charset="-122"/>
              </a:rPr>
              <a:t>ALL</a:t>
            </a:r>
            <a:r>
              <a:rPr lang="en-US" altLang="zh-CN" smtClean="0">
                <a:latin typeface="黑体" pitchFamily="49" charset="-122"/>
                <a:ea typeface="黑体" pitchFamily="49" charset="-122"/>
              </a:rPr>
              <a:t>] &lt;</a:t>
            </a:r>
            <a:r>
              <a:rPr lang="zh-CN" altLang="en-US" smtClean="0">
                <a:latin typeface="黑体" pitchFamily="49" charset="-122"/>
                <a:ea typeface="黑体" pitchFamily="49" charset="-122"/>
              </a:rPr>
              <a:t>列名</a:t>
            </a:r>
            <a:r>
              <a:rPr lang="en-US" altLang="zh-CN" smtClean="0">
                <a:latin typeface="黑体" pitchFamily="49" charset="-122"/>
                <a:ea typeface="黑体" pitchFamily="49" charset="-122"/>
              </a:rPr>
              <a:t>&gt;</a:t>
            </a:r>
            <a:r>
              <a:rPr lang="zh-CN" altLang="en-US" smtClean="0">
                <a:latin typeface="黑体" pitchFamily="49" charset="-122"/>
                <a:ea typeface="黑体" pitchFamily="49" charset="-122"/>
              </a:rPr>
              <a:t>）	</a:t>
            </a:r>
          </a:p>
          <a:p>
            <a:pPr lvl="1" algn="just" eaLnBrk="1" hangingPunct="1">
              <a:lnSpc>
                <a:spcPct val="110000"/>
              </a:lnSpc>
            </a:pPr>
            <a:r>
              <a:rPr lang="zh-CN" altLang="en-US" sz="2400" smtClean="0">
                <a:latin typeface="黑体" pitchFamily="49" charset="-122"/>
                <a:ea typeface="黑体" pitchFamily="49" charset="-122"/>
              </a:rPr>
              <a:t>计算平均值</a:t>
            </a:r>
          </a:p>
          <a:p>
            <a:pPr lvl="2" algn="just" eaLnBrk="1" hangingPunct="1">
              <a:lnSpc>
                <a:spcPct val="110000"/>
              </a:lnSpc>
              <a:buFont typeface="Wingdings" pitchFamily="2" charset="2"/>
              <a:buNone/>
            </a:pPr>
            <a:r>
              <a:rPr lang="en-US" altLang="zh-CN" smtClean="0">
                <a:latin typeface="黑体" pitchFamily="49" charset="-122"/>
                <a:ea typeface="黑体" pitchFamily="49" charset="-122"/>
              </a:rPr>
              <a:t>AVG</a:t>
            </a:r>
            <a:r>
              <a:rPr lang="zh-CN" altLang="en-US" smtClean="0">
                <a:latin typeface="黑体" pitchFamily="49" charset="-122"/>
                <a:ea typeface="黑体" pitchFamily="49" charset="-122"/>
              </a:rPr>
              <a:t>（</a:t>
            </a:r>
            <a:r>
              <a:rPr lang="en-US" altLang="zh-CN" smtClean="0">
                <a:latin typeface="黑体" pitchFamily="49" charset="-122"/>
                <a:ea typeface="黑体" pitchFamily="49" charset="-122"/>
              </a:rPr>
              <a:t>[DISTINCT|</a:t>
            </a:r>
            <a:r>
              <a:rPr lang="en-US" altLang="zh-CN" u="sng" smtClean="0">
                <a:latin typeface="黑体" pitchFamily="49" charset="-122"/>
                <a:ea typeface="黑体" pitchFamily="49" charset="-122"/>
              </a:rPr>
              <a:t>ALL</a:t>
            </a:r>
            <a:r>
              <a:rPr lang="en-US" altLang="zh-CN" smtClean="0">
                <a:latin typeface="黑体" pitchFamily="49" charset="-122"/>
                <a:ea typeface="黑体" pitchFamily="49" charset="-122"/>
              </a:rPr>
              <a:t>] &lt;</a:t>
            </a:r>
            <a:r>
              <a:rPr lang="zh-CN" altLang="en-US" smtClean="0">
                <a:latin typeface="黑体" pitchFamily="49" charset="-122"/>
                <a:ea typeface="黑体" pitchFamily="49" charset="-122"/>
              </a:rPr>
              <a:t>列名</a:t>
            </a:r>
            <a:r>
              <a:rPr lang="en-US" altLang="zh-CN" smtClean="0">
                <a:latin typeface="黑体" pitchFamily="49" charset="-122"/>
                <a:ea typeface="黑体" pitchFamily="49" charset="-122"/>
              </a:rPr>
              <a:t>&gt;</a:t>
            </a:r>
            <a:r>
              <a:rPr lang="zh-CN" altLang="en-US" smtClean="0">
                <a:latin typeface="黑体" pitchFamily="49" charset="-122"/>
                <a:ea typeface="黑体" pitchFamily="49" charset="-122"/>
              </a:rPr>
              <a:t>）</a:t>
            </a:r>
            <a:endParaRPr lang="zh-CN" altLang="en-US" sz="1800" smtClean="0">
              <a:latin typeface="黑体" pitchFamily="49" charset="-122"/>
              <a:ea typeface="黑体" pitchFamily="49" charset="-122"/>
            </a:endParaRPr>
          </a:p>
        </p:txBody>
      </p:sp>
      <p:sp>
        <p:nvSpPr>
          <p:cNvPr id="4" name="Rectangle 2"/>
          <p:cNvSpPr txBox="1">
            <a:spLocks noChangeArrowheads="1"/>
          </p:cNvSpPr>
          <p:nvPr/>
        </p:nvSpPr>
        <p:spPr bwMode="auto">
          <a:xfrm>
            <a:off x="971550" y="260350"/>
            <a:ext cx="779303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smtClean="0">
                <a:latin typeface="黑体" pitchFamily="49" charset="-122"/>
              </a:rPr>
              <a:t>3.4.2  </a:t>
            </a:r>
            <a:r>
              <a:rPr lang="zh-CN" altLang="en-US" b="0" kern="0" smtClean="0">
                <a:latin typeface="黑体" pitchFamily="49" charset="-122"/>
              </a:rPr>
              <a:t>单表查询 </a:t>
            </a:r>
            <a:endParaRPr lang="zh-CN" altLang="en-US" b="0" kern="0" dirty="0" smtClean="0">
              <a:latin typeface="黑体" pitchFamily="49" charset="-122"/>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body" idx="1"/>
          </p:nvPr>
        </p:nvSpPr>
        <p:spPr>
          <a:xfrm>
            <a:off x="755650" y="1844675"/>
            <a:ext cx="7772400" cy="4114800"/>
          </a:xfrm>
        </p:spPr>
        <p:txBody>
          <a:bodyPr/>
          <a:lstStyle/>
          <a:p>
            <a:pPr lvl="1" algn="just" eaLnBrk="1" hangingPunct="1">
              <a:lnSpc>
                <a:spcPct val="90000"/>
              </a:lnSpc>
              <a:buFont typeface="Wingdings" pitchFamily="2" charset="2"/>
              <a:buNone/>
            </a:pPr>
            <a:r>
              <a:rPr lang="zh-CN" altLang="en-US" smtClean="0">
                <a:latin typeface="黑体" pitchFamily="49" charset="-122"/>
                <a:ea typeface="黑体" pitchFamily="49" charset="-122"/>
              </a:rPr>
              <a:t>求最大值</a:t>
            </a:r>
          </a:p>
          <a:p>
            <a:pPr lvl="3" algn="just" eaLnBrk="1" hangingPunct="1">
              <a:buFont typeface="Wingdings" pitchFamily="2" charset="2"/>
              <a:buNone/>
            </a:pPr>
            <a:r>
              <a:rPr lang="en-US" altLang="zh-CN" sz="2800" smtClean="0">
                <a:latin typeface="黑体" pitchFamily="49" charset="-122"/>
                <a:ea typeface="黑体" pitchFamily="49" charset="-122"/>
              </a:rPr>
              <a:t>MAX</a:t>
            </a:r>
            <a:r>
              <a:rPr lang="zh-CN" altLang="en-US" sz="2800" smtClean="0">
                <a:latin typeface="黑体" pitchFamily="49" charset="-122"/>
                <a:ea typeface="黑体" pitchFamily="49" charset="-122"/>
              </a:rPr>
              <a:t>（</a:t>
            </a:r>
            <a:r>
              <a:rPr lang="en-US" altLang="zh-CN" sz="2800" smtClean="0">
                <a:latin typeface="黑体" pitchFamily="49" charset="-122"/>
                <a:ea typeface="黑体" pitchFamily="49" charset="-122"/>
              </a:rPr>
              <a:t>[DISTINCT|</a:t>
            </a:r>
            <a:r>
              <a:rPr lang="en-US" altLang="zh-CN" sz="2800" u="sng" smtClean="0">
                <a:latin typeface="黑体" pitchFamily="49" charset="-122"/>
                <a:ea typeface="黑体" pitchFamily="49" charset="-122"/>
              </a:rPr>
              <a:t>ALL</a:t>
            </a:r>
            <a:r>
              <a:rPr lang="en-US" altLang="zh-CN" sz="2800" smtClean="0">
                <a:latin typeface="黑体" pitchFamily="49" charset="-122"/>
                <a:ea typeface="黑体" pitchFamily="49" charset="-122"/>
              </a:rPr>
              <a:t>] &lt;</a:t>
            </a:r>
            <a:r>
              <a:rPr lang="zh-CN" altLang="en-US" sz="2800" smtClean="0">
                <a:latin typeface="黑体" pitchFamily="49" charset="-122"/>
                <a:ea typeface="黑体" pitchFamily="49" charset="-122"/>
              </a:rPr>
              <a:t>列名</a:t>
            </a:r>
            <a:r>
              <a:rPr lang="en-US" altLang="zh-CN" sz="2800" smtClean="0">
                <a:latin typeface="黑体" pitchFamily="49" charset="-122"/>
                <a:ea typeface="黑体" pitchFamily="49" charset="-122"/>
              </a:rPr>
              <a:t>&gt;</a:t>
            </a:r>
            <a:r>
              <a:rPr lang="zh-CN" altLang="en-US" sz="2800" smtClean="0">
                <a:latin typeface="黑体" pitchFamily="49" charset="-122"/>
                <a:ea typeface="黑体" pitchFamily="49" charset="-122"/>
              </a:rPr>
              <a:t>）	</a:t>
            </a:r>
          </a:p>
          <a:p>
            <a:pPr algn="just" eaLnBrk="1" hangingPunct="1">
              <a:buFont typeface="Wingdings" pitchFamily="2" charset="2"/>
              <a:buNone/>
            </a:pPr>
            <a:r>
              <a:rPr lang="zh-CN" altLang="en-US" sz="2800" smtClean="0">
                <a:latin typeface="黑体" pitchFamily="49" charset="-122"/>
                <a:ea typeface="黑体" pitchFamily="49" charset="-122"/>
              </a:rPr>
              <a:t>    求最小值</a:t>
            </a:r>
          </a:p>
          <a:p>
            <a:pPr lvl="3" algn="just" eaLnBrk="1" hangingPunct="1">
              <a:buFont typeface="Wingdings" pitchFamily="2" charset="2"/>
              <a:buNone/>
            </a:pPr>
            <a:r>
              <a:rPr lang="en-US" altLang="zh-CN" sz="2800" smtClean="0">
                <a:latin typeface="黑体" pitchFamily="49" charset="-122"/>
                <a:ea typeface="黑体" pitchFamily="49" charset="-122"/>
              </a:rPr>
              <a:t>MIN</a:t>
            </a:r>
            <a:r>
              <a:rPr lang="zh-CN" altLang="en-US" sz="2800" smtClean="0">
                <a:latin typeface="黑体" pitchFamily="49" charset="-122"/>
                <a:ea typeface="黑体" pitchFamily="49" charset="-122"/>
              </a:rPr>
              <a:t>（</a:t>
            </a:r>
            <a:r>
              <a:rPr lang="en-US" altLang="zh-CN" sz="2800" smtClean="0">
                <a:latin typeface="黑体" pitchFamily="49" charset="-122"/>
                <a:ea typeface="黑体" pitchFamily="49" charset="-122"/>
              </a:rPr>
              <a:t>[DISTINCT|</a:t>
            </a:r>
            <a:r>
              <a:rPr lang="en-US" altLang="zh-CN" sz="2800" u="sng" smtClean="0">
                <a:latin typeface="黑体" pitchFamily="49" charset="-122"/>
                <a:ea typeface="黑体" pitchFamily="49" charset="-122"/>
              </a:rPr>
              <a:t>ALL</a:t>
            </a:r>
            <a:r>
              <a:rPr lang="en-US" altLang="zh-CN" sz="2800" smtClean="0">
                <a:latin typeface="黑体" pitchFamily="49" charset="-122"/>
                <a:ea typeface="黑体" pitchFamily="49" charset="-122"/>
              </a:rPr>
              <a:t>] &lt;</a:t>
            </a:r>
            <a:r>
              <a:rPr lang="zh-CN" altLang="en-US" sz="2800" smtClean="0">
                <a:latin typeface="黑体" pitchFamily="49" charset="-122"/>
                <a:ea typeface="黑体" pitchFamily="49" charset="-122"/>
              </a:rPr>
              <a:t>列名</a:t>
            </a:r>
            <a:r>
              <a:rPr lang="en-US" altLang="zh-CN" sz="2800" smtClean="0">
                <a:latin typeface="黑体" pitchFamily="49" charset="-122"/>
                <a:ea typeface="黑体" pitchFamily="49" charset="-122"/>
              </a:rPr>
              <a:t>&gt;</a:t>
            </a:r>
            <a:r>
              <a:rPr lang="zh-CN" altLang="en-US" sz="2800" smtClean="0">
                <a:latin typeface="黑体" pitchFamily="49" charset="-122"/>
                <a:ea typeface="黑体" pitchFamily="49" charset="-122"/>
              </a:rPr>
              <a:t>）</a:t>
            </a:r>
          </a:p>
          <a:p>
            <a:pPr lvl="3" algn="just" eaLnBrk="1" hangingPunct="1">
              <a:buFont typeface="Wingdings" pitchFamily="2" charset="2"/>
              <a:buNone/>
            </a:pPr>
            <a:r>
              <a:rPr lang="zh-CN" altLang="en-US" sz="2800" smtClean="0">
                <a:latin typeface="黑体" pitchFamily="49" charset="-122"/>
                <a:ea typeface="黑体" pitchFamily="49" charset="-122"/>
              </a:rPr>
              <a:t>	</a:t>
            </a:r>
          </a:p>
          <a:p>
            <a:pPr lvl="1" algn="just" eaLnBrk="1" hangingPunct="1"/>
            <a:r>
              <a:rPr lang="en-US" altLang="zh-CN" sz="2400" smtClean="0">
                <a:latin typeface="黑体" pitchFamily="49" charset="-122"/>
                <a:ea typeface="黑体" pitchFamily="49" charset="-122"/>
              </a:rPr>
              <a:t>DISTINCT</a:t>
            </a:r>
            <a:r>
              <a:rPr lang="zh-CN" altLang="en-US" sz="2400" smtClean="0">
                <a:latin typeface="黑体" pitchFamily="49" charset="-122"/>
                <a:ea typeface="黑体" pitchFamily="49" charset="-122"/>
              </a:rPr>
              <a:t>短语：在计算时要取消指定列中的重复值</a:t>
            </a:r>
          </a:p>
          <a:p>
            <a:pPr lvl="1" algn="just" eaLnBrk="1" hangingPunct="1"/>
            <a:r>
              <a:rPr lang="en-US" altLang="zh-CN" sz="2400" smtClean="0">
                <a:latin typeface="黑体" pitchFamily="49" charset="-122"/>
                <a:ea typeface="黑体" pitchFamily="49" charset="-122"/>
              </a:rPr>
              <a:t>ALL</a:t>
            </a:r>
            <a:r>
              <a:rPr lang="zh-CN" altLang="en-US" sz="2400" smtClean="0">
                <a:latin typeface="黑体" pitchFamily="49" charset="-122"/>
                <a:ea typeface="黑体" pitchFamily="49" charset="-122"/>
              </a:rPr>
              <a:t>短语：不取消重复值</a:t>
            </a:r>
          </a:p>
          <a:p>
            <a:pPr lvl="1" algn="just" eaLnBrk="1" hangingPunct="1"/>
            <a:r>
              <a:rPr lang="en-US" altLang="zh-CN" sz="2400" smtClean="0">
                <a:latin typeface="黑体" pitchFamily="49" charset="-122"/>
                <a:ea typeface="黑体" pitchFamily="49" charset="-122"/>
              </a:rPr>
              <a:t>ALL</a:t>
            </a:r>
            <a:r>
              <a:rPr lang="zh-CN" altLang="en-US" sz="2400" smtClean="0">
                <a:latin typeface="黑体" pitchFamily="49" charset="-122"/>
                <a:ea typeface="黑体" pitchFamily="49" charset="-122"/>
              </a:rPr>
              <a:t>为缺省值</a:t>
            </a:r>
          </a:p>
        </p:txBody>
      </p:sp>
      <p:sp>
        <p:nvSpPr>
          <p:cNvPr id="49155" name="Rectangle 2"/>
          <p:cNvSpPr>
            <a:spLocks noGrp="1" noChangeArrowheads="1"/>
          </p:cNvSpPr>
          <p:nvPr>
            <p:ph type="title"/>
          </p:nvPr>
        </p:nvSpPr>
        <p:spPr>
          <a:xfrm>
            <a:off x="611188" y="260350"/>
            <a:ext cx="7793037" cy="720725"/>
          </a:xfrm>
        </p:spPr>
        <p:txBody>
          <a:bodyPr/>
          <a:lstStyle/>
          <a:p>
            <a:pPr eaLnBrk="1" hangingPunct="1"/>
            <a:r>
              <a:rPr lang="en-US" altLang="zh-CN" smtClean="0">
                <a:latin typeface="黑体" pitchFamily="49" charset="-122"/>
              </a:rPr>
              <a:t>3.4.2  </a:t>
            </a:r>
            <a:r>
              <a:rPr lang="zh-CN" altLang="en-US" smtClean="0">
                <a:latin typeface="黑体" pitchFamily="49" charset="-122"/>
              </a:rPr>
              <a:t>单表查询 </a:t>
            </a:r>
          </a:p>
        </p:txBody>
      </p:sp>
      <p:sp>
        <p:nvSpPr>
          <p:cNvPr id="6" name="Rectangle 2"/>
          <p:cNvSpPr txBox="1">
            <a:spLocks noChangeArrowheads="1"/>
          </p:cNvSpPr>
          <p:nvPr/>
        </p:nvSpPr>
        <p:spPr bwMode="auto">
          <a:xfrm>
            <a:off x="539750" y="1052513"/>
            <a:ext cx="7793038"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zh-CN" altLang="en-US" sz="2800" b="0" kern="0" smtClean="0">
                <a:solidFill>
                  <a:schemeClr val="tx1"/>
                </a:solidFill>
              </a:rPr>
              <a:t>四、使用集函数 </a:t>
            </a:r>
            <a:endParaRPr lang="zh-CN" altLang="en-US" sz="2800" b="0" kern="0" dirty="0" smtClean="0">
              <a:solidFill>
                <a:schemeClr val="tx1"/>
              </a:solidFill>
            </a:endParaRP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3" name="Rectangle 3"/>
          <p:cNvSpPr>
            <a:spLocks noGrp="1" noChangeArrowheads="1"/>
          </p:cNvSpPr>
          <p:nvPr>
            <p:ph type="body" idx="1"/>
          </p:nvPr>
        </p:nvSpPr>
        <p:spPr>
          <a:xfrm>
            <a:off x="468313" y="1844675"/>
            <a:ext cx="8229600" cy="4525963"/>
          </a:xfrm>
        </p:spPr>
        <p:txBody>
          <a:bodyPr/>
          <a:lstStyle/>
          <a:p>
            <a:pPr algn="just" eaLnBrk="1" hangingPunct="1">
              <a:lnSpc>
                <a:spcPct val="120000"/>
              </a:lnSpc>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20] </a:t>
            </a:r>
            <a:r>
              <a:rPr lang="zh-CN" altLang="en-US" sz="2400" smtClean="0">
                <a:latin typeface="黑体" pitchFamily="49" charset="-122"/>
                <a:ea typeface="黑体" pitchFamily="49" charset="-122"/>
              </a:rPr>
              <a:t>查询选修了课程的学生人数。</a:t>
            </a:r>
          </a:p>
          <a:p>
            <a:pPr lvl="2" algn="just" eaLnBrk="1" hangingPunct="1">
              <a:lnSpc>
                <a:spcPct val="120000"/>
              </a:lnSpc>
              <a:buFont typeface="Wingdings" pitchFamily="2" charset="2"/>
              <a:buNone/>
            </a:pPr>
            <a:endParaRPr lang="zh-CN" altLang="en-US" smtClean="0">
              <a:latin typeface="黑体" pitchFamily="49" charset="-122"/>
              <a:ea typeface="黑体" pitchFamily="49" charset="-122"/>
            </a:endParaRPr>
          </a:p>
          <a:p>
            <a:pPr algn="just" eaLnBrk="1" hangingPunct="1">
              <a:lnSpc>
                <a:spcPct val="120000"/>
              </a:lnSpc>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21] </a:t>
            </a:r>
            <a:r>
              <a:rPr lang="zh-CN" altLang="en-US" sz="2400" smtClean="0">
                <a:latin typeface="黑体" pitchFamily="49" charset="-122"/>
                <a:ea typeface="黑体" pitchFamily="49" charset="-122"/>
              </a:rPr>
              <a:t>计算</a:t>
            </a:r>
            <a:r>
              <a:rPr lang="en-US" altLang="zh-CN" sz="2400" smtClean="0">
                <a:latin typeface="黑体" pitchFamily="49" charset="-122"/>
                <a:ea typeface="黑体" pitchFamily="49" charset="-122"/>
              </a:rPr>
              <a:t>001</a:t>
            </a:r>
            <a:r>
              <a:rPr lang="zh-CN" altLang="en-US" sz="2400" smtClean="0">
                <a:latin typeface="黑体" pitchFamily="49" charset="-122"/>
                <a:ea typeface="黑体" pitchFamily="49" charset="-122"/>
              </a:rPr>
              <a:t>号课程的学生平均成绩。</a:t>
            </a:r>
          </a:p>
        </p:txBody>
      </p:sp>
      <p:sp>
        <p:nvSpPr>
          <p:cNvPr id="50179" name="Rectangle 2"/>
          <p:cNvSpPr>
            <a:spLocks noGrp="1" noChangeArrowheads="1"/>
          </p:cNvSpPr>
          <p:nvPr>
            <p:ph type="title"/>
          </p:nvPr>
        </p:nvSpPr>
        <p:spPr>
          <a:xfrm>
            <a:off x="611188" y="260350"/>
            <a:ext cx="7793037" cy="720725"/>
          </a:xfrm>
        </p:spPr>
        <p:txBody>
          <a:bodyPr/>
          <a:lstStyle/>
          <a:p>
            <a:pPr eaLnBrk="1" hangingPunct="1"/>
            <a:r>
              <a:rPr lang="en-US" altLang="zh-CN" smtClean="0">
                <a:latin typeface="黑体" pitchFamily="49" charset="-122"/>
              </a:rPr>
              <a:t>3.4.2  </a:t>
            </a:r>
            <a:r>
              <a:rPr lang="zh-CN" altLang="en-US" smtClean="0">
                <a:latin typeface="黑体" pitchFamily="49" charset="-122"/>
              </a:rPr>
              <a:t>单表查询 </a:t>
            </a:r>
          </a:p>
        </p:txBody>
      </p:sp>
      <p:sp>
        <p:nvSpPr>
          <p:cNvPr id="7" name="Rectangle 2"/>
          <p:cNvSpPr txBox="1">
            <a:spLocks noChangeArrowheads="1"/>
          </p:cNvSpPr>
          <p:nvPr/>
        </p:nvSpPr>
        <p:spPr bwMode="auto">
          <a:xfrm>
            <a:off x="539750" y="1052513"/>
            <a:ext cx="7793038"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zh-CN" altLang="en-US" sz="2800" b="0" kern="0" smtClean="0">
                <a:solidFill>
                  <a:schemeClr val="tx1"/>
                </a:solidFill>
              </a:rPr>
              <a:t>四、使用集函数 </a:t>
            </a:r>
            <a:endParaRPr lang="zh-CN" altLang="en-US" sz="2800" b="0" kern="0" dirty="0" smtClean="0">
              <a:solidFill>
                <a:schemeClr val="tx1"/>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409603">
                                            <p:txEl>
                                              <p:pRg st="0" end="0"/>
                                            </p:txEl>
                                          </p:spTgt>
                                        </p:tgtEl>
                                        <p:attrNameLst>
                                          <p:attrName>style.visibility</p:attrName>
                                        </p:attrNameLst>
                                      </p:cBhvr>
                                      <p:to>
                                        <p:strVal val="visible"/>
                                      </p:to>
                                    </p:set>
                                    <p:animEffect transition="in" filter="slide(fromBottom)">
                                      <p:cBhvr>
                                        <p:cTn id="7" dur="500"/>
                                        <p:tgtEl>
                                          <p:spTgt spid="4096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409603">
                                            <p:txEl>
                                              <p:pRg st="2" end="2"/>
                                            </p:txEl>
                                          </p:spTgt>
                                        </p:tgtEl>
                                        <p:attrNameLst>
                                          <p:attrName>style.visibility</p:attrName>
                                        </p:attrNameLst>
                                      </p:cBhvr>
                                      <p:to>
                                        <p:strVal val="visible"/>
                                      </p:to>
                                    </p:set>
                                    <p:anim calcmode="lin" valueType="num">
                                      <p:cBhvr additive="base">
                                        <p:cTn id="12" dur="500" fill="hold"/>
                                        <p:tgtEl>
                                          <p:spTgt spid="409603">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0960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539750" y="1341438"/>
            <a:ext cx="7793038" cy="503237"/>
          </a:xfrm>
        </p:spPr>
        <p:txBody>
          <a:bodyPr/>
          <a:lstStyle/>
          <a:p>
            <a:pPr eaLnBrk="1" hangingPunct="1"/>
            <a:r>
              <a:rPr lang="zh-CN" altLang="en-US" sz="2800" smtClean="0">
                <a:solidFill>
                  <a:schemeClr val="tx1"/>
                </a:solidFill>
                <a:latin typeface="黑体" pitchFamily="49" charset="-122"/>
              </a:rPr>
              <a:t>五、对查询结果分组 </a:t>
            </a:r>
          </a:p>
        </p:txBody>
      </p:sp>
      <p:sp>
        <p:nvSpPr>
          <p:cNvPr id="51203" name="Rectangle 3"/>
          <p:cNvSpPr>
            <a:spLocks noGrp="1" noChangeArrowheads="1"/>
          </p:cNvSpPr>
          <p:nvPr>
            <p:ph type="body" idx="1"/>
          </p:nvPr>
        </p:nvSpPr>
        <p:spPr>
          <a:xfrm>
            <a:off x="611188" y="1989138"/>
            <a:ext cx="7772400" cy="4114800"/>
          </a:xfrm>
        </p:spPr>
        <p:txBody>
          <a:bodyPr/>
          <a:lstStyle/>
          <a:p>
            <a:pPr algn="just" eaLnBrk="1" hangingPunct="1">
              <a:lnSpc>
                <a:spcPct val="140000"/>
              </a:lnSpc>
            </a:pPr>
            <a:r>
              <a:rPr lang="zh-CN" altLang="en-US" sz="2600" smtClean="0">
                <a:latin typeface="黑体" pitchFamily="49" charset="-122"/>
                <a:ea typeface="黑体" pitchFamily="49" charset="-122"/>
              </a:rPr>
              <a:t>使用</a:t>
            </a:r>
            <a:r>
              <a:rPr lang="en-US" altLang="zh-CN" sz="2600" smtClean="0">
                <a:latin typeface="黑体" pitchFamily="49" charset="-122"/>
                <a:ea typeface="黑体" pitchFamily="49" charset="-122"/>
              </a:rPr>
              <a:t>GROUP BY</a:t>
            </a:r>
            <a:r>
              <a:rPr lang="zh-CN" altLang="en-US" sz="2600" smtClean="0">
                <a:latin typeface="黑体" pitchFamily="49" charset="-122"/>
                <a:ea typeface="黑体" pitchFamily="49" charset="-122"/>
              </a:rPr>
              <a:t>子句将查询结果表按某一列或多列值分组，值相等的为一组。 	</a:t>
            </a:r>
          </a:p>
          <a:p>
            <a:pPr algn="just" eaLnBrk="1" hangingPunct="1">
              <a:lnSpc>
                <a:spcPct val="140000"/>
              </a:lnSpc>
            </a:pPr>
            <a:r>
              <a:rPr lang="zh-CN" altLang="en-US" sz="2600" smtClean="0">
                <a:latin typeface="黑体" pitchFamily="49" charset="-122"/>
                <a:ea typeface="黑体" pitchFamily="49" charset="-122"/>
              </a:rPr>
              <a:t>细化集函数的作用对象</a:t>
            </a:r>
          </a:p>
          <a:p>
            <a:pPr lvl="1" algn="just" eaLnBrk="1" hangingPunct="1">
              <a:lnSpc>
                <a:spcPct val="140000"/>
              </a:lnSpc>
            </a:pPr>
            <a:r>
              <a:rPr lang="zh-CN" altLang="en-US" sz="2400" smtClean="0">
                <a:latin typeface="黑体" pitchFamily="49" charset="-122"/>
                <a:ea typeface="黑体" pitchFamily="49" charset="-122"/>
              </a:rPr>
              <a:t>未对查询结果分组，集函数将作用于整个查询结果</a:t>
            </a:r>
          </a:p>
          <a:p>
            <a:pPr lvl="1" eaLnBrk="1" hangingPunct="1">
              <a:lnSpc>
                <a:spcPct val="140000"/>
              </a:lnSpc>
            </a:pPr>
            <a:r>
              <a:rPr lang="zh-CN" altLang="en-US" sz="2400" smtClean="0">
                <a:latin typeface="黑体" pitchFamily="49" charset="-122"/>
                <a:ea typeface="黑体" pitchFamily="49" charset="-122"/>
              </a:rPr>
              <a:t>对查询结果分组后，集函数将分别作用于每个组 </a:t>
            </a:r>
          </a:p>
        </p:txBody>
      </p:sp>
      <p:sp>
        <p:nvSpPr>
          <p:cNvPr id="4" name="Rectangle 2"/>
          <p:cNvSpPr txBox="1">
            <a:spLocks noChangeArrowheads="1"/>
          </p:cNvSpPr>
          <p:nvPr/>
        </p:nvSpPr>
        <p:spPr bwMode="auto">
          <a:xfrm>
            <a:off x="611188" y="260350"/>
            <a:ext cx="77930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3.4.2  </a:t>
            </a:r>
            <a:r>
              <a:rPr lang="zh-CN" altLang="en-US" b="0" kern="0" dirty="0" smtClean="0">
                <a:latin typeface="黑体" pitchFamily="49" charset="-122"/>
              </a:rPr>
              <a:t>单表查询 </a:t>
            </a: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5" name="Rectangle 3"/>
          <p:cNvSpPr>
            <a:spLocks noGrp="1" noChangeArrowheads="1"/>
          </p:cNvSpPr>
          <p:nvPr>
            <p:ph type="body" idx="1"/>
          </p:nvPr>
        </p:nvSpPr>
        <p:spPr>
          <a:xfrm>
            <a:off x="1116013" y="2001838"/>
            <a:ext cx="7488237" cy="3371850"/>
          </a:xfrm>
        </p:spPr>
        <p:txBody>
          <a:bodyPr/>
          <a:lstStyle/>
          <a:p>
            <a:pPr algn="just" eaLnBrk="1" hangingPunct="1">
              <a:lnSpc>
                <a:spcPct val="90000"/>
              </a:lnSpc>
              <a:buFont typeface="Wingdings" pitchFamily="2" charset="2"/>
              <a:buNone/>
            </a:pPr>
            <a:r>
              <a:rPr lang="en-US" altLang="zh-CN" sz="28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22]  </a:t>
            </a:r>
            <a:r>
              <a:rPr lang="zh-CN" altLang="en-US" sz="2400" smtClean="0">
                <a:latin typeface="黑体" pitchFamily="49" charset="-122"/>
                <a:ea typeface="黑体" pitchFamily="49" charset="-122"/>
              </a:rPr>
              <a:t>求各个课程号及相应的选课人数。</a:t>
            </a:r>
          </a:p>
          <a:p>
            <a:pPr algn="just" eaLnBrk="1" hangingPunct="1">
              <a:lnSpc>
                <a:spcPct val="90000"/>
              </a:lnSpc>
              <a:buFont typeface="Wingdings" pitchFamily="2" charset="2"/>
              <a:buNone/>
            </a:pPr>
            <a:endParaRPr lang="zh-CN" altLang="en-US" sz="2400" smtClean="0">
              <a:latin typeface="黑体" pitchFamily="49" charset="-122"/>
              <a:ea typeface="黑体" pitchFamily="49" charset="-122"/>
            </a:endParaRPr>
          </a:p>
          <a:p>
            <a:pPr algn="just" eaLnBrk="1" hangingPunct="1">
              <a:lnSpc>
                <a:spcPct val="90000"/>
              </a:lnSpc>
              <a:buFont typeface="Wingdings" pitchFamily="2" charset="2"/>
              <a:buNone/>
            </a:pPr>
            <a:r>
              <a:rPr lang="zh-CN" altLang="en-US" sz="2400" smtClean="0">
                <a:latin typeface="黑体" pitchFamily="49" charset="-122"/>
                <a:ea typeface="黑体" pitchFamily="49" charset="-122"/>
              </a:rPr>
              <a:t>     </a:t>
            </a:r>
          </a:p>
        </p:txBody>
      </p:sp>
      <p:sp>
        <p:nvSpPr>
          <p:cNvPr id="5" name="Rectangle 2"/>
          <p:cNvSpPr txBox="1">
            <a:spLocks noChangeArrowheads="1"/>
          </p:cNvSpPr>
          <p:nvPr/>
        </p:nvSpPr>
        <p:spPr bwMode="auto">
          <a:xfrm>
            <a:off x="611188" y="260350"/>
            <a:ext cx="77930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3.4.2  </a:t>
            </a:r>
            <a:r>
              <a:rPr lang="zh-CN" altLang="en-US" b="0" kern="0" dirty="0" smtClean="0">
                <a:latin typeface="黑体" pitchFamily="49" charset="-122"/>
              </a:rPr>
              <a:t>单表查询 </a:t>
            </a:r>
          </a:p>
        </p:txBody>
      </p:sp>
      <p:sp>
        <p:nvSpPr>
          <p:cNvPr id="52228" name="Rectangle 2"/>
          <p:cNvSpPr>
            <a:spLocks noGrp="1" noChangeArrowheads="1"/>
          </p:cNvSpPr>
          <p:nvPr>
            <p:ph type="title"/>
          </p:nvPr>
        </p:nvSpPr>
        <p:spPr>
          <a:xfrm>
            <a:off x="539750" y="1341438"/>
            <a:ext cx="7793038" cy="503237"/>
          </a:xfrm>
        </p:spPr>
        <p:txBody>
          <a:bodyPr/>
          <a:lstStyle/>
          <a:p>
            <a:pPr eaLnBrk="1" hangingPunct="1"/>
            <a:r>
              <a:rPr lang="zh-CN" altLang="en-US" sz="2800" smtClean="0">
                <a:solidFill>
                  <a:schemeClr val="tx1"/>
                </a:solidFill>
                <a:latin typeface="黑体" pitchFamily="49" charset="-122"/>
              </a:rPr>
              <a:t>五、对查询结果分组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412675">
                                            <p:txEl>
                                              <p:pRg st="0" end="0"/>
                                            </p:txEl>
                                          </p:spTgt>
                                        </p:tgtEl>
                                        <p:attrNameLst>
                                          <p:attrName>style.visibility</p:attrName>
                                        </p:attrNameLst>
                                      </p:cBhvr>
                                      <p:to>
                                        <p:strVal val="visible"/>
                                      </p:to>
                                    </p:set>
                                    <p:animEffect transition="in" filter="slide(fromBottom)">
                                      <p:cBhvr>
                                        <p:cTn id="7" dur="500"/>
                                        <p:tgtEl>
                                          <p:spTgt spid="4126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412675">
                                            <p:txEl>
                                              <p:pRg st="2" end="2"/>
                                            </p:txEl>
                                          </p:spTgt>
                                        </p:tgtEl>
                                        <p:attrNameLst>
                                          <p:attrName>style.visibility</p:attrName>
                                        </p:attrNameLst>
                                      </p:cBhvr>
                                      <p:to>
                                        <p:strVal val="visible"/>
                                      </p:to>
                                    </p:set>
                                    <p:animEffect transition="in" filter="slide(fromBottom)">
                                      <p:cBhvr>
                                        <p:cTn id="12" dur="500"/>
                                        <p:tgtEl>
                                          <p:spTgt spid="4126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type="body" idx="1"/>
          </p:nvPr>
        </p:nvSpPr>
        <p:spPr>
          <a:xfrm>
            <a:off x="611188" y="1773238"/>
            <a:ext cx="7772400" cy="4114800"/>
          </a:xfrm>
        </p:spPr>
        <p:txBody>
          <a:bodyPr/>
          <a:lstStyle/>
          <a:p>
            <a:pPr algn="just" eaLnBrk="1" hangingPunct="1">
              <a:lnSpc>
                <a:spcPct val="140000"/>
              </a:lnSpc>
            </a:pPr>
            <a:r>
              <a:rPr lang="en-US" altLang="zh-CN" sz="2600" smtClean="0">
                <a:latin typeface="黑体" pitchFamily="49" charset="-122"/>
                <a:ea typeface="黑体" pitchFamily="49" charset="-122"/>
              </a:rPr>
              <a:t>GROUP BY</a:t>
            </a:r>
            <a:r>
              <a:rPr lang="zh-CN" altLang="en-US" sz="2600" smtClean="0">
                <a:latin typeface="黑体" pitchFamily="49" charset="-122"/>
                <a:ea typeface="黑体" pitchFamily="49" charset="-122"/>
              </a:rPr>
              <a:t>子句的作用对象是查询的中间结果表</a:t>
            </a:r>
          </a:p>
          <a:p>
            <a:pPr algn="just" eaLnBrk="1" hangingPunct="1">
              <a:lnSpc>
                <a:spcPct val="140000"/>
              </a:lnSpc>
            </a:pPr>
            <a:r>
              <a:rPr lang="zh-CN" altLang="en-US" sz="2600" smtClean="0">
                <a:latin typeface="黑体" pitchFamily="49" charset="-122"/>
                <a:ea typeface="黑体" pitchFamily="49" charset="-122"/>
              </a:rPr>
              <a:t>分组方法：按指定的一列或多列值分组，值相等的为一组</a:t>
            </a:r>
          </a:p>
          <a:p>
            <a:pPr algn="just" eaLnBrk="1" hangingPunct="1">
              <a:lnSpc>
                <a:spcPct val="140000"/>
              </a:lnSpc>
            </a:pPr>
            <a:r>
              <a:rPr lang="zh-CN" altLang="en-US" sz="2600" smtClean="0">
                <a:latin typeface="黑体" pitchFamily="49" charset="-122"/>
                <a:ea typeface="黑体" pitchFamily="49" charset="-122"/>
              </a:rPr>
              <a:t>使用</a:t>
            </a:r>
            <a:r>
              <a:rPr lang="en-US" altLang="zh-CN" sz="2600" smtClean="0">
                <a:latin typeface="黑体" pitchFamily="49" charset="-122"/>
                <a:ea typeface="黑体" pitchFamily="49" charset="-122"/>
              </a:rPr>
              <a:t>GROUP BY</a:t>
            </a:r>
            <a:r>
              <a:rPr lang="zh-CN" altLang="en-US" sz="2600" smtClean="0">
                <a:latin typeface="黑体" pitchFamily="49" charset="-122"/>
                <a:ea typeface="黑体" pitchFamily="49" charset="-122"/>
              </a:rPr>
              <a:t>子句后，</a:t>
            </a:r>
            <a:r>
              <a:rPr lang="en-US" altLang="zh-CN" sz="2600" smtClean="0">
                <a:latin typeface="黑体" pitchFamily="49" charset="-122"/>
                <a:ea typeface="黑体" pitchFamily="49" charset="-122"/>
              </a:rPr>
              <a:t>SELECT</a:t>
            </a:r>
            <a:r>
              <a:rPr lang="zh-CN" altLang="en-US" sz="2600" smtClean="0">
                <a:latin typeface="黑体" pitchFamily="49" charset="-122"/>
                <a:ea typeface="黑体" pitchFamily="49" charset="-122"/>
              </a:rPr>
              <a:t>子句的列名列表中只能出现</a:t>
            </a:r>
            <a:r>
              <a:rPr lang="zh-CN" altLang="en-US" sz="2600" smtClean="0">
                <a:solidFill>
                  <a:srgbClr val="FF0000"/>
                </a:solidFill>
                <a:latin typeface="黑体" pitchFamily="49" charset="-122"/>
                <a:ea typeface="黑体" pitchFamily="49" charset="-122"/>
              </a:rPr>
              <a:t>分组属性</a:t>
            </a:r>
            <a:r>
              <a:rPr lang="zh-CN" altLang="en-US" sz="2600" smtClean="0">
                <a:latin typeface="黑体" pitchFamily="49" charset="-122"/>
                <a:ea typeface="黑体" pitchFamily="49" charset="-122"/>
              </a:rPr>
              <a:t>和</a:t>
            </a:r>
            <a:r>
              <a:rPr lang="zh-CN" altLang="en-US" sz="2600" smtClean="0">
                <a:solidFill>
                  <a:srgbClr val="FF0000"/>
                </a:solidFill>
                <a:latin typeface="黑体" pitchFamily="49" charset="-122"/>
                <a:ea typeface="黑体" pitchFamily="49" charset="-122"/>
              </a:rPr>
              <a:t>集函数</a:t>
            </a:r>
          </a:p>
          <a:p>
            <a:pPr lvl="1" algn="just" eaLnBrk="1" hangingPunct="1">
              <a:lnSpc>
                <a:spcPct val="90000"/>
              </a:lnSpc>
              <a:buFont typeface="Wingdings" pitchFamily="2" charset="2"/>
              <a:buNone/>
            </a:pPr>
            <a:r>
              <a:rPr lang="zh-CN" altLang="en-US" sz="2400" smtClean="0">
                <a:latin typeface="黑体" pitchFamily="49" charset="-122"/>
                <a:ea typeface="黑体" pitchFamily="49" charset="-122"/>
              </a:rPr>
              <a:t> </a:t>
            </a:r>
          </a:p>
        </p:txBody>
      </p:sp>
      <p:sp>
        <p:nvSpPr>
          <p:cNvPr id="5" name="Rectangle 2"/>
          <p:cNvSpPr txBox="1">
            <a:spLocks noChangeArrowheads="1"/>
          </p:cNvSpPr>
          <p:nvPr/>
        </p:nvSpPr>
        <p:spPr bwMode="auto">
          <a:xfrm>
            <a:off x="611188" y="260350"/>
            <a:ext cx="77930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3.4.2  </a:t>
            </a:r>
            <a:r>
              <a:rPr lang="zh-CN" altLang="en-US" b="0" kern="0" dirty="0" smtClean="0">
                <a:latin typeface="黑体" pitchFamily="49" charset="-122"/>
              </a:rPr>
              <a:t>单表查询 </a:t>
            </a:r>
          </a:p>
        </p:txBody>
      </p:sp>
      <p:sp>
        <p:nvSpPr>
          <p:cNvPr id="53252" name="Rectangle 2"/>
          <p:cNvSpPr>
            <a:spLocks noGrp="1" noChangeArrowheads="1"/>
          </p:cNvSpPr>
          <p:nvPr>
            <p:ph type="title"/>
          </p:nvPr>
        </p:nvSpPr>
        <p:spPr>
          <a:xfrm>
            <a:off x="539750" y="1341438"/>
            <a:ext cx="7793038" cy="503237"/>
          </a:xfrm>
        </p:spPr>
        <p:txBody>
          <a:bodyPr/>
          <a:lstStyle/>
          <a:p>
            <a:pPr eaLnBrk="1" hangingPunct="1"/>
            <a:r>
              <a:rPr lang="zh-CN" altLang="en-US" sz="2800" smtClean="0">
                <a:solidFill>
                  <a:schemeClr val="tx1"/>
                </a:solidFill>
                <a:latin typeface="黑体" pitchFamily="49" charset="-122"/>
              </a:rPr>
              <a:t>五、对查询结果分组 </a:t>
            </a: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3" name="Rectangle 3"/>
          <p:cNvSpPr>
            <a:spLocks noGrp="1" noChangeArrowheads="1"/>
          </p:cNvSpPr>
          <p:nvPr>
            <p:ph type="body" idx="1"/>
          </p:nvPr>
        </p:nvSpPr>
        <p:spPr>
          <a:xfrm>
            <a:off x="827088" y="2060575"/>
            <a:ext cx="7772400" cy="3816350"/>
          </a:xfrm>
        </p:spPr>
        <p:txBody>
          <a:bodyPr/>
          <a:lstStyle/>
          <a:p>
            <a:pPr algn="just" eaLnBrk="1" hangingPunct="1">
              <a:lnSpc>
                <a:spcPct val="130000"/>
              </a:lnSpc>
              <a:buFont typeface="Wingdings" pitchFamily="2" charset="2"/>
              <a:buNone/>
            </a:pPr>
            <a:r>
              <a:rPr lang="en-US" altLang="zh-CN" sz="2800" smtClean="0">
                <a:latin typeface="黑体" pitchFamily="49" charset="-122"/>
                <a:ea typeface="黑体" pitchFamily="49" charset="-122"/>
              </a:rPr>
              <a:t>[</a:t>
            </a:r>
            <a:r>
              <a:rPr lang="zh-CN" altLang="en-US" sz="2800" smtClean="0">
                <a:latin typeface="黑体" pitchFamily="49" charset="-122"/>
                <a:ea typeface="黑体" pitchFamily="49" charset="-122"/>
              </a:rPr>
              <a:t>例</a:t>
            </a:r>
            <a:r>
              <a:rPr lang="en-US" altLang="zh-CN" sz="2800" smtClean="0">
                <a:latin typeface="黑体" pitchFamily="49" charset="-122"/>
                <a:ea typeface="黑体" pitchFamily="49" charset="-122"/>
              </a:rPr>
              <a:t>23] </a:t>
            </a:r>
            <a:r>
              <a:rPr lang="zh-CN" altLang="en-US" sz="2800" smtClean="0">
                <a:latin typeface="黑体" pitchFamily="49" charset="-122"/>
                <a:ea typeface="黑体" pitchFamily="49" charset="-122"/>
              </a:rPr>
              <a:t>查询选修了</a:t>
            </a:r>
            <a:r>
              <a:rPr lang="en-US" altLang="zh-CN" sz="2800" smtClean="0">
                <a:latin typeface="黑体" pitchFamily="49" charset="-122"/>
                <a:ea typeface="黑体" pitchFamily="49" charset="-122"/>
              </a:rPr>
              <a:t>3</a:t>
            </a:r>
            <a:r>
              <a:rPr lang="zh-CN" altLang="en-US" sz="2800" smtClean="0">
                <a:latin typeface="黑体" pitchFamily="49" charset="-122"/>
                <a:ea typeface="黑体" pitchFamily="49" charset="-122"/>
              </a:rPr>
              <a:t>门以上课程的学生学号。</a:t>
            </a:r>
          </a:p>
          <a:p>
            <a:pPr lvl="1" algn="just" eaLnBrk="1" hangingPunct="1">
              <a:lnSpc>
                <a:spcPct val="180000"/>
              </a:lnSpc>
              <a:buFont typeface="Wingdings" pitchFamily="2" charset="2"/>
              <a:buNone/>
            </a:pPr>
            <a:r>
              <a:rPr lang="zh-CN" altLang="en-US" sz="2400" smtClean="0">
                <a:latin typeface="黑体" pitchFamily="49" charset="-122"/>
                <a:ea typeface="黑体" pitchFamily="49" charset="-122"/>
              </a:rPr>
              <a:t>     </a:t>
            </a:r>
            <a:endParaRPr lang="zh-CN" altLang="en-US" smtClean="0">
              <a:latin typeface="黑体" pitchFamily="49" charset="-122"/>
              <a:ea typeface="黑体" pitchFamily="49" charset="-122"/>
            </a:endParaRPr>
          </a:p>
          <a:p>
            <a:pPr algn="just" eaLnBrk="1" hangingPunct="1">
              <a:lnSpc>
                <a:spcPct val="90000"/>
              </a:lnSpc>
              <a:buFont typeface="Wingdings" pitchFamily="2" charset="2"/>
              <a:buNone/>
            </a:pPr>
            <a:r>
              <a:rPr lang="zh-CN" altLang="en-US" sz="2800" smtClean="0">
                <a:ea typeface="黑体" pitchFamily="49" charset="-122"/>
              </a:rPr>
              <a:t> </a:t>
            </a:r>
            <a:endParaRPr lang="zh-CN" altLang="en-US" sz="2800" smtClean="0">
              <a:latin typeface="黑体" pitchFamily="49" charset="-122"/>
              <a:ea typeface="黑体" pitchFamily="49" charset="-122"/>
            </a:endParaRPr>
          </a:p>
        </p:txBody>
      </p:sp>
      <p:sp>
        <p:nvSpPr>
          <p:cNvPr id="5" name="Rectangle 2"/>
          <p:cNvSpPr txBox="1">
            <a:spLocks noChangeArrowheads="1"/>
          </p:cNvSpPr>
          <p:nvPr/>
        </p:nvSpPr>
        <p:spPr bwMode="auto">
          <a:xfrm>
            <a:off x="611188" y="260350"/>
            <a:ext cx="77930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3.4.2  </a:t>
            </a:r>
            <a:r>
              <a:rPr lang="zh-CN" altLang="en-US" b="0" kern="0" dirty="0" smtClean="0">
                <a:latin typeface="黑体" pitchFamily="49" charset="-122"/>
              </a:rPr>
              <a:t>单表查询 </a:t>
            </a:r>
          </a:p>
        </p:txBody>
      </p:sp>
      <p:sp>
        <p:nvSpPr>
          <p:cNvPr id="54276" name="Rectangle 2"/>
          <p:cNvSpPr>
            <a:spLocks noGrp="1" noChangeArrowheads="1"/>
          </p:cNvSpPr>
          <p:nvPr>
            <p:ph type="title"/>
          </p:nvPr>
        </p:nvSpPr>
        <p:spPr>
          <a:xfrm>
            <a:off x="539750" y="1341438"/>
            <a:ext cx="7793038" cy="503237"/>
          </a:xfrm>
        </p:spPr>
        <p:txBody>
          <a:bodyPr/>
          <a:lstStyle/>
          <a:p>
            <a:pPr eaLnBrk="1" hangingPunct="1"/>
            <a:r>
              <a:rPr lang="zh-CN" altLang="en-US" sz="2800" smtClean="0">
                <a:solidFill>
                  <a:schemeClr val="tx1"/>
                </a:solidFill>
                <a:latin typeface="黑体" pitchFamily="49" charset="-122"/>
              </a:rPr>
              <a:t>五、对查询结果分组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nodeType="clickEffect">
                                  <p:stCondLst>
                                    <p:cond delay="0"/>
                                  </p:stCondLst>
                                  <p:childTnLst>
                                    <p:set>
                                      <p:cBhvr>
                                        <p:cTn id="6" dur="1" fill="hold">
                                          <p:stCondLst>
                                            <p:cond delay="0"/>
                                          </p:stCondLst>
                                        </p:cTn>
                                        <p:tgtEl>
                                          <p:spTgt spid="414723">
                                            <p:txEl>
                                              <p:pRg st="0" end="0"/>
                                            </p:txEl>
                                          </p:spTgt>
                                        </p:tgtEl>
                                        <p:attrNameLst>
                                          <p:attrName>style.visibility</p:attrName>
                                        </p:attrNameLst>
                                      </p:cBhvr>
                                      <p:to>
                                        <p:strVal val="visible"/>
                                      </p:to>
                                    </p:set>
                                    <p:animEffect transition="in" filter="fade">
                                      <p:cBhvr>
                                        <p:cTn id="7" dur="1000"/>
                                        <p:tgtEl>
                                          <p:spTgt spid="414723">
                                            <p:txEl>
                                              <p:pRg st="0" end="0"/>
                                            </p:txEl>
                                          </p:spTgt>
                                        </p:tgtEl>
                                      </p:cBhvr>
                                    </p:animEffect>
                                    <p:anim calcmode="lin" valueType="num">
                                      <p:cBhvr>
                                        <p:cTn id="8" dur="1000" fill="hold"/>
                                        <p:tgtEl>
                                          <p:spTgt spid="414723">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414723">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414723">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7" presetClass="entr" presetSubtype="0" fill="hold" nodeType="clickEffect">
                                  <p:stCondLst>
                                    <p:cond delay="0"/>
                                  </p:stCondLst>
                                  <p:childTnLst>
                                    <p:set>
                                      <p:cBhvr>
                                        <p:cTn id="14" dur="1" fill="hold">
                                          <p:stCondLst>
                                            <p:cond delay="0"/>
                                          </p:stCondLst>
                                        </p:cTn>
                                        <p:tgtEl>
                                          <p:spTgt spid="414723">
                                            <p:txEl>
                                              <p:pRg st="1" end="1"/>
                                            </p:txEl>
                                          </p:spTgt>
                                        </p:tgtEl>
                                        <p:attrNameLst>
                                          <p:attrName>style.visibility</p:attrName>
                                        </p:attrNameLst>
                                      </p:cBhvr>
                                      <p:to>
                                        <p:strVal val="visible"/>
                                      </p:to>
                                    </p:set>
                                    <p:animEffect transition="in" filter="fade">
                                      <p:cBhvr>
                                        <p:cTn id="15" dur="1000"/>
                                        <p:tgtEl>
                                          <p:spTgt spid="414723">
                                            <p:txEl>
                                              <p:pRg st="1" end="1"/>
                                            </p:txEl>
                                          </p:spTgt>
                                        </p:tgtEl>
                                      </p:cBhvr>
                                    </p:animEffect>
                                    <p:anim calcmode="lin" valueType="num">
                                      <p:cBhvr>
                                        <p:cTn id="16" dur="1000" fill="hold"/>
                                        <p:tgtEl>
                                          <p:spTgt spid="414723">
                                            <p:txEl>
                                              <p:pRg st="1" end="1"/>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414723">
                                            <p:txEl>
                                              <p:pRg st="1" end="1"/>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414723">
                                            <p:txEl>
                                              <p:pRg st="1" end="1"/>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7" name="Rectangle 3"/>
          <p:cNvSpPr>
            <a:spLocks noGrp="1" noChangeArrowheads="1"/>
          </p:cNvSpPr>
          <p:nvPr>
            <p:ph type="body" idx="1"/>
          </p:nvPr>
        </p:nvSpPr>
        <p:spPr>
          <a:xfrm>
            <a:off x="366713" y="1989138"/>
            <a:ext cx="8280400" cy="4495800"/>
          </a:xfrm>
        </p:spPr>
        <p:txBody>
          <a:bodyPr/>
          <a:lstStyle/>
          <a:p>
            <a:pPr algn="just" eaLnBrk="1" hangingPunct="1">
              <a:lnSpc>
                <a:spcPct val="120000"/>
              </a:lnSpc>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24]  </a:t>
            </a:r>
            <a:r>
              <a:rPr lang="zh-CN" altLang="en-US" sz="2400" smtClean="0">
                <a:latin typeface="黑体" pitchFamily="49" charset="-122"/>
                <a:ea typeface="黑体" pitchFamily="49" charset="-122"/>
              </a:rPr>
              <a:t>统计有多于</a:t>
            </a:r>
            <a:r>
              <a:rPr lang="en-US" altLang="zh-CN" sz="2400" smtClean="0">
                <a:latin typeface="黑体" pitchFamily="49" charset="-122"/>
                <a:ea typeface="黑体" pitchFamily="49" charset="-122"/>
              </a:rPr>
              <a:t>3</a:t>
            </a:r>
            <a:r>
              <a:rPr lang="zh-CN" altLang="en-US" sz="2400" smtClean="0">
                <a:latin typeface="黑体" pitchFamily="49" charset="-122"/>
                <a:ea typeface="黑体" pitchFamily="49" charset="-122"/>
              </a:rPr>
              <a:t>门次课程的成绩在</a:t>
            </a:r>
            <a:r>
              <a:rPr lang="en-US" altLang="zh-CN" sz="2400" smtClean="0">
                <a:latin typeface="黑体" pitchFamily="49" charset="-122"/>
                <a:ea typeface="黑体" pitchFamily="49" charset="-122"/>
              </a:rPr>
              <a:t>60</a:t>
            </a:r>
            <a:r>
              <a:rPr lang="zh-CN" altLang="en-US" sz="2400" smtClean="0">
                <a:latin typeface="黑体" pitchFamily="49" charset="-122"/>
                <a:ea typeface="黑体" pitchFamily="49" charset="-122"/>
              </a:rPr>
              <a:t>分以下的学生学号及课程数。</a:t>
            </a:r>
          </a:p>
          <a:p>
            <a:pPr lvl="1" algn="just" eaLnBrk="1" hangingPunct="1">
              <a:buFont typeface="Wingdings" pitchFamily="2" charset="2"/>
              <a:buNone/>
            </a:pPr>
            <a:r>
              <a:rPr lang="en-US" altLang="zh-CN" sz="2400" smtClean="0">
                <a:latin typeface="黑体" pitchFamily="49" charset="-122"/>
                <a:ea typeface="黑体" pitchFamily="49" charset="-122"/>
              </a:rPr>
              <a:t>           </a:t>
            </a:r>
          </a:p>
        </p:txBody>
      </p:sp>
      <p:sp>
        <p:nvSpPr>
          <p:cNvPr id="5" name="Rectangle 2"/>
          <p:cNvSpPr txBox="1">
            <a:spLocks noChangeArrowheads="1"/>
          </p:cNvSpPr>
          <p:nvPr/>
        </p:nvSpPr>
        <p:spPr bwMode="auto">
          <a:xfrm>
            <a:off x="611188" y="260350"/>
            <a:ext cx="77930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3.4.2  </a:t>
            </a:r>
            <a:r>
              <a:rPr lang="zh-CN" altLang="en-US" b="0" kern="0" dirty="0" smtClean="0">
                <a:latin typeface="黑体" pitchFamily="49" charset="-122"/>
              </a:rPr>
              <a:t>单表查询 </a:t>
            </a:r>
          </a:p>
        </p:txBody>
      </p:sp>
      <p:sp>
        <p:nvSpPr>
          <p:cNvPr id="55300" name="Rectangle 2"/>
          <p:cNvSpPr>
            <a:spLocks noGrp="1" noChangeArrowheads="1"/>
          </p:cNvSpPr>
          <p:nvPr>
            <p:ph type="title"/>
          </p:nvPr>
        </p:nvSpPr>
        <p:spPr>
          <a:xfrm>
            <a:off x="539750" y="1341438"/>
            <a:ext cx="7793038" cy="503237"/>
          </a:xfrm>
        </p:spPr>
        <p:txBody>
          <a:bodyPr/>
          <a:lstStyle/>
          <a:p>
            <a:pPr eaLnBrk="1" hangingPunct="1"/>
            <a:r>
              <a:rPr lang="zh-CN" altLang="en-US" sz="2800" smtClean="0">
                <a:solidFill>
                  <a:schemeClr val="tx1"/>
                </a:solidFill>
                <a:latin typeface="黑体" pitchFamily="49" charset="-122"/>
              </a:rPr>
              <a:t>五、对查询结果分组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nodeType="clickEffect">
                                  <p:stCondLst>
                                    <p:cond delay="0"/>
                                  </p:stCondLst>
                                  <p:childTnLst>
                                    <p:set>
                                      <p:cBhvr>
                                        <p:cTn id="6" dur="1" fill="hold">
                                          <p:stCondLst>
                                            <p:cond delay="0"/>
                                          </p:stCondLst>
                                        </p:cTn>
                                        <p:tgtEl>
                                          <p:spTgt spid="415747">
                                            <p:txEl>
                                              <p:pRg st="0" end="0"/>
                                            </p:txEl>
                                          </p:spTgt>
                                        </p:tgtEl>
                                        <p:attrNameLst>
                                          <p:attrName>style.visibility</p:attrName>
                                        </p:attrNameLst>
                                      </p:cBhvr>
                                      <p:to>
                                        <p:strVal val="visible"/>
                                      </p:to>
                                    </p:set>
                                    <p:animEffect transition="in" filter="fade">
                                      <p:cBhvr>
                                        <p:cTn id="7" dur="1000"/>
                                        <p:tgtEl>
                                          <p:spTgt spid="415747">
                                            <p:txEl>
                                              <p:pRg st="0" end="0"/>
                                            </p:txEl>
                                          </p:spTgt>
                                        </p:tgtEl>
                                      </p:cBhvr>
                                    </p:animEffect>
                                    <p:anim calcmode="lin" valueType="num">
                                      <p:cBhvr>
                                        <p:cTn id="8" dur="1000" fill="hold"/>
                                        <p:tgtEl>
                                          <p:spTgt spid="415747">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415747">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415747">
                                            <p:txEl>
                                              <p:pRg st="0" end="0"/>
                                            </p:txEl>
                                          </p:spTgt>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415747">
                                            <p:txEl>
                                              <p:pRg st="1" end="1"/>
                                            </p:txEl>
                                          </p:spTgt>
                                        </p:tgtEl>
                                        <p:attrNameLst>
                                          <p:attrName>style.visibility</p:attrName>
                                        </p:attrNameLst>
                                      </p:cBhvr>
                                      <p:to>
                                        <p:strVal val="visible"/>
                                      </p:to>
                                    </p:set>
                                    <p:animEffect transition="in" filter="fade">
                                      <p:cBhvr>
                                        <p:cTn id="13" dur="1000"/>
                                        <p:tgtEl>
                                          <p:spTgt spid="415747">
                                            <p:txEl>
                                              <p:pRg st="1" end="1"/>
                                            </p:txEl>
                                          </p:spTgt>
                                        </p:tgtEl>
                                      </p:cBhvr>
                                    </p:animEffect>
                                    <p:anim calcmode="lin" valueType="num">
                                      <p:cBhvr>
                                        <p:cTn id="14" dur="1000" fill="hold"/>
                                        <p:tgtEl>
                                          <p:spTgt spid="415747">
                                            <p:txEl>
                                              <p:pRg st="1" end="1"/>
                                            </p:txEl>
                                          </p:spTgt>
                                        </p:tgtEl>
                                        <p:attrNameLst>
                                          <p:attrName>ppt_x</p:attrName>
                                        </p:attrNameLst>
                                      </p:cBhvr>
                                      <p:tavLst>
                                        <p:tav tm="0">
                                          <p:val>
                                            <p:strVal val="#ppt_x"/>
                                          </p:val>
                                        </p:tav>
                                        <p:tav tm="100000">
                                          <p:val>
                                            <p:strVal val="#ppt_x"/>
                                          </p:val>
                                        </p:tav>
                                      </p:tavLst>
                                    </p:anim>
                                    <p:anim calcmode="lin" valueType="num">
                                      <p:cBhvr>
                                        <p:cTn id="15" dur="900" decel="100000" fill="hold"/>
                                        <p:tgtEl>
                                          <p:spTgt spid="415747">
                                            <p:txEl>
                                              <p:pRg st="1" end="1"/>
                                            </p:txEl>
                                          </p:spTgt>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415747">
                                            <p:txEl>
                                              <p:pRg st="1" end="1"/>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noChangeArrowheads="1"/>
          </p:cNvSpPr>
          <p:nvPr>
            <p:ph type="body" idx="1"/>
          </p:nvPr>
        </p:nvSpPr>
        <p:spPr>
          <a:xfrm>
            <a:off x="671513" y="2205038"/>
            <a:ext cx="7704137" cy="3959225"/>
          </a:xfrm>
        </p:spPr>
        <p:txBody>
          <a:bodyPr/>
          <a:lstStyle/>
          <a:p>
            <a:pPr algn="just" eaLnBrk="1" hangingPunct="1">
              <a:lnSpc>
                <a:spcPct val="110000"/>
              </a:lnSpc>
            </a:pPr>
            <a:r>
              <a:rPr lang="zh-CN" altLang="en-US" sz="2800" smtClean="0">
                <a:latin typeface="黑体" pitchFamily="49" charset="-122"/>
                <a:ea typeface="黑体" pitchFamily="49" charset="-122"/>
              </a:rPr>
              <a:t>只有满足</a:t>
            </a:r>
            <a:r>
              <a:rPr lang="en-US" altLang="zh-CN" sz="2800" smtClean="0">
                <a:latin typeface="黑体" pitchFamily="49" charset="-122"/>
                <a:ea typeface="黑体" pitchFamily="49" charset="-122"/>
              </a:rPr>
              <a:t>HAVING</a:t>
            </a:r>
            <a:r>
              <a:rPr lang="zh-CN" altLang="en-US" sz="2800" smtClean="0">
                <a:latin typeface="黑体" pitchFamily="49" charset="-122"/>
                <a:ea typeface="黑体" pitchFamily="49" charset="-122"/>
              </a:rPr>
              <a:t>短语指定条件的组才输出</a:t>
            </a:r>
          </a:p>
          <a:p>
            <a:pPr algn="just" eaLnBrk="1" hangingPunct="1">
              <a:lnSpc>
                <a:spcPct val="110000"/>
              </a:lnSpc>
            </a:pPr>
            <a:r>
              <a:rPr lang="en-US" altLang="zh-CN" sz="2800" smtClean="0">
                <a:latin typeface="黑体" pitchFamily="49" charset="-122"/>
                <a:ea typeface="黑体" pitchFamily="49" charset="-122"/>
              </a:rPr>
              <a:t>HAVING</a:t>
            </a:r>
            <a:r>
              <a:rPr lang="zh-CN" altLang="en-US" sz="2800" smtClean="0">
                <a:latin typeface="黑体" pitchFamily="49" charset="-122"/>
                <a:ea typeface="黑体" pitchFamily="49" charset="-122"/>
              </a:rPr>
              <a:t>短语与</a:t>
            </a:r>
            <a:r>
              <a:rPr lang="en-US" altLang="zh-CN" sz="2800" smtClean="0">
                <a:latin typeface="黑体" pitchFamily="49" charset="-122"/>
                <a:ea typeface="黑体" pitchFamily="49" charset="-122"/>
              </a:rPr>
              <a:t>WHERE</a:t>
            </a:r>
            <a:r>
              <a:rPr lang="zh-CN" altLang="en-US" sz="2800" smtClean="0">
                <a:latin typeface="黑体" pitchFamily="49" charset="-122"/>
                <a:ea typeface="黑体" pitchFamily="49" charset="-122"/>
              </a:rPr>
              <a:t>子句的区别：作用对象不同</a:t>
            </a:r>
          </a:p>
          <a:p>
            <a:pPr lvl="1" algn="just" eaLnBrk="1" hangingPunct="1">
              <a:lnSpc>
                <a:spcPct val="110000"/>
              </a:lnSpc>
            </a:pPr>
            <a:r>
              <a:rPr lang="en-US" altLang="zh-CN" smtClean="0">
                <a:latin typeface="黑体" pitchFamily="49" charset="-122"/>
                <a:ea typeface="黑体" pitchFamily="49" charset="-122"/>
              </a:rPr>
              <a:t>WHERE</a:t>
            </a:r>
            <a:r>
              <a:rPr lang="zh-CN" altLang="en-US" smtClean="0">
                <a:latin typeface="黑体" pitchFamily="49" charset="-122"/>
                <a:ea typeface="黑体" pitchFamily="49" charset="-122"/>
              </a:rPr>
              <a:t>子句作用于基表或视图，从中选择满足条件的元组。</a:t>
            </a:r>
          </a:p>
          <a:p>
            <a:pPr lvl="1" algn="just" eaLnBrk="1" hangingPunct="1">
              <a:lnSpc>
                <a:spcPct val="110000"/>
              </a:lnSpc>
            </a:pPr>
            <a:r>
              <a:rPr lang="en-US" altLang="zh-CN" smtClean="0">
                <a:latin typeface="黑体" pitchFamily="49" charset="-122"/>
                <a:ea typeface="黑体" pitchFamily="49" charset="-122"/>
              </a:rPr>
              <a:t>HAVING</a:t>
            </a:r>
            <a:r>
              <a:rPr lang="zh-CN" altLang="en-US" smtClean="0">
                <a:latin typeface="黑体" pitchFamily="49" charset="-122"/>
                <a:ea typeface="黑体" pitchFamily="49" charset="-122"/>
              </a:rPr>
              <a:t>短语作用于组，从中选择满足条件的组</a:t>
            </a:r>
            <a:r>
              <a:rPr lang="zh-CN" altLang="en-US" sz="3200" smtClean="0">
                <a:latin typeface="黑体" pitchFamily="49" charset="-122"/>
                <a:ea typeface="黑体" pitchFamily="49" charset="-122"/>
              </a:rPr>
              <a:t>。</a:t>
            </a:r>
            <a:r>
              <a:rPr lang="zh-CN" altLang="en-US" sz="3600" smtClean="0">
                <a:latin typeface="黑体" pitchFamily="49" charset="-122"/>
                <a:ea typeface="黑体" pitchFamily="49" charset="-122"/>
              </a:rPr>
              <a:t> </a:t>
            </a:r>
          </a:p>
        </p:txBody>
      </p:sp>
      <p:sp>
        <p:nvSpPr>
          <p:cNvPr id="5" name="Rectangle 2"/>
          <p:cNvSpPr txBox="1">
            <a:spLocks noChangeArrowheads="1"/>
          </p:cNvSpPr>
          <p:nvPr/>
        </p:nvSpPr>
        <p:spPr bwMode="auto">
          <a:xfrm>
            <a:off x="611188" y="260350"/>
            <a:ext cx="77930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3.4.2  </a:t>
            </a:r>
            <a:r>
              <a:rPr lang="zh-CN" altLang="en-US" b="0" kern="0" dirty="0" smtClean="0">
                <a:latin typeface="黑体" pitchFamily="49" charset="-122"/>
              </a:rPr>
              <a:t>单表查询 </a:t>
            </a:r>
          </a:p>
        </p:txBody>
      </p:sp>
      <p:sp>
        <p:nvSpPr>
          <p:cNvPr id="56324" name="Rectangle 2"/>
          <p:cNvSpPr>
            <a:spLocks noGrp="1" noChangeArrowheads="1"/>
          </p:cNvSpPr>
          <p:nvPr>
            <p:ph type="title"/>
          </p:nvPr>
        </p:nvSpPr>
        <p:spPr>
          <a:xfrm>
            <a:off x="539750" y="1341438"/>
            <a:ext cx="7793038" cy="503237"/>
          </a:xfrm>
        </p:spPr>
        <p:txBody>
          <a:bodyPr/>
          <a:lstStyle/>
          <a:p>
            <a:pPr eaLnBrk="1" hangingPunct="1"/>
            <a:r>
              <a:rPr lang="zh-CN" altLang="en-US" sz="2800" smtClean="0">
                <a:solidFill>
                  <a:schemeClr val="tx1"/>
                </a:solidFill>
                <a:latin typeface="黑体" pitchFamily="49" charset="-122"/>
              </a:rPr>
              <a:t>五、对查询结果分组 </a:t>
            </a: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ph type="title"/>
          </p:nvPr>
        </p:nvSpPr>
        <p:spPr>
          <a:xfrm>
            <a:off x="468313" y="58738"/>
            <a:ext cx="7793037" cy="993775"/>
          </a:xfrm>
        </p:spPr>
        <p:txBody>
          <a:bodyPr/>
          <a:lstStyle/>
          <a:p>
            <a:pPr eaLnBrk="1" hangingPunct="1"/>
            <a:r>
              <a:rPr lang="en-US" altLang="zh-CN" smtClean="0">
                <a:latin typeface="黑体" pitchFamily="49" charset="-122"/>
              </a:rPr>
              <a:t>3.4.3  </a:t>
            </a:r>
            <a:r>
              <a:rPr lang="zh-CN" altLang="en-US" smtClean="0">
                <a:latin typeface="黑体" pitchFamily="49" charset="-122"/>
              </a:rPr>
              <a:t>连接查询 </a:t>
            </a:r>
          </a:p>
        </p:txBody>
      </p:sp>
      <p:sp>
        <p:nvSpPr>
          <p:cNvPr id="6147" name="Rectangle 3"/>
          <p:cNvSpPr>
            <a:spLocks noChangeArrowheads="1"/>
          </p:cNvSpPr>
          <p:nvPr>
            <p:ph type="body" idx="1"/>
          </p:nvPr>
        </p:nvSpPr>
        <p:spPr>
          <a:xfrm>
            <a:off x="598488" y="1557338"/>
            <a:ext cx="8294687" cy="4343400"/>
          </a:xfrm>
        </p:spPr>
        <p:txBody>
          <a:bodyPr/>
          <a:lstStyle/>
          <a:p>
            <a:pPr algn="just" eaLnBrk="1" hangingPunct="1">
              <a:lnSpc>
                <a:spcPct val="150000"/>
              </a:lnSpc>
            </a:pPr>
            <a:r>
              <a:rPr lang="zh-CN" altLang="en-US" sz="2400" smtClean="0">
                <a:latin typeface="黑体" pitchFamily="49" charset="-122"/>
                <a:ea typeface="黑体" pitchFamily="49" charset="-122"/>
              </a:rPr>
              <a:t>若一个查询同时涉及两个以上的表，则称之为</a:t>
            </a:r>
            <a:r>
              <a:rPr lang="zh-CN" altLang="en-US" sz="2400" smtClean="0">
                <a:solidFill>
                  <a:srgbClr val="FF0000"/>
                </a:solidFill>
                <a:latin typeface="黑体" pitchFamily="49" charset="-122"/>
                <a:ea typeface="黑体" pitchFamily="49" charset="-122"/>
              </a:rPr>
              <a:t>连接查询</a:t>
            </a:r>
            <a:r>
              <a:rPr lang="zh-CN" altLang="en-US" sz="2400" smtClean="0">
                <a:solidFill>
                  <a:schemeClr val="hlink"/>
                </a:solidFill>
                <a:latin typeface="黑体" pitchFamily="49" charset="-122"/>
                <a:ea typeface="黑体" pitchFamily="49" charset="-122"/>
              </a:rPr>
              <a:t>。</a:t>
            </a:r>
          </a:p>
          <a:p>
            <a:pPr algn="just" eaLnBrk="1" hangingPunct="1">
              <a:lnSpc>
                <a:spcPct val="150000"/>
              </a:lnSpc>
            </a:pPr>
            <a:r>
              <a:rPr lang="zh-CN" altLang="en-US" sz="2400" smtClean="0">
                <a:latin typeface="黑体" pitchFamily="49" charset="-122"/>
                <a:ea typeface="黑体" pitchFamily="49" charset="-122"/>
              </a:rPr>
              <a:t>连接查询的</a:t>
            </a:r>
            <a:r>
              <a:rPr lang="en-US" altLang="zh-CN" sz="2400" smtClean="0">
                <a:latin typeface="黑体" pitchFamily="49" charset="-122"/>
                <a:ea typeface="黑体" pitchFamily="49" charset="-122"/>
              </a:rPr>
              <a:t>WHERE</a:t>
            </a:r>
            <a:r>
              <a:rPr lang="zh-CN" altLang="en-US" sz="2400" smtClean="0">
                <a:latin typeface="黑体" pitchFamily="49" charset="-122"/>
                <a:ea typeface="黑体" pitchFamily="49" charset="-122"/>
              </a:rPr>
              <a:t>子句中用来连接两个表的条件称为</a:t>
            </a:r>
            <a:r>
              <a:rPr lang="zh-CN" altLang="en-US" sz="2400" smtClean="0">
                <a:solidFill>
                  <a:srgbClr val="FF0000"/>
                </a:solidFill>
                <a:latin typeface="黑体" pitchFamily="49" charset="-122"/>
                <a:ea typeface="黑体" pitchFamily="49" charset="-122"/>
              </a:rPr>
              <a:t>连接条件</a:t>
            </a:r>
            <a:r>
              <a:rPr lang="zh-CN" altLang="en-US" sz="2400" smtClean="0">
                <a:latin typeface="黑体" pitchFamily="49" charset="-122"/>
                <a:ea typeface="黑体" pitchFamily="49" charset="-122"/>
              </a:rPr>
              <a:t>或</a:t>
            </a:r>
            <a:r>
              <a:rPr lang="zh-CN" altLang="en-US" sz="2400" smtClean="0">
                <a:solidFill>
                  <a:srgbClr val="FF0000"/>
                </a:solidFill>
                <a:latin typeface="黑体" pitchFamily="49" charset="-122"/>
                <a:ea typeface="黑体" pitchFamily="49" charset="-122"/>
              </a:rPr>
              <a:t>连接谓词</a:t>
            </a:r>
            <a:r>
              <a:rPr lang="zh-CN" altLang="en-US" sz="2000" smtClean="0">
                <a:latin typeface="黑体" pitchFamily="49" charset="-122"/>
                <a:ea typeface="黑体" pitchFamily="49" charset="-122"/>
              </a:rPr>
              <a:t>。</a:t>
            </a:r>
          </a:p>
          <a:p>
            <a:pPr algn="just" eaLnBrk="1" hangingPunct="1">
              <a:lnSpc>
                <a:spcPct val="150000"/>
              </a:lnSpc>
              <a:buFont typeface="Wingdings" pitchFamily="2" charset="2"/>
              <a:buNone/>
            </a:pPr>
            <a:r>
              <a:rPr lang="zh-CN" altLang="en-US" sz="2000" smtClean="0">
                <a:latin typeface="黑体" pitchFamily="49" charset="-122"/>
                <a:ea typeface="黑体" pitchFamily="49" charset="-122"/>
              </a:rPr>
              <a:t> 一般格式：</a:t>
            </a:r>
          </a:p>
          <a:p>
            <a:pPr eaLnBrk="1" hangingPunct="1">
              <a:lnSpc>
                <a:spcPct val="150000"/>
              </a:lnSpc>
              <a:buFont typeface="Wingdings" pitchFamily="2" charset="2"/>
              <a:buNone/>
            </a:pPr>
            <a:r>
              <a:rPr lang="zh-CN" altLang="en-US" sz="1800" smtClean="0">
                <a:latin typeface="黑体" pitchFamily="49" charset="-122"/>
                <a:ea typeface="黑体" pitchFamily="49" charset="-122"/>
              </a:rPr>
              <a:t>   </a:t>
            </a:r>
            <a:r>
              <a:rPr lang="zh-CN" altLang="zh-CN" sz="1800" smtClean="0">
                <a:latin typeface="黑体" pitchFamily="49" charset="-122"/>
                <a:ea typeface="黑体" pitchFamily="49" charset="-122"/>
              </a:rPr>
              <a:t>[&lt;</a:t>
            </a:r>
            <a:r>
              <a:rPr lang="zh-CN" altLang="en-US" sz="1800" smtClean="0">
                <a:latin typeface="黑体" pitchFamily="49" charset="-122"/>
                <a:ea typeface="黑体" pitchFamily="49" charset="-122"/>
              </a:rPr>
              <a:t>表名</a:t>
            </a:r>
            <a:r>
              <a:rPr lang="zh-CN" altLang="zh-CN" sz="1800" smtClean="0">
                <a:latin typeface="黑体" pitchFamily="49" charset="-122"/>
                <a:ea typeface="黑体" pitchFamily="49" charset="-122"/>
              </a:rPr>
              <a:t>1&gt;.]&lt;</a:t>
            </a:r>
            <a:r>
              <a:rPr lang="zh-CN" altLang="en-US" sz="1800" smtClean="0">
                <a:latin typeface="黑体" pitchFamily="49" charset="-122"/>
                <a:ea typeface="黑体" pitchFamily="49" charset="-122"/>
              </a:rPr>
              <a:t>列名</a:t>
            </a:r>
            <a:r>
              <a:rPr lang="zh-CN" altLang="zh-CN" sz="1800" smtClean="0">
                <a:latin typeface="黑体" pitchFamily="49" charset="-122"/>
                <a:ea typeface="黑体" pitchFamily="49" charset="-122"/>
              </a:rPr>
              <a:t>1&gt;  </a:t>
            </a:r>
            <a:r>
              <a:rPr lang="zh-CN" altLang="zh-CN" sz="1800" smtClean="0">
                <a:solidFill>
                  <a:srgbClr val="FF0000"/>
                </a:solidFill>
                <a:latin typeface="黑体" pitchFamily="49" charset="-122"/>
                <a:ea typeface="黑体" pitchFamily="49" charset="-122"/>
              </a:rPr>
              <a:t>&lt;</a:t>
            </a:r>
            <a:r>
              <a:rPr lang="zh-CN" altLang="en-US" sz="1800" smtClean="0">
                <a:solidFill>
                  <a:srgbClr val="FF0000"/>
                </a:solidFill>
                <a:latin typeface="黑体" pitchFamily="49" charset="-122"/>
                <a:ea typeface="黑体" pitchFamily="49" charset="-122"/>
              </a:rPr>
              <a:t>比较运算符</a:t>
            </a:r>
            <a:r>
              <a:rPr lang="zh-CN" altLang="zh-CN" sz="1800" smtClean="0">
                <a:solidFill>
                  <a:srgbClr val="FF0000"/>
                </a:solidFill>
                <a:latin typeface="黑体" pitchFamily="49" charset="-122"/>
                <a:ea typeface="黑体" pitchFamily="49" charset="-122"/>
              </a:rPr>
              <a:t>&gt;  </a:t>
            </a:r>
            <a:r>
              <a:rPr lang="zh-CN" altLang="zh-CN" sz="1800" smtClean="0">
                <a:latin typeface="黑体" pitchFamily="49" charset="-122"/>
                <a:ea typeface="黑体" pitchFamily="49" charset="-122"/>
              </a:rPr>
              <a:t>[&lt;</a:t>
            </a:r>
            <a:r>
              <a:rPr lang="zh-CN" altLang="en-US" sz="1800" smtClean="0">
                <a:latin typeface="黑体" pitchFamily="49" charset="-122"/>
                <a:ea typeface="黑体" pitchFamily="49" charset="-122"/>
              </a:rPr>
              <a:t>表名</a:t>
            </a:r>
            <a:r>
              <a:rPr lang="zh-CN" altLang="zh-CN" sz="1800" smtClean="0">
                <a:latin typeface="黑体" pitchFamily="49" charset="-122"/>
                <a:ea typeface="黑体" pitchFamily="49" charset="-122"/>
              </a:rPr>
              <a:t>2&gt;.]&lt;</a:t>
            </a:r>
            <a:r>
              <a:rPr lang="zh-CN" altLang="en-US" sz="1800" smtClean="0">
                <a:latin typeface="黑体" pitchFamily="49" charset="-122"/>
                <a:ea typeface="黑体" pitchFamily="49" charset="-122"/>
              </a:rPr>
              <a:t>列名</a:t>
            </a:r>
            <a:r>
              <a:rPr lang="zh-CN" altLang="zh-CN" sz="1800" smtClean="0">
                <a:latin typeface="黑体" pitchFamily="49" charset="-122"/>
                <a:ea typeface="黑体" pitchFamily="49" charset="-122"/>
              </a:rPr>
              <a:t>2&gt;</a:t>
            </a:r>
          </a:p>
          <a:p>
            <a:pPr lvl="1" eaLnBrk="1" hangingPunct="1">
              <a:lnSpc>
                <a:spcPct val="150000"/>
              </a:lnSpc>
              <a:buFont typeface="Wingdings" pitchFamily="2" charset="2"/>
              <a:buNone/>
            </a:pPr>
            <a:r>
              <a:rPr lang="zh-CN" altLang="zh-CN" sz="1800" smtClean="0">
                <a:latin typeface="黑体" pitchFamily="49" charset="-122"/>
                <a:ea typeface="黑体" pitchFamily="49" charset="-122"/>
              </a:rPr>
              <a:t>         </a:t>
            </a:r>
            <a:r>
              <a:rPr lang="zh-CN" altLang="en-US" sz="1800" smtClean="0">
                <a:latin typeface="黑体" pitchFamily="49" charset="-122"/>
                <a:ea typeface="黑体" pitchFamily="49" charset="-122"/>
              </a:rPr>
              <a:t>比较运算符：</a:t>
            </a:r>
            <a:r>
              <a:rPr lang="zh-CN" altLang="zh-CN" sz="1800" smtClean="0">
                <a:latin typeface="黑体" pitchFamily="49" charset="-122"/>
                <a:ea typeface="黑体" pitchFamily="49" charset="-122"/>
              </a:rPr>
              <a:t>=</a:t>
            </a:r>
            <a:r>
              <a:rPr lang="zh-CN" altLang="en-US" sz="1800" smtClean="0">
                <a:latin typeface="黑体" pitchFamily="49" charset="-122"/>
                <a:ea typeface="黑体" pitchFamily="49" charset="-122"/>
              </a:rPr>
              <a:t>、</a:t>
            </a:r>
            <a:r>
              <a:rPr lang="zh-CN" altLang="zh-CN" sz="1800" smtClean="0">
                <a:latin typeface="黑体" pitchFamily="49" charset="-122"/>
                <a:ea typeface="黑体" pitchFamily="49" charset="-122"/>
              </a:rPr>
              <a:t>&gt;</a:t>
            </a:r>
            <a:r>
              <a:rPr lang="zh-CN" altLang="en-US" sz="1800" smtClean="0">
                <a:latin typeface="黑体" pitchFamily="49" charset="-122"/>
                <a:ea typeface="黑体" pitchFamily="49" charset="-122"/>
              </a:rPr>
              <a:t>、</a:t>
            </a:r>
            <a:r>
              <a:rPr lang="zh-CN" altLang="zh-CN" sz="1800" smtClean="0">
                <a:latin typeface="黑体" pitchFamily="49" charset="-122"/>
                <a:ea typeface="黑体" pitchFamily="49" charset="-122"/>
              </a:rPr>
              <a:t>&lt;</a:t>
            </a:r>
            <a:r>
              <a:rPr lang="zh-CN" altLang="en-US" sz="1800" smtClean="0">
                <a:latin typeface="黑体" pitchFamily="49" charset="-122"/>
                <a:ea typeface="黑体" pitchFamily="49" charset="-122"/>
              </a:rPr>
              <a:t>、</a:t>
            </a:r>
            <a:r>
              <a:rPr lang="zh-CN" altLang="zh-CN" sz="1800" smtClean="0">
                <a:latin typeface="黑体" pitchFamily="49" charset="-122"/>
                <a:ea typeface="黑体" pitchFamily="49" charset="-122"/>
              </a:rPr>
              <a:t>&gt;=</a:t>
            </a:r>
            <a:r>
              <a:rPr lang="zh-CN" altLang="en-US" sz="1800" smtClean="0">
                <a:latin typeface="黑体" pitchFamily="49" charset="-122"/>
                <a:ea typeface="黑体" pitchFamily="49" charset="-122"/>
              </a:rPr>
              <a:t>、</a:t>
            </a:r>
            <a:r>
              <a:rPr lang="zh-CN" altLang="zh-CN" sz="1800" smtClean="0">
                <a:latin typeface="黑体" pitchFamily="49" charset="-122"/>
                <a:ea typeface="黑体" pitchFamily="49" charset="-122"/>
              </a:rPr>
              <a:t>&lt;=</a:t>
            </a:r>
            <a:r>
              <a:rPr lang="zh-CN" altLang="en-US" sz="1800" smtClean="0">
                <a:latin typeface="黑体" pitchFamily="49" charset="-122"/>
                <a:ea typeface="黑体" pitchFamily="49" charset="-122"/>
              </a:rPr>
              <a:t>、</a:t>
            </a:r>
            <a:r>
              <a:rPr lang="zh-CN" altLang="zh-CN" sz="1800" smtClean="0">
                <a:latin typeface="黑体" pitchFamily="49" charset="-122"/>
                <a:ea typeface="黑体" pitchFamily="49" charset="-122"/>
              </a:rPr>
              <a:t>!=</a:t>
            </a:r>
          </a:p>
          <a:p>
            <a:pPr eaLnBrk="1" hangingPunct="1">
              <a:lnSpc>
                <a:spcPct val="150000"/>
              </a:lnSpc>
              <a:buFont typeface="Wingdings" pitchFamily="2" charset="2"/>
              <a:buNone/>
            </a:pPr>
            <a:r>
              <a:rPr lang="zh-CN" altLang="zh-CN" sz="1800" smtClean="0">
                <a:latin typeface="黑体" pitchFamily="49" charset="-122"/>
                <a:ea typeface="黑体" pitchFamily="49" charset="-122"/>
              </a:rPr>
              <a:t>   [&lt;</a:t>
            </a:r>
            <a:r>
              <a:rPr lang="zh-CN" altLang="en-US" sz="1800" smtClean="0">
                <a:latin typeface="黑体" pitchFamily="49" charset="-122"/>
                <a:ea typeface="黑体" pitchFamily="49" charset="-122"/>
              </a:rPr>
              <a:t>表名</a:t>
            </a:r>
            <a:r>
              <a:rPr lang="zh-CN" altLang="zh-CN" sz="1800" smtClean="0">
                <a:latin typeface="黑体" pitchFamily="49" charset="-122"/>
                <a:ea typeface="黑体" pitchFamily="49" charset="-122"/>
              </a:rPr>
              <a:t>1&gt;.]&lt;</a:t>
            </a:r>
            <a:r>
              <a:rPr lang="zh-CN" altLang="en-US" sz="1800" smtClean="0">
                <a:latin typeface="黑体" pitchFamily="49" charset="-122"/>
                <a:ea typeface="黑体" pitchFamily="49" charset="-122"/>
              </a:rPr>
              <a:t>列名</a:t>
            </a:r>
            <a:r>
              <a:rPr lang="zh-CN" altLang="zh-CN" sz="1800" smtClean="0">
                <a:latin typeface="黑体" pitchFamily="49" charset="-122"/>
                <a:ea typeface="黑体" pitchFamily="49" charset="-122"/>
              </a:rPr>
              <a:t>1&gt; </a:t>
            </a:r>
            <a:r>
              <a:rPr lang="zh-CN" altLang="zh-CN" sz="1800" smtClean="0">
                <a:solidFill>
                  <a:srgbClr val="FF0000"/>
                </a:solidFill>
                <a:latin typeface="黑体" pitchFamily="49" charset="-122"/>
                <a:ea typeface="黑体" pitchFamily="49" charset="-122"/>
              </a:rPr>
              <a:t>BETWEEN</a:t>
            </a:r>
            <a:r>
              <a:rPr lang="zh-CN" altLang="zh-CN" sz="1800" smtClean="0">
                <a:latin typeface="黑体" pitchFamily="49" charset="-122"/>
                <a:ea typeface="黑体" pitchFamily="49" charset="-122"/>
              </a:rPr>
              <a:t> [&lt;</a:t>
            </a:r>
            <a:r>
              <a:rPr lang="zh-CN" altLang="en-US" sz="1800" smtClean="0">
                <a:latin typeface="黑体" pitchFamily="49" charset="-122"/>
                <a:ea typeface="黑体" pitchFamily="49" charset="-122"/>
              </a:rPr>
              <a:t>表名</a:t>
            </a:r>
            <a:r>
              <a:rPr lang="zh-CN" altLang="zh-CN" sz="1800" smtClean="0">
                <a:latin typeface="黑体" pitchFamily="49" charset="-122"/>
                <a:ea typeface="黑体" pitchFamily="49" charset="-122"/>
              </a:rPr>
              <a:t>2&gt;.]&lt;</a:t>
            </a:r>
            <a:r>
              <a:rPr lang="zh-CN" altLang="en-US" sz="1800" smtClean="0">
                <a:latin typeface="黑体" pitchFamily="49" charset="-122"/>
                <a:ea typeface="黑体" pitchFamily="49" charset="-122"/>
              </a:rPr>
              <a:t>列名</a:t>
            </a:r>
            <a:r>
              <a:rPr lang="zh-CN" altLang="zh-CN" sz="1800" smtClean="0">
                <a:latin typeface="黑体" pitchFamily="49" charset="-122"/>
                <a:ea typeface="黑体" pitchFamily="49" charset="-122"/>
              </a:rPr>
              <a:t>2&gt; </a:t>
            </a:r>
            <a:r>
              <a:rPr lang="zh-CN" altLang="zh-CN" sz="1800" smtClean="0">
                <a:solidFill>
                  <a:srgbClr val="FF0000"/>
                </a:solidFill>
                <a:latin typeface="黑体" pitchFamily="49" charset="-122"/>
                <a:ea typeface="黑体" pitchFamily="49" charset="-122"/>
              </a:rPr>
              <a:t>AND</a:t>
            </a:r>
            <a:r>
              <a:rPr lang="zh-CN" altLang="zh-CN" sz="1800" smtClean="0">
                <a:latin typeface="黑体" pitchFamily="49" charset="-122"/>
                <a:ea typeface="黑体" pitchFamily="49" charset="-122"/>
              </a:rPr>
              <a:t> [&lt;</a:t>
            </a:r>
            <a:r>
              <a:rPr lang="zh-CN" altLang="en-US" sz="1800" smtClean="0">
                <a:latin typeface="黑体" pitchFamily="49" charset="-122"/>
                <a:ea typeface="黑体" pitchFamily="49" charset="-122"/>
              </a:rPr>
              <a:t>表名</a:t>
            </a:r>
            <a:r>
              <a:rPr lang="zh-CN" altLang="zh-CN" sz="1800" smtClean="0">
                <a:latin typeface="黑体" pitchFamily="49" charset="-122"/>
                <a:ea typeface="黑体" pitchFamily="49" charset="-122"/>
              </a:rPr>
              <a:t>2&gt;.]&lt;</a:t>
            </a:r>
            <a:r>
              <a:rPr lang="zh-CN" altLang="en-US" sz="1800" smtClean="0">
                <a:latin typeface="黑体" pitchFamily="49" charset="-122"/>
                <a:ea typeface="黑体" pitchFamily="49" charset="-122"/>
              </a:rPr>
              <a:t>列名</a:t>
            </a:r>
            <a:r>
              <a:rPr lang="zh-CN" altLang="zh-CN" sz="1800" smtClean="0">
                <a:latin typeface="黑体" pitchFamily="49" charset="-122"/>
                <a:ea typeface="黑体" pitchFamily="49" charset="-122"/>
              </a:rPr>
              <a:t>3&gt;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4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ChangeArrowheads="1"/>
          </p:cNvSpPr>
          <p:nvPr>
            <p:ph type="body" idx="1"/>
          </p:nvPr>
        </p:nvSpPr>
        <p:spPr>
          <a:xfrm>
            <a:off x="827088" y="1557338"/>
            <a:ext cx="7772400" cy="4114800"/>
          </a:xfrm>
        </p:spPr>
        <p:txBody>
          <a:bodyPr/>
          <a:lstStyle/>
          <a:p>
            <a:pPr eaLnBrk="1" hangingPunct="1">
              <a:lnSpc>
                <a:spcPct val="130000"/>
              </a:lnSpc>
              <a:spcBef>
                <a:spcPct val="50000"/>
              </a:spcBef>
              <a:buFont typeface="Wingdings" pitchFamily="2" charset="2"/>
              <a:buNone/>
            </a:pPr>
            <a:r>
              <a:rPr lang="en-US" altLang="zh-CN" sz="2800" smtClean="0">
                <a:latin typeface="黑体" pitchFamily="49" charset="-122"/>
                <a:ea typeface="黑体" pitchFamily="49" charset="-122"/>
              </a:rPr>
              <a:t>SQL</a:t>
            </a:r>
            <a:r>
              <a:rPr lang="zh-CN" altLang="en-US" sz="2800" smtClean="0">
                <a:latin typeface="黑体" pitchFamily="49" charset="-122"/>
                <a:ea typeface="黑体" pitchFamily="49" charset="-122"/>
              </a:rPr>
              <a:t>中连接查询的主要类型</a:t>
            </a:r>
          </a:p>
          <a:p>
            <a:pPr lvl="1" eaLnBrk="1" hangingPunct="1">
              <a:lnSpc>
                <a:spcPct val="130000"/>
              </a:lnSpc>
              <a:spcBef>
                <a:spcPct val="60000"/>
              </a:spcBef>
            </a:pPr>
            <a:r>
              <a:rPr lang="zh-CN" altLang="en-US" smtClean="0">
                <a:latin typeface="黑体" pitchFamily="49" charset="-122"/>
                <a:ea typeface="黑体" pitchFamily="49" charset="-122"/>
              </a:rPr>
              <a:t>	等值与非等值连接查询</a:t>
            </a:r>
          </a:p>
          <a:p>
            <a:pPr lvl="1" eaLnBrk="1" hangingPunct="1">
              <a:lnSpc>
                <a:spcPct val="130000"/>
              </a:lnSpc>
            </a:pPr>
            <a:r>
              <a:rPr lang="zh-CN" altLang="en-US" smtClean="0">
                <a:latin typeface="黑体" pitchFamily="49" charset="-122"/>
                <a:ea typeface="黑体" pitchFamily="49" charset="-122"/>
              </a:rPr>
              <a:t> 自身连接查询</a:t>
            </a:r>
          </a:p>
          <a:p>
            <a:pPr lvl="1" eaLnBrk="1" hangingPunct="1">
              <a:lnSpc>
                <a:spcPct val="130000"/>
              </a:lnSpc>
            </a:pPr>
            <a:r>
              <a:rPr lang="zh-CN" altLang="en-US" smtClean="0">
                <a:latin typeface="黑体" pitchFamily="49" charset="-122"/>
                <a:ea typeface="黑体" pitchFamily="49" charset="-122"/>
              </a:rPr>
              <a:t> 外连接查询</a:t>
            </a:r>
          </a:p>
          <a:p>
            <a:pPr lvl="1" eaLnBrk="1" hangingPunct="1">
              <a:lnSpc>
                <a:spcPct val="130000"/>
              </a:lnSpc>
            </a:pPr>
            <a:r>
              <a:rPr lang="zh-CN" altLang="en-US" smtClean="0">
                <a:latin typeface="黑体" pitchFamily="49" charset="-122"/>
                <a:ea typeface="黑体" pitchFamily="49" charset="-122"/>
              </a:rPr>
              <a:t> 复合条件连接查询</a:t>
            </a:r>
          </a:p>
        </p:txBody>
      </p:sp>
      <p:sp>
        <p:nvSpPr>
          <p:cNvPr id="58371" name="Rectangle 2"/>
          <p:cNvSpPr>
            <a:spLocks noChangeArrowheads="1"/>
          </p:cNvSpPr>
          <p:nvPr>
            <p:ph type="title"/>
          </p:nvPr>
        </p:nvSpPr>
        <p:spPr>
          <a:xfrm>
            <a:off x="468313" y="58738"/>
            <a:ext cx="7793037" cy="993775"/>
          </a:xfrm>
        </p:spPr>
        <p:txBody>
          <a:bodyPr/>
          <a:lstStyle/>
          <a:p>
            <a:pPr eaLnBrk="1" hangingPunct="1"/>
            <a:r>
              <a:rPr lang="en-US" altLang="zh-CN" smtClean="0">
                <a:latin typeface="黑体" pitchFamily="49" charset="-122"/>
              </a:rPr>
              <a:t>3.4.3  </a:t>
            </a:r>
            <a:r>
              <a:rPr lang="zh-CN" altLang="en-US" smtClean="0">
                <a:latin typeface="黑体" pitchFamily="49" charset="-122"/>
              </a:rPr>
              <a:t>连接查询 </a:t>
            </a: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r>
              <a:rPr lang="en-US" altLang="zh-CN" smtClean="0">
                <a:latin typeface="黑体" pitchFamily="49" charset="-122"/>
              </a:rPr>
              <a:t>3.4.3  </a:t>
            </a:r>
            <a:r>
              <a:rPr lang="zh-CN" altLang="en-US" smtClean="0">
                <a:latin typeface="黑体" pitchFamily="49" charset="-122"/>
              </a:rPr>
              <a:t>连接查询 </a:t>
            </a:r>
            <a:endParaRPr lang="zh-CN" altLang="en-US" smtClean="0"/>
          </a:p>
        </p:txBody>
      </p:sp>
      <p:sp>
        <p:nvSpPr>
          <p:cNvPr id="59395" name="Rectangle 2"/>
          <p:cNvSpPr txBox="1">
            <a:spLocks noChangeArrowheads="1"/>
          </p:cNvSpPr>
          <p:nvPr/>
        </p:nvSpPr>
        <p:spPr bwMode="auto">
          <a:xfrm>
            <a:off x="323850" y="1196975"/>
            <a:ext cx="7793038"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eaLnBrk="1" hangingPunct="1"/>
            <a:r>
              <a:rPr lang="zh-CN" altLang="en-US" sz="2800" b="0">
                <a:latin typeface="黑体" pitchFamily="49" charset="-122"/>
                <a:ea typeface="黑体" pitchFamily="49" charset="-122"/>
              </a:rPr>
              <a:t>一、等值与非等值连接查询</a:t>
            </a:r>
            <a:r>
              <a:rPr lang="zh-CN" altLang="en-US" sz="2800" b="0">
                <a:solidFill>
                  <a:schemeClr val="bg1"/>
                </a:solidFill>
                <a:latin typeface="黑体" pitchFamily="49" charset="-122"/>
                <a:ea typeface="黑体" pitchFamily="49" charset="-122"/>
              </a:rPr>
              <a:t> </a:t>
            </a:r>
          </a:p>
        </p:txBody>
      </p:sp>
      <p:sp>
        <p:nvSpPr>
          <p:cNvPr id="6" name="Rectangle 3"/>
          <p:cNvSpPr txBox="1">
            <a:spLocks noChangeArrowheads="1"/>
          </p:cNvSpPr>
          <p:nvPr/>
        </p:nvSpPr>
        <p:spPr bwMode="auto">
          <a:xfrm>
            <a:off x="539750" y="1984375"/>
            <a:ext cx="7772400"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lnSpc>
                <a:spcPct val="150000"/>
              </a:lnSpc>
              <a:spcBef>
                <a:spcPct val="50000"/>
              </a:spcBef>
              <a:defRPr/>
            </a:pPr>
            <a:r>
              <a:rPr lang="zh-CN" altLang="en-US" sz="2400" b="0" dirty="0" smtClean="0">
                <a:ea typeface="黑体" pitchFamily="49" charset="-122"/>
              </a:rPr>
              <a:t>当连接运算符为</a:t>
            </a:r>
            <a:r>
              <a:rPr lang="en-US" altLang="zh-CN" sz="2400" b="0" dirty="0" smtClean="0">
                <a:ea typeface="黑体" pitchFamily="49" charset="-122"/>
              </a:rPr>
              <a:t>=</a:t>
            </a:r>
            <a:r>
              <a:rPr lang="zh-CN" altLang="en-US" sz="2400" b="0" dirty="0" smtClean="0">
                <a:ea typeface="黑体" pitchFamily="49" charset="-122"/>
              </a:rPr>
              <a:t>时，称为</a:t>
            </a:r>
            <a:r>
              <a:rPr lang="zh-CN" altLang="en-US" sz="2400" b="0" dirty="0" smtClean="0">
                <a:solidFill>
                  <a:srgbClr val="FF0000"/>
                </a:solidFill>
                <a:ea typeface="黑体" pitchFamily="49" charset="-122"/>
              </a:rPr>
              <a:t>等值连接</a:t>
            </a:r>
            <a:r>
              <a:rPr lang="zh-CN" altLang="en-US" sz="2400" b="0" dirty="0" smtClean="0">
                <a:ea typeface="黑体" pitchFamily="49" charset="-122"/>
              </a:rPr>
              <a:t>。使用其它运算符称为</a:t>
            </a:r>
            <a:r>
              <a:rPr lang="zh-CN" altLang="en-US" sz="2400" b="0" dirty="0" smtClean="0">
                <a:solidFill>
                  <a:srgbClr val="FF0000"/>
                </a:solidFill>
                <a:ea typeface="黑体" pitchFamily="49" charset="-122"/>
              </a:rPr>
              <a:t>非等值连接</a:t>
            </a:r>
            <a:r>
              <a:rPr lang="zh-CN" altLang="en-US" sz="2400" b="0" dirty="0" smtClean="0">
                <a:ea typeface="黑体" pitchFamily="49" charset="-122"/>
              </a:rPr>
              <a:t>。</a:t>
            </a:r>
            <a:endParaRPr lang="en-US" altLang="zh-CN" sz="2400" b="0" dirty="0" smtClean="0">
              <a:ea typeface="黑体" pitchFamily="49" charset="-122"/>
            </a:endParaRPr>
          </a:p>
          <a:p>
            <a:pPr marL="0" indent="0" eaLnBrk="1" hangingPunct="1">
              <a:lnSpc>
                <a:spcPct val="150000"/>
              </a:lnSpc>
              <a:spcBef>
                <a:spcPct val="50000"/>
              </a:spcBef>
              <a:buFontTx/>
              <a:buNone/>
              <a:defRPr/>
            </a:pPr>
            <a:r>
              <a:rPr lang="en-US" altLang="zh-CN" sz="2400" b="0" dirty="0" smtClean="0">
                <a:latin typeface="黑体" pitchFamily="49" charset="-122"/>
                <a:ea typeface="黑体" pitchFamily="49" charset="-122"/>
              </a:rPr>
              <a:t>[</a:t>
            </a:r>
            <a:r>
              <a:rPr lang="zh-CN" altLang="en-US" sz="2400" b="0" dirty="0" smtClean="0">
                <a:latin typeface="黑体" pitchFamily="49" charset="-122"/>
                <a:ea typeface="黑体" pitchFamily="49" charset="-122"/>
              </a:rPr>
              <a:t>例</a:t>
            </a:r>
            <a:r>
              <a:rPr lang="en-US" altLang="zh-CN" sz="2400" b="0" dirty="0" smtClean="0">
                <a:latin typeface="黑体" pitchFamily="49" charset="-122"/>
                <a:ea typeface="黑体" pitchFamily="49" charset="-122"/>
              </a:rPr>
              <a:t>32]</a:t>
            </a:r>
            <a:r>
              <a:rPr lang="zh-CN" altLang="en-US" sz="2400" b="0" dirty="0" smtClean="0">
                <a:latin typeface="黑体" pitchFamily="49" charset="-122"/>
                <a:ea typeface="黑体" pitchFamily="49" charset="-122"/>
              </a:rPr>
              <a:t>：查询每个学生及其选修课程的情况。</a:t>
            </a:r>
            <a:endParaRPr lang="en-US" altLang="zh-CN" sz="2400" b="0" dirty="0" smtClean="0">
              <a:ea typeface="黑体"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ph type="title"/>
          </p:nvPr>
        </p:nvSpPr>
        <p:spPr>
          <a:xfrm>
            <a:off x="323850" y="1196975"/>
            <a:ext cx="7793038" cy="576263"/>
          </a:xfrm>
        </p:spPr>
        <p:txBody>
          <a:bodyPr/>
          <a:lstStyle/>
          <a:p>
            <a:pPr eaLnBrk="1" hangingPunct="1"/>
            <a:r>
              <a:rPr lang="zh-CN" altLang="en-US" sz="2800" smtClean="0">
                <a:solidFill>
                  <a:schemeClr val="tx1"/>
                </a:solidFill>
                <a:latin typeface="黑体" pitchFamily="49" charset="-122"/>
              </a:rPr>
              <a:t>二、自身连接</a:t>
            </a:r>
            <a:r>
              <a:rPr lang="zh-CN" altLang="en-US" sz="2800" smtClean="0">
                <a:latin typeface="黑体" pitchFamily="49" charset="-122"/>
              </a:rPr>
              <a:t> </a:t>
            </a:r>
          </a:p>
        </p:txBody>
      </p:sp>
      <p:sp>
        <p:nvSpPr>
          <p:cNvPr id="60419" name="Rectangle 3"/>
          <p:cNvSpPr>
            <a:spLocks noChangeArrowheads="1"/>
          </p:cNvSpPr>
          <p:nvPr>
            <p:ph type="body" idx="1"/>
          </p:nvPr>
        </p:nvSpPr>
        <p:spPr>
          <a:xfrm>
            <a:off x="611188" y="1989138"/>
            <a:ext cx="7772400" cy="4105275"/>
          </a:xfrm>
        </p:spPr>
        <p:txBody>
          <a:bodyPr/>
          <a:lstStyle/>
          <a:p>
            <a:pPr eaLnBrk="1" hangingPunct="1">
              <a:lnSpc>
                <a:spcPct val="150000"/>
              </a:lnSpc>
              <a:spcBef>
                <a:spcPct val="50000"/>
              </a:spcBef>
            </a:pPr>
            <a:r>
              <a:rPr lang="zh-CN" altLang="en-US" sz="2400" smtClean="0">
                <a:ea typeface="黑体" pitchFamily="49" charset="-122"/>
              </a:rPr>
              <a:t>一个表与其自己进行连接，称为表的自身连接</a:t>
            </a:r>
          </a:p>
          <a:p>
            <a:pPr eaLnBrk="1" hangingPunct="1">
              <a:lnSpc>
                <a:spcPct val="150000"/>
              </a:lnSpc>
              <a:spcBef>
                <a:spcPct val="50000"/>
              </a:spcBef>
            </a:pPr>
            <a:r>
              <a:rPr lang="zh-CN" altLang="en-US" sz="2400" smtClean="0">
                <a:ea typeface="黑体" pitchFamily="49" charset="-122"/>
              </a:rPr>
              <a:t>需要给表起别名以示区别</a:t>
            </a:r>
          </a:p>
          <a:p>
            <a:pPr eaLnBrk="1" hangingPunct="1">
              <a:lnSpc>
                <a:spcPct val="150000"/>
              </a:lnSpc>
              <a:spcBef>
                <a:spcPct val="50000"/>
              </a:spcBef>
            </a:pPr>
            <a:r>
              <a:rPr lang="zh-CN" altLang="en-US" sz="2400" smtClean="0">
                <a:ea typeface="黑体" pitchFamily="49" charset="-122"/>
              </a:rPr>
              <a:t>由于所有属性名都是同名属性，因此必须使用表别名前缀</a:t>
            </a:r>
          </a:p>
        </p:txBody>
      </p:sp>
      <p:sp>
        <p:nvSpPr>
          <p:cNvPr id="4" name="Rectangle 2"/>
          <p:cNvSpPr txBox="1">
            <a:spLocks noChangeArrowheads="1"/>
          </p:cNvSpPr>
          <p:nvPr/>
        </p:nvSpPr>
        <p:spPr bwMode="auto">
          <a:xfrm>
            <a:off x="468313" y="58738"/>
            <a:ext cx="7793037"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3.4.3  </a:t>
            </a:r>
            <a:r>
              <a:rPr lang="zh-CN" altLang="en-US" b="0" kern="0" dirty="0" smtClean="0">
                <a:latin typeface="黑体" pitchFamily="49" charset="-122"/>
              </a:rPr>
              <a:t>连接查询 </a:t>
            </a: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ChangeArrowheads="1"/>
          </p:cNvSpPr>
          <p:nvPr>
            <p:ph type="body" sz="half" idx="1"/>
          </p:nvPr>
        </p:nvSpPr>
        <p:spPr>
          <a:xfrm>
            <a:off x="755650" y="1989138"/>
            <a:ext cx="7777163" cy="4608512"/>
          </a:xfrm>
        </p:spPr>
        <p:txBody>
          <a:bodyPr/>
          <a:lstStyle/>
          <a:p>
            <a:pPr eaLnBrk="1" hangingPunct="1">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33]</a:t>
            </a:r>
            <a:r>
              <a:rPr lang="zh-CN" altLang="en-US" sz="2400" smtClean="0">
                <a:latin typeface="黑体" pitchFamily="49" charset="-122"/>
                <a:ea typeface="黑体" pitchFamily="49" charset="-122"/>
              </a:rPr>
              <a:t>：查询选修了</a:t>
            </a:r>
            <a:r>
              <a:rPr lang="en-US" altLang="zh-CN" sz="2400" smtClean="0">
                <a:latin typeface="黑体" pitchFamily="49" charset="-122"/>
                <a:ea typeface="黑体" pitchFamily="49" charset="-122"/>
              </a:rPr>
              <a:t>001</a:t>
            </a:r>
            <a:r>
              <a:rPr lang="zh-CN" altLang="en-US" sz="2400" smtClean="0">
                <a:latin typeface="黑体" pitchFamily="49" charset="-122"/>
                <a:ea typeface="黑体" pitchFamily="49" charset="-122"/>
              </a:rPr>
              <a:t>号课程和</a:t>
            </a:r>
            <a:r>
              <a:rPr lang="en-US" altLang="zh-CN" sz="2400" smtClean="0">
                <a:latin typeface="黑体" pitchFamily="49" charset="-122"/>
                <a:ea typeface="黑体" pitchFamily="49" charset="-122"/>
              </a:rPr>
              <a:t>003</a:t>
            </a:r>
            <a:r>
              <a:rPr lang="zh-CN" altLang="en-US" sz="2400" smtClean="0">
                <a:latin typeface="黑体" pitchFamily="49" charset="-122"/>
                <a:ea typeface="黑体" pitchFamily="49" charset="-122"/>
              </a:rPr>
              <a:t>号课程的学生学号</a:t>
            </a:r>
          </a:p>
          <a:p>
            <a:pPr eaLnBrk="1" hangingPunct="1">
              <a:buFont typeface="Wingdings" pitchFamily="2" charset="2"/>
              <a:buNone/>
            </a:pPr>
            <a:endParaRPr lang="zh-CN" altLang="en-US" sz="2400" smtClean="0">
              <a:latin typeface="黑体" pitchFamily="49" charset="-122"/>
              <a:ea typeface="黑体" pitchFamily="49" charset="-122"/>
            </a:endParaRPr>
          </a:p>
          <a:p>
            <a:pPr eaLnBrk="1" hangingPunct="1">
              <a:buFont typeface="Wingdings" pitchFamily="2" charset="2"/>
              <a:buNone/>
            </a:pPr>
            <a:r>
              <a:rPr lang="zh-CN" altLang="en-US" sz="2400" smtClean="0"/>
              <a:t>     </a:t>
            </a:r>
            <a:r>
              <a:rPr lang="en-US" altLang="zh-CN" sz="2400" smtClean="0"/>
              <a:t>SELECT a.sno</a:t>
            </a:r>
          </a:p>
          <a:p>
            <a:pPr eaLnBrk="1" hangingPunct="1">
              <a:buFont typeface="Wingdings" pitchFamily="2" charset="2"/>
              <a:buNone/>
            </a:pPr>
            <a:r>
              <a:rPr lang="en-US" altLang="zh-CN" sz="2400" smtClean="0"/>
              <a:t>     FROM sc  a,sc  b</a:t>
            </a:r>
          </a:p>
          <a:p>
            <a:pPr eaLnBrk="1" hangingPunct="1">
              <a:buFont typeface="Wingdings" pitchFamily="2" charset="2"/>
              <a:buNone/>
            </a:pPr>
            <a:r>
              <a:rPr lang="en-US" altLang="zh-CN" sz="2400" smtClean="0"/>
              <a:t>     WHERE a.sno=b.sno AND </a:t>
            </a:r>
          </a:p>
          <a:p>
            <a:pPr eaLnBrk="1" hangingPunct="1">
              <a:buFont typeface="Wingdings" pitchFamily="2" charset="2"/>
              <a:buNone/>
            </a:pPr>
            <a:r>
              <a:rPr lang="en-US" altLang="zh-CN" sz="2400" smtClean="0"/>
              <a:t>                 a.cno='001' AND </a:t>
            </a:r>
          </a:p>
          <a:p>
            <a:pPr eaLnBrk="1" hangingPunct="1">
              <a:buFont typeface="Wingdings" pitchFamily="2" charset="2"/>
              <a:buNone/>
            </a:pPr>
            <a:r>
              <a:rPr lang="en-US" altLang="zh-CN" sz="2400" smtClean="0"/>
              <a:t>                 b.cno='003'</a:t>
            </a:r>
          </a:p>
        </p:txBody>
      </p:sp>
      <p:sp>
        <p:nvSpPr>
          <p:cNvPr id="61443" name="Rectangle 2"/>
          <p:cNvSpPr>
            <a:spLocks noChangeArrowheads="1"/>
          </p:cNvSpPr>
          <p:nvPr>
            <p:ph type="title"/>
          </p:nvPr>
        </p:nvSpPr>
        <p:spPr>
          <a:xfrm>
            <a:off x="323850" y="1196975"/>
            <a:ext cx="7793038" cy="576263"/>
          </a:xfrm>
        </p:spPr>
        <p:txBody>
          <a:bodyPr/>
          <a:lstStyle/>
          <a:p>
            <a:pPr eaLnBrk="1" hangingPunct="1"/>
            <a:r>
              <a:rPr lang="zh-CN" altLang="en-US" sz="2800" smtClean="0">
                <a:solidFill>
                  <a:schemeClr val="tx1"/>
                </a:solidFill>
                <a:latin typeface="黑体" pitchFamily="49" charset="-122"/>
              </a:rPr>
              <a:t>二、自身连接</a:t>
            </a:r>
            <a:r>
              <a:rPr lang="zh-CN" altLang="en-US" sz="2800" smtClean="0">
                <a:latin typeface="黑体" pitchFamily="49" charset="-122"/>
              </a:rPr>
              <a:t> </a:t>
            </a:r>
          </a:p>
        </p:txBody>
      </p:sp>
      <p:sp>
        <p:nvSpPr>
          <p:cNvPr id="6" name="Rectangle 2"/>
          <p:cNvSpPr txBox="1">
            <a:spLocks noChangeArrowheads="1"/>
          </p:cNvSpPr>
          <p:nvPr/>
        </p:nvSpPr>
        <p:spPr bwMode="auto">
          <a:xfrm>
            <a:off x="468313" y="58738"/>
            <a:ext cx="7793037"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3.4.3  </a:t>
            </a:r>
            <a:r>
              <a:rPr lang="zh-CN" altLang="en-US" b="0" kern="0" dirty="0" smtClean="0">
                <a:latin typeface="黑体" pitchFamily="49" charset="-122"/>
              </a:rPr>
              <a:t>连接查询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additive="base">
                                        <p:cTn id="7" dur="500" fill="hold"/>
                                        <p:tgtEl>
                                          <p:spTgt spid="15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5363">
                                            <p:txEl>
                                              <p:pRg st="2" end="2"/>
                                            </p:txEl>
                                          </p:spTgt>
                                        </p:tgtEl>
                                        <p:attrNameLst>
                                          <p:attrName>style.visibility</p:attrName>
                                        </p:attrNameLst>
                                      </p:cBhvr>
                                      <p:to>
                                        <p:strVal val="visible"/>
                                      </p:to>
                                    </p:set>
                                    <p:anim calcmode="lin" valueType="num">
                                      <p:cBhvr additive="base">
                                        <p:cTn id="13" dur="500" fill="hold"/>
                                        <p:tgtEl>
                                          <p:spTgt spid="1536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5363">
                                            <p:txEl>
                                              <p:pRg st="3" end="3"/>
                                            </p:txEl>
                                          </p:spTgt>
                                        </p:tgtEl>
                                        <p:attrNameLst>
                                          <p:attrName>style.visibility</p:attrName>
                                        </p:attrNameLst>
                                      </p:cBhvr>
                                      <p:to>
                                        <p:strVal val="visible"/>
                                      </p:to>
                                    </p:set>
                                    <p:anim calcmode="lin" valueType="num">
                                      <p:cBhvr additive="base">
                                        <p:cTn id="17" dur="500" fill="hold"/>
                                        <p:tgtEl>
                                          <p:spTgt spid="1536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536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5363">
                                            <p:txEl>
                                              <p:pRg st="4" end="4"/>
                                            </p:txEl>
                                          </p:spTgt>
                                        </p:tgtEl>
                                        <p:attrNameLst>
                                          <p:attrName>style.visibility</p:attrName>
                                        </p:attrNameLst>
                                      </p:cBhvr>
                                      <p:to>
                                        <p:strVal val="visible"/>
                                      </p:to>
                                    </p:set>
                                    <p:anim calcmode="lin" valueType="num">
                                      <p:cBhvr additive="base">
                                        <p:cTn id="21" dur="500" fill="hold"/>
                                        <p:tgtEl>
                                          <p:spTgt spid="1536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536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5363">
                                            <p:txEl>
                                              <p:pRg st="5" end="5"/>
                                            </p:txEl>
                                          </p:spTgt>
                                        </p:tgtEl>
                                        <p:attrNameLst>
                                          <p:attrName>style.visibility</p:attrName>
                                        </p:attrNameLst>
                                      </p:cBhvr>
                                      <p:to>
                                        <p:strVal val="visible"/>
                                      </p:to>
                                    </p:set>
                                    <p:anim calcmode="lin" valueType="num">
                                      <p:cBhvr additive="base">
                                        <p:cTn id="25" dur="500" fill="hold"/>
                                        <p:tgtEl>
                                          <p:spTgt spid="1536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36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5363">
                                            <p:txEl>
                                              <p:pRg st="6" end="6"/>
                                            </p:txEl>
                                          </p:spTgt>
                                        </p:tgtEl>
                                        <p:attrNameLst>
                                          <p:attrName>style.visibility</p:attrName>
                                        </p:attrNameLst>
                                      </p:cBhvr>
                                      <p:to>
                                        <p:strVal val="visible"/>
                                      </p:to>
                                    </p:set>
                                    <p:anim calcmode="lin" valueType="num">
                                      <p:cBhvr additive="base">
                                        <p:cTn id="29" dur="500" fill="hold"/>
                                        <p:tgtEl>
                                          <p:spTgt spid="1536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536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ph type="title"/>
          </p:nvPr>
        </p:nvSpPr>
        <p:spPr>
          <a:xfrm>
            <a:off x="1136650" y="0"/>
            <a:ext cx="7793038" cy="1143000"/>
          </a:xfrm>
        </p:spPr>
        <p:txBody>
          <a:bodyPr/>
          <a:lstStyle/>
          <a:p>
            <a:pPr eaLnBrk="1" hangingPunct="1"/>
            <a:r>
              <a:rPr lang="zh-CN" altLang="en-US" smtClean="0">
                <a:latin typeface="黑体" pitchFamily="49" charset="-122"/>
              </a:rPr>
              <a:t>二、自身连接</a:t>
            </a:r>
          </a:p>
        </p:txBody>
      </p:sp>
      <p:sp>
        <p:nvSpPr>
          <p:cNvPr id="16387" name="Rectangle 3"/>
          <p:cNvSpPr>
            <a:spLocks noChangeArrowheads="1"/>
          </p:cNvSpPr>
          <p:nvPr>
            <p:ph type="body" idx="1"/>
          </p:nvPr>
        </p:nvSpPr>
        <p:spPr>
          <a:xfrm>
            <a:off x="611188" y="1484313"/>
            <a:ext cx="8208962" cy="4824412"/>
          </a:xfrm>
        </p:spPr>
        <p:txBody>
          <a:bodyPr/>
          <a:lstStyle/>
          <a:p>
            <a:pPr algn="just" eaLnBrk="1" hangingPunct="1">
              <a:lnSpc>
                <a:spcPct val="120000"/>
              </a:lnSpc>
              <a:buFont typeface="Wingdings" pitchFamily="2" charset="2"/>
              <a:buNone/>
            </a:pPr>
            <a:r>
              <a:rPr lang="en-US" altLang="zh-CN" sz="2800" smtClean="0">
                <a:latin typeface="黑体" pitchFamily="49" charset="-122"/>
                <a:ea typeface="黑体" pitchFamily="49" charset="-122"/>
              </a:rPr>
              <a:t>[</a:t>
            </a:r>
            <a:r>
              <a:rPr lang="zh-CN" altLang="en-US" sz="2800" smtClean="0">
                <a:latin typeface="黑体" pitchFamily="49" charset="-122"/>
                <a:ea typeface="黑体" pitchFamily="49" charset="-122"/>
              </a:rPr>
              <a:t>例</a:t>
            </a:r>
            <a:r>
              <a:rPr lang="en-US" altLang="zh-CN" sz="2800" smtClean="0">
                <a:latin typeface="黑体" pitchFamily="49" charset="-122"/>
                <a:ea typeface="黑体" pitchFamily="49" charset="-122"/>
              </a:rPr>
              <a:t>34]  </a:t>
            </a:r>
            <a:r>
              <a:rPr lang="zh-CN" altLang="en-US" sz="2800" smtClean="0">
                <a:latin typeface="黑体" pitchFamily="49" charset="-122"/>
                <a:ea typeface="黑体" pitchFamily="49" charset="-122"/>
              </a:rPr>
              <a:t>查询每一门课的间接先修课（即先修课的先修课）</a:t>
            </a:r>
          </a:p>
          <a:p>
            <a:pPr eaLnBrk="1" hangingPunct="1">
              <a:lnSpc>
                <a:spcPct val="140000"/>
              </a:lnSpc>
              <a:buFont typeface="Wingdings" pitchFamily="2" charset="2"/>
              <a:buNone/>
            </a:pPr>
            <a:r>
              <a:rPr lang="zh-CN" altLang="en-US" sz="2200" b="1" smtClean="0"/>
              <a:t>     </a:t>
            </a:r>
            <a:r>
              <a:rPr lang="en-US" altLang="zh-CN" sz="2200" b="1" smtClean="0"/>
              <a:t>SELECT  FIRST.Cno</a:t>
            </a:r>
            <a:r>
              <a:rPr lang="zh-CN" altLang="en-US" sz="2200" b="1" smtClean="0"/>
              <a:t>，</a:t>
            </a:r>
            <a:r>
              <a:rPr lang="en-US" altLang="zh-CN" sz="2200" b="1" smtClean="0"/>
              <a:t>SECOND.Cpno</a:t>
            </a:r>
          </a:p>
          <a:p>
            <a:pPr eaLnBrk="1" hangingPunct="1">
              <a:lnSpc>
                <a:spcPct val="140000"/>
              </a:lnSpc>
              <a:buFont typeface="Wingdings" pitchFamily="2" charset="2"/>
              <a:buNone/>
            </a:pPr>
            <a:r>
              <a:rPr lang="en-US" altLang="zh-CN" sz="2200" b="1" smtClean="0"/>
              <a:t>     FROM  C  </a:t>
            </a:r>
            <a:r>
              <a:rPr lang="en-US" altLang="zh-CN" sz="2200" b="1" smtClean="0">
                <a:solidFill>
                  <a:srgbClr val="FF0000"/>
                </a:solidFill>
              </a:rPr>
              <a:t>FIRST</a:t>
            </a:r>
            <a:r>
              <a:rPr lang="zh-CN" altLang="en-US" sz="2200" b="1" smtClean="0"/>
              <a:t>，</a:t>
            </a:r>
            <a:r>
              <a:rPr lang="en-US" altLang="zh-CN" sz="2200" b="1" smtClean="0"/>
              <a:t>C  </a:t>
            </a:r>
            <a:r>
              <a:rPr lang="en-US" altLang="zh-CN" sz="2200" b="1" smtClean="0">
                <a:solidFill>
                  <a:srgbClr val="FF0000"/>
                </a:solidFill>
              </a:rPr>
              <a:t>SECOND</a:t>
            </a:r>
          </a:p>
          <a:p>
            <a:pPr eaLnBrk="1" hangingPunct="1">
              <a:lnSpc>
                <a:spcPct val="140000"/>
              </a:lnSpc>
              <a:buFont typeface="Wingdings" pitchFamily="2" charset="2"/>
              <a:buNone/>
            </a:pPr>
            <a:r>
              <a:rPr lang="en-US" altLang="zh-CN" sz="2200" b="1" smtClean="0"/>
              <a:t>     WHERE FIRST.Cpno = SECOND.Cno</a:t>
            </a:r>
          </a:p>
          <a:p>
            <a:pPr eaLnBrk="1" hangingPunct="1">
              <a:lnSpc>
                <a:spcPct val="140000"/>
              </a:lnSpc>
              <a:buFont typeface="Wingdings" pitchFamily="2" charset="2"/>
              <a:buNone/>
            </a:pPr>
            <a:r>
              <a:rPr lang="en-US" altLang="zh-CN" sz="2200" b="1" smtClean="0">
                <a:latin typeface="黑体" pitchFamily="49" charset="-122"/>
                <a:ea typeface="黑体" pitchFamily="49" charset="-122"/>
              </a:rPr>
              <a:t>	        </a:t>
            </a:r>
            <a:r>
              <a:rPr lang="en-US" altLang="zh-CN" sz="2200" b="1" smtClean="0"/>
              <a:t>AND SECOND.Cpno IS NOT NULL</a:t>
            </a:r>
          </a:p>
          <a:p>
            <a:pPr eaLnBrk="1" hangingPunct="1">
              <a:lnSpc>
                <a:spcPct val="140000"/>
              </a:lnSpc>
              <a:buFont typeface="Wingdings" pitchFamily="2" charset="2"/>
              <a:buNone/>
            </a:pPr>
            <a:r>
              <a:rPr lang="en-US" altLang="zh-CN" smtClean="0">
                <a:latin typeface="黑体" pitchFamily="49" charset="-122"/>
                <a:ea typeface="黑体" pitchFamily="49"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6387">
                                            <p:txEl>
                                              <p:pRg st="1" end="1"/>
                                            </p:txEl>
                                          </p:spTgt>
                                        </p:tgtEl>
                                        <p:attrNameLst>
                                          <p:attrName>style.visibility</p:attrName>
                                        </p:attrNameLst>
                                      </p:cBhvr>
                                      <p:to>
                                        <p:strVal val="visible"/>
                                      </p:to>
                                    </p:set>
                                    <p:anim calcmode="lin" valueType="num">
                                      <p:cBhvr additive="base">
                                        <p:cTn id="13" dur="5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6387">
                                            <p:txEl>
                                              <p:pRg st="2" end="2"/>
                                            </p:txEl>
                                          </p:spTgt>
                                        </p:tgtEl>
                                        <p:attrNameLst>
                                          <p:attrName>style.visibility</p:attrName>
                                        </p:attrNameLst>
                                      </p:cBhvr>
                                      <p:to>
                                        <p:strVal val="visible"/>
                                      </p:to>
                                    </p:set>
                                    <p:anim calcmode="lin" valueType="num">
                                      <p:cBhvr additive="base">
                                        <p:cTn id="17" dur="5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38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6387">
                                            <p:txEl>
                                              <p:pRg st="3" end="3"/>
                                            </p:txEl>
                                          </p:spTgt>
                                        </p:tgtEl>
                                        <p:attrNameLst>
                                          <p:attrName>style.visibility</p:attrName>
                                        </p:attrNameLst>
                                      </p:cBhvr>
                                      <p:to>
                                        <p:strVal val="visible"/>
                                      </p:to>
                                    </p:set>
                                    <p:anim calcmode="lin" valueType="num">
                                      <p:cBhvr additive="base">
                                        <p:cTn id="21" dur="5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387">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6387">
                                            <p:txEl>
                                              <p:pRg st="4" end="4"/>
                                            </p:txEl>
                                          </p:spTgt>
                                        </p:tgtEl>
                                        <p:attrNameLst>
                                          <p:attrName>style.visibility</p:attrName>
                                        </p:attrNameLst>
                                      </p:cBhvr>
                                      <p:to>
                                        <p:strVal val="visible"/>
                                      </p:to>
                                    </p:set>
                                    <p:anim calcmode="lin" valueType="num">
                                      <p:cBhvr additive="base">
                                        <p:cTn id="25" dur="5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38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ChangeArrowheads="1"/>
          </p:cNvSpPr>
          <p:nvPr>
            <p:ph type="title"/>
          </p:nvPr>
        </p:nvSpPr>
        <p:spPr>
          <a:xfrm>
            <a:off x="468313" y="1077913"/>
            <a:ext cx="7793037" cy="792162"/>
          </a:xfrm>
        </p:spPr>
        <p:txBody>
          <a:bodyPr/>
          <a:lstStyle/>
          <a:p>
            <a:pPr eaLnBrk="1" hangingPunct="1"/>
            <a:r>
              <a:rPr lang="zh-CN" altLang="en-US" sz="2800" smtClean="0">
                <a:solidFill>
                  <a:schemeClr val="tx1"/>
                </a:solidFill>
                <a:latin typeface="黑体" pitchFamily="49" charset="-122"/>
              </a:rPr>
              <a:t>三、外连接（</a:t>
            </a:r>
            <a:r>
              <a:rPr lang="en-US" altLang="zh-CN" sz="2800" smtClean="0">
                <a:solidFill>
                  <a:schemeClr val="tx1"/>
                </a:solidFill>
                <a:latin typeface="黑体" pitchFamily="49" charset="-122"/>
              </a:rPr>
              <a:t>Outer Join</a:t>
            </a:r>
            <a:r>
              <a:rPr lang="zh-CN" altLang="en-US" sz="2800" smtClean="0">
                <a:solidFill>
                  <a:schemeClr val="tx1"/>
                </a:solidFill>
                <a:latin typeface="黑体" pitchFamily="49" charset="-122"/>
              </a:rPr>
              <a:t>）</a:t>
            </a:r>
            <a:r>
              <a:rPr lang="zh-CN" altLang="en-US" sz="2800" smtClean="0">
                <a:latin typeface="黑体" pitchFamily="49" charset="-122"/>
              </a:rPr>
              <a:t> </a:t>
            </a:r>
          </a:p>
        </p:txBody>
      </p:sp>
      <p:sp>
        <p:nvSpPr>
          <p:cNvPr id="63491" name="Rectangle 3"/>
          <p:cNvSpPr>
            <a:spLocks noChangeArrowheads="1"/>
          </p:cNvSpPr>
          <p:nvPr>
            <p:ph type="body" idx="1"/>
          </p:nvPr>
        </p:nvSpPr>
        <p:spPr>
          <a:xfrm>
            <a:off x="392113" y="1773238"/>
            <a:ext cx="8356600" cy="4176712"/>
          </a:xfrm>
        </p:spPr>
        <p:txBody>
          <a:bodyPr/>
          <a:lstStyle/>
          <a:p>
            <a:pPr algn="just" eaLnBrk="1" hangingPunct="1">
              <a:lnSpc>
                <a:spcPts val="3900"/>
              </a:lnSpc>
              <a:spcBef>
                <a:spcPct val="0"/>
              </a:spcBef>
            </a:pPr>
            <a:r>
              <a:rPr lang="zh-CN" altLang="en-US" sz="2400" smtClean="0">
                <a:ea typeface="黑体" pitchFamily="49" charset="-122"/>
              </a:rPr>
              <a:t>外连接的概念</a:t>
            </a:r>
          </a:p>
          <a:p>
            <a:pPr lvl="1" algn="just" eaLnBrk="1" hangingPunct="1">
              <a:lnSpc>
                <a:spcPts val="3900"/>
              </a:lnSpc>
              <a:spcBef>
                <a:spcPct val="0"/>
              </a:spcBef>
            </a:pPr>
            <a:r>
              <a:rPr lang="zh-CN" altLang="en-US" sz="2400" smtClean="0">
                <a:ea typeface="黑体" pitchFamily="49" charset="-122"/>
              </a:rPr>
              <a:t>如果把两个关系</a:t>
            </a:r>
            <a:r>
              <a:rPr lang="en-US" altLang="zh-CN" sz="2400" smtClean="0">
                <a:ea typeface="黑体" pitchFamily="49" charset="-122"/>
              </a:rPr>
              <a:t>R</a:t>
            </a:r>
            <a:r>
              <a:rPr lang="zh-CN" altLang="en-US" sz="2400" smtClean="0">
                <a:ea typeface="黑体" pitchFamily="49" charset="-122"/>
              </a:rPr>
              <a:t>、</a:t>
            </a:r>
            <a:r>
              <a:rPr lang="en-US" altLang="zh-CN" sz="2400" smtClean="0">
                <a:ea typeface="黑体" pitchFamily="49" charset="-122"/>
              </a:rPr>
              <a:t>S</a:t>
            </a:r>
            <a:r>
              <a:rPr lang="zh-CN" altLang="en-US" sz="2400" smtClean="0">
                <a:ea typeface="黑体" pitchFamily="49" charset="-122"/>
              </a:rPr>
              <a:t>在做自然连接时舍弃的</a:t>
            </a:r>
            <a:r>
              <a:rPr lang="zh-CN" altLang="en-US" sz="2400" smtClean="0">
                <a:solidFill>
                  <a:srgbClr val="FF0000"/>
                </a:solidFill>
                <a:ea typeface="黑体" pitchFamily="49" charset="-122"/>
              </a:rPr>
              <a:t>悬浮元组</a:t>
            </a:r>
            <a:r>
              <a:rPr lang="zh-CN" altLang="en-US" sz="2400" smtClean="0">
                <a:ea typeface="黑体" pitchFamily="49" charset="-122"/>
              </a:rPr>
              <a:t>保存在结果关系中，在其它属性上填空值，那么这种连接就叫做</a:t>
            </a:r>
            <a:r>
              <a:rPr lang="zh-CN" altLang="en-US" sz="2400" smtClean="0">
                <a:solidFill>
                  <a:srgbClr val="FF0000"/>
                </a:solidFill>
                <a:ea typeface="黑体" pitchFamily="49" charset="-122"/>
              </a:rPr>
              <a:t>全外连</a:t>
            </a:r>
            <a:r>
              <a:rPr lang="en-US" altLang="zh-CN" sz="2400" smtClean="0">
                <a:ea typeface="黑体" pitchFamily="49" charset="-122"/>
              </a:rPr>
              <a:t>(full outer join)</a:t>
            </a:r>
            <a:r>
              <a:rPr lang="zh-CN" altLang="en-US" sz="2400" smtClean="0">
                <a:ea typeface="黑体" pitchFamily="49" charset="-122"/>
              </a:rPr>
              <a:t>。</a:t>
            </a:r>
            <a:endParaRPr lang="en-US" altLang="zh-CN" sz="2400" smtClean="0">
              <a:ea typeface="黑体" pitchFamily="49" charset="-122"/>
            </a:endParaRPr>
          </a:p>
          <a:p>
            <a:pPr lvl="1" algn="just" eaLnBrk="1" hangingPunct="1">
              <a:lnSpc>
                <a:spcPts val="3900"/>
              </a:lnSpc>
              <a:spcBef>
                <a:spcPct val="0"/>
              </a:spcBef>
            </a:pPr>
            <a:r>
              <a:rPr lang="zh-CN" altLang="en-US" sz="2400" smtClean="0">
                <a:ea typeface="黑体" pitchFamily="49" charset="-122"/>
              </a:rPr>
              <a:t> 如果只把左边关系</a:t>
            </a:r>
            <a:r>
              <a:rPr lang="en-US" altLang="zh-CN" sz="2400" smtClean="0">
                <a:ea typeface="黑体" pitchFamily="49" charset="-122"/>
              </a:rPr>
              <a:t>R</a:t>
            </a:r>
            <a:r>
              <a:rPr lang="zh-CN" altLang="en-US" sz="2400" smtClean="0">
                <a:ea typeface="黑体" pitchFamily="49" charset="-122"/>
              </a:rPr>
              <a:t>中要舍弃的悬浮元组保留就叫做</a:t>
            </a:r>
            <a:r>
              <a:rPr lang="zh-CN" altLang="en-US" sz="2400" smtClean="0">
                <a:solidFill>
                  <a:srgbClr val="FF0000"/>
                </a:solidFill>
                <a:ea typeface="黑体" pitchFamily="49" charset="-122"/>
              </a:rPr>
              <a:t>左外连</a:t>
            </a:r>
            <a:r>
              <a:rPr lang="en-US" altLang="zh-CN" sz="2400" smtClean="0">
                <a:ea typeface="黑体" pitchFamily="49" charset="-122"/>
              </a:rPr>
              <a:t>(left outer join)</a:t>
            </a:r>
            <a:r>
              <a:rPr lang="zh-CN" altLang="en-US" sz="2400" smtClean="0">
                <a:ea typeface="黑体" pitchFamily="49" charset="-122"/>
              </a:rPr>
              <a:t>。</a:t>
            </a:r>
            <a:endParaRPr lang="en-US" altLang="zh-CN" sz="2400" smtClean="0">
              <a:ea typeface="黑体" pitchFamily="49" charset="-122"/>
            </a:endParaRPr>
          </a:p>
          <a:p>
            <a:pPr lvl="1" algn="just" eaLnBrk="1" hangingPunct="1">
              <a:lnSpc>
                <a:spcPts val="3900"/>
              </a:lnSpc>
              <a:spcBef>
                <a:spcPct val="0"/>
              </a:spcBef>
            </a:pPr>
            <a:r>
              <a:rPr lang="zh-CN" altLang="en-US" sz="2400" smtClean="0">
                <a:ea typeface="黑体" pitchFamily="49" charset="-122"/>
              </a:rPr>
              <a:t>如果只把右边关系</a:t>
            </a:r>
            <a:r>
              <a:rPr lang="en-US" altLang="zh-CN" sz="2400" smtClean="0">
                <a:ea typeface="黑体" pitchFamily="49" charset="-122"/>
              </a:rPr>
              <a:t>S</a:t>
            </a:r>
            <a:r>
              <a:rPr lang="zh-CN" altLang="en-US" sz="2400" smtClean="0">
                <a:ea typeface="黑体" pitchFamily="49" charset="-122"/>
              </a:rPr>
              <a:t>中要舍弃的悬浮元组保留就叫做</a:t>
            </a:r>
            <a:r>
              <a:rPr lang="zh-CN" altLang="en-US" sz="2400" smtClean="0">
                <a:solidFill>
                  <a:srgbClr val="FF0000"/>
                </a:solidFill>
                <a:ea typeface="黑体" pitchFamily="49" charset="-122"/>
              </a:rPr>
              <a:t>右外连</a:t>
            </a:r>
            <a:r>
              <a:rPr lang="en-US" altLang="zh-CN" sz="2400" smtClean="0">
                <a:ea typeface="黑体" pitchFamily="49" charset="-122"/>
              </a:rPr>
              <a:t>(right outer join)</a:t>
            </a:r>
            <a:r>
              <a:rPr lang="zh-CN" altLang="en-US" sz="2400" smtClean="0">
                <a:ea typeface="黑体" pitchFamily="49" charset="-122"/>
              </a:rPr>
              <a:t>。</a:t>
            </a:r>
          </a:p>
        </p:txBody>
      </p:sp>
      <p:sp>
        <p:nvSpPr>
          <p:cNvPr id="5" name="Rectangle 2"/>
          <p:cNvSpPr txBox="1">
            <a:spLocks noChangeArrowheads="1"/>
          </p:cNvSpPr>
          <p:nvPr/>
        </p:nvSpPr>
        <p:spPr bwMode="auto">
          <a:xfrm>
            <a:off x="468313" y="58738"/>
            <a:ext cx="7793037"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3.4.3  </a:t>
            </a:r>
            <a:r>
              <a:rPr lang="zh-CN" altLang="en-US" b="0" kern="0" dirty="0" smtClean="0">
                <a:latin typeface="黑体" pitchFamily="49" charset="-122"/>
              </a:rPr>
              <a:t>连接查询 </a:t>
            </a: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body" idx="1"/>
          </p:nvPr>
        </p:nvSpPr>
        <p:spPr>
          <a:xfrm>
            <a:off x="611188" y="2276475"/>
            <a:ext cx="7772400" cy="4032250"/>
          </a:xfrm>
        </p:spPr>
        <p:txBody>
          <a:bodyPr/>
          <a:lstStyle/>
          <a:p>
            <a:pPr algn="just" eaLnBrk="1" hangingPunct="1">
              <a:lnSpc>
                <a:spcPct val="130000"/>
              </a:lnSpc>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35] </a:t>
            </a:r>
            <a:r>
              <a:rPr lang="zh-CN" altLang="en-US" sz="2400" smtClean="0">
                <a:latin typeface="黑体" pitchFamily="49" charset="-122"/>
                <a:ea typeface="黑体" pitchFamily="49" charset="-122"/>
              </a:rPr>
              <a:t>查询每个学生及其选修课程的情况</a:t>
            </a: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包括没有选修课程的学生。</a:t>
            </a:r>
          </a:p>
          <a:p>
            <a:pPr eaLnBrk="1" hangingPunct="1">
              <a:lnSpc>
                <a:spcPct val="130000"/>
              </a:lnSpc>
              <a:buFont typeface="Wingdings" pitchFamily="2" charset="2"/>
              <a:buNone/>
            </a:pPr>
            <a:r>
              <a:rPr lang="zh-CN" altLang="en-US" sz="2400" smtClean="0">
                <a:latin typeface="黑体" pitchFamily="49" charset="-122"/>
                <a:ea typeface="黑体" pitchFamily="49" charset="-122"/>
              </a:rPr>
              <a:t>  </a:t>
            </a:r>
            <a:r>
              <a:rPr lang="en-US" altLang="zh-CN" sz="2400" smtClean="0"/>
              <a:t>SELECT  S.Sno,Sname,Ssex,Sbirth,College,Cno,Grade</a:t>
            </a:r>
          </a:p>
          <a:p>
            <a:pPr eaLnBrk="1" hangingPunct="1">
              <a:lnSpc>
                <a:spcPct val="130000"/>
              </a:lnSpc>
              <a:buFont typeface="Wingdings" pitchFamily="2" charset="2"/>
              <a:buNone/>
            </a:pPr>
            <a:r>
              <a:rPr lang="en-US" altLang="zh-CN" sz="2400" smtClean="0"/>
              <a:t>    FROM  S  left outer join SC  on (S.SNO=SC.SNO)</a:t>
            </a:r>
            <a:endParaRPr lang="en-US" altLang="zh-CN" sz="2400" smtClean="0">
              <a:latin typeface="黑体" pitchFamily="49" charset="-122"/>
              <a:ea typeface="黑体" pitchFamily="49" charset="-122"/>
            </a:endParaRPr>
          </a:p>
        </p:txBody>
      </p:sp>
      <p:sp>
        <p:nvSpPr>
          <p:cNvPr id="64515" name="Rectangle 2"/>
          <p:cNvSpPr>
            <a:spLocks noChangeArrowheads="1"/>
          </p:cNvSpPr>
          <p:nvPr>
            <p:ph type="title"/>
          </p:nvPr>
        </p:nvSpPr>
        <p:spPr>
          <a:xfrm>
            <a:off x="611188" y="1268413"/>
            <a:ext cx="7793037" cy="792162"/>
          </a:xfrm>
        </p:spPr>
        <p:txBody>
          <a:bodyPr/>
          <a:lstStyle/>
          <a:p>
            <a:pPr eaLnBrk="1" hangingPunct="1"/>
            <a:r>
              <a:rPr lang="zh-CN" altLang="en-US" sz="2800" smtClean="0">
                <a:solidFill>
                  <a:schemeClr val="tx1"/>
                </a:solidFill>
                <a:latin typeface="黑体" pitchFamily="49" charset="-122"/>
              </a:rPr>
              <a:t>三、外连接（</a:t>
            </a:r>
            <a:r>
              <a:rPr lang="en-US" altLang="zh-CN" sz="2800" smtClean="0">
                <a:solidFill>
                  <a:schemeClr val="tx1"/>
                </a:solidFill>
                <a:latin typeface="黑体" pitchFamily="49" charset="-122"/>
              </a:rPr>
              <a:t>Outer Join</a:t>
            </a:r>
            <a:r>
              <a:rPr lang="zh-CN" altLang="en-US" sz="2800" smtClean="0">
                <a:solidFill>
                  <a:schemeClr val="tx1"/>
                </a:solidFill>
                <a:latin typeface="黑体" pitchFamily="49" charset="-122"/>
              </a:rPr>
              <a:t>）</a:t>
            </a:r>
            <a:r>
              <a:rPr lang="zh-CN" altLang="en-US" sz="2800" smtClean="0">
                <a:latin typeface="黑体" pitchFamily="49" charset="-122"/>
              </a:rPr>
              <a:t> </a:t>
            </a:r>
          </a:p>
        </p:txBody>
      </p:sp>
      <p:sp>
        <p:nvSpPr>
          <p:cNvPr id="6" name="Rectangle 2"/>
          <p:cNvSpPr txBox="1">
            <a:spLocks noChangeArrowheads="1"/>
          </p:cNvSpPr>
          <p:nvPr/>
        </p:nvSpPr>
        <p:spPr bwMode="auto">
          <a:xfrm>
            <a:off x="468313" y="58738"/>
            <a:ext cx="7793037"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3.4.3  </a:t>
            </a:r>
            <a:r>
              <a:rPr lang="zh-CN" altLang="en-US" b="0" kern="0" dirty="0" smtClean="0">
                <a:latin typeface="黑体" pitchFamily="49" charset="-122"/>
              </a:rPr>
              <a:t>连接查询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fade">
                                      <p:cBhvr>
                                        <p:cTn id="7" dur="1000"/>
                                        <p:tgtEl>
                                          <p:spTgt spid="18435">
                                            <p:txEl>
                                              <p:pRg st="0" end="0"/>
                                            </p:txEl>
                                          </p:spTgt>
                                        </p:tgtEl>
                                      </p:cBhvr>
                                    </p:animEffect>
                                    <p:anim calcmode="lin" valueType="num">
                                      <p:cBhvr>
                                        <p:cTn id="8" dur="10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18435">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8435">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nodeType="clickEffect">
                                  <p:stCondLst>
                                    <p:cond delay="0"/>
                                  </p:stCondLst>
                                  <p:childTnLst>
                                    <p:set>
                                      <p:cBhvr>
                                        <p:cTn id="14" dur="1" fill="hold">
                                          <p:stCondLst>
                                            <p:cond delay="0"/>
                                          </p:stCondLst>
                                        </p:cTn>
                                        <p:tgtEl>
                                          <p:spTgt spid="18435">
                                            <p:txEl>
                                              <p:pRg st="1" end="1"/>
                                            </p:txEl>
                                          </p:spTgt>
                                        </p:tgtEl>
                                        <p:attrNameLst>
                                          <p:attrName>style.visibility</p:attrName>
                                        </p:attrNameLst>
                                      </p:cBhvr>
                                      <p:to>
                                        <p:strVal val="visible"/>
                                      </p:to>
                                    </p:set>
                                    <p:anim calcmode="lin" valueType="num">
                                      <p:cBhvr additive="base">
                                        <p:cTn id="15" dur="5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435">
                                            <p:txEl>
                                              <p:pRg st="1" end="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435">
                                            <p:txEl>
                                              <p:pRg st="2" end="2"/>
                                            </p:txEl>
                                          </p:spTgt>
                                        </p:tgtEl>
                                        <p:attrNameLst>
                                          <p:attrName>style.visibility</p:attrName>
                                        </p:attrNameLst>
                                      </p:cBhvr>
                                      <p:to>
                                        <p:strVal val="visible"/>
                                      </p:to>
                                    </p:set>
                                    <p:anim calcmode="lin" valueType="num">
                                      <p:cBhvr additive="base">
                                        <p:cTn id="19" dur="5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ph type="title"/>
          </p:nvPr>
        </p:nvSpPr>
        <p:spPr>
          <a:xfrm>
            <a:off x="684213" y="1125538"/>
            <a:ext cx="7793037" cy="790575"/>
          </a:xfrm>
        </p:spPr>
        <p:txBody>
          <a:bodyPr/>
          <a:lstStyle/>
          <a:p>
            <a:pPr eaLnBrk="1" hangingPunct="1"/>
            <a:r>
              <a:rPr lang="zh-CN" altLang="en-US" sz="2800" smtClean="0">
                <a:solidFill>
                  <a:schemeClr val="tx1"/>
                </a:solidFill>
              </a:rPr>
              <a:t>四、复合条件连接</a:t>
            </a:r>
          </a:p>
        </p:txBody>
      </p:sp>
      <p:sp>
        <p:nvSpPr>
          <p:cNvPr id="19459" name="Rectangle 3"/>
          <p:cNvSpPr>
            <a:spLocks noChangeArrowheads="1"/>
          </p:cNvSpPr>
          <p:nvPr>
            <p:ph type="body" idx="1"/>
          </p:nvPr>
        </p:nvSpPr>
        <p:spPr>
          <a:xfrm>
            <a:off x="611188" y="1916113"/>
            <a:ext cx="8135937" cy="4032250"/>
          </a:xfrm>
        </p:spPr>
        <p:txBody>
          <a:bodyPr/>
          <a:lstStyle/>
          <a:p>
            <a:pPr algn="just" eaLnBrk="1" hangingPunct="1">
              <a:buFont typeface="Wingdings" pitchFamily="2" charset="2"/>
              <a:buNone/>
            </a:pPr>
            <a:r>
              <a:rPr lang="en-US" altLang="zh-CN" sz="2400" smtClean="0">
                <a:latin typeface="黑体" pitchFamily="49" charset="-122"/>
                <a:ea typeface="黑体" pitchFamily="49" charset="-122"/>
              </a:rPr>
              <a:t>WHERE</a:t>
            </a:r>
            <a:r>
              <a:rPr lang="zh-CN" altLang="en-US" sz="2400" smtClean="0">
                <a:latin typeface="黑体" pitchFamily="49" charset="-122"/>
                <a:ea typeface="黑体" pitchFamily="49" charset="-122"/>
              </a:rPr>
              <a:t>子句中含多个连接条件时，称为</a:t>
            </a:r>
            <a:r>
              <a:rPr lang="zh-CN" altLang="en-US" sz="2400" smtClean="0">
                <a:solidFill>
                  <a:srgbClr val="FF0000"/>
                </a:solidFill>
                <a:latin typeface="黑体" pitchFamily="49" charset="-122"/>
                <a:ea typeface="黑体" pitchFamily="49" charset="-122"/>
              </a:rPr>
              <a:t>复合条件连接</a:t>
            </a:r>
          </a:p>
          <a:p>
            <a:pPr algn="just" eaLnBrk="1" hangingPunct="1">
              <a:lnSpc>
                <a:spcPct val="30000"/>
              </a:lnSpc>
              <a:buFont typeface="Wingdings" pitchFamily="2" charset="2"/>
              <a:buNone/>
            </a:pPr>
            <a:endParaRPr lang="zh-CN" altLang="en-US" sz="2400" smtClean="0">
              <a:latin typeface="黑体" pitchFamily="49" charset="-122"/>
              <a:ea typeface="黑体" pitchFamily="49" charset="-122"/>
            </a:endParaRPr>
          </a:p>
          <a:p>
            <a:pPr eaLnBrk="1" hangingPunct="1">
              <a:buFont typeface="Wingdings" pitchFamily="2" charset="2"/>
              <a:buNone/>
            </a:pPr>
            <a:r>
              <a:rPr lang="zh-CN" altLang="en-US" sz="2200" smtClean="0">
                <a:latin typeface="黑体" pitchFamily="49" charset="-122"/>
                <a:ea typeface="黑体" pitchFamily="49" charset="-122"/>
              </a:rPr>
              <a:t>   </a:t>
            </a:r>
            <a:r>
              <a:rPr lang="en-US" altLang="zh-CN" sz="2200" smtClean="0">
                <a:latin typeface="黑体" pitchFamily="49" charset="-122"/>
                <a:ea typeface="黑体" pitchFamily="49" charset="-122"/>
              </a:rPr>
              <a:t>[</a:t>
            </a:r>
            <a:r>
              <a:rPr lang="zh-CN" altLang="en-US" sz="2200" smtClean="0">
                <a:latin typeface="黑体" pitchFamily="49" charset="-122"/>
                <a:ea typeface="黑体" pitchFamily="49" charset="-122"/>
              </a:rPr>
              <a:t>例</a:t>
            </a:r>
            <a:r>
              <a:rPr lang="en-US" altLang="zh-CN" sz="2200" smtClean="0">
                <a:latin typeface="黑体" pitchFamily="49" charset="-122"/>
                <a:ea typeface="黑体" pitchFamily="49" charset="-122"/>
              </a:rPr>
              <a:t>36]</a:t>
            </a:r>
            <a:r>
              <a:rPr lang="zh-CN" altLang="en-US" sz="2200" smtClean="0">
                <a:latin typeface="黑体" pitchFamily="49" charset="-122"/>
                <a:ea typeface="黑体" pitchFamily="49" charset="-122"/>
              </a:rPr>
              <a:t>查询选修</a:t>
            </a:r>
            <a:r>
              <a:rPr lang="en-US" altLang="zh-CN" sz="2200" smtClean="0">
                <a:latin typeface="黑体" pitchFamily="49" charset="-122"/>
                <a:ea typeface="黑体" pitchFamily="49" charset="-122"/>
              </a:rPr>
              <a:t>002</a:t>
            </a:r>
            <a:r>
              <a:rPr lang="zh-CN" altLang="en-US" sz="2200" smtClean="0">
                <a:latin typeface="黑体" pitchFamily="49" charset="-122"/>
                <a:ea typeface="黑体" pitchFamily="49" charset="-122"/>
              </a:rPr>
              <a:t>号课程且成绩在</a:t>
            </a:r>
            <a:r>
              <a:rPr lang="en-US" altLang="zh-CN" sz="2200" smtClean="0">
                <a:latin typeface="黑体" pitchFamily="49" charset="-122"/>
                <a:ea typeface="黑体" pitchFamily="49" charset="-122"/>
              </a:rPr>
              <a:t>90</a:t>
            </a:r>
            <a:r>
              <a:rPr lang="zh-CN" altLang="en-US" sz="2200" smtClean="0">
                <a:latin typeface="黑体" pitchFamily="49" charset="-122"/>
                <a:ea typeface="黑体" pitchFamily="49" charset="-122"/>
              </a:rPr>
              <a:t>分以上的所有学生的</a:t>
            </a:r>
          </a:p>
          <a:p>
            <a:pPr eaLnBrk="1" hangingPunct="1">
              <a:buFont typeface="Wingdings" pitchFamily="2" charset="2"/>
              <a:buNone/>
            </a:pPr>
            <a:r>
              <a:rPr lang="zh-CN" altLang="en-US" sz="2200" smtClean="0">
                <a:latin typeface="黑体" pitchFamily="49" charset="-122"/>
                <a:ea typeface="黑体" pitchFamily="49" charset="-122"/>
              </a:rPr>
              <a:t>            学号、姓名。</a:t>
            </a:r>
          </a:p>
          <a:p>
            <a:pPr eaLnBrk="1" hangingPunct="1">
              <a:spcBef>
                <a:spcPct val="50000"/>
              </a:spcBef>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SELECT S.Sno, S.Sname</a:t>
            </a:r>
          </a:p>
          <a:p>
            <a:pPr eaLnBrk="1" hangingPunct="1">
              <a:buFont typeface="Wingdings" pitchFamily="2" charset="2"/>
              <a:buNone/>
            </a:pPr>
            <a:r>
              <a:rPr lang="en-US" altLang="zh-CN" sz="2400" smtClean="0">
                <a:latin typeface="黑体" pitchFamily="49" charset="-122"/>
                <a:ea typeface="黑体" pitchFamily="49" charset="-122"/>
              </a:rPr>
              <a:t>     FROM    S, SC</a:t>
            </a:r>
          </a:p>
          <a:p>
            <a:pPr eaLnBrk="1" hangingPunct="1">
              <a:buFont typeface="Wingdings" pitchFamily="2" charset="2"/>
              <a:buNone/>
            </a:pPr>
            <a:r>
              <a:rPr lang="en-US" altLang="zh-CN" sz="2400" smtClean="0">
                <a:latin typeface="黑体" pitchFamily="49" charset="-122"/>
                <a:ea typeface="黑体" pitchFamily="49" charset="-122"/>
              </a:rPr>
              <a:t>     WHERE S.Sno = SC.Sno AND </a:t>
            </a:r>
          </a:p>
          <a:p>
            <a:pPr eaLnBrk="1" hangingPunct="1">
              <a:buFont typeface="Wingdings" pitchFamily="2" charset="2"/>
              <a:buNone/>
            </a:pPr>
            <a:r>
              <a:rPr lang="en-US" altLang="zh-CN" sz="2400" smtClean="0">
                <a:latin typeface="黑体" pitchFamily="49" charset="-122"/>
                <a:ea typeface="黑体" pitchFamily="49" charset="-122"/>
              </a:rPr>
              <a:t>           SC.Cno= '002' AND</a:t>
            </a:r>
          </a:p>
          <a:p>
            <a:pPr lvl="1" eaLnBrk="1" hangingPunct="1">
              <a:buFont typeface="Wingdings" pitchFamily="2" charset="2"/>
              <a:buNone/>
            </a:pPr>
            <a:r>
              <a:rPr lang="en-US" altLang="zh-CN" sz="2400" smtClean="0">
                <a:latin typeface="黑体" pitchFamily="49" charset="-122"/>
                <a:ea typeface="黑体" pitchFamily="49" charset="-122"/>
              </a:rPr>
              <a:t>        SC.Grade &gt; 90</a:t>
            </a:r>
            <a:r>
              <a:rPr lang="zh-CN" altLang="en-US" sz="2400" smtClean="0">
                <a:latin typeface="黑体" pitchFamily="49" charset="-122"/>
                <a:ea typeface="黑体" pitchFamily="49" charset="-122"/>
              </a:rPr>
              <a:t>；</a:t>
            </a:r>
          </a:p>
        </p:txBody>
      </p:sp>
      <p:sp>
        <p:nvSpPr>
          <p:cNvPr id="5" name="Rectangle 2"/>
          <p:cNvSpPr txBox="1">
            <a:spLocks noChangeArrowheads="1"/>
          </p:cNvSpPr>
          <p:nvPr/>
        </p:nvSpPr>
        <p:spPr bwMode="auto">
          <a:xfrm>
            <a:off x="468313" y="0"/>
            <a:ext cx="7793037" cy="99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3.4.3  </a:t>
            </a:r>
            <a:r>
              <a:rPr lang="zh-CN" altLang="en-US" b="0" kern="0" dirty="0" smtClean="0">
                <a:latin typeface="黑体" pitchFamily="49" charset="-122"/>
              </a:rPr>
              <a:t>连接查询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nodeType="clickEffect">
                                  <p:stCondLst>
                                    <p:cond delay="0"/>
                                  </p:stCondLst>
                                  <p:childTnLst>
                                    <p:set>
                                      <p:cBhvr>
                                        <p:cTn id="6" dur="1" fill="hold">
                                          <p:stCondLst>
                                            <p:cond delay="0"/>
                                          </p:stCondLst>
                                        </p:cTn>
                                        <p:tgtEl>
                                          <p:spTgt spid="19459">
                                            <p:txEl>
                                              <p:pRg st="2" end="2"/>
                                            </p:txEl>
                                          </p:spTgt>
                                        </p:tgtEl>
                                        <p:attrNameLst>
                                          <p:attrName>style.visibility</p:attrName>
                                        </p:attrNameLst>
                                      </p:cBhvr>
                                      <p:to>
                                        <p:strVal val="visible"/>
                                      </p:to>
                                    </p:set>
                                    <p:animEffect transition="in" filter="fade">
                                      <p:cBhvr>
                                        <p:cTn id="7" dur="1000"/>
                                        <p:tgtEl>
                                          <p:spTgt spid="19459">
                                            <p:txEl>
                                              <p:pRg st="2" end="2"/>
                                            </p:txEl>
                                          </p:spTgt>
                                        </p:tgtEl>
                                      </p:cBhvr>
                                    </p:animEffect>
                                    <p:anim calcmode="lin" valueType="num">
                                      <p:cBhvr>
                                        <p:cTn id="8" dur="10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19459">
                                            <p:txEl>
                                              <p:pRg st="2" end="2"/>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9459">
                                            <p:txEl>
                                              <p:pRg st="2" end="2"/>
                                            </p:txEl>
                                          </p:spTgt>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19459">
                                            <p:txEl>
                                              <p:pRg st="3" end="3"/>
                                            </p:txEl>
                                          </p:spTgt>
                                        </p:tgtEl>
                                        <p:attrNameLst>
                                          <p:attrName>style.visibility</p:attrName>
                                        </p:attrNameLst>
                                      </p:cBhvr>
                                      <p:to>
                                        <p:strVal val="visible"/>
                                      </p:to>
                                    </p:set>
                                    <p:animEffect transition="in" filter="fade">
                                      <p:cBhvr>
                                        <p:cTn id="13" dur="1000"/>
                                        <p:tgtEl>
                                          <p:spTgt spid="19459">
                                            <p:txEl>
                                              <p:pRg st="3" end="3"/>
                                            </p:txEl>
                                          </p:spTgt>
                                        </p:tgtEl>
                                      </p:cBhvr>
                                    </p:animEffect>
                                    <p:anim calcmode="lin" valueType="num">
                                      <p:cBhvr>
                                        <p:cTn id="14" dur="10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p:cTn id="15" dur="900" decel="100000" fill="hold"/>
                                        <p:tgtEl>
                                          <p:spTgt spid="19459">
                                            <p:txEl>
                                              <p:pRg st="3" end="3"/>
                                            </p:txEl>
                                          </p:spTgt>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19459">
                                            <p:txEl>
                                              <p:pRg st="3" end="3"/>
                                            </p:txEl>
                                          </p:spTgt>
                                        </p:tgtEl>
                                        <p:attrNameLst>
                                          <p:attrName>ppt_y</p:attrName>
                                        </p:attrNameLst>
                                      </p:cBhvr>
                                      <p:tavLst>
                                        <p:tav tm="0">
                                          <p:val>
                                            <p:strVal val="#ppt_y-.03"/>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37" presetClass="entr" presetSubtype="0" fill="hold" nodeType="clickEffect">
                                  <p:stCondLst>
                                    <p:cond delay="0"/>
                                  </p:stCondLst>
                                  <p:childTnLst>
                                    <p:set>
                                      <p:cBhvr>
                                        <p:cTn id="20" dur="1" fill="hold">
                                          <p:stCondLst>
                                            <p:cond delay="0"/>
                                          </p:stCondLst>
                                        </p:cTn>
                                        <p:tgtEl>
                                          <p:spTgt spid="19459">
                                            <p:txEl>
                                              <p:pRg st="4" end="4"/>
                                            </p:txEl>
                                          </p:spTgt>
                                        </p:tgtEl>
                                        <p:attrNameLst>
                                          <p:attrName>style.visibility</p:attrName>
                                        </p:attrNameLst>
                                      </p:cBhvr>
                                      <p:to>
                                        <p:strVal val="visible"/>
                                      </p:to>
                                    </p:set>
                                    <p:animEffect transition="in" filter="fade">
                                      <p:cBhvr>
                                        <p:cTn id="21" dur="1000"/>
                                        <p:tgtEl>
                                          <p:spTgt spid="19459">
                                            <p:txEl>
                                              <p:pRg st="4" end="4"/>
                                            </p:txEl>
                                          </p:spTgt>
                                        </p:tgtEl>
                                      </p:cBhvr>
                                    </p:animEffect>
                                    <p:anim calcmode="lin" valueType="num">
                                      <p:cBhvr>
                                        <p:cTn id="22" dur="10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p:cTn id="23" dur="900" decel="100000" fill="hold"/>
                                        <p:tgtEl>
                                          <p:spTgt spid="19459">
                                            <p:txEl>
                                              <p:pRg st="4" end="4"/>
                                            </p:txEl>
                                          </p:spTgt>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19459">
                                            <p:txEl>
                                              <p:pRg st="4" end="4"/>
                                            </p:txEl>
                                          </p:spTgt>
                                        </p:tgtEl>
                                        <p:attrNameLst>
                                          <p:attrName>ppt_y</p:attrName>
                                        </p:attrNameLst>
                                      </p:cBhvr>
                                      <p:tavLst>
                                        <p:tav tm="0">
                                          <p:val>
                                            <p:strVal val="#ppt_y-.03"/>
                                          </p:val>
                                        </p:tav>
                                        <p:tav tm="100000">
                                          <p:val>
                                            <p:strVal val="#ppt_y"/>
                                          </p:val>
                                        </p:tav>
                                      </p:tavLst>
                                    </p:anim>
                                  </p:childTnLst>
                                </p:cTn>
                              </p:par>
                              <p:par>
                                <p:cTn id="25" presetID="37" presetClass="entr" presetSubtype="0" fill="hold" nodeType="with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animEffect transition="in" filter="fade">
                                      <p:cBhvr>
                                        <p:cTn id="27" dur="1000"/>
                                        <p:tgtEl>
                                          <p:spTgt spid="19459">
                                            <p:txEl>
                                              <p:pRg st="5" end="5"/>
                                            </p:txEl>
                                          </p:spTgt>
                                        </p:tgtEl>
                                      </p:cBhvr>
                                    </p:animEffect>
                                    <p:anim calcmode="lin" valueType="num">
                                      <p:cBhvr>
                                        <p:cTn id="28" dur="10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19459">
                                            <p:txEl>
                                              <p:pRg st="5" end="5"/>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19459">
                                            <p:txEl>
                                              <p:pRg st="5" end="5"/>
                                            </p:txEl>
                                          </p:spTgt>
                                        </p:tgtEl>
                                        <p:attrNameLst>
                                          <p:attrName>ppt_y</p:attrName>
                                        </p:attrNameLst>
                                      </p:cBhvr>
                                      <p:tavLst>
                                        <p:tav tm="0">
                                          <p:val>
                                            <p:strVal val="#ppt_y-.03"/>
                                          </p:val>
                                        </p:tav>
                                        <p:tav tm="100000">
                                          <p:val>
                                            <p:strVal val="#ppt_y"/>
                                          </p:val>
                                        </p:tav>
                                      </p:tavLst>
                                    </p:anim>
                                  </p:childTnLst>
                                </p:cTn>
                              </p:par>
                              <p:par>
                                <p:cTn id="31" presetID="37" presetClass="entr" presetSubtype="0" fill="hold" nodeType="withEffect">
                                  <p:stCondLst>
                                    <p:cond delay="0"/>
                                  </p:stCondLst>
                                  <p:childTnLst>
                                    <p:set>
                                      <p:cBhvr>
                                        <p:cTn id="32" dur="1" fill="hold">
                                          <p:stCondLst>
                                            <p:cond delay="0"/>
                                          </p:stCondLst>
                                        </p:cTn>
                                        <p:tgtEl>
                                          <p:spTgt spid="19459">
                                            <p:txEl>
                                              <p:pRg st="6" end="6"/>
                                            </p:txEl>
                                          </p:spTgt>
                                        </p:tgtEl>
                                        <p:attrNameLst>
                                          <p:attrName>style.visibility</p:attrName>
                                        </p:attrNameLst>
                                      </p:cBhvr>
                                      <p:to>
                                        <p:strVal val="visible"/>
                                      </p:to>
                                    </p:set>
                                    <p:animEffect transition="in" filter="fade">
                                      <p:cBhvr>
                                        <p:cTn id="33" dur="1000"/>
                                        <p:tgtEl>
                                          <p:spTgt spid="19459">
                                            <p:txEl>
                                              <p:pRg st="6" end="6"/>
                                            </p:txEl>
                                          </p:spTgt>
                                        </p:tgtEl>
                                      </p:cBhvr>
                                    </p:animEffect>
                                    <p:anim calcmode="lin" valueType="num">
                                      <p:cBhvr>
                                        <p:cTn id="34" dur="10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p:cTn id="35" dur="900" decel="100000" fill="hold"/>
                                        <p:tgtEl>
                                          <p:spTgt spid="19459">
                                            <p:txEl>
                                              <p:pRg st="6" end="6"/>
                                            </p:txEl>
                                          </p:spTgt>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19459">
                                            <p:txEl>
                                              <p:pRg st="6" end="6"/>
                                            </p:txEl>
                                          </p:spTgt>
                                        </p:tgtEl>
                                        <p:attrNameLst>
                                          <p:attrName>ppt_y</p:attrName>
                                        </p:attrNameLst>
                                      </p:cBhvr>
                                      <p:tavLst>
                                        <p:tav tm="0">
                                          <p:val>
                                            <p:strVal val="#ppt_y-.03"/>
                                          </p:val>
                                        </p:tav>
                                        <p:tav tm="100000">
                                          <p:val>
                                            <p:strVal val="#ppt_y"/>
                                          </p:val>
                                        </p:tav>
                                      </p:tavLst>
                                    </p:anim>
                                  </p:childTnLst>
                                </p:cTn>
                              </p:par>
                              <p:par>
                                <p:cTn id="37" presetID="37" presetClass="entr" presetSubtype="0" fill="hold" nodeType="withEffect">
                                  <p:stCondLst>
                                    <p:cond delay="0"/>
                                  </p:stCondLst>
                                  <p:childTnLst>
                                    <p:set>
                                      <p:cBhvr>
                                        <p:cTn id="38" dur="1" fill="hold">
                                          <p:stCondLst>
                                            <p:cond delay="0"/>
                                          </p:stCondLst>
                                        </p:cTn>
                                        <p:tgtEl>
                                          <p:spTgt spid="19459">
                                            <p:txEl>
                                              <p:pRg st="7" end="7"/>
                                            </p:txEl>
                                          </p:spTgt>
                                        </p:tgtEl>
                                        <p:attrNameLst>
                                          <p:attrName>style.visibility</p:attrName>
                                        </p:attrNameLst>
                                      </p:cBhvr>
                                      <p:to>
                                        <p:strVal val="visible"/>
                                      </p:to>
                                    </p:set>
                                    <p:animEffect transition="in" filter="fade">
                                      <p:cBhvr>
                                        <p:cTn id="39" dur="1000"/>
                                        <p:tgtEl>
                                          <p:spTgt spid="19459">
                                            <p:txEl>
                                              <p:pRg st="7" end="7"/>
                                            </p:txEl>
                                          </p:spTgt>
                                        </p:tgtEl>
                                      </p:cBhvr>
                                    </p:animEffect>
                                    <p:anim calcmode="lin" valueType="num">
                                      <p:cBhvr>
                                        <p:cTn id="40" dur="1000" fill="hold"/>
                                        <p:tgtEl>
                                          <p:spTgt spid="19459">
                                            <p:txEl>
                                              <p:pRg st="7" end="7"/>
                                            </p:txEl>
                                          </p:spTgt>
                                        </p:tgtEl>
                                        <p:attrNameLst>
                                          <p:attrName>ppt_x</p:attrName>
                                        </p:attrNameLst>
                                      </p:cBhvr>
                                      <p:tavLst>
                                        <p:tav tm="0">
                                          <p:val>
                                            <p:strVal val="#ppt_x"/>
                                          </p:val>
                                        </p:tav>
                                        <p:tav tm="100000">
                                          <p:val>
                                            <p:strVal val="#ppt_x"/>
                                          </p:val>
                                        </p:tav>
                                      </p:tavLst>
                                    </p:anim>
                                    <p:anim calcmode="lin" valueType="num">
                                      <p:cBhvr>
                                        <p:cTn id="41" dur="900" decel="100000" fill="hold"/>
                                        <p:tgtEl>
                                          <p:spTgt spid="19459">
                                            <p:txEl>
                                              <p:pRg st="7" end="7"/>
                                            </p:txEl>
                                          </p:spTgt>
                                        </p:tgtEl>
                                        <p:attrNameLst>
                                          <p:attrName>ppt_y</p:attrName>
                                        </p:attrNameLst>
                                      </p:cBhvr>
                                      <p:tavLst>
                                        <p:tav tm="0">
                                          <p:val>
                                            <p:strVal val="#ppt_y+1"/>
                                          </p:val>
                                        </p:tav>
                                        <p:tav tm="100000">
                                          <p:val>
                                            <p:strVal val="#ppt_y-.03"/>
                                          </p:val>
                                        </p:tav>
                                      </p:tavLst>
                                    </p:anim>
                                    <p:anim calcmode="lin" valueType="num">
                                      <p:cBhvr>
                                        <p:cTn id="42" dur="100" accel="100000" fill="hold">
                                          <p:stCondLst>
                                            <p:cond delay="900"/>
                                          </p:stCondLst>
                                        </p:cTn>
                                        <p:tgtEl>
                                          <p:spTgt spid="19459">
                                            <p:txEl>
                                              <p:pRg st="7" end="7"/>
                                            </p:txEl>
                                          </p:spTgt>
                                        </p:tgtEl>
                                        <p:attrNameLst>
                                          <p:attrName>ppt_y</p:attrName>
                                        </p:attrNameLst>
                                      </p:cBhvr>
                                      <p:tavLst>
                                        <p:tav tm="0">
                                          <p:val>
                                            <p:strVal val="#ppt_y-.03"/>
                                          </p:val>
                                        </p:tav>
                                        <p:tav tm="100000">
                                          <p:val>
                                            <p:strVal val="#ppt_y"/>
                                          </p:val>
                                        </p:tav>
                                      </p:tavLst>
                                    </p:anim>
                                  </p:childTnLst>
                                </p:cTn>
                              </p:par>
                              <p:par>
                                <p:cTn id="43" presetID="37" presetClass="entr" presetSubtype="0" fill="hold" nodeType="withEffect">
                                  <p:stCondLst>
                                    <p:cond delay="0"/>
                                  </p:stCondLst>
                                  <p:childTnLst>
                                    <p:set>
                                      <p:cBhvr>
                                        <p:cTn id="44" dur="1" fill="hold">
                                          <p:stCondLst>
                                            <p:cond delay="0"/>
                                          </p:stCondLst>
                                        </p:cTn>
                                        <p:tgtEl>
                                          <p:spTgt spid="19459">
                                            <p:txEl>
                                              <p:pRg st="8" end="8"/>
                                            </p:txEl>
                                          </p:spTgt>
                                        </p:tgtEl>
                                        <p:attrNameLst>
                                          <p:attrName>style.visibility</p:attrName>
                                        </p:attrNameLst>
                                      </p:cBhvr>
                                      <p:to>
                                        <p:strVal val="visible"/>
                                      </p:to>
                                    </p:set>
                                    <p:animEffect transition="in" filter="fade">
                                      <p:cBhvr>
                                        <p:cTn id="45" dur="1000"/>
                                        <p:tgtEl>
                                          <p:spTgt spid="19459">
                                            <p:txEl>
                                              <p:pRg st="8" end="8"/>
                                            </p:txEl>
                                          </p:spTgt>
                                        </p:tgtEl>
                                      </p:cBhvr>
                                    </p:animEffect>
                                    <p:anim calcmode="lin" valueType="num">
                                      <p:cBhvr>
                                        <p:cTn id="46" dur="1000" fill="hold"/>
                                        <p:tgtEl>
                                          <p:spTgt spid="19459">
                                            <p:txEl>
                                              <p:pRg st="8" end="8"/>
                                            </p:txEl>
                                          </p:spTgt>
                                        </p:tgtEl>
                                        <p:attrNameLst>
                                          <p:attrName>ppt_x</p:attrName>
                                        </p:attrNameLst>
                                      </p:cBhvr>
                                      <p:tavLst>
                                        <p:tav tm="0">
                                          <p:val>
                                            <p:strVal val="#ppt_x"/>
                                          </p:val>
                                        </p:tav>
                                        <p:tav tm="100000">
                                          <p:val>
                                            <p:strVal val="#ppt_x"/>
                                          </p:val>
                                        </p:tav>
                                      </p:tavLst>
                                    </p:anim>
                                    <p:anim calcmode="lin" valueType="num">
                                      <p:cBhvr>
                                        <p:cTn id="47" dur="900" decel="100000" fill="hold"/>
                                        <p:tgtEl>
                                          <p:spTgt spid="19459">
                                            <p:txEl>
                                              <p:pRg st="8" end="8"/>
                                            </p:txEl>
                                          </p:spTgt>
                                        </p:tgtEl>
                                        <p:attrNameLst>
                                          <p:attrName>ppt_y</p:attrName>
                                        </p:attrNameLst>
                                      </p:cBhvr>
                                      <p:tavLst>
                                        <p:tav tm="0">
                                          <p:val>
                                            <p:strVal val="#ppt_y+1"/>
                                          </p:val>
                                        </p:tav>
                                        <p:tav tm="100000">
                                          <p:val>
                                            <p:strVal val="#ppt_y-.03"/>
                                          </p:val>
                                        </p:tav>
                                      </p:tavLst>
                                    </p:anim>
                                    <p:anim calcmode="lin" valueType="num">
                                      <p:cBhvr>
                                        <p:cTn id="48" dur="100" accel="100000" fill="hold">
                                          <p:stCondLst>
                                            <p:cond delay="900"/>
                                          </p:stCondLst>
                                        </p:cTn>
                                        <p:tgtEl>
                                          <p:spTgt spid="19459">
                                            <p:txEl>
                                              <p:pRg st="8" end="8"/>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ChangeArrowheads="1"/>
          </p:cNvSpPr>
          <p:nvPr>
            <p:ph type="body" idx="1"/>
          </p:nvPr>
        </p:nvSpPr>
        <p:spPr>
          <a:xfrm>
            <a:off x="539750" y="2205038"/>
            <a:ext cx="7766050" cy="4048125"/>
          </a:xfrm>
        </p:spPr>
        <p:txBody>
          <a:bodyPr/>
          <a:lstStyle/>
          <a:p>
            <a:pPr algn="just" eaLnBrk="1" hangingPunct="1">
              <a:lnSpc>
                <a:spcPct val="130000"/>
              </a:lnSpc>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37]  </a:t>
            </a:r>
            <a:r>
              <a:rPr lang="zh-CN" altLang="en-US" sz="2400" smtClean="0">
                <a:latin typeface="黑体" pitchFamily="49" charset="-122"/>
                <a:ea typeface="黑体" pitchFamily="49" charset="-122"/>
              </a:rPr>
              <a:t>查询每个学生的学号、姓名、选修的课程名及成绩。</a:t>
            </a:r>
          </a:p>
          <a:p>
            <a:pPr algn="just" eaLnBrk="1" hangingPunct="1">
              <a:lnSpc>
                <a:spcPct val="90000"/>
              </a:lnSpc>
              <a:buFont typeface="Wingdings" pitchFamily="2" charset="2"/>
              <a:buNone/>
            </a:pPr>
            <a:endParaRPr lang="zh-CN" altLang="en-US" sz="2400" smtClean="0">
              <a:latin typeface="黑体" pitchFamily="49" charset="-122"/>
              <a:ea typeface="黑体" pitchFamily="49" charset="-122"/>
            </a:endParaRPr>
          </a:p>
          <a:p>
            <a:pPr lvl="1" algn="just" eaLnBrk="1" hangingPunct="1">
              <a:lnSpc>
                <a:spcPct val="80000"/>
              </a:lnSpc>
              <a:buFont typeface="Wingdings" pitchFamily="2" charset="2"/>
              <a:buNone/>
            </a:pPr>
            <a:r>
              <a:rPr lang="zh-CN" altLang="en-US" smtClean="0">
                <a:latin typeface="黑体" pitchFamily="49" charset="-122"/>
                <a:ea typeface="黑体" pitchFamily="49" charset="-122"/>
              </a:rPr>
              <a:t>  </a:t>
            </a:r>
            <a:r>
              <a:rPr lang="en-US" altLang="zh-CN" sz="2400" smtClean="0">
                <a:latin typeface="黑体" pitchFamily="49" charset="-122"/>
                <a:ea typeface="黑体" pitchFamily="49" charset="-122"/>
              </a:rPr>
              <a:t>SELECT S.Sno</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Sname</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Cname</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Grade</a:t>
            </a:r>
          </a:p>
          <a:p>
            <a:pPr lvl="1" algn="just" eaLnBrk="1" hangingPunct="1">
              <a:lnSpc>
                <a:spcPct val="80000"/>
              </a:lnSpc>
              <a:buFont typeface="Wingdings" pitchFamily="2" charset="2"/>
              <a:buNone/>
            </a:pPr>
            <a:r>
              <a:rPr lang="en-US" altLang="zh-CN" sz="2400" smtClean="0">
                <a:latin typeface="黑体" pitchFamily="49" charset="-122"/>
                <a:ea typeface="黑体" pitchFamily="49" charset="-122"/>
              </a:rPr>
              <a:t>   FROM    S</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SC</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C</a:t>
            </a:r>
          </a:p>
          <a:p>
            <a:pPr lvl="1" algn="just" eaLnBrk="1" hangingPunct="1">
              <a:lnSpc>
                <a:spcPct val="80000"/>
              </a:lnSpc>
              <a:buFont typeface="Wingdings" pitchFamily="2" charset="2"/>
              <a:buNone/>
            </a:pPr>
            <a:r>
              <a:rPr lang="en-US" altLang="zh-CN" sz="2400" smtClean="0">
                <a:latin typeface="黑体" pitchFamily="49" charset="-122"/>
                <a:ea typeface="黑体" pitchFamily="49" charset="-122"/>
              </a:rPr>
              <a:t>   WHERE S.Sno = SC.Sno </a:t>
            </a:r>
          </a:p>
          <a:p>
            <a:pPr lvl="1" algn="just" eaLnBrk="1" hangingPunct="1">
              <a:lnSpc>
                <a:spcPct val="70000"/>
              </a:lnSpc>
              <a:buFont typeface="Wingdings" pitchFamily="2" charset="2"/>
              <a:buNone/>
            </a:pPr>
            <a:r>
              <a:rPr lang="en-US" altLang="zh-CN" sz="2400" smtClean="0">
                <a:latin typeface="黑体" pitchFamily="49" charset="-122"/>
                <a:ea typeface="黑体" pitchFamily="49" charset="-122"/>
              </a:rPr>
              <a:t>        and SC.Cno = C.Cno</a:t>
            </a:r>
            <a:r>
              <a:rPr lang="zh-CN" altLang="en-US" smtClean="0">
                <a:latin typeface="黑体" pitchFamily="49" charset="-122"/>
                <a:ea typeface="黑体" pitchFamily="49" charset="-122"/>
              </a:rPr>
              <a:t>；</a:t>
            </a:r>
            <a:endParaRPr lang="zh-CN" altLang="en-US" sz="1800" smtClean="0">
              <a:latin typeface="黑体" pitchFamily="49" charset="-122"/>
              <a:ea typeface="黑体" pitchFamily="49" charset="-122"/>
            </a:endParaRPr>
          </a:p>
        </p:txBody>
      </p:sp>
      <p:sp>
        <p:nvSpPr>
          <p:cNvPr id="66563" name="Rectangle 2"/>
          <p:cNvSpPr>
            <a:spLocks noChangeArrowheads="1"/>
          </p:cNvSpPr>
          <p:nvPr>
            <p:ph type="title"/>
          </p:nvPr>
        </p:nvSpPr>
        <p:spPr>
          <a:xfrm>
            <a:off x="684213" y="1125538"/>
            <a:ext cx="7793037" cy="790575"/>
          </a:xfrm>
        </p:spPr>
        <p:txBody>
          <a:bodyPr/>
          <a:lstStyle/>
          <a:p>
            <a:pPr eaLnBrk="1" hangingPunct="1"/>
            <a:r>
              <a:rPr lang="zh-CN" altLang="en-US" sz="2800" smtClean="0">
                <a:solidFill>
                  <a:schemeClr val="tx1"/>
                </a:solidFill>
              </a:rPr>
              <a:t>四、复合条件连接</a:t>
            </a:r>
          </a:p>
        </p:txBody>
      </p:sp>
      <p:sp>
        <p:nvSpPr>
          <p:cNvPr id="6" name="Rectangle 2"/>
          <p:cNvSpPr txBox="1">
            <a:spLocks noChangeArrowheads="1"/>
          </p:cNvSpPr>
          <p:nvPr/>
        </p:nvSpPr>
        <p:spPr bwMode="auto">
          <a:xfrm>
            <a:off x="468313" y="58738"/>
            <a:ext cx="7793037"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3.4.3  </a:t>
            </a:r>
            <a:r>
              <a:rPr lang="zh-CN" altLang="en-US" b="0" kern="0" dirty="0" smtClean="0">
                <a:latin typeface="黑体" pitchFamily="49" charset="-122"/>
              </a:rPr>
              <a:t>连接查询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fade">
                                      <p:cBhvr>
                                        <p:cTn id="7" dur="1000"/>
                                        <p:tgtEl>
                                          <p:spTgt spid="20483">
                                            <p:txEl>
                                              <p:pRg st="0" end="0"/>
                                            </p:txEl>
                                          </p:spTgt>
                                        </p:tgtEl>
                                      </p:cBhvr>
                                    </p:animEffect>
                                    <p:anim calcmode="lin" valueType="num">
                                      <p:cBhvr>
                                        <p:cTn id="8" dur="10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20483">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0483">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7" presetClass="entr" presetSubtype="0" fill="hold" nodeType="click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Effect transition="in" filter="fade">
                                      <p:cBhvr>
                                        <p:cTn id="15" dur="1000"/>
                                        <p:tgtEl>
                                          <p:spTgt spid="20483">
                                            <p:txEl>
                                              <p:pRg st="2" end="2"/>
                                            </p:txEl>
                                          </p:spTgt>
                                        </p:tgtEl>
                                      </p:cBhvr>
                                    </p:animEffect>
                                    <p:anim calcmode="lin" valueType="num">
                                      <p:cBhvr>
                                        <p:cTn id="16" dur="10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20483">
                                            <p:txEl>
                                              <p:pRg st="2" end="2"/>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20483">
                                            <p:txEl>
                                              <p:pRg st="2" end="2"/>
                                            </p:txEl>
                                          </p:spTgt>
                                        </p:tgtEl>
                                        <p:attrNameLst>
                                          <p:attrName>ppt_y</p:attrName>
                                        </p:attrNameLst>
                                      </p:cBhvr>
                                      <p:tavLst>
                                        <p:tav tm="0">
                                          <p:val>
                                            <p:strVal val="#ppt_y-.03"/>
                                          </p:val>
                                        </p:tav>
                                        <p:tav tm="100000">
                                          <p:val>
                                            <p:strVal val="#ppt_y"/>
                                          </p:val>
                                        </p:tav>
                                      </p:tavLst>
                                    </p:anim>
                                  </p:childTnLst>
                                </p:cTn>
                              </p:par>
                              <p:par>
                                <p:cTn id="19" presetID="37" presetClass="entr" presetSubtype="0" fill="hold" nodeType="withEffect">
                                  <p:stCondLst>
                                    <p:cond delay="0"/>
                                  </p:stCondLst>
                                  <p:childTnLst>
                                    <p:set>
                                      <p:cBhvr>
                                        <p:cTn id="20" dur="1" fill="hold">
                                          <p:stCondLst>
                                            <p:cond delay="0"/>
                                          </p:stCondLst>
                                        </p:cTn>
                                        <p:tgtEl>
                                          <p:spTgt spid="20483">
                                            <p:txEl>
                                              <p:pRg st="3" end="3"/>
                                            </p:txEl>
                                          </p:spTgt>
                                        </p:tgtEl>
                                        <p:attrNameLst>
                                          <p:attrName>style.visibility</p:attrName>
                                        </p:attrNameLst>
                                      </p:cBhvr>
                                      <p:to>
                                        <p:strVal val="visible"/>
                                      </p:to>
                                    </p:set>
                                    <p:animEffect transition="in" filter="fade">
                                      <p:cBhvr>
                                        <p:cTn id="21" dur="1000"/>
                                        <p:tgtEl>
                                          <p:spTgt spid="20483">
                                            <p:txEl>
                                              <p:pRg st="3" end="3"/>
                                            </p:txEl>
                                          </p:spTgt>
                                        </p:tgtEl>
                                      </p:cBhvr>
                                    </p:animEffect>
                                    <p:anim calcmode="lin" valueType="num">
                                      <p:cBhvr>
                                        <p:cTn id="22" dur="10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p:cTn id="23" dur="900" decel="100000" fill="hold"/>
                                        <p:tgtEl>
                                          <p:spTgt spid="20483">
                                            <p:txEl>
                                              <p:pRg st="3" end="3"/>
                                            </p:txEl>
                                          </p:spTgt>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20483">
                                            <p:txEl>
                                              <p:pRg st="3" end="3"/>
                                            </p:txEl>
                                          </p:spTgt>
                                        </p:tgtEl>
                                        <p:attrNameLst>
                                          <p:attrName>ppt_y</p:attrName>
                                        </p:attrNameLst>
                                      </p:cBhvr>
                                      <p:tavLst>
                                        <p:tav tm="0">
                                          <p:val>
                                            <p:strVal val="#ppt_y-.03"/>
                                          </p:val>
                                        </p:tav>
                                        <p:tav tm="100000">
                                          <p:val>
                                            <p:strVal val="#ppt_y"/>
                                          </p:val>
                                        </p:tav>
                                      </p:tavLst>
                                    </p:anim>
                                  </p:childTnLst>
                                </p:cTn>
                              </p:par>
                              <p:par>
                                <p:cTn id="25" presetID="37" presetClass="entr" presetSubtype="0" fill="hold" nodeType="withEffect">
                                  <p:stCondLst>
                                    <p:cond delay="0"/>
                                  </p:stCondLst>
                                  <p:childTnLst>
                                    <p:set>
                                      <p:cBhvr>
                                        <p:cTn id="26" dur="1" fill="hold">
                                          <p:stCondLst>
                                            <p:cond delay="0"/>
                                          </p:stCondLst>
                                        </p:cTn>
                                        <p:tgtEl>
                                          <p:spTgt spid="20483">
                                            <p:txEl>
                                              <p:pRg st="4" end="4"/>
                                            </p:txEl>
                                          </p:spTgt>
                                        </p:tgtEl>
                                        <p:attrNameLst>
                                          <p:attrName>style.visibility</p:attrName>
                                        </p:attrNameLst>
                                      </p:cBhvr>
                                      <p:to>
                                        <p:strVal val="visible"/>
                                      </p:to>
                                    </p:set>
                                    <p:animEffect transition="in" filter="fade">
                                      <p:cBhvr>
                                        <p:cTn id="27" dur="1000"/>
                                        <p:tgtEl>
                                          <p:spTgt spid="20483">
                                            <p:txEl>
                                              <p:pRg st="4" end="4"/>
                                            </p:txEl>
                                          </p:spTgt>
                                        </p:tgtEl>
                                      </p:cBhvr>
                                    </p:animEffect>
                                    <p:anim calcmode="lin" valueType="num">
                                      <p:cBhvr>
                                        <p:cTn id="28" dur="10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20483">
                                            <p:txEl>
                                              <p:pRg st="4" end="4"/>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20483">
                                            <p:txEl>
                                              <p:pRg st="4" end="4"/>
                                            </p:txEl>
                                          </p:spTgt>
                                        </p:tgtEl>
                                        <p:attrNameLst>
                                          <p:attrName>ppt_y</p:attrName>
                                        </p:attrNameLst>
                                      </p:cBhvr>
                                      <p:tavLst>
                                        <p:tav tm="0">
                                          <p:val>
                                            <p:strVal val="#ppt_y-.03"/>
                                          </p:val>
                                        </p:tav>
                                        <p:tav tm="100000">
                                          <p:val>
                                            <p:strVal val="#ppt_y"/>
                                          </p:val>
                                        </p:tav>
                                      </p:tavLst>
                                    </p:anim>
                                  </p:childTnLst>
                                </p:cTn>
                              </p:par>
                              <p:par>
                                <p:cTn id="31" presetID="37" presetClass="entr" presetSubtype="0" fill="hold" nodeType="withEffect">
                                  <p:stCondLst>
                                    <p:cond delay="0"/>
                                  </p:stCondLst>
                                  <p:childTnLst>
                                    <p:set>
                                      <p:cBhvr>
                                        <p:cTn id="32" dur="1" fill="hold">
                                          <p:stCondLst>
                                            <p:cond delay="0"/>
                                          </p:stCondLst>
                                        </p:cTn>
                                        <p:tgtEl>
                                          <p:spTgt spid="20483">
                                            <p:txEl>
                                              <p:pRg st="5" end="5"/>
                                            </p:txEl>
                                          </p:spTgt>
                                        </p:tgtEl>
                                        <p:attrNameLst>
                                          <p:attrName>style.visibility</p:attrName>
                                        </p:attrNameLst>
                                      </p:cBhvr>
                                      <p:to>
                                        <p:strVal val="visible"/>
                                      </p:to>
                                    </p:set>
                                    <p:animEffect transition="in" filter="fade">
                                      <p:cBhvr>
                                        <p:cTn id="33" dur="1000"/>
                                        <p:tgtEl>
                                          <p:spTgt spid="20483">
                                            <p:txEl>
                                              <p:pRg st="5" end="5"/>
                                            </p:txEl>
                                          </p:spTgt>
                                        </p:tgtEl>
                                      </p:cBhvr>
                                    </p:animEffect>
                                    <p:anim calcmode="lin" valueType="num">
                                      <p:cBhvr>
                                        <p:cTn id="34" dur="10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p:cTn id="35" dur="900" decel="100000" fill="hold"/>
                                        <p:tgtEl>
                                          <p:spTgt spid="20483">
                                            <p:txEl>
                                              <p:pRg st="5" end="5"/>
                                            </p:txEl>
                                          </p:spTgt>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20483">
                                            <p:txEl>
                                              <p:pRg st="5" end="5"/>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ChangeArrowheads="1"/>
          </p:cNvSpPr>
          <p:nvPr>
            <p:ph type="title"/>
          </p:nvPr>
        </p:nvSpPr>
        <p:spPr>
          <a:xfrm>
            <a:off x="1136650" y="0"/>
            <a:ext cx="7793038" cy="1143000"/>
          </a:xfrm>
        </p:spPr>
        <p:txBody>
          <a:bodyPr/>
          <a:lstStyle/>
          <a:p>
            <a:pPr eaLnBrk="1" hangingPunct="1"/>
            <a:r>
              <a:rPr lang="en-US" altLang="zh-CN" smtClean="0">
                <a:latin typeface="黑体" pitchFamily="49" charset="-122"/>
              </a:rPr>
              <a:t>3.4  </a:t>
            </a:r>
            <a:r>
              <a:rPr lang="zh-CN" altLang="en-US" smtClean="0">
                <a:latin typeface="黑体" pitchFamily="49" charset="-122"/>
              </a:rPr>
              <a:t>查    询 </a:t>
            </a:r>
          </a:p>
        </p:txBody>
      </p:sp>
      <p:sp>
        <p:nvSpPr>
          <p:cNvPr id="67587" name="Rectangle 3"/>
          <p:cNvSpPr>
            <a:spLocks noChangeArrowheads="1"/>
          </p:cNvSpPr>
          <p:nvPr>
            <p:ph type="body" idx="1"/>
          </p:nvPr>
        </p:nvSpPr>
        <p:spPr>
          <a:xfrm>
            <a:off x="1403350" y="1484313"/>
            <a:ext cx="5832475" cy="4608512"/>
          </a:xfrm>
        </p:spPr>
        <p:txBody>
          <a:bodyPr/>
          <a:lstStyle/>
          <a:p>
            <a:pPr marL="0" indent="0" algn="just" eaLnBrk="1" hangingPunct="1">
              <a:buFontTx/>
              <a:buNone/>
            </a:pPr>
            <a:r>
              <a:rPr lang="en-US" altLang="zh-CN" smtClean="0">
                <a:latin typeface="黑体" pitchFamily="49" charset="-122"/>
                <a:ea typeface="黑体" pitchFamily="49" charset="-122"/>
              </a:rPr>
              <a:t>3.4.1 </a:t>
            </a:r>
            <a:r>
              <a:rPr lang="zh-CN" altLang="en-US" smtClean="0">
                <a:latin typeface="黑体" pitchFamily="49" charset="-122"/>
                <a:ea typeface="黑体" pitchFamily="49" charset="-122"/>
              </a:rPr>
              <a:t>概述</a:t>
            </a:r>
          </a:p>
          <a:p>
            <a:pPr marL="0" indent="0" algn="just" eaLnBrk="1" hangingPunct="1">
              <a:buFontTx/>
              <a:buNone/>
            </a:pPr>
            <a:r>
              <a:rPr lang="en-US" altLang="zh-CN" smtClean="0">
                <a:latin typeface="黑体" pitchFamily="49" charset="-122"/>
                <a:ea typeface="黑体" pitchFamily="49" charset="-122"/>
              </a:rPr>
              <a:t>3.3.6 </a:t>
            </a:r>
            <a:r>
              <a:rPr lang="zh-CN" altLang="en-US" smtClean="0">
                <a:latin typeface="黑体" pitchFamily="49" charset="-122"/>
                <a:ea typeface="黑体" pitchFamily="49" charset="-122"/>
              </a:rPr>
              <a:t>单表查询</a:t>
            </a:r>
          </a:p>
          <a:p>
            <a:pPr marL="0" indent="0" algn="just" eaLnBrk="1" hangingPunct="1">
              <a:buFontTx/>
              <a:buNone/>
            </a:pPr>
            <a:r>
              <a:rPr lang="en-US" altLang="zh-CN" smtClean="0">
                <a:latin typeface="黑体" pitchFamily="49" charset="-122"/>
                <a:ea typeface="黑体" pitchFamily="49" charset="-122"/>
              </a:rPr>
              <a:t>3.4.3 </a:t>
            </a:r>
            <a:r>
              <a:rPr lang="zh-CN" altLang="en-US" smtClean="0">
                <a:latin typeface="黑体" pitchFamily="49" charset="-122"/>
                <a:ea typeface="黑体" pitchFamily="49" charset="-122"/>
              </a:rPr>
              <a:t>连接查询</a:t>
            </a:r>
          </a:p>
          <a:p>
            <a:pPr marL="0" indent="0" algn="just" eaLnBrk="1" hangingPunct="1">
              <a:buFontTx/>
              <a:buNone/>
            </a:pPr>
            <a:r>
              <a:rPr lang="en-US" altLang="zh-CN" smtClean="0">
                <a:solidFill>
                  <a:srgbClr val="FF0000"/>
                </a:solidFill>
                <a:latin typeface="黑体" pitchFamily="49" charset="-122"/>
                <a:ea typeface="黑体" pitchFamily="49" charset="-122"/>
              </a:rPr>
              <a:t>3.4.4 </a:t>
            </a:r>
            <a:r>
              <a:rPr lang="zh-CN" altLang="en-US" smtClean="0">
                <a:solidFill>
                  <a:srgbClr val="FF0000"/>
                </a:solidFill>
                <a:latin typeface="黑体" pitchFamily="49" charset="-122"/>
                <a:ea typeface="黑体" pitchFamily="49" charset="-122"/>
              </a:rPr>
              <a:t>嵌套查询</a:t>
            </a:r>
          </a:p>
          <a:p>
            <a:pPr marL="0" indent="0" algn="just" eaLnBrk="1" hangingPunct="1">
              <a:buFontTx/>
              <a:buNone/>
            </a:pPr>
            <a:r>
              <a:rPr lang="en-US" altLang="zh-CN" smtClean="0">
                <a:latin typeface="黑体" pitchFamily="49" charset="-122"/>
                <a:ea typeface="黑体" pitchFamily="49" charset="-122"/>
              </a:rPr>
              <a:t>3.4.5 </a:t>
            </a:r>
            <a:r>
              <a:rPr lang="zh-CN" altLang="en-US" smtClean="0">
                <a:latin typeface="黑体" pitchFamily="49" charset="-122"/>
                <a:ea typeface="黑体" pitchFamily="49" charset="-122"/>
              </a:rPr>
              <a:t>集合查询</a:t>
            </a:r>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ChangeArrowheads="1"/>
          </p:cNvSpPr>
          <p:nvPr>
            <p:ph type="title"/>
          </p:nvPr>
        </p:nvSpPr>
        <p:spPr>
          <a:xfrm>
            <a:off x="684213" y="0"/>
            <a:ext cx="7793037" cy="1143000"/>
          </a:xfrm>
        </p:spPr>
        <p:txBody>
          <a:bodyPr/>
          <a:lstStyle/>
          <a:p>
            <a:pPr eaLnBrk="1" hangingPunct="1"/>
            <a:r>
              <a:rPr lang="en-US" altLang="zh-CN" smtClean="0">
                <a:latin typeface="黑体" pitchFamily="49" charset="-122"/>
              </a:rPr>
              <a:t>3.4.4  </a:t>
            </a:r>
            <a:r>
              <a:rPr lang="zh-CN" altLang="en-US" smtClean="0">
                <a:latin typeface="黑体" pitchFamily="49" charset="-122"/>
              </a:rPr>
              <a:t>嵌套查询</a:t>
            </a:r>
          </a:p>
        </p:txBody>
      </p:sp>
      <p:sp>
        <p:nvSpPr>
          <p:cNvPr id="68611" name="Rectangle 3"/>
          <p:cNvSpPr>
            <a:spLocks noChangeArrowheads="1"/>
          </p:cNvSpPr>
          <p:nvPr>
            <p:ph type="body" idx="1"/>
          </p:nvPr>
        </p:nvSpPr>
        <p:spPr>
          <a:xfrm>
            <a:off x="762000" y="1619250"/>
            <a:ext cx="7772400" cy="4114800"/>
          </a:xfrm>
        </p:spPr>
        <p:txBody>
          <a:bodyPr/>
          <a:lstStyle/>
          <a:p>
            <a:pPr eaLnBrk="1" hangingPunct="1">
              <a:lnSpc>
                <a:spcPct val="120000"/>
              </a:lnSpc>
            </a:pPr>
            <a:r>
              <a:rPr lang="zh-CN" altLang="en-US" smtClean="0">
                <a:latin typeface="黑体" pitchFamily="49" charset="-122"/>
                <a:ea typeface="黑体" pitchFamily="49" charset="-122"/>
              </a:rPr>
              <a:t>嵌套查询概述</a:t>
            </a:r>
          </a:p>
          <a:p>
            <a:pPr lvl="1" eaLnBrk="1" hangingPunct="1">
              <a:lnSpc>
                <a:spcPct val="110000"/>
              </a:lnSpc>
              <a:spcAft>
                <a:spcPct val="40000"/>
              </a:spcAft>
            </a:pPr>
            <a:r>
              <a:rPr lang="zh-CN" altLang="en-US" smtClean="0">
                <a:latin typeface="黑体" pitchFamily="49" charset="-122"/>
                <a:ea typeface="黑体" pitchFamily="49" charset="-122"/>
              </a:rPr>
              <a:t>一个</a:t>
            </a:r>
            <a:r>
              <a:rPr lang="en-US" altLang="zh-CN" smtClean="0">
                <a:latin typeface="黑体" pitchFamily="49" charset="-122"/>
                <a:ea typeface="黑体" pitchFamily="49" charset="-122"/>
              </a:rPr>
              <a:t>SELECT-FROM-WHERE</a:t>
            </a:r>
            <a:r>
              <a:rPr lang="zh-CN" altLang="en-US" smtClean="0">
                <a:latin typeface="黑体" pitchFamily="49" charset="-122"/>
                <a:ea typeface="黑体" pitchFamily="49" charset="-122"/>
              </a:rPr>
              <a:t>语句称为一个查询块</a:t>
            </a:r>
          </a:p>
          <a:p>
            <a:pPr lvl="1" eaLnBrk="1" hangingPunct="1">
              <a:lnSpc>
                <a:spcPct val="110000"/>
              </a:lnSpc>
            </a:pPr>
            <a:r>
              <a:rPr lang="zh-CN" altLang="en-US" smtClean="0">
                <a:latin typeface="黑体" pitchFamily="49" charset="-122"/>
                <a:ea typeface="黑体" pitchFamily="49" charset="-122"/>
              </a:rPr>
              <a:t>将一个查询块嵌套在另一个查询块的</a:t>
            </a:r>
            <a:r>
              <a:rPr lang="en-US" altLang="zh-CN" smtClean="0">
                <a:latin typeface="黑体" pitchFamily="49" charset="-122"/>
                <a:ea typeface="黑体" pitchFamily="49" charset="-122"/>
              </a:rPr>
              <a:t>WHERE</a:t>
            </a:r>
            <a:r>
              <a:rPr lang="zh-CN" altLang="en-US" smtClean="0">
                <a:latin typeface="黑体" pitchFamily="49" charset="-122"/>
                <a:ea typeface="黑体" pitchFamily="49" charset="-122"/>
              </a:rPr>
              <a:t>子句或</a:t>
            </a:r>
            <a:r>
              <a:rPr lang="en-US" altLang="zh-CN" smtClean="0">
                <a:latin typeface="黑体" pitchFamily="49" charset="-122"/>
                <a:ea typeface="黑体" pitchFamily="49" charset="-122"/>
              </a:rPr>
              <a:t>HAVING</a:t>
            </a:r>
            <a:r>
              <a:rPr lang="zh-CN" altLang="en-US" smtClean="0">
                <a:latin typeface="黑体" pitchFamily="49" charset="-122"/>
                <a:ea typeface="黑体" pitchFamily="49" charset="-122"/>
              </a:rPr>
              <a:t>短语的条件中的查询称为嵌套查询</a:t>
            </a:r>
          </a:p>
          <a:p>
            <a:pPr eaLnBrk="1" hangingPunct="1">
              <a:lnSpc>
                <a:spcPct val="120000"/>
              </a:lnSpc>
              <a:buFont typeface="Wingdings" pitchFamily="2" charset="2"/>
              <a:buNone/>
            </a:pPr>
            <a:r>
              <a:rPr lang="zh-CN" altLang="en-US" smtClean="0">
                <a:latin typeface="黑体" pitchFamily="49" charset="-122"/>
                <a:ea typeface="黑体" pitchFamily="49" charset="-122"/>
              </a:rPr>
              <a:t>        </a:t>
            </a:r>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ChangeArrowheads="1"/>
          </p:cNvSpPr>
          <p:nvPr>
            <p:ph type="title"/>
          </p:nvPr>
        </p:nvSpPr>
        <p:spPr>
          <a:xfrm>
            <a:off x="827088" y="0"/>
            <a:ext cx="7793037" cy="1143000"/>
          </a:xfrm>
        </p:spPr>
        <p:txBody>
          <a:bodyPr/>
          <a:lstStyle/>
          <a:p>
            <a:pPr eaLnBrk="1" hangingPunct="1"/>
            <a:r>
              <a:rPr lang="en-US" altLang="zh-CN" smtClean="0">
                <a:latin typeface="黑体" pitchFamily="49" charset="-122"/>
              </a:rPr>
              <a:t>3.4.4  </a:t>
            </a:r>
            <a:r>
              <a:rPr lang="zh-CN" altLang="en-US" smtClean="0">
                <a:latin typeface="黑体" pitchFamily="49" charset="-122"/>
              </a:rPr>
              <a:t>嵌套查询</a:t>
            </a:r>
          </a:p>
        </p:txBody>
      </p:sp>
      <p:sp>
        <p:nvSpPr>
          <p:cNvPr id="69635" name="Rectangle 3"/>
          <p:cNvSpPr>
            <a:spLocks noChangeArrowheads="1"/>
          </p:cNvSpPr>
          <p:nvPr>
            <p:ph type="body" idx="1"/>
          </p:nvPr>
        </p:nvSpPr>
        <p:spPr/>
        <p:txBody>
          <a:bodyPr/>
          <a:lstStyle/>
          <a:p>
            <a:pPr eaLnBrk="1" hangingPunct="1">
              <a:lnSpc>
                <a:spcPct val="90000"/>
              </a:lnSpc>
              <a:buFont typeface="Wingdings" pitchFamily="2" charset="2"/>
              <a:buNone/>
            </a:pPr>
            <a:endParaRPr lang="zh-CN" altLang="en-US" sz="2800" smtClean="0"/>
          </a:p>
          <a:p>
            <a:pPr eaLnBrk="1" hangingPunct="1">
              <a:lnSpc>
                <a:spcPct val="90000"/>
              </a:lnSpc>
              <a:buFontTx/>
              <a:buNone/>
            </a:pPr>
            <a:r>
              <a:rPr lang="zh-CN" altLang="en-US" sz="2800" smtClean="0">
                <a:solidFill>
                  <a:srgbClr val="0066FF"/>
                </a:solidFill>
              </a:rPr>
              <a:t>     </a:t>
            </a:r>
            <a:r>
              <a:rPr lang="en-US" altLang="zh-CN" sz="2800" smtClean="0">
                <a:solidFill>
                  <a:srgbClr val="0000FF"/>
                </a:solidFill>
              </a:rPr>
              <a:t>SELECT Sname		</a:t>
            </a:r>
            <a:r>
              <a:rPr lang="zh-CN" altLang="en-US" sz="2800" smtClean="0">
                <a:solidFill>
                  <a:srgbClr val="0000FF"/>
                </a:solidFill>
                <a:latin typeface="黑体" pitchFamily="49" charset="-122"/>
                <a:ea typeface="黑体" pitchFamily="49" charset="-122"/>
              </a:rPr>
              <a:t>外层查询</a:t>
            </a:r>
            <a:r>
              <a:rPr lang="en-US" altLang="zh-CN" sz="2800" smtClean="0">
                <a:solidFill>
                  <a:srgbClr val="0000FF"/>
                </a:solidFill>
                <a:latin typeface="黑体" pitchFamily="49" charset="-122"/>
                <a:ea typeface="黑体" pitchFamily="49" charset="-122"/>
              </a:rPr>
              <a:t>/</a:t>
            </a:r>
            <a:r>
              <a:rPr lang="zh-CN" altLang="en-US" sz="2800" smtClean="0">
                <a:solidFill>
                  <a:srgbClr val="0000FF"/>
                </a:solidFill>
                <a:latin typeface="黑体" pitchFamily="49" charset="-122"/>
                <a:ea typeface="黑体" pitchFamily="49" charset="-122"/>
              </a:rPr>
              <a:t>父查询</a:t>
            </a:r>
          </a:p>
          <a:p>
            <a:pPr eaLnBrk="1" hangingPunct="1">
              <a:lnSpc>
                <a:spcPct val="90000"/>
              </a:lnSpc>
              <a:buFontTx/>
              <a:buNone/>
            </a:pPr>
            <a:r>
              <a:rPr lang="zh-CN" altLang="en-US" sz="2800" smtClean="0">
                <a:solidFill>
                  <a:srgbClr val="0000FF"/>
                </a:solidFill>
              </a:rPr>
              <a:t>     </a:t>
            </a:r>
            <a:r>
              <a:rPr lang="en-US" altLang="zh-CN" sz="2800" smtClean="0">
                <a:solidFill>
                  <a:srgbClr val="0000FF"/>
                </a:solidFill>
              </a:rPr>
              <a:t>FROM S</a:t>
            </a:r>
          </a:p>
          <a:p>
            <a:pPr eaLnBrk="1" hangingPunct="1">
              <a:lnSpc>
                <a:spcPct val="90000"/>
              </a:lnSpc>
              <a:buFontTx/>
              <a:buNone/>
            </a:pPr>
            <a:r>
              <a:rPr lang="en-US" altLang="zh-CN" sz="2800" smtClean="0">
                <a:solidFill>
                  <a:srgbClr val="0000FF"/>
                </a:solidFill>
              </a:rPr>
              <a:t>     WHERE  Sno  </a:t>
            </a:r>
            <a:r>
              <a:rPr lang="en-US" altLang="zh-CN" sz="2800" smtClean="0">
                <a:solidFill>
                  <a:srgbClr val="00B050"/>
                </a:solidFill>
              </a:rPr>
              <a:t>IN</a:t>
            </a:r>
          </a:p>
          <a:p>
            <a:pPr eaLnBrk="1" hangingPunct="1">
              <a:lnSpc>
                <a:spcPct val="90000"/>
              </a:lnSpc>
              <a:buFontTx/>
              <a:buNone/>
            </a:pPr>
            <a:r>
              <a:rPr lang="en-US" altLang="zh-CN" sz="2800" smtClean="0">
                <a:solidFill>
                  <a:srgbClr val="FF0000"/>
                </a:solidFill>
              </a:rPr>
              <a:t>         </a:t>
            </a:r>
            <a:r>
              <a:rPr lang="zh-CN" altLang="en-US" sz="2800" smtClean="0">
                <a:solidFill>
                  <a:srgbClr val="FF0000"/>
                </a:solidFill>
              </a:rPr>
              <a:t>（</a:t>
            </a:r>
            <a:r>
              <a:rPr lang="en-US" altLang="zh-CN" sz="2800" smtClean="0">
                <a:solidFill>
                  <a:srgbClr val="FF0000"/>
                </a:solidFill>
              </a:rPr>
              <a:t>SELECT Sno              </a:t>
            </a:r>
            <a:r>
              <a:rPr lang="zh-CN" altLang="en-US" sz="2800" smtClean="0">
                <a:solidFill>
                  <a:srgbClr val="FF0000"/>
                </a:solidFill>
                <a:latin typeface="黑体" pitchFamily="49" charset="-122"/>
                <a:ea typeface="黑体" pitchFamily="49" charset="-122"/>
              </a:rPr>
              <a:t>内层查询</a:t>
            </a:r>
            <a:r>
              <a:rPr lang="en-US" altLang="zh-CN" sz="2800" smtClean="0">
                <a:solidFill>
                  <a:srgbClr val="FF0000"/>
                </a:solidFill>
                <a:latin typeface="黑体" pitchFamily="49" charset="-122"/>
                <a:ea typeface="黑体" pitchFamily="49" charset="-122"/>
              </a:rPr>
              <a:t>/</a:t>
            </a:r>
            <a:r>
              <a:rPr lang="zh-CN" altLang="en-US" sz="2800" smtClean="0">
                <a:solidFill>
                  <a:srgbClr val="FF0000"/>
                </a:solidFill>
                <a:latin typeface="黑体" pitchFamily="49" charset="-122"/>
                <a:ea typeface="黑体" pitchFamily="49" charset="-122"/>
              </a:rPr>
              <a:t>子查询</a:t>
            </a:r>
          </a:p>
          <a:p>
            <a:pPr eaLnBrk="1" hangingPunct="1">
              <a:lnSpc>
                <a:spcPct val="90000"/>
              </a:lnSpc>
              <a:buFontTx/>
              <a:buNone/>
            </a:pPr>
            <a:r>
              <a:rPr lang="zh-CN" altLang="en-US" sz="2800" smtClean="0">
                <a:solidFill>
                  <a:srgbClr val="FF0000"/>
                </a:solidFill>
              </a:rPr>
              <a:t>             </a:t>
            </a:r>
            <a:r>
              <a:rPr lang="en-US" altLang="zh-CN" sz="2800" smtClean="0">
                <a:solidFill>
                  <a:srgbClr val="FF0000"/>
                </a:solidFill>
              </a:rPr>
              <a:t>FROM SC</a:t>
            </a:r>
          </a:p>
          <a:p>
            <a:pPr eaLnBrk="1" hangingPunct="1">
              <a:lnSpc>
                <a:spcPct val="90000"/>
              </a:lnSpc>
              <a:buFontTx/>
              <a:buNone/>
            </a:pPr>
            <a:r>
              <a:rPr lang="en-US" altLang="zh-CN" sz="2800" smtClean="0">
                <a:solidFill>
                  <a:srgbClr val="FF0000"/>
                </a:solidFill>
              </a:rPr>
              <a:t>             WHERE Cno= ‘002'</a:t>
            </a:r>
            <a:r>
              <a:rPr lang="zh-CN" altLang="en-US" sz="2800" smtClean="0">
                <a:solidFill>
                  <a:srgbClr val="FF0000"/>
                </a:solidFill>
              </a:rPr>
              <a:t>）；</a:t>
            </a:r>
          </a:p>
          <a:p>
            <a:pPr eaLnBrk="1" hangingPunct="1"/>
            <a:endParaRPr lang="zh-CN" altLang="en-US" sz="2800" smtClean="0">
              <a:solidFill>
                <a:schemeClr val="hlink"/>
              </a:solidFill>
            </a:endParaRP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ChangeArrowheads="1"/>
          </p:cNvSpPr>
          <p:nvPr>
            <p:ph type="title"/>
          </p:nvPr>
        </p:nvSpPr>
        <p:spPr>
          <a:xfrm>
            <a:off x="827088" y="-9525"/>
            <a:ext cx="7793037" cy="1143000"/>
          </a:xfrm>
        </p:spPr>
        <p:txBody>
          <a:bodyPr/>
          <a:lstStyle/>
          <a:p>
            <a:pPr eaLnBrk="1" hangingPunct="1"/>
            <a:r>
              <a:rPr lang="en-US" altLang="zh-CN" smtClean="0">
                <a:latin typeface="黑体" pitchFamily="49" charset="-122"/>
              </a:rPr>
              <a:t>3.4.4  </a:t>
            </a:r>
            <a:r>
              <a:rPr lang="zh-CN" altLang="en-US" smtClean="0">
                <a:latin typeface="黑体" pitchFamily="49" charset="-122"/>
              </a:rPr>
              <a:t>嵌套查询</a:t>
            </a:r>
          </a:p>
        </p:txBody>
      </p:sp>
      <p:sp>
        <p:nvSpPr>
          <p:cNvPr id="70659" name="Rectangle 3"/>
          <p:cNvSpPr>
            <a:spLocks noChangeArrowheads="1"/>
          </p:cNvSpPr>
          <p:nvPr>
            <p:ph type="body" idx="1"/>
          </p:nvPr>
        </p:nvSpPr>
        <p:spPr/>
        <p:txBody>
          <a:bodyPr/>
          <a:lstStyle/>
          <a:p>
            <a:pPr lvl="1" eaLnBrk="1" hangingPunct="1">
              <a:lnSpc>
                <a:spcPct val="140000"/>
              </a:lnSpc>
            </a:pPr>
            <a:r>
              <a:rPr lang="en-US" altLang="zh-CN" smtClean="0">
                <a:latin typeface="黑体" pitchFamily="49" charset="-122"/>
                <a:ea typeface="黑体" pitchFamily="49" charset="-122"/>
              </a:rPr>
              <a:t>SQL</a:t>
            </a:r>
            <a:r>
              <a:rPr lang="zh-CN" altLang="en-US" smtClean="0">
                <a:latin typeface="黑体" pitchFamily="49" charset="-122"/>
                <a:ea typeface="黑体" pitchFamily="49" charset="-122"/>
              </a:rPr>
              <a:t>语言允许多层嵌套查询</a:t>
            </a:r>
          </a:p>
          <a:p>
            <a:pPr lvl="1" eaLnBrk="1" hangingPunct="1">
              <a:lnSpc>
                <a:spcPct val="140000"/>
              </a:lnSpc>
            </a:pPr>
            <a:r>
              <a:rPr lang="zh-CN" altLang="en-US" smtClean="0">
                <a:latin typeface="黑体" pitchFamily="49" charset="-122"/>
                <a:ea typeface="黑体" pitchFamily="49" charset="-122"/>
              </a:rPr>
              <a:t>子查询的限制</a:t>
            </a:r>
          </a:p>
          <a:p>
            <a:pPr lvl="2" eaLnBrk="1" hangingPunct="1">
              <a:lnSpc>
                <a:spcPct val="140000"/>
              </a:lnSpc>
            </a:pPr>
            <a:r>
              <a:rPr lang="zh-CN" altLang="en-US" sz="2800" smtClean="0">
                <a:latin typeface="黑体" pitchFamily="49" charset="-122"/>
                <a:ea typeface="黑体" pitchFamily="49" charset="-122"/>
              </a:rPr>
              <a:t>不能使用</a:t>
            </a:r>
            <a:r>
              <a:rPr lang="en-US" altLang="zh-CN" sz="2800" smtClean="0">
                <a:latin typeface="黑体" pitchFamily="49" charset="-122"/>
                <a:ea typeface="黑体" pitchFamily="49" charset="-122"/>
              </a:rPr>
              <a:t>ORDER BY</a:t>
            </a:r>
            <a:r>
              <a:rPr lang="zh-CN" altLang="en-US" sz="2800" smtClean="0">
                <a:latin typeface="黑体" pitchFamily="49" charset="-122"/>
                <a:ea typeface="黑体" pitchFamily="49" charset="-122"/>
              </a:rPr>
              <a:t>子句</a:t>
            </a:r>
          </a:p>
          <a:p>
            <a:pPr lvl="1" eaLnBrk="1" hangingPunct="1">
              <a:lnSpc>
                <a:spcPct val="140000"/>
              </a:lnSpc>
            </a:pPr>
            <a:r>
              <a:rPr lang="zh-CN" altLang="en-US" smtClean="0">
                <a:latin typeface="黑体" pitchFamily="49" charset="-122"/>
                <a:ea typeface="黑体" pitchFamily="49" charset="-122"/>
              </a:rPr>
              <a:t>层层嵌套方式反映了 </a:t>
            </a:r>
            <a:r>
              <a:rPr lang="en-US" altLang="zh-CN" smtClean="0">
                <a:latin typeface="黑体" pitchFamily="49" charset="-122"/>
                <a:ea typeface="黑体" pitchFamily="49" charset="-122"/>
              </a:rPr>
              <a:t>SQL</a:t>
            </a:r>
            <a:r>
              <a:rPr lang="zh-CN" altLang="en-US" smtClean="0">
                <a:latin typeface="黑体" pitchFamily="49" charset="-122"/>
                <a:ea typeface="黑体" pitchFamily="49" charset="-122"/>
              </a:rPr>
              <a:t>语言的结构化</a:t>
            </a:r>
          </a:p>
          <a:p>
            <a:pPr lvl="1" eaLnBrk="1" hangingPunct="1">
              <a:lnSpc>
                <a:spcPct val="140000"/>
              </a:lnSpc>
            </a:pPr>
            <a:r>
              <a:rPr lang="zh-CN" altLang="en-US" smtClean="0">
                <a:latin typeface="黑体" pitchFamily="49" charset="-122"/>
                <a:ea typeface="黑体" pitchFamily="49" charset="-122"/>
              </a:rPr>
              <a:t>有些嵌套查询可以用连接查询替代</a:t>
            </a:r>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ChangeArrowheads="1"/>
          </p:cNvSpPr>
          <p:nvPr>
            <p:ph type="title"/>
          </p:nvPr>
        </p:nvSpPr>
        <p:spPr>
          <a:xfrm>
            <a:off x="827088" y="981075"/>
            <a:ext cx="7793037" cy="1143000"/>
          </a:xfrm>
        </p:spPr>
        <p:txBody>
          <a:bodyPr/>
          <a:lstStyle/>
          <a:p>
            <a:pPr eaLnBrk="1" hangingPunct="1"/>
            <a:r>
              <a:rPr lang="zh-CN" altLang="en-US" sz="2800" smtClean="0">
                <a:solidFill>
                  <a:schemeClr val="tx1"/>
                </a:solidFill>
              </a:rPr>
              <a:t>嵌套查询分类</a:t>
            </a:r>
          </a:p>
        </p:txBody>
      </p:sp>
      <p:sp>
        <p:nvSpPr>
          <p:cNvPr id="71683" name="Rectangle 3"/>
          <p:cNvSpPr>
            <a:spLocks noChangeArrowheads="1"/>
          </p:cNvSpPr>
          <p:nvPr>
            <p:ph type="body" idx="1"/>
          </p:nvPr>
        </p:nvSpPr>
        <p:spPr>
          <a:xfrm>
            <a:off x="539750" y="2133600"/>
            <a:ext cx="8229600" cy="3024188"/>
          </a:xfrm>
        </p:spPr>
        <p:txBody>
          <a:bodyPr/>
          <a:lstStyle/>
          <a:p>
            <a:pPr eaLnBrk="1" hangingPunct="1"/>
            <a:r>
              <a:rPr lang="zh-CN" altLang="en-US" sz="2400" smtClean="0">
                <a:ea typeface="黑体" pitchFamily="49" charset="-122"/>
              </a:rPr>
              <a:t>不相关子查询</a:t>
            </a:r>
          </a:p>
          <a:p>
            <a:pPr lvl="2" eaLnBrk="1" hangingPunct="1">
              <a:lnSpc>
                <a:spcPct val="150000"/>
              </a:lnSpc>
              <a:buFont typeface="Wingdings" pitchFamily="2" charset="2"/>
              <a:buNone/>
            </a:pPr>
            <a:r>
              <a:rPr lang="zh-CN" altLang="en-US" smtClean="0">
                <a:ea typeface="黑体" pitchFamily="49" charset="-122"/>
              </a:rPr>
              <a:t>子查询的查询条件不依赖于父查询</a:t>
            </a:r>
          </a:p>
          <a:p>
            <a:pPr eaLnBrk="1" hangingPunct="1">
              <a:lnSpc>
                <a:spcPct val="150000"/>
              </a:lnSpc>
            </a:pPr>
            <a:r>
              <a:rPr lang="zh-CN" altLang="en-US" sz="2400" smtClean="0">
                <a:ea typeface="黑体" pitchFamily="49" charset="-122"/>
              </a:rPr>
              <a:t>相关子查询</a:t>
            </a:r>
          </a:p>
          <a:p>
            <a:pPr lvl="2" eaLnBrk="1" hangingPunct="1">
              <a:lnSpc>
                <a:spcPct val="150000"/>
              </a:lnSpc>
              <a:buFont typeface="Wingdings" pitchFamily="2" charset="2"/>
              <a:buNone/>
            </a:pPr>
            <a:r>
              <a:rPr lang="zh-CN" altLang="en-US" smtClean="0">
                <a:ea typeface="黑体" pitchFamily="49" charset="-122"/>
              </a:rPr>
              <a:t>子查询的查询条件依赖于父查询</a:t>
            </a:r>
          </a:p>
          <a:p>
            <a:pPr lvl="2" eaLnBrk="1" hangingPunct="1">
              <a:lnSpc>
                <a:spcPct val="150000"/>
              </a:lnSpc>
              <a:buFont typeface="Wingdings" pitchFamily="2" charset="2"/>
              <a:buNone/>
            </a:pPr>
            <a:endParaRPr lang="zh-CN" altLang="en-US" smtClean="0">
              <a:ea typeface="黑体" pitchFamily="49" charset="-122"/>
            </a:endParaRPr>
          </a:p>
        </p:txBody>
      </p:sp>
      <p:sp>
        <p:nvSpPr>
          <p:cNvPr id="4"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p:cNvSpPr>
          <p:nvPr>
            <p:ph type="title"/>
          </p:nvPr>
        </p:nvSpPr>
        <p:spPr>
          <a:xfrm>
            <a:off x="611188" y="1196975"/>
            <a:ext cx="7793037" cy="1143000"/>
          </a:xfrm>
        </p:spPr>
        <p:txBody>
          <a:bodyPr/>
          <a:lstStyle/>
          <a:p>
            <a:pPr eaLnBrk="1" hangingPunct="1"/>
            <a:r>
              <a:rPr lang="zh-CN" altLang="en-US" sz="2800" smtClean="0">
                <a:solidFill>
                  <a:schemeClr val="tx1"/>
                </a:solidFill>
              </a:rPr>
              <a:t>引出子查询的谓词</a:t>
            </a:r>
          </a:p>
        </p:txBody>
      </p:sp>
      <p:sp>
        <p:nvSpPr>
          <p:cNvPr id="72707" name="Rectangle 3"/>
          <p:cNvSpPr>
            <a:spLocks noChangeArrowheads="1"/>
          </p:cNvSpPr>
          <p:nvPr>
            <p:ph type="body" idx="1"/>
          </p:nvPr>
        </p:nvSpPr>
        <p:spPr>
          <a:xfrm>
            <a:off x="1331913" y="2249488"/>
            <a:ext cx="6264275" cy="3771900"/>
          </a:xfrm>
        </p:spPr>
        <p:txBody>
          <a:bodyPr/>
          <a:lstStyle/>
          <a:p>
            <a:pPr eaLnBrk="1" hangingPunct="1">
              <a:lnSpc>
                <a:spcPct val="170000"/>
              </a:lnSpc>
            </a:pPr>
            <a:r>
              <a:rPr lang="zh-CN" altLang="en-US" sz="2800" smtClean="0">
                <a:latin typeface="黑体" pitchFamily="49" charset="-122"/>
                <a:ea typeface="黑体" pitchFamily="49" charset="-122"/>
              </a:rPr>
              <a:t>带有</a:t>
            </a:r>
            <a:r>
              <a:rPr lang="en-US" altLang="zh-CN" sz="2800" smtClean="0">
                <a:latin typeface="黑体" pitchFamily="49" charset="-122"/>
                <a:ea typeface="黑体" pitchFamily="49" charset="-122"/>
              </a:rPr>
              <a:t>IN</a:t>
            </a:r>
            <a:r>
              <a:rPr lang="zh-CN" altLang="en-US" sz="2800" smtClean="0">
                <a:latin typeface="黑体" pitchFamily="49" charset="-122"/>
                <a:ea typeface="黑体" pitchFamily="49" charset="-122"/>
              </a:rPr>
              <a:t>谓词的子查询</a:t>
            </a:r>
          </a:p>
          <a:p>
            <a:pPr eaLnBrk="1" hangingPunct="1">
              <a:lnSpc>
                <a:spcPct val="170000"/>
              </a:lnSpc>
            </a:pPr>
            <a:r>
              <a:rPr lang="zh-CN" altLang="en-US" sz="2800" smtClean="0">
                <a:latin typeface="黑体" pitchFamily="49" charset="-122"/>
                <a:ea typeface="黑体" pitchFamily="49" charset="-122"/>
              </a:rPr>
              <a:t>带有比较运算符的子查询</a:t>
            </a:r>
          </a:p>
          <a:p>
            <a:pPr eaLnBrk="1" hangingPunct="1">
              <a:lnSpc>
                <a:spcPct val="170000"/>
              </a:lnSpc>
            </a:pPr>
            <a:r>
              <a:rPr lang="zh-CN" altLang="en-US" sz="2800" smtClean="0">
                <a:latin typeface="黑体" pitchFamily="49" charset="-122"/>
                <a:ea typeface="黑体" pitchFamily="49" charset="-122"/>
              </a:rPr>
              <a:t>带有</a:t>
            </a:r>
            <a:r>
              <a:rPr lang="en-US" altLang="zh-CN" sz="2800" smtClean="0">
                <a:latin typeface="黑体" pitchFamily="49" charset="-122"/>
                <a:ea typeface="黑体" pitchFamily="49" charset="-122"/>
              </a:rPr>
              <a:t>ANY</a:t>
            </a:r>
            <a:r>
              <a:rPr lang="zh-CN" altLang="en-US" sz="2800" smtClean="0">
                <a:latin typeface="黑体" pitchFamily="49" charset="-122"/>
                <a:ea typeface="黑体" pitchFamily="49" charset="-122"/>
              </a:rPr>
              <a:t>或</a:t>
            </a:r>
            <a:r>
              <a:rPr lang="en-US" altLang="zh-CN" sz="2800" smtClean="0">
                <a:latin typeface="黑体" pitchFamily="49" charset="-122"/>
                <a:ea typeface="黑体" pitchFamily="49" charset="-122"/>
              </a:rPr>
              <a:t>ALL</a:t>
            </a:r>
            <a:r>
              <a:rPr lang="zh-CN" altLang="en-US" sz="2800" smtClean="0">
                <a:latin typeface="黑体" pitchFamily="49" charset="-122"/>
                <a:ea typeface="黑体" pitchFamily="49" charset="-122"/>
              </a:rPr>
              <a:t>谓词的子查询</a:t>
            </a:r>
          </a:p>
          <a:p>
            <a:pPr eaLnBrk="1" hangingPunct="1">
              <a:lnSpc>
                <a:spcPct val="170000"/>
              </a:lnSpc>
            </a:pPr>
            <a:r>
              <a:rPr lang="zh-CN" altLang="en-US" sz="2800" smtClean="0">
                <a:latin typeface="黑体" pitchFamily="49" charset="-122"/>
                <a:ea typeface="黑体" pitchFamily="49" charset="-122"/>
              </a:rPr>
              <a:t>带有</a:t>
            </a:r>
            <a:r>
              <a:rPr lang="en-US" altLang="zh-CN" sz="2800" smtClean="0">
                <a:latin typeface="黑体" pitchFamily="49" charset="-122"/>
                <a:ea typeface="黑体" pitchFamily="49" charset="-122"/>
              </a:rPr>
              <a:t>EXISTS</a:t>
            </a:r>
            <a:r>
              <a:rPr lang="zh-CN" altLang="en-US" sz="2800" smtClean="0">
                <a:latin typeface="黑体" pitchFamily="49" charset="-122"/>
                <a:ea typeface="黑体" pitchFamily="49" charset="-122"/>
              </a:rPr>
              <a:t>谓词的子查询</a:t>
            </a:r>
          </a:p>
          <a:p>
            <a:pPr eaLnBrk="1" hangingPunct="1">
              <a:buFont typeface="Wingdings" pitchFamily="2" charset="2"/>
              <a:buNone/>
            </a:pPr>
            <a:endParaRPr lang="zh-CN" altLang="en-US" sz="3600" smtClean="0">
              <a:latin typeface="黑体" pitchFamily="49" charset="-122"/>
              <a:ea typeface="黑体" pitchFamily="49" charset="-122"/>
            </a:endParaRPr>
          </a:p>
        </p:txBody>
      </p:sp>
      <p:sp>
        <p:nvSpPr>
          <p:cNvPr id="4"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ChangeArrowheads="1"/>
          </p:cNvSpPr>
          <p:nvPr>
            <p:ph type="title"/>
          </p:nvPr>
        </p:nvSpPr>
        <p:spPr>
          <a:xfrm>
            <a:off x="684213" y="1052513"/>
            <a:ext cx="7793037" cy="863600"/>
          </a:xfrm>
        </p:spPr>
        <p:txBody>
          <a:bodyPr/>
          <a:lstStyle/>
          <a:p>
            <a:pPr eaLnBrk="1" hangingPunct="1"/>
            <a:r>
              <a:rPr lang="zh-CN" altLang="en-US" sz="2800" smtClean="0">
                <a:solidFill>
                  <a:schemeClr val="tx1"/>
                </a:solidFill>
                <a:latin typeface="黑体" pitchFamily="49" charset="-122"/>
              </a:rPr>
              <a:t>一、带有</a:t>
            </a:r>
            <a:r>
              <a:rPr lang="en-US" altLang="zh-CN" sz="2800" smtClean="0">
                <a:solidFill>
                  <a:schemeClr val="tx1"/>
                </a:solidFill>
                <a:latin typeface="黑体" pitchFamily="49" charset="-122"/>
              </a:rPr>
              <a:t>IN</a:t>
            </a:r>
            <a:r>
              <a:rPr lang="zh-CN" altLang="en-US" sz="2800" smtClean="0">
                <a:solidFill>
                  <a:schemeClr val="tx1"/>
                </a:solidFill>
                <a:latin typeface="黑体" pitchFamily="49" charset="-122"/>
              </a:rPr>
              <a:t>谓词的子查询</a:t>
            </a:r>
          </a:p>
        </p:txBody>
      </p:sp>
      <p:sp>
        <p:nvSpPr>
          <p:cNvPr id="28675" name="Rectangle 3"/>
          <p:cNvSpPr>
            <a:spLocks noChangeArrowheads="1"/>
          </p:cNvSpPr>
          <p:nvPr>
            <p:ph type="body" idx="1"/>
          </p:nvPr>
        </p:nvSpPr>
        <p:spPr>
          <a:xfrm>
            <a:off x="827088" y="2133600"/>
            <a:ext cx="7848600" cy="4248150"/>
          </a:xfrm>
        </p:spPr>
        <p:txBody>
          <a:bodyPr/>
          <a:lstStyle/>
          <a:p>
            <a:pPr eaLnBrk="1" hangingPunct="1">
              <a:lnSpc>
                <a:spcPct val="90000"/>
              </a:lnSpc>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38]  </a:t>
            </a:r>
            <a:r>
              <a:rPr lang="zh-CN" altLang="en-US" sz="2400" smtClean="0">
                <a:latin typeface="黑体" pitchFamily="49" charset="-122"/>
                <a:ea typeface="黑体" pitchFamily="49" charset="-122"/>
              </a:rPr>
              <a:t>查询与</a:t>
            </a:r>
            <a:r>
              <a:rPr lang="zh-CN" altLang="en-US" sz="2400" smtClean="0">
                <a:ea typeface="黑体" pitchFamily="49" charset="-122"/>
              </a:rPr>
              <a:t>“</a:t>
            </a:r>
            <a:r>
              <a:rPr lang="zh-CN" altLang="en-US" sz="2400" smtClean="0">
                <a:latin typeface="黑体" pitchFamily="49" charset="-122"/>
                <a:ea typeface="黑体" pitchFamily="49" charset="-122"/>
              </a:rPr>
              <a:t>董顺</a:t>
            </a:r>
            <a:r>
              <a:rPr lang="zh-CN" altLang="en-US" sz="2400" smtClean="0">
                <a:ea typeface="黑体" pitchFamily="49" charset="-122"/>
              </a:rPr>
              <a:t>”</a:t>
            </a:r>
            <a:r>
              <a:rPr lang="zh-CN" altLang="en-US" sz="2400" smtClean="0">
                <a:latin typeface="黑体" pitchFamily="49" charset="-122"/>
                <a:ea typeface="黑体" pitchFamily="49" charset="-122"/>
              </a:rPr>
              <a:t>在同一个学院学习的学生。</a:t>
            </a:r>
          </a:p>
          <a:p>
            <a:pPr eaLnBrk="1" hangingPunct="1">
              <a:lnSpc>
                <a:spcPct val="90000"/>
              </a:lnSpc>
              <a:buFont typeface="Wingdings" pitchFamily="2" charset="2"/>
              <a:buNone/>
            </a:pPr>
            <a:r>
              <a:rPr lang="zh-CN" altLang="en-US" sz="2400" smtClean="0">
                <a:latin typeface="黑体" pitchFamily="49" charset="-122"/>
                <a:ea typeface="黑体" pitchFamily="49" charset="-122"/>
              </a:rPr>
              <a:t>  此查询要求可以分步来完成</a:t>
            </a:r>
          </a:p>
          <a:p>
            <a:pPr eaLnBrk="1" hangingPunct="1">
              <a:lnSpc>
                <a:spcPct val="140000"/>
              </a:lnSpc>
              <a:buFont typeface="Wingdings" pitchFamily="2" charset="2"/>
              <a:buNone/>
            </a:pPr>
            <a:r>
              <a:rPr lang="zh-CN" altLang="en-US" sz="2400" smtClean="0">
                <a:latin typeface="黑体" pitchFamily="49" charset="-122"/>
                <a:ea typeface="黑体" pitchFamily="49" charset="-122"/>
              </a:rPr>
              <a:t>① 确定</a:t>
            </a:r>
            <a:r>
              <a:rPr lang="zh-CN" altLang="en-US" sz="2400" smtClean="0">
                <a:ea typeface="黑体" pitchFamily="49" charset="-122"/>
              </a:rPr>
              <a:t>“</a:t>
            </a:r>
            <a:r>
              <a:rPr lang="zh-CN" altLang="en-US" sz="2400" smtClean="0">
                <a:latin typeface="黑体" pitchFamily="49" charset="-122"/>
                <a:ea typeface="黑体" pitchFamily="49" charset="-122"/>
              </a:rPr>
              <a:t>董顺</a:t>
            </a:r>
            <a:r>
              <a:rPr lang="zh-CN" altLang="en-US" sz="2400" smtClean="0">
                <a:ea typeface="黑体" pitchFamily="49" charset="-122"/>
              </a:rPr>
              <a:t>”</a:t>
            </a:r>
            <a:r>
              <a:rPr lang="zh-CN" altLang="en-US" sz="2400" smtClean="0">
                <a:latin typeface="黑体" pitchFamily="49" charset="-122"/>
                <a:ea typeface="黑体" pitchFamily="49" charset="-122"/>
              </a:rPr>
              <a:t>所在学院名</a:t>
            </a:r>
          </a:p>
          <a:p>
            <a:pPr eaLnBrk="1" hangingPunct="1">
              <a:lnSpc>
                <a:spcPct val="140000"/>
              </a:lnSpc>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SELECT  College  </a:t>
            </a:r>
          </a:p>
          <a:p>
            <a:pPr eaLnBrk="1" hangingPunct="1">
              <a:lnSpc>
                <a:spcPct val="90000"/>
              </a:lnSpc>
              <a:buFont typeface="Wingdings" pitchFamily="2" charset="2"/>
              <a:buNone/>
            </a:pPr>
            <a:r>
              <a:rPr lang="en-US" altLang="zh-CN" sz="2400" smtClean="0">
                <a:latin typeface="黑体" pitchFamily="49" charset="-122"/>
                <a:ea typeface="黑体" pitchFamily="49" charset="-122"/>
              </a:rPr>
              <a:t>     FROM  S</a:t>
            </a:r>
          </a:p>
          <a:p>
            <a:pPr eaLnBrk="1" hangingPunct="1">
              <a:lnSpc>
                <a:spcPct val="90000"/>
              </a:lnSpc>
              <a:buFont typeface="Wingdings" pitchFamily="2" charset="2"/>
              <a:buNone/>
            </a:pPr>
            <a:r>
              <a:rPr lang="en-US" altLang="zh-CN" sz="2400" smtClean="0">
                <a:latin typeface="黑体" pitchFamily="49" charset="-122"/>
                <a:ea typeface="黑体" pitchFamily="49" charset="-122"/>
              </a:rPr>
              <a:t>     WHERE  Sname= '</a:t>
            </a:r>
            <a:r>
              <a:rPr lang="zh-CN" altLang="en-US" sz="2400" smtClean="0">
                <a:latin typeface="黑体" pitchFamily="49" charset="-122"/>
                <a:ea typeface="黑体" pitchFamily="49" charset="-122"/>
              </a:rPr>
              <a:t>董顺</a:t>
            </a: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a:t>
            </a:r>
          </a:p>
          <a:p>
            <a:pPr eaLnBrk="1" hangingPunct="1">
              <a:lnSpc>
                <a:spcPct val="150000"/>
              </a:lnSpc>
              <a:buFont typeface="Wingdings" pitchFamily="2" charset="2"/>
              <a:buNone/>
            </a:pPr>
            <a:r>
              <a:rPr lang="zh-CN" altLang="en-US" sz="2400" smtClean="0">
                <a:latin typeface="黑体" pitchFamily="49" charset="-122"/>
                <a:ea typeface="黑体" pitchFamily="49" charset="-122"/>
              </a:rPr>
              <a:t>	结果为：  </a:t>
            </a:r>
          </a:p>
          <a:p>
            <a:pPr eaLnBrk="1" hangingPunct="1">
              <a:lnSpc>
                <a:spcPct val="90000"/>
              </a:lnSpc>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College</a:t>
            </a:r>
          </a:p>
          <a:p>
            <a:pPr eaLnBrk="1" hangingPunct="1">
              <a:lnSpc>
                <a:spcPct val="90000"/>
              </a:lnSpc>
              <a:buFont typeface="Wingdings" pitchFamily="2" charset="2"/>
              <a:buNone/>
            </a:pPr>
            <a:r>
              <a:rPr lang="en-US" altLang="zh-CN" sz="2400" smtClean="0">
                <a:latin typeface="黑体" pitchFamily="49" charset="-122"/>
                <a:ea typeface="黑体" pitchFamily="49" charset="-122"/>
              </a:rPr>
              <a:t>            </a:t>
            </a:r>
            <a:r>
              <a:rPr lang="zh-CN" altLang="en-US" sz="2400" smtClean="0">
                <a:latin typeface="黑体" pitchFamily="49" charset="-122"/>
                <a:ea typeface="黑体" pitchFamily="49" charset="-122"/>
              </a:rPr>
              <a:t>植保</a:t>
            </a:r>
          </a:p>
        </p:txBody>
      </p:sp>
      <p:sp>
        <p:nvSpPr>
          <p:cNvPr id="4"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 calcmode="lin" valueType="num">
                                      <p:cBhvr additive="base">
                                        <p:cTn id="7" dur="500" fill="hold"/>
                                        <p:tgtEl>
                                          <p:spTgt spid="286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8675">
                                            <p:txEl>
                                              <p:pRg st="1" end="1"/>
                                            </p:txEl>
                                          </p:spTgt>
                                        </p:tgtEl>
                                        <p:attrNameLst>
                                          <p:attrName>style.visibility</p:attrName>
                                        </p:attrNameLst>
                                      </p:cBhvr>
                                      <p:to>
                                        <p:strVal val="visible"/>
                                      </p:to>
                                    </p:set>
                                    <p:anim calcmode="lin" valueType="num">
                                      <p:cBhvr additive="base">
                                        <p:cTn id="13" dur="500" fill="hold"/>
                                        <p:tgtEl>
                                          <p:spTgt spid="286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86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8675">
                                            <p:txEl>
                                              <p:pRg st="2" end="2"/>
                                            </p:txEl>
                                          </p:spTgt>
                                        </p:tgtEl>
                                        <p:attrNameLst>
                                          <p:attrName>style.visibility</p:attrName>
                                        </p:attrNameLst>
                                      </p:cBhvr>
                                      <p:to>
                                        <p:strVal val="visible"/>
                                      </p:to>
                                    </p:set>
                                    <p:anim calcmode="lin" valueType="num">
                                      <p:cBhvr additive="base">
                                        <p:cTn id="19" dur="500" fill="hold"/>
                                        <p:tgtEl>
                                          <p:spTgt spid="2867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675">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8675">
                                            <p:txEl>
                                              <p:pRg st="3" end="3"/>
                                            </p:txEl>
                                          </p:spTgt>
                                        </p:tgtEl>
                                        <p:attrNameLst>
                                          <p:attrName>style.visibility</p:attrName>
                                        </p:attrNameLst>
                                      </p:cBhvr>
                                      <p:to>
                                        <p:strVal val="visible"/>
                                      </p:to>
                                    </p:set>
                                    <p:anim calcmode="lin" valueType="num">
                                      <p:cBhvr additive="base">
                                        <p:cTn id="23" dur="500" fill="hold"/>
                                        <p:tgtEl>
                                          <p:spTgt spid="28675">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8675">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8675">
                                            <p:txEl>
                                              <p:pRg st="4" end="4"/>
                                            </p:txEl>
                                          </p:spTgt>
                                        </p:tgtEl>
                                        <p:attrNameLst>
                                          <p:attrName>style.visibility</p:attrName>
                                        </p:attrNameLst>
                                      </p:cBhvr>
                                      <p:to>
                                        <p:strVal val="visible"/>
                                      </p:to>
                                    </p:set>
                                    <p:anim calcmode="lin" valueType="num">
                                      <p:cBhvr additive="base">
                                        <p:cTn id="27" dur="500" fill="hold"/>
                                        <p:tgtEl>
                                          <p:spTgt spid="28675">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8675">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8675">
                                            <p:txEl>
                                              <p:pRg st="5" end="5"/>
                                            </p:txEl>
                                          </p:spTgt>
                                        </p:tgtEl>
                                        <p:attrNameLst>
                                          <p:attrName>style.visibility</p:attrName>
                                        </p:attrNameLst>
                                      </p:cBhvr>
                                      <p:to>
                                        <p:strVal val="visible"/>
                                      </p:to>
                                    </p:set>
                                    <p:anim calcmode="lin" valueType="num">
                                      <p:cBhvr additive="base">
                                        <p:cTn id="31" dur="500" fill="hold"/>
                                        <p:tgtEl>
                                          <p:spTgt spid="2867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867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28675">
                                            <p:txEl>
                                              <p:pRg st="6" end="6"/>
                                            </p:txEl>
                                          </p:spTgt>
                                        </p:tgtEl>
                                        <p:attrNameLst>
                                          <p:attrName>style.visibility</p:attrName>
                                        </p:attrNameLst>
                                      </p:cBhvr>
                                      <p:to>
                                        <p:strVal val="visible"/>
                                      </p:to>
                                    </p:set>
                                    <p:anim calcmode="lin" valueType="num">
                                      <p:cBhvr additive="base">
                                        <p:cTn id="37" dur="500" fill="hold"/>
                                        <p:tgtEl>
                                          <p:spTgt spid="2867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8675">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8675">
                                            <p:txEl>
                                              <p:pRg st="7" end="7"/>
                                            </p:txEl>
                                          </p:spTgt>
                                        </p:tgtEl>
                                        <p:attrNameLst>
                                          <p:attrName>style.visibility</p:attrName>
                                        </p:attrNameLst>
                                      </p:cBhvr>
                                      <p:to>
                                        <p:strVal val="visible"/>
                                      </p:to>
                                    </p:set>
                                    <p:anim calcmode="lin" valueType="num">
                                      <p:cBhvr additive="base">
                                        <p:cTn id="41" dur="500" fill="hold"/>
                                        <p:tgtEl>
                                          <p:spTgt spid="28675">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28675">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28675">
                                            <p:txEl>
                                              <p:pRg st="8" end="8"/>
                                            </p:txEl>
                                          </p:spTgt>
                                        </p:tgtEl>
                                        <p:attrNameLst>
                                          <p:attrName>style.visibility</p:attrName>
                                        </p:attrNameLst>
                                      </p:cBhvr>
                                      <p:to>
                                        <p:strVal val="visible"/>
                                      </p:to>
                                    </p:set>
                                    <p:anim calcmode="lin" valueType="num">
                                      <p:cBhvr additive="base">
                                        <p:cTn id="45" dur="500" fill="hold"/>
                                        <p:tgtEl>
                                          <p:spTgt spid="28675">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2867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ChangeArrowheads="1"/>
          </p:cNvSpPr>
          <p:nvPr>
            <p:ph type="body" idx="1"/>
          </p:nvPr>
        </p:nvSpPr>
        <p:spPr>
          <a:xfrm>
            <a:off x="684213" y="2205038"/>
            <a:ext cx="7772400" cy="3311525"/>
          </a:xfrm>
        </p:spPr>
        <p:txBody>
          <a:bodyPr/>
          <a:lstStyle/>
          <a:p>
            <a:pPr eaLnBrk="1" hangingPunct="1">
              <a:buFont typeface="Wingdings" pitchFamily="2" charset="2"/>
              <a:buNone/>
            </a:pPr>
            <a:r>
              <a:rPr lang="zh-CN" altLang="en-US" sz="2400" smtClean="0">
                <a:latin typeface="黑体" pitchFamily="49" charset="-122"/>
                <a:ea typeface="黑体" pitchFamily="49" charset="-122"/>
              </a:rPr>
              <a:t>② 查找所有在植保学院学习的学生。    </a:t>
            </a:r>
          </a:p>
          <a:p>
            <a:pPr eaLnBrk="1" hangingPunct="1">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SELECT   Sno</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Sname</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College     </a:t>
            </a:r>
          </a:p>
          <a:p>
            <a:pPr eaLnBrk="1" hangingPunct="1">
              <a:buFont typeface="Wingdings" pitchFamily="2" charset="2"/>
              <a:buNone/>
            </a:pPr>
            <a:r>
              <a:rPr lang="en-US" altLang="zh-CN" sz="2400" smtClean="0">
                <a:latin typeface="黑体" pitchFamily="49" charset="-122"/>
                <a:ea typeface="黑体" pitchFamily="49" charset="-122"/>
              </a:rPr>
              <a:t>      FROM  S                 </a:t>
            </a:r>
          </a:p>
          <a:p>
            <a:pPr eaLnBrk="1" hangingPunct="1">
              <a:buFont typeface="Wingdings" pitchFamily="2" charset="2"/>
              <a:buNone/>
            </a:pPr>
            <a:r>
              <a:rPr lang="en-US" altLang="zh-CN" sz="2400" smtClean="0">
                <a:latin typeface="黑体" pitchFamily="49" charset="-122"/>
                <a:ea typeface="黑体" pitchFamily="49" charset="-122"/>
              </a:rPr>
              <a:t>      WHERE  College= '</a:t>
            </a:r>
            <a:r>
              <a:rPr lang="zh-CN" altLang="en-US" sz="2400" smtClean="0">
                <a:ea typeface="黑体" pitchFamily="49" charset="-122"/>
              </a:rPr>
              <a:t>植保</a:t>
            </a: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 </a:t>
            </a:r>
          </a:p>
        </p:txBody>
      </p:sp>
      <p:sp>
        <p:nvSpPr>
          <p:cNvPr id="74755" name="Rectangle 2"/>
          <p:cNvSpPr>
            <a:spLocks noChangeArrowheads="1"/>
          </p:cNvSpPr>
          <p:nvPr>
            <p:ph type="title"/>
          </p:nvPr>
        </p:nvSpPr>
        <p:spPr>
          <a:xfrm>
            <a:off x="684213" y="1052513"/>
            <a:ext cx="7793037" cy="863600"/>
          </a:xfrm>
        </p:spPr>
        <p:txBody>
          <a:bodyPr/>
          <a:lstStyle/>
          <a:p>
            <a:pPr eaLnBrk="1" hangingPunct="1"/>
            <a:r>
              <a:rPr lang="zh-CN" altLang="en-US" sz="2800" smtClean="0">
                <a:solidFill>
                  <a:schemeClr val="tx1"/>
                </a:solidFill>
                <a:latin typeface="黑体" pitchFamily="49" charset="-122"/>
              </a:rPr>
              <a:t>一、带有</a:t>
            </a:r>
            <a:r>
              <a:rPr lang="en-US" altLang="zh-CN" sz="2800" smtClean="0">
                <a:solidFill>
                  <a:schemeClr val="tx1"/>
                </a:solidFill>
                <a:latin typeface="黑体" pitchFamily="49" charset="-122"/>
              </a:rPr>
              <a:t>IN</a:t>
            </a:r>
            <a:r>
              <a:rPr lang="zh-CN" altLang="en-US" sz="2800" smtClean="0">
                <a:solidFill>
                  <a:schemeClr val="tx1"/>
                </a:solidFill>
                <a:latin typeface="黑体" pitchFamily="49" charset="-122"/>
              </a:rPr>
              <a:t>谓词的子查询</a:t>
            </a:r>
          </a:p>
        </p:txBody>
      </p:sp>
      <p:sp>
        <p:nvSpPr>
          <p:cNvPr id="6"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 calcmode="lin" valueType="num">
                                      <p:cBhvr additive="base">
                                        <p:cTn id="7" dur="500" fill="hold"/>
                                        <p:tgtEl>
                                          <p:spTgt spid="296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9699">
                                            <p:txEl>
                                              <p:pRg st="1" end="1"/>
                                            </p:txEl>
                                          </p:spTgt>
                                        </p:tgtEl>
                                        <p:attrNameLst>
                                          <p:attrName>style.visibility</p:attrName>
                                        </p:attrNameLst>
                                      </p:cBhvr>
                                      <p:to>
                                        <p:strVal val="visible"/>
                                      </p:to>
                                    </p:set>
                                    <p:anim calcmode="lin" valueType="num">
                                      <p:cBhvr additive="base">
                                        <p:cTn id="13" dur="500" fill="hold"/>
                                        <p:tgtEl>
                                          <p:spTgt spid="296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69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9699">
                                            <p:txEl>
                                              <p:pRg st="2" end="2"/>
                                            </p:txEl>
                                          </p:spTgt>
                                        </p:tgtEl>
                                        <p:attrNameLst>
                                          <p:attrName>style.visibility</p:attrName>
                                        </p:attrNameLst>
                                      </p:cBhvr>
                                      <p:to>
                                        <p:strVal val="visible"/>
                                      </p:to>
                                    </p:set>
                                    <p:anim calcmode="lin" valueType="num">
                                      <p:cBhvr additive="base">
                                        <p:cTn id="17" dur="500" fill="hold"/>
                                        <p:tgtEl>
                                          <p:spTgt spid="2969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969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9699">
                                            <p:txEl>
                                              <p:pRg st="3" end="3"/>
                                            </p:txEl>
                                          </p:spTgt>
                                        </p:tgtEl>
                                        <p:attrNameLst>
                                          <p:attrName>style.visibility</p:attrName>
                                        </p:attrNameLst>
                                      </p:cBhvr>
                                      <p:to>
                                        <p:strVal val="visible"/>
                                      </p:to>
                                    </p:set>
                                    <p:anim calcmode="lin" valueType="num">
                                      <p:cBhvr additive="base">
                                        <p:cTn id="21" dur="500" fill="hold"/>
                                        <p:tgtEl>
                                          <p:spTgt spid="2969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969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ChangeArrowheads="1"/>
          </p:cNvSpPr>
          <p:nvPr>
            <p:ph type="body" idx="1"/>
          </p:nvPr>
        </p:nvSpPr>
        <p:spPr>
          <a:xfrm>
            <a:off x="714375" y="1931988"/>
            <a:ext cx="7920038" cy="4465637"/>
          </a:xfrm>
        </p:spPr>
        <p:txBody>
          <a:bodyPr/>
          <a:lstStyle/>
          <a:p>
            <a:pPr eaLnBrk="1" hangingPunct="1">
              <a:lnSpc>
                <a:spcPct val="90000"/>
              </a:lnSpc>
              <a:buFont typeface="Wingdings" pitchFamily="2" charset="2"/>
              <a:buNone/>
            </a:pPr>
            <a:r>
              <a:rPr lang="zh-CN" altLang="en-US" sz="2400" smtClean="0">
                <a:latin typeface="黑体" pitchFamily="49" charset="-122"/>
                <a:ea typeface="黑体" pitchFamily="49" charset="-122"/>
              </a:rPr>
              <a:t>将第一步查询嵌入到第二步查询的条件中</a:t>
            </a:r>
          </a:p>
          <a:p>
            <a:pPr eaLnBrk="1" hangingPunct="1">
              <a:lnSpc>
                <a:spcPct val="140000"/>
              </a:lnSpc>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SELECT Sno</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Sname</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College</a:t>
            </a:r>
          </a:p>
          <a:p>
            <a:pPr eaLnBrk="1" hangingPunct="1">
              <a:lnSpc>
                <a:spcPct val="140000"/>
              </a:lnSpc>
              <a:buFont typeface="Wingdings" pitchFamily="2" charset="2"/>
              <a:buNone/>
            </a:pPr>
            <a:r>
              <a:rPr lang="en-US" altLang="zh-CN" sz="2400" smtClean="0">
                <a:latin typeface="黑体" pitchFamily="49" charset="-122"/>
                <a:ea typeface="黑体" pitchFamily="49" charset="-122"/>
              </a:rPr>
              <a:t>    FROM S</a:t>
            </a:r>
          </a:p>
          <a:p>
            <a:pPr eaLnBrk="1" hangingPunct="1">
              <a:lnSpc>
                <a:spcPct val="90000"/>
              </a:lnSpc>
              <a:buFont typeface="Wingdings" pitchFamily="2" charset="2"/>
              <a:buNone/>
            </a:pPr>
            <a:r>
              <a:rPr lang="en-US" altLang="zh-CN" sz="2400" smtClean="0">
                <a:latin typeface="黑体" pitchFamily="49" charset="-122"/>
                <a:ea typeface="黑体" pitchFamily="49" charset="-122"/>
              </a:rPr>
              <a:t>    WHERE College  IN</a:t>
            </a:r>
          </a:p>
          <a:p>
            <a:pPr eaLnBrk="1" hangingPunct="1">
              <a:lnSpc>
                <a:spcPct val="90000"/>
              </a:lnSpc>
              <a:buFont typeface="Wingdings" pitchFamily="2" charset="2"/>
              <a:buNone/>
            </a:pPr>
            <a:r>
              <a:rPr lang="en-US" altLang="zh-CN" sz="2400" smtClean="0">
                <a:latin typeface="黑体" pitchFamily="49" charset="-122"/>
                <a:ea typeface="黑体" pitchFamily="49" charset="-122"/>
              </a:rPr>
              <a:t>          (SELECT College</a:t>
            </a:r>
          </a:p>
          <a:p>
            <a:pPr eaLnBrk="1" hangingPunct="1">
              <a:lnSpc>
                <a:spcPct val="90000"/>
              </a:lnSpc>
              <a:buFont typeface="Wingdings" pitchFamily="2" charset="2"/>
              <a:buNone/>
            </a:pPr>
            <a:r>
              <a:rPr lang="en-US" altLang="zh-CN" sz="2400" smtClean="0">
                <a:latin typeface="黑体" pitchFamily="49" charset="-122"/>
                <a:ea typeface="黑体" pitchFamily="49" charset="-122"/>
              </a:rPr>
              <a:t>           FROM S</a:t>
            </a:r>
          </a:p>
          <a:p>
            <a:pPr eaLnBrk="1" hangingPunct="1">
              <a:lnSpc>
                <a:spcPct val="90000"/>
              </a:lnSpc>
              <a:buFont typeface="Wingdings" pitchFamily="2" charset="2"/>
              <a:buNone/>
            </a:pPr>
            <a:r>
              <a:rPr lang="en-US" altLang="zh-CN" sz="2400" smtClean="0">
                <a:latin typeface="黑体" pitchFamily="49" charset="-122"/>
                <a:ea typeface="黑体" pitchFamily="49" charset="-122"/>
              </a:rPr>
              <a:t>           WHERE Sname= '</a:t>
            </a:r>
            <a:r>
              <a:rPr lang="zh-CN" altLang="en-US" sz="2400" smtClean="0">
                <a:latin typeface="黑体" pitchFamily="49" charset="-122"/>
                <a:ea typeface="黑体" pitchFamily="49" charset="-122"/>
              </a:rPr>
              <a:t>董顺</a:t>
            </a: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a:t>
            </a:r>
          </a:p>
          <a:p>
            <a:pPr eaLnBrk="1" hangingPunct="1">
              <a:lnSpc>
                <a:spcPct val="140000"/>
              </a:lnSpc>
              <a:buFont typeface="Wingdings" pitchFamily="2" charset="2"/>
              <a:buNone/>
            </a:pPr>
            <a:r>
              <a:rPr lang="zh-CN" altLang="en-US" sz="2400" smtClean="0">
                <a:latin typeface="黑体" pitchFamily="49" charset="-122"/>
                <a:ea typeface="黑体" pitchFamily="49" charset="-122"/>
              </a:rPr>
              <a:t>此查询为不相关子查询。</a:t>
            </a:r>
            <a:r>
              <a:rPr lang="en-US" altLang="zh-CN" sz="2400" smtClean="0">
                <a:latin typeface="黑体" pitchFamily="49" charset="-122"/>
                <a:ea typeface="黑体" pitchFamily="49" charset="-122"/>
              </a:rPr>
              <a:t>DBMS</a:t>
            </a:r>
            <a:r>
              <a:rPr lang="zh-CN" altLang="en-US" sz="2400" smtClean="0">
                <a:latin typeface="黑体" pitchFamily="49" charset="-122"/>
                <a:ea typeface="黑体" pitchFamily="49" charset="-122"/>
              </a:rPr>
              <a:t>求解该查询时也是分步</a:t>
            </a:r>
          </a:p>
          <a:p>
            <a:pPr eaLnBrk="1" hangingPunct="1">
              <a:lnSpc>
                <a:spcPct val="140000"/>
              </a:lnSpc>
              <a:buFont typeface="Wingdings" pitchFamily="2" charset="2"/>
              <a:buNone/>
            </a:pPr>
            <a:r>
              <a:rPr lang="zh-CN" altLang="en-US" sz="2400" smtClean="0">
                <a:latin typeface="黑体" pitchFamily="49" charset="-122"/>
                <a:ea typeface="黑体" pitchFamily="49" charset="-122"/>
              </a:rPr>
              <a:t>去做的。</a:t>
            </a:r>
          </a:p>
        </p:txBody>
      </p:sp>
      <p:sp>
        <p:nvSpPr>
          <p:cNvPr id="75779" name="AutoShape 4">
            <a:hlinkClick r:id="" action="ppaction://hlinkshowjump?jump=nextslide" highlightClick="1"/>
          </p:cNvPr>
          <p:cNvSpPr>
            <a:spLocks noChangeArrowheads="1"/>
          </p:cNvSpPr>
          <p:nvPr/>
        </p:nvSpPr>
        <p:spPr bwMode="auto">
          <a:xfrm>
            <a:off x="8153400" y="6248400"/>
            <a:ext cx="304800" cy="304800"/>
          </a:xfrm>
          <a:prstGeom prst="actionButtonForwardNex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p>
            <a:endParaRPr lang="zh-CN" altLang="en-US" sz="2400">
              <a:latin typeface="Arial" charset="0"/>
              <a:ea typeface="黑体" pitchFamily="49" charset="-122"/>
            </a:endParaRPr>
          </a:p>
        </p:txBody>
      </p:sp>
      <p:sp>
        <p:nvSpPr>
          <p:cNvPr id="75780" name="Text Box 5"/>
          <p:cNvSpPr txBox="1">
            <a:spLocks noChangeArrowheads="1"/>
          </p:cNvSpPr>
          <p:nvPr/>
        </p:nvSpPr>
        <p:spPr bwMode="auto">
          <a:xfrm>
            <a:off x="7605713" y="6172200"/>
            <a:ext cx="180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eaLnBrk="1" hangingPunct="1">
              <a:spcBef>
                <a:spcPct val="50000"/>
              </a:spcBef>
            </a:pPr>
            <a:endParaRPr lang="zh-CN" altLang="en-US" sz="2400"/>
          </a:p>
        </p:txBody>
      </p:sp>
      <p:sp>
        <p:nvSpPr>
          <p:cNvPr id="75781" name="Rectangle 2"/>
          <p:cNvSpPr>
            <a:spLocks noChangeArrowheads="1"/>
          </p:cNvSpPr>
          <p:nvPr>
            <p:ph type="title"/>
          </p:nvPr>
        </p:nvSpPr>
        <p:spPr>
          <a:xfrm>
            <a:off x="684213" y="1052513"/>
            <a:ext cx="7793037" cy="863600"/>
          </a:xfrm>
        </p:spPr>
        <p:txBody>
          <a:bodyPr/>
          <a:lstStyle/>
          <a:p>
            <a:pPr eaLnBrk="1" hangingPunct="1"/>
            <a:r>
              <a:rPr lang="zh-CN" altLang="en-US" sz="2800" smtClean="0">
                <a:solidFill>
                  <a:schemeClr val="tx1"/>
                </a:solidFill>
                <a:latin typeface="黑体" pitchFamily="49" charset="-122"/>
              </a:rPr>
              <a:t>一、带有</a:t>
            </a:r>
            <a:r>
              <a:rPr lang="en-US" altLang="zh-CN" sz="2800" smtClean="0">
                <a:solidFill>
                  <a:schemeClr val="tx1"/>
                </a:solidFill>
                <a:latin typeface="黑体" pitchFamily="49" charset="-122"/>
              </a:rPr>
              <a:t>IN</a:t>
            </a:r>
            <a:r>
              <a:rPr lang="zh-CN" altLang="en-US" sz="2800" smtClean="0">
                <a:solidFill>
                  <a:schemeClr val="tx1"/>
                </a:solidFill>
                <a:latin typeface="黑体" pitchFamily="49" charset="-122"/>
              </a:rPr>
              <a:t>谓词的子查询</a:t>
            </a:r>
          </a:p>
        </p:txBody>
      </p:sp>
      <p:sp>
        <p:nvSpPr>
          <p:cNvPr id="8"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ChangeArrowheads="1"/>
          </p:cNvSpPr>
          <p:nvPr>
            <p:ph type="body" idx="1"/>
          </p:nvPr>
        </p:nvSpPr>
        <p:spPr>
          <a:xfrm>
            <a:off x="611188" y="2205038"/>
            <a:ext cx="7772400" cy="4114800"/>
          </a:xfrm>
        </p:spPr>
        <p:txBody>
          <a:bodyPr/>
          <a:lstStyle/>
          <a:p>
            <a:pPr eaLnBrk="1" hangingPunct="1">
              <a:buFont typeface="Wingdings" pitchFamily="2" charset="2"/>
              <a:buNone/>
            </a:pPr>
            <a:r>
              <a:rPr lang="zh-CN" altLang="en-US" sz="2800" smtClean="0">
                <a:latin typeface="黑体" pitchFamily="49" charset="-122"/>
                <a:ea typeface="黑体" pitchFamily="49" charset="-122"/>
              </a:rPr>
              <a:t> 用自身连接完成本查询要求</a:t>
            </a:r>
          </a:p>
          <a:p>
            <a:pPr eaLnBrk="1" hangingPunct="1">
              <a:spcBef>
                <a:spcPct val="55000"/>
              </a:spcBef>
              <a:buFont typeface="Wingdings" pitchFamily="2" charset="2"/>
              <a:buNone/>
            </a:pPr>
            <a:r>
              <a:rPr lang="zh-CN" altLang="en-US" sz="2800" smtClean="0">
                <a:latin typeface="黑体" pitchFamily="49" charset="-122"/>
                <a:ea typeface="黑体" pitchFamily="49" charset="-122"/>
              </a:rPr>
              <a:t>   </a:t>
            </a:r>
            <a:r>
              <a:rPr lang="en-US" altLang="zh-CN" sz="2800" smtClean="0">
                <a:latin typeface="黑体" pitchFamily="49" charset="-122"/>
                <a:ea typeface="黑体" pitchFamily="49" charset="-122"/>
              </a:rPr>
              <a:t>SELECT  </a:t>
            </a:r>
            <a:r>
              <a:rPr lang="en-US" altLang="zh-CN" sz="2800" smtClean="0">
                <a:solidFill>
                  <a:srgbClr val="FF0000"/>
                </a:solidFill>
                <a:latin typeface="黑体" pitchFamily="49" charset="-122"/>
                <a:ea typeface="黑体" pitchFamily="49" charset="-122"/>
              </a:rPr>
              <a:t>S2</a:t>
            </a:r>
            <a:r>
              <a:rPr lang="en-US" altLang="zh-CN" sz="2800" smtClean="0">
                <a:latin typeface="黑体" pitchFamily="49" charset="-122"/>
                <a:ea typeface="黑体" pitchFamily="49" charset="-122"/>
              </a:rPr>
              <a:t>.Sno</a:t>
            </a:r>
            <a:r>
              <a:rPr lang="zh-CN" altLang="en-US" sz="2800" smtClean="0">
                <a:latin typeface="黑体" pitchFamily="49" charset="-122"/>
                <a:ea typeface="黑体" pitchFamily="49" charset="-122"/>
              </a:rPr>
              <a:t>，</a:t>
            </a:r>
            <a:r>
              <a:rPr lang="en-US" altLang="zh-CN" sz="2800" smtClean="0">
                <a:solidFill>
                  <a:srgbClr val="FF0000"/>
                </a:solidFill>
                <a:latin typeface="黑体" pitchFamily="49" charset="-122"/>
                <a:ea typeface="黑体" pitchFamily="49" charset="-122"/>
              </a:rPr>
              <a:t>S2</a:t>
            </a:r>
            <a:r>
              <a:rPr lang="en-US" altLang="zh-CN" sz="2800" smtClean="0">
                <a:latin typeface="黑体" pitchFamily="49" charset="-122"/>
                <a:ea typeface="黑体" pitchFamily="49" charset="-122"/>
              </a:rPr>
              <a:t>.Sname</a:t>
            </a:r>
            <a:r>
              <a:rPr lang="zh-CN" altLang="en-US" sz="2800" smtClean="0">
                <a:latin typeface="黑体" pitchFamily="49" charset="-122"/>
                <a:ea typeface="黑体" pitchFamily="49" charset="-122"/>
              </a:rPr>
              <a:t>，</a:t>
            </a:r>
            <a:r>
              <a:rPr lang="en-US" altLang="zh-CN" sz="2800" smtClean="0">
                <a:solidFill>
                  <a:schemeClr val="hlink"/>
                </a:solidFill>
                <a:latin typeface="黑体" pitchFamily="49" charset="-122"/>
                <a:ea typeface="黑体" pitchFamily="49" charset="-122"/>
              </a:rPr>
              <a:t>S2</a:t>
            </a:r>
            <a:r>
              <a:rPr lang="en-US" altLang="zh-CN" sz="2800" smtClean="0">
                <a:latin typeface="黑体" pitchFamily="49" charset="-122"/>
                <a:ea typeface="黑体" pitchFamily="49" charset="-122"/>
              </a:rPr>
              <a:t>. College</a:t>
            </a:r>
          </a:p>
          <a:p>
            <a:pPr eaLnBrk="1" hangingPunct="1">
              <a:buFont typeface="Wingdings" pitchFamily="2" charset="2"/>
              <a:buNone/>
            </a:pPr>
            <a:r>
              <a:rPr lang="en-US" altLang="zh-CN" sz="2800" smtClean="0">
                <a:latin typeface="黑体" pitchFamily="49" charset="-122"/>
                <a:ea typeface="黑体" pitchFamily="49" charset="-122"/>
              </a:rPr>
              <a:t>   FROM  S </a:t>
            </a:r>
            <a:r>
              <a:rPr lang="en-US" altLang="zh-CN" sz="2800" smtClean="0">
                <a:solidFill>
                  <a:srgbClr val="FF0000"/>
                </a:solidFill>
                <a:latin typeface="黑体" pitchFamily="49" charset="-122"/>
                <a:ea typeface="黑体" pitchFamily="49" charset="-122"/>
              </a:rPr>
              <a:t>S1</a:t>
            </a:r>
            <a:r>
              <a:rPr lang="zh-CN" altLang="en-US" sz="2800" smtClean="0">
                <a:latin typeface="黑体" pitchFamily="49" charset="-122"/>
                <a:ea typeface="黑体" pitchFamily="49" charset="-122"/>
              </a:rPr>
              <a:t>，</a:t>
            </a:r>
            <a:r>
              <a:rPr lang="en-US" altLang="zh-CN" sz="2800" smtClean="0">
                <a:latin typeface="黑体" pitchFamily="49" charset="-122"/>
                <a:ea typeface="黑体" pitchFamily="49" charset="-122"/>
              </a:rPr>
              <a:t>S </a:t>
            </a:r>
            <a:r>
              <a:rPr lang="en-US" altLang="zh-CN" sz="2800" smtClean="0">
                <a:solidFill>
                  <a:srgbClr val="FF0000"/>
                </a:solidFill>
                <a:latin typeface="黑体" pitchFamily="49" charset="-122"/>
                <a:ea typeface="黑体" pitchFamily="49" charset="-122"/>
              </a:rPr>
              <a:t>S2</a:t>
            </a:r>
          </a:p>
          <a:p>
            <a:pPr eaLnBrk="1" hangingPunct="1">
              <a:buFont typeface="Wingdings" pitchFamily="2" charset="2"/>
              <a:buNone/>
            </a:pPr>
            <a:r>
              <a:rPr lang="en-US" altLang="zh-CN" sz="2800" smtClean="0">
                <a:latin typeface="黑体" pitchFamily="49" charset="-122"/>
                <a:ea typeface="黑体" pitchFamily="49" charset="-122"/>
              </a:rPr>
              <a:t>   WHERE </a:t>
            </a:r>
            <a:r>
              <a:rPr lang="en-US" altLang="zh-CN" sz="2800" smtClean="0">
                <a:solidFill>
                  <a:srgbClr val="FF0000"/>
                </a:solidFill>
                <a:latin typeface="黑体" pitchFamily="49" charset="-122"/>
                <a:ea typeface="黑体" pitchFamily="49" charset="-122"/>
              </a:rPr>
              <a:t>S1</a:t>
            </a:r>
            <a:r>
              <a:rPr lang="en-US" altLang="zh-CN" sz="2800" smtClean="0">
                <a:latin typeface="黑体" pitchFamily="49" charset="-122"/>
                <a:ea typeface="黑体" pitchFamily="49" charset="-122"/>
              </a:rPr>
              <a:t>.Sname = '</a:t>
            </a:r>
            <a:r>
              <a:rPr lang="zh-CN" altLang="en-US" sz="2800" smtClean="0">
                <a:latin typeface="黑体" pitchFamily="49" charset="-122"/>
                <a:ea typeface="黑体" pitchFamily="49" charset="-122"/>
              </a:rPr>
              <a:t>董顺</a:t>
            </a:r>
            <a:r>
              <a:rPr lang="en-US" altLang="zh-CN" sz="2800" smtClean="0">
                <a:latin typeface="黑体" pitchFamily="49" charset="-122"/>
                <a:ea typeface="黑体" pitchFamily="49" charset="-122"/>
              </a:rPr>
              <a:t>' AND </a:t>
            </a:r>
          </a:p>
          <a:p>
            <a:pPr eaLnBrk="1" hangingPunct="1">
              <a:buFont typeface="Wingdings" pitchFamily="2" charset="2"/>
              <a:buNone/>
            </a:pPr>
            <a:r>
              <a:rPr lang="en-US" altLang="zh-CN" sz="2800" smtClean="0">
                <a:latin typeface="黑体" pitchFamily="49" charset="-122"/>
                <a:ea typeface="黑体" pitchFamily="49" charset="-122"/>
              </a:rPr>
              <a:t>         </a:t>
            </a:r>
            <a:r>
              <a:rPr lang="en-US" altLang="zh-CN" sz="2800" smtClean="0">
                <a:solidFill>
                  <a:srgbClr val="FF0000"/>
                </a:solidFill>
                <a:latin typeface="黑体" pitchFamily="49" charset="-122"/>
                <a:ea typeface="黑体" pitchFamily="49" charset="-122"/>
              </a:rPr>
              <a:t>S1</a:t>
            </a:r>
            <a:r>
              <a:rPr lang="en-US" altLang="zh-CN" sz="2800" smtClean="0">
                <a:latin typeface="黑体" pitchFamily="49" charset="-122"/>
                <a:ea typeface="黑体" pitchFamily="49" charset="-122"/>
              </a:rPr>
              <a:t>.College = </a:t>
            </a:r>
            <a:r>
              <a:rPr lang="en-US" altLang="zh-CN" sz="2800" smtClean="0">
                <a:solidFill>
                  <a:srgbClr val="FF0000"/>
                </a:solidFill>
                <a:latin typeface="黑体" pitchFamily="49" charset="-122"/>
                <a:ea typeface="黑体" pitchFamily="49" charset="-122"/>
              </a:rPr>
              <a:t>S2</a:t>
            </a:r>
            <a:r>
              <a:rPr lang="en-US" altLang="zh-CN" sz="2800" smtClean="0">
                <a:latin typeface="黑体" pitchFamily="49" charset="-122"/>
                <a:ea typeface="黑体" pitchFamily="49" charset="-122"/>
              </a:rPr>
              <a:t>. College</a:t>
            </a:r>
            <a:r>
              <a:rPr lang="zh-CN" altLang="en-US" sz="2800" smtClean="0">
                <a:latin typeface="黑体" pitchFamily="49" charset="-122"/>
                <a:ea typeface="黑体" pitchFamily="49" charset="-122"/>
              </a:rPr>
              <a:t>；</a:t>
            </a:r>
          </a:p>
          <a:p>
            <a:pPr eaLnBrk="1" hangingPunct="1">
              <a:buFont typeface="Wingdings" pitchFamily="2" charset="2"/>
              <a:buNone/>
            </a:pPr>
            <a:endParaRPr lang="zh-CN" altLang="en-US" sz="2800" smtClean="0">
              <a:latin typeface="黑体" pitchFamily="49" charset="-122"/>
              <a:ea typeface="黑体" pitchFamily="49" charset="-122"/>
            </a:endParaRPr>
          </a:p>
        </p:txBody>
      </p:sp>
      <p:sp>
        <p:nvSpPr>
          <p:cNvPr id="76803" name="Rectangle 2"/>
          <p:cNvSpPr>
            <a:spLocks noChangeArrowheads="1"/>
          </p:cNvSpPr>
          <p:nvPr>
            <p:ph type="title"/>
          </p:nvPr>
        </p:nvSpPr>
        <p:spPr>
          <a:xfrm>
            <a:off x="684213" y="1052513"/>
            <a:ext cx="7793037" cy="863600"/>
          </a:xfrm>
        </p:spPr>
        <p:txBody>
          <a:bodyPr/>
          <a:lstStyle/>
          <a:p>
            <a:pPr eaLnBrk="1" hangingPunct="1"/>
            <a:r>
              <a:rPr lang="zh-CN" altLang="en-US" sz="2800" smtClean="0">
                <a:solidFill>
                  <a:schemeClr val="tx1"/>
                </a:solidFill>
                <a:latin typeface="黑体" pitchFamily="49" charset="-122"/>
              </a:rPr>
              <a:t>一、带有</a:t>
            </a:r>
            <a:r>
              <a:rPr lang="en-US" altLang="zh-CN" sz="2800" smtClean="0">
                <a:solidFill>
                  <a:schemeClr val="tx1"/>
                </a:solidFill>
                <a:latin typeface="黑体" pitchFamily="49" charset="-122"/>
              </a:rPr>
              <a:t>IN</a:t>
            </a:r>
            <a:r>
              <a:rPr lang="zh-CN" altLang="en-US" sz="2800" smtClean="0">
                <a:solidFill>
                  <a:schemeClr val="tx1"/>
                </a:solidFill>
                <a:latin typeface="黑体" pitchFamily="49" charset="-122"/>
              </a:rPr>
              <a:t>谓词的子查询</a:t>
            </a:r>
          </a:p>
        </p:txBody>
      </p:sp>
      <p:sp>
        <p:nvSpPr>
          <p:cNvPr id="6"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ChangeArrowheads="1"/>
          </p:cNvSpPr>
          <p:nvPr>
            <p:ph type="body" idx="1"/>
          </p:nvPr>
        </p:nvSpPr>
        <p:spPr>
          <a:xfrm>
            <a:off x="517525" y="1916113"/>
            <a:ext cx="8447088" cy="4608512"/>
          </a:xfrm>
        </p:spPr>
        <p:txBody>
          <a:bodyPr/>
          <a:lstStyle/>
          <a:p>
            <a:pPr eaLnBrk="1" hangingPunct="1">
              <a:lnSpc>
                <a:spcPct val="90000"/>
              </a:lnSpc>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39]</a:t>
            </a:r>
            <a:r>
              <a:rPr lang="zh-CN" altLang="en-US" sz="2400" smtClean="0">
                <a:latin typeface="黑体" pitchFamily="49" charset="-122"/>
                <a:ea typeface="黑体" pitchFamily="49" charset="-122"/>
              </a:rPr>
              <a:t>查询选修了课程名为</a:t>
            </a:r>
            <a:r>
              <a:rPr lang="zh-CN" altLang="en-US" sz="2400" smtClean="0">
                <a:ea typeface="黑体" pitchFamily="49" charset="-122"/>
              </a:rPr>
              <a:t>“</a:t>
            </a:r>
            <a:r>
              <a:rPr lang="en-US" altLang="zh-CN" sz="2400" smtClean="0">
                <a:ea typeface="黑体" pitchFamily="49" charset="-122"/>
              </a:rPr>
              <a:t>C</a:t>
            </a:r>
            <a:r>
              <a:rPr lang="zh-CN" altLang="en-US" sz="2400" smtClean="0">
                <a:ea typeface="黑体" pitchFamily="49" charset="-122"/>
              </a:rPr>
              <a:t>语言”</a:t>
            </a:r>
            <a:r>
              <a:rPr lang="zh-CN" altLang="en-US" sz="2400" smtClean="0">
                <a:latin typeface="黑体" pitchFamily="49" charset="-122"/>
                <a:ea typeface="黑体" pitchFamily="49" charset="-122"/>
              </a:rPr>
              <a:t>的学生学号和姓名</a:t>
            </a:r>
          </a:p>
          <a:p>
            <a:pPr eaLnBrk="1" hangingPunct="1">
              <a:lnSpc>
                <a:spcPct val="90000"/>
              </a:lnSpc>
              <a:buFont typeface="Wingdings" pitchFamily="2" charset="2"/>
              <a:buNone/>
            </a:pPr>
            <a:r>
              <a:rPr lang="zh-CN" altLang="en-US" sz="2800" smtClean="0"/>
              <a:t> </a:t>
            </a:r>
            <a:r>
              <a:rPr lang="en-US" altLang="zh-CN" sz="2400" smtClean="0"/>
              <a:t>SELECT Sno</a:t>
            </a:r>
            <a:r>
              <a:rPr lang="zh-CN" altLang="en-US" sz="2400" smtClean="0"/>
              <a:t>，</a:t>
            </a:r>
            <a:r>
              <a:rPr lang="en-US" altLang="zh-CN" sz="2400" smtClean="0"/>
              <a:t>Sname            </a:t>
            </a:r>
            <a:r>
              <a:rPr lang="en-US" altLang="zh-CN" sz="2000" smtClean="0">
                <a:solidFill>
                  <a:srgbClr val="FF3399"/>
                </a:solidFill>
              </a:rPr>
              <a:t>③ </a:t>
            </a:r>
            <a:r>
              <a:rPr lang="zh-CN" altLang="en-US" sz="2000" smtClean="0">
                <a:solidFill>
                  <a:srgbClr val="FF3399"/>
                </a:solidFill>
              </a:rPr>
              <a:t>最后在</a:t>
            </a:r>
            <a:r>
              <a:rPr lang="en-US" altLang="zh-CN" sz="2000" smtClean="0">
                <a:solidFill>
                  <a:srgbClr val="FF3399"/>
                </a:solidFill>
              </a:rPr>
              <a:t>S</a:t>
            </a:r>
            <a:r>
              <a:rPr lang="zh-CN" altLang="en-US" sz="2000" smtClean="0">
                <a:solidFill>
                  <a:srgbClr val="FF3399"/>
                </a:solidFill>
              </a:rPr>
              <a:t>关系中</a:t>
            </a:r>
            <a:endParaRPr lang="zh-CN" altLang="en-US" sz="2000" smtClean="0"/>
          </a:p>
          <a:p>
            <a:pPr eaLnBrk="1" hangingPunct="1">
              <a:lnSpc>
                <a:spcPct val="90000"/>
              </a:lnSpc>
              <a:buFont typeface="Wingdings" pitchFamily="2" charset="2"/>
              <a:buNone/>
            </a:pPr>
            <a:r>
              <a:rPr lang="zh-CN" altLang="en-US" sz="2400" smtClean="0"/>
              <a:t> </a:t>
            </a:r>
            <a:r>
              <a:rPr lang="en-US" altLang="zh-CN" sz="2400" smtClean="0"/>
              <a:t>FROM    S                              </a:t>
            </a:r>
            <a:r>
              <a:rPr lang="zh-CN" altLang="en-US" sz="2000" smtClean="0">
                <a:solidFill>
                  <a:srgbClr val="FF3399"/>
                </a:solidFill>
              </a:rPr>
              <a:t>取出</a:t>
            </a:r>
            <a:r>
              <a:rPr lang="en-US" altLang="zh-CN" sz="2000" smtClean="0">
                <a:solidFill>
                  <a:srgbClr val="FF3399"/>
                </a:solidFill>
              </a:rPr>
              <a:t>Sno</a:t>
            </a:r>
            <a:r>
              <a:rPr lang="zh-CN" altLang="en-US" sz="2000" smtClean="0">
                <a:solidFill>
                  <a:srgbClr val="FF3399"/>
                </a:solidFill>
              </a:rPr>
              <a:t>和</a:t>
            </a:r>
            <a:r>
              <a:rPr lang="en-US" altLang="zh-CN" sz="2000" smtClean="0">
                <a:solidFill>
                  <a:srgbClr val="FF3399"/>
                </a:solidFill>
              </a:rPr>
              <a:t>Sname</a:t>
            </a:r>
            <a:endParaRPr lang="en-US" altLang="zh-CN" sz="2400" smtClean="0"/>
          </a:p>
          <a:p>
            <a:pPr eaLnBrk="1" hangingPunct="1">
              <a:lnSpc>
                <a:spcPct val="90000"/>
              </a:lnSpc>
              <a:buFont typeface="Wingdings" pitchFamily="2" charset="2"/>
              <a:buNone/>
            </a:pPr>
            <a:r>
              <a:rPr lang="en-US" altLang="zh-CN" sz="2400" smtClean="0"/>
              <a:t> WHERE Sno  IN</a:t>
            </a:r>
          </a:p>
          <a:p>
            <a:pPr eaLnBrk="1" hangingPunct="1">
              <a:lnSpc>
                <a:spcPct val="90000"/>
              </a:lnSpc>
              <a:buFont typeface="Wingdings" pitchFamily="2" charset="2"/>
              <a:buNone/>
            </a:pPr>
            <a:r>
              <a:rPr lang="en-US" altLang="zh-CN" sz="2400" smtClean="0"/>
              <a:t>          (SELECT Sno                 </a:t>
            </a:r>
            <a:r>
              <a:rPr lang="en-US" altLang="zh-CN" sz="2000" smtClean="0">
                <a:solidFill>
                  <a:srgbClr val="FF3399"/>
                </a:solidFill>
              </a:rPr>
              <a:t>② </a:t>
            </a:r>
            <a:r>
              <a:rPr lang="zh-CN" altLang="en-US" sz="2000" smtClean="0">
                <a:solidFill>
                  <a:srgbClr val="FF3399"/>
                </a:solidFill>
              </a:rPr>
              <a:t>然后在</a:t>
            </a:r>
            <a:r>
              <a:rPr lang="en-US" altLang="zh-CN" sz="2000" smtClean="0">
                <a:solidFill>
                  <a:srgbClr val="FF3399"/>
                </a:solidFill>
              </a:rPr>
              <a:t>SC</a:t>
            </a:r>
            <a:r>
              <a:rPr lang="zh-CN" altLang="en-US" sz="2000" smtClean="0">
                <a:solidFill>
                  <a:srgbClr val="FF3399"/>
                </a:solidFill>
              </a:rPr>
              <a:t>关系中找出选</a:t>
            </a:r>
          </a:p>
          <a:p>
            <a:pPr eaLnBrk="1" hangingPunct="1">
              <a:lnSpc>
                <a:spcPct val="90000"/>
              </a:lnSpc>
              <a:buFont typeface="Wingdings" pitchFamily="2" charset="2"/>
              <a:buNone/>
            </a:pPr>
            <a:r>
              <a:rPr lang="zh-CN" altLang="en-US" sz="2400" smtClean="0"/>
              <a:t>           </a:t>
            </a:r>
            <a:r>
              <a:rPr lang="en-US" altLang="zh-CN" sz="2400" smtClean="0"/>
              <a:t>FROM    SC                       </a:t>
            </a:r>
            <a:r>
              <a:rPr lang="zh-CN" altLang="en-US" sz="2000" smtClean="0">
                <a:solidFill>
                  <a:srgbClr val="FF3399"/>
                </a:solidFill>
              </a:rPr>
              <a:t>修了“</a:t>
            </a:r>
            <a:r>
              <a:rPr lang="en-US" altLang="zh-CN" sz="2000" smtClean="0">
                <a:solidFill>
                  <a:srgbClr val="FF3399"/>
                </a:solidFill>
              </a:rPr>
              <a:t>001</a:t>
            </a:r>
            <a:r>
              <a:rPr lang="zh-CN" altLang="en-US" sz="2000" smtClean="0">
                <a:solidFill>
                  <a:srgbClr val="FF3399"/>
                </a:solidFill>
              </a:rPr>
              <a:t>”号课程的学生学号</a:t>
            </a:r>
            <a:endParaRPr lang="zh-CN" altLang="en-US" sz="2400" smtClean="0"/>
          </a:p>
          <a:p>
            <a:pPr eaLnBrk="1" hangingPunct="1">
              <a:lnSpc>
                <a:spcPct val="90000"/>
              </a:lnSpc>
              <a:buFont typeface="Wingdings" pitchFamily="2" charset="2"/>
              <a:buNone/>
            </a:pPr>
            <a:r>
              <a:rPr lang="zh-CN" altLang="en-US" sz="2400" smtClean="0"/>
              <a:t>           </a:t>
            </a:r>
            <a:r>
              <a:rPr lang="en-US" altLang="zh-CN" sz="2400" smtClean="0"/>
              <a:t>WHERE  Cno IN</a:t>
            </a:r>
          </a:p>
          <a:p>
            <a:pPr eaLnBrk="1" hangingPunct="1">
              <a:lnSpc>
                <a:spcPct val="90000"/>
              </a:lnSpc>
              <a:buFont typeface="Wingdings" pitchFamily="2" charset="2"/>
              <a:buNone/>
            </a:pPr>
            <a:r>
              <a:rPr lang="en-US" altLang="zh-CN" sz="2400" smtClean="0"/>
              <a:t>               (SELECT Cno             </a:t>
            </a:r>
            <a:r>
              <a:rPr lang="en-US" altLang="zh-CN" sz="2000" smtClean="0">
                <a:solidFill>
                  <a:srgbClr val="FF3399"/>
                </a:solidFill>
              </a:rPr>
              <a:t>① </a:t>
            </a:r>
            <a:r>
              <a:rPr lang="zh-CN" altLang="en-US" sz="2000" smtClean="0">
                <a:solidFill>
                  <a:srgbClr val="FF3399"/>
                </a:solidFill>
              </a:rPr>
              <a:t>首先在</a:t>
            </a:r>
            <a:r>
              <a:rPr lang="en-US" altLang="zh-CN" sz="2000" smtClean="0">
                <a:solidFill>
                  <a:srgbClr val="FF3399"/>
                </a:solidFill>
              </a:rPr>
              <a:t>C</a:t>
            </a:r>
            <a:r>
              <a:rPr lang="zh-CN" altLang="en-US" sz="2000" smtClean="0">
                <a:solidFill>
                  <a:srgbClr val="FF3399"/>
                </a:solidFill>
              </a:rPr>
              <a:t>关系中找出“</a:t>
            </a:r>
            <a:r>
              <a:rPr lang="en-US" altLang="zh-CN" sz="2000" smtClean="0">
                <a:solidFill>
                  <a:srgbClr val="FF3399"/>
                </a:solidFill>
              </a:rPr>
              <a:t>C</a:t>
            </a:r>
            <a:r>
              <a:rPr lang="zh-CN" altLang="en-US" sz="2000" smtClean="0">
                <a:solidFill>
                  <a:srgbClr val="FF3399"/>
                </a:solidFill>
              </a:rPr>
              <a:t>语言”</a:t>
            </a:r>
            <a:endParaRPr lang="zh-CN" altLang="en-US" sz="2000" smtClean="0"/>
          </a:p>
          <a:p>
            <a:pPr eaLnBrk="1" hangingPunct="1">
              <a:lnSpc>
                <a:spcPct val="90000"/>
              </a:lnSpc>
              <a:buFont typeface="Wingdings" pitchFamily="2" charset="2"/>
              <a:buNone/>
            </a:pPr>
            <a:r>
              <a:rPr lang="zh-CN" altLang="en-US" sz="2400" smtClean="0"/>
              <a:t>               </a:t>
            </a:r>
            <a:r>
              <a:rPr lang="en-US" altLang="zh-CN" sz="2400" smtClean="0"/>
              <a:t>FROM C                          </a:t>
            </a:r>
            <a:r>
              <a:rPr lang="zh-CN" altLang="en-US" sz="2000" smtClean="0">
                <a:solidFill>
                  <a:srgbClr val="FF3399"/>
                </a:solidFill>
              </a:rPr>
              <a:t>的课程号，结果为“</a:t>
            </a:r>
            <a:r>
              <a:rPr lang="en-US" altLang="zh-CN" sz="2000" smtClean="0">
                <a:solidFill>
                  <a:srgbClr val="FF3399"/>
                </a:solidFill>
              </a:rPr>
              <a:t>001</a:t>
            </a:r>
            <a:r>
              <a:rPr lang="zh-CN" altLang="en-US" sz="2000" smtClean="0">
                <a:solidFill>
                  <a:srgbClr val="FF3399"/>
                </a:solidFill>
              </a:rPr>
              <a:t>”号</a:t>
            </a:r>
            <a:endParaRPr lang="zh-CN" altLang="en-US" sz="2400" smtClean="0"/>
          </a:p>
          <a:p>
            <a:pPr eaLnBrk="1" hangingPunct="1">
              <a:lnSpc>
                <a:spcPct val="90000"/>
              </a:lnSpc>
              <a:buFont typeface="Wingdings" pitchFamily="2" charset="2"/>
              <a:buNone/>
            </a:pPr>
            <a:r>
              <a:rPr lang="zh-CN" altLang="en-US" sz="2400" smtClean="0"/>
              <a:t>               </a:t>
            </a:r>
            <a:r>
              <a:rPr lang="en-US" altLang="zh-CN" sz="2400" smtClean="0"/>
              <a:t>WHERE Cname= ‘C</a:t>
            </a:r>
            <a:r>
              <a:rPr lang="zh-CN" altLang="en-US" sz="2400" smtClean="0"/>
              <a:t>语言</a:t>
            </a:r>
            <a:r>
              <a:rPr lang="en-US" altLang="zh-CN" sz="2400" smtClean="0"/>
              <a:t>'));</a:t>
            </a:r>
          </a:p>
        </p:txBody>
      </p:sp>
      <p:sp>
        <p:nvSpPr>
          <p:cNvPr id="77827" name="Rectangle 2"/>
          <p:cNvSpPr>
            <a:spLocks noChangeArrowheads="1"/>
          </p:cNvSpPr>
          <p:nvPr>
            <p:ph type="title"/>
          </p:nvPr>
        </p:nvSpPr>
        <p:spPr>
          <a:xfrm>
            <a:off x="684213" y="1052513"/>
            <a:ext cx="7793037" cy="863600"/>
          </a:xfrm>
        </p:spPr>
        <p:txBody>
          <a:bodyPr/>
          <a:lstStyle/>
          <a:p>
            <a:pPr eaLnBrk="1" hangingPunct="1"/>
            <a:r>
              <a:rPr lang="zh-CN" altLang="en-US" sz="2800" smtClean="0">
                <a:solidFill>
                  <a:schemeClr val="tx1"/>
                </a:solidFill>
                <a:latin typeface="黑体" pitchFamily="49" charset="-122"/>
              </a:rPr>
              <a:t>一、带有</a:t>
            </a:r>
            <a:r>
              <a:rPr lang="en-US" altLang="zh-CN" sz="2800" smtClean="0">
                <a:solidFill>
                  <a:schemeClr val="tx1"/>
                </a:solidFill>
                <a:latin typeface="黑体" pitchFamily="49" charset="-122"/>
              </a:rPr>
              <a:t>IN</a:t>
            </a:r>
            <a:r>
              <a:rPr lang="zh-CN" altLang="en-US" sz="2800" smtClean="0">
                <a:solidFill>
                  <a:schemeClr val="tx1"/>
                </a:solidFill>
                <a:latin typeface="黑体" pitchFamily="49" charset="-122"/>
              </a:rPr>
              <a:t>谓词的子查询</a:t>
            </a:r>
          </a:p>
        </p:txBody>
      </p:sp>
      <p:sp>
        <p:nvSpPr>
          <p:cNvPr id="6"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 calcmode="lin" valueType="num">
                                      <p:cBhvr additive="base">
                                        <p:cTn id="7" dur="500" fill="hold"/>
                                        <p:tgtEl>
                                          <p:spTgt spid="327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2771">
                                            <p:txEl>
                                              <p:pRg st="7" end="7"/>
                                            </p:txEl>
                                          </p:spTgt>
                                        </p:tgtEl>
                                        <p:attrNameLst>
                                          <p:attrName>style.visibility</p:attrName>
                                        </p:attrNameLst>
                                      </p:cBhvr>
                                      <p:to>
                                        <p:strVal val="visible"/>
                                      </p:to>
                                    </p:set>
                                    <p:anim calcmode="lin" valueType="num">
                                      <p:cBhvr additive="base">
                                        <p:cTn id="13" dur="500" fill="hold"/>
                                        <p:tgtEl>
                                          <p:spTgt spid="32771">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771">
                                            <p:txEl>
                                              <p:pRg st="7" end="7"/>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2771">
                                            <p:txEl>
                                              <p:pRg st="8" end="8"/>
                                            </p:txEl>
                                          </p:spTgt>
                                        </p:tgtEl>
                                        <p:attrNameLst>
                                          <p:attrName>style.visibility</p:attrName>
                                        </p:attrNameLst>
                                      </p:cBhvr>
                                      <p:to>
                                        <p:strVal val="visible"/>
                                      </p:to>
                                    </p:set>
                                    <p:anim calcmode="lin" valueType="num">
                                      <p:cBhvr additive="base">
                                        <p:cTn id="17" dur="500" fill="hold"/>
                                        <p:tgtEl>
                                          <p:spTgt spid="32771">
                                            <p:txEl>
                                              <p:pRg st="8" end="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2771">
                                            <p:txEl>
                                              <p:pRg st="8" end="8"/>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2771">
                                            <p:txEl>
                                              <p:pRg st="9" end="9"/>
                                            </p:txEl>
                                          </p:spTgt>
                                        </p:tgtEl>
                                        <p:attrNameLst>
                                          <p:attrName>style.visibility</p:attrName>
                                        </p:attrNameLst>
                                      </p:cBhvr>
                                      <p:to>
                                        <p:strVal val="visible"/>
                                      </p:to>
                                    </p:set>
                                    <p:anim calcmode="lin" valueType="num">
                                      <p:cBhvr additive="base">
                                        <p:cTn id="21" dur="500" fill="hold"/>
                                        <p:tgtEl>
                                          <p:spTgt spid="32771">
                                            <p:txEl>
                                              <p:pRg st="9" end="9"/>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2771">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32771">
                                            <p:txEl>
                                              <p:pRg st="4" end="4"/>
                                            </p:txEl>
                                          </p:spTgt>
                                        </p:tgtEl>
                                        <p:attrNameLst>
                                          <p:attrName>style.visibility</p:attrName>
                                        </p:attrNameLst>
                                      </p:cBhvr>
                                      <p:to>
                                        <p:strVal val="visible"/>
                                      </p:to>
                                    </p:set>
                                    <p:anim calcmode="lin" valueType="num">
                                      <p:cBhvr additive="base">
                                        <p:cTn id="27" dur="500" fill="hold"/>
                                        <p:tgtEl>
                                          <p:spTgt spid="32771">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2771">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2771">
                                            <p:txEl>
                                              <p:pRg st="5" end="5"/>
                                            </p:txEl>
                                          </p:spTgt>
                                        </p:tgtEl>
                                        <p:attrNameLst>
                                          <p:attrName>style.visibility</p:attrName>
                                        </p:attrNameLst>
                                      </p:cBhvr>
                                      <p:to>
                                        <p:strVal val="visible"/>
                                      </p:to>
                                    </p:set>
                                    <p:anim calcmode="lin" valueType="num">
                                      <p:cBhvr additive="base">
                                        <p:cTn id="31" dur="500" fill="hold"/>
                                        <p:tgtEl>
                                          <p:spTgt spid="3277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2771">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2771">
                                            <p:txEl>
                                              <p:pRg st="6" end="6"/>
                                            </p:txEl>
                                          </p:spTgt>
                                        </p:tgtEl>
                                        <p:attrNameLst>
                                          <p:attrName>style.visibility</p:attrName>
                                        </p:attrNameLst>
                                      </p:cBhvr>
                                      <p:to>
                                        <p:strVal val="visible"/>
                                      </p:to>
                                    </p:set>
                                    <p:anim calcmode="lin" valueType="num">
                                      <p:cBhvr additive="base">
                                        <p:cTn id="35" dur="500" fill="hold"/>
                                        <p:tgtEl>
                                          <p:spTgt spid="32771">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277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32771">
                                            <p:txEl>
                                              <p:pRg st="1" end="1"/>
                                            </p:txEl>
                                          </p:spTgt>
                                        </p:tgtEl>
                                        <p:attrNameLst>
                                          <p:attrName>style.visibility</p:attrName>
                                        </p:attrNameLst>
                                      </p:cBhvr>
                                      <p:to>
                                        <p:strVal val="visible"/>
                                      </p:to>
                                    </p:set>
                                    <p:anim calcmode="lin" valueType="num">
                                      <p:cBhvr additive="base">
                                        <p:cTn id="41" dur="5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2771">
                                            <p:txEl>
                                              <p:pRg st="1" end="1"/>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2771">
                                            <p:txEl>
                                              <p:pRg st="2" end="2"/>
                                            </p:txEl>
                                          </p:spTgt>
                                        </p:tgtEl>
                                        <p:attrNameLst>
                                          <p:attrName>style.visibility</p:attrName>
                                        </p:attrNameLst>
                                      </p:cBhvr>
                                      <p:to>
                                        <p:strVal val="visible"/>
                                      </p:to>
                                    </p:set>
                                    <p:anim calcmode="lin" valueType="num">
                                      <p:cBhvr additive="base">
                                        <p:cTn id="45" dur="500" fill="hold"/>
                                        <p:tgtEl>
                                          <p:spTgt spid="32771">
                                            <p:txEl>
                                              <p:pRg st="2" end="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2771">
                                            <p:txEl>
                                              <p:pRg st="2" end="2"/>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2771">
                                            <p:txEl>
                                              <p:pRg st="3" end="3"/>
                                            </p:txEl>
                                          </p:spTgt>
                                        </p:tgtEl>
                                        <p:attrNameLst>
                                          <p:attrName>style.visibility</p:attrName>
                                        </p:attrNameLst>
                                      </p:cBhvr>
                                      <p:to>
                                        <p:strVal val="visible"/>
                                      </p:to>
                                    </p:set>
                                    <p:anim calcmode="lin" valueType="num">
                                      <p:cBhvr additive="base">
                                        <p:cTn id="49" dur="500" fill="hold"/>
                                        <p:tgtEl>
                                          <p:spTgt spid="32771">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277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3"/>
          <p:cNvSpPr>
            <a:spLocks noChangeArrowheads="1"/>
          </p:cNvSpPr>
          <p:nvPr>
            <p:ph type="body" idx="1"/>
          </p:nvPr>
        </p:nvSpPr>
        <p:spPr>
          <a:xfrm>
            <a:off x="755650" y="1989138"/>
            <a:ext cx="7772400" cy="4114800"/>
          </a:xfrm>
        </p:spPr>
        <p:txBody>
          <a:bodyPr/>
          <a:lstStyle/>
          <a:p>
            <a:pPr lvl="1" eaLnBrk="1" hangingPunct="1"/>
            <a:r>
              <a:rPr lang="zh-CN" altLang="en-US" sz="3200" smtClean="0">
                <a:latin typeface="黑体" pitchFamily="49" charset="-122"/>
                <a:ea typeface="黑体" pitchFamily="49" charset="-122"/>
              </a:rPr>
              <a:t>用连接查询</a:t>
            </a:r>
            <a:endParaRPr lang="zh-CN" altLang="en-US" smtClean="0">
              <a:latin typeface="黑体" pitchFamily="49" charset="-122"/>
              <a:ea typeface="黑体" pitchFamily="49" charset="-122"/>
            </a:endParaRPr>
          </a:p>
          <a:p>
            <a:pPr eaLnBrk="1" hangingPunct="1">
              <a:lnSpc>
                <a:spcPct val="130000"/>
              </a:lnSpc>
              <a:buFont typeface="Wingdings" pitchFamily="2" charset="2"/>
              <a:buNone/>
            </a:pPr>
            <a:r>
              <a:rPr lang="zh-CN" altLang="en-US" smtClean="0">
                <a:latin typeface="黑体" pitchFamily="49" charset="-122"/>
                <a:ea typeface="黑体" pitchFamily="49" charset="-122"/>
              </a:rPr>
              <a:t>    </a:t>
            </a:r>
            <a:r>
              <a:rPr lang="en-US" altLang="zh-CN" sz="2800" smtClean="0">
                <a:latin typeface="黑体" pitchFamily="49" charset="-122"/>
                <a:ea typeface="黑体" pitchFamily="49" charset="-122"/>
              </a:rPr>
              <a:t>SELECT Sno</a:t>
            </a:r>
            <a:r>
              <a:rPr lang="zh-CN" altLang="en-US" sz="2800" smtClean="0">
                <a:latin typeface="黑体" pitchFamily="49" charset="-122"/>
                <a:ea typeface="黑体" pitchFamily="49" charset="-122"/>
              </a:rPr>
              <a:t>，</a:t>
            </a:r>
            <a:r>
              <a:rPr lang="en-US" altLang="zh-CN" sz="2800" smtClean="0">
                <a:latin typeface="黑体" pitchFamily="49" charset="-122"/>
                <a:ea typeface="黑体" pitchFamily="49" charset="-122"/>
              </a:rPr>
              <a:t>Sname</a:t>
            </a:r>
          </a:p>
          <a:p>
            <a:pPr eaLnBrk="1" hangingPunct="1">
              <a:lnSpc>
                <a:spcPct val="130000"/>
              </a:lnSpc>
              <a:buFont typeface="Wingdings" pitchFamily="2" charset="2"/>
              <a:buNone/>
            </a:pPr>
            <a:r>
              <a:rPr lang="en-US" altLang="zh-CN" sz="2800" smtClean="0">
                <a:latin typeface="黑体" pitchFamily="49" charset="-122"/>
                <a:ea typeface="黑体" pitchFamily="49" charset="-122"/>
              </a:rPr>
              <a:t>     FROM S</a:t>
            </a:r>
            <a:r>
              <a:rPr lang="zh-CN" altLang="en-US" sz="2800" smtClean="0">
                <a:latin typeface="黑体" pitchFamily="49" charset="-122"/>
                <a:ea typeface="黑体" pitchFamily="49" charset="-122"/>
              </a:rPr>
              <a:t>，</a:t>
            </a:r>
            <a:r>
              <a:rPr lang="en-US" altLang="zh-CN" sz="2800" smtClean="0">
                <a:latin typeface="黑体" pitchFamily="49" charset="-122"/>
                <a:ea typeface="黑体" pitchFamily="49" charset="-122"/>
              </a:rPr>
              <a:t>SC</a:t>
            </a:r>
            <a:r>
              <a:rPr lang="zh-CN" altLang="en-US" sz="2800" smtClean="0">
                <a:latin typeface="黑体" pitchFamily="49" charset="-122"/>
                <a:ea typeface="黑体" pitchFamily="49" charset="-122"/>
              </a:rPr>
              <a:t>，</a:t>
            </a:r>
            <a:r>
              <a:rPr lang="en-US" altLang="zh-CN" sz="2800" smtClean="0">
                <a:latin typeface="黑体" pitchFamily="49" charset="-122"/>
                <a:ea typeface="黑体" pitchFamily="49" charset="-122"/>
              </a:rPr>
              <a:t>C</a:t>
            </a:r>
          </a:p>
          <a:p>
            <a:pPr eaLnBrk="1" hangingPunct="1">
              <a:lnSpc>
                <a:spcPct val="130000"/>
              </a:lnSpc>
              <a:buFont typeface="Wingdings" pitchFamily="2" charset="2"/>
              <a:buNone/>
            </a:pPr>
            <a:r>
              <a:rPr lang="en-US" altLang="zh-CN" sz="2800" smtClean="0">
                <a:latin typeface="黑体" pitchFamily="49" charset="-122"/>
                <a:ea typeface="黑体" pitchFamily="49" charset="-122"/>
              </a:rPr>
              <a:t>     WHERE S.Sno = SC.Sno AND</a:t>
            </a:r>
          </a:p>
          <a:p>
            <a:pPr eaLnBrk="1" hangingPunct="1">
              <a:lnSpc>
                <a:spcPct val="130000"/>
              </a:lnSpc>
              <a:buFont typeface="Wingdings" pitchFamily="2" charset="2"/>
              <a:buNone/>
            </a:pPr>
            <a:r>
              <a:rPr lang="en-US" altLang="zh-CN" sz="2800" smtClean="0">
                <a:latin typeface="黑体" pitchFamily="49" charset="-122"/>
                <a:ea typeface="黑体" pitchFamily="49" charset="-122"/>
              </a:rPr>
              <a:t>           SC.Cno = C.Cno AND</a:t>
            </a:r>
          </a:p>
          <a:p>
            <a:pPr eaLnBrk="1" hangingPunct="1">
              <a:lnSpc>
                <a:spcPct val="130000"/>
              </a:lnSpc>
              <a:buFont typeface="Wingdings" pitchFamily="2" charset="2"/>
              <a:buNone/>
            </a:pPr>
            <a:r>
              <a:rPr lang="en-US" altLang="zh-CN" sz="2800" smtClean="0">
                <a:latin typeface="黑体" pitchFamily="49" charset="-122"/>
                <a:ea typeface="黑体" pitchFamily="49" charset="-122"/>
              </a:rPr>
              <a:t>           C.Cname= 'C</a:t>
            </a:r>
            <a:r>
              <a:rPr lang="zh-CN" altLang="en-US" sz="2800" smtClean="0">
                <a:latin typeface="黑体" pitchFamily="49" charset="-122"/>
                <a:ea typeface="黑体" pitchFamily="49" charset="-122"/>
              </a:rPr>
              <a:t>语言</a:t>
            </a:r>
            <a:r>
              <a:rPr lang="en-US" altLang="zh-CN" sz="2800" smtClean="0">
                <a:latin typeface="黑体" pitchFamily="49" charset="-122"/>
                <a:ea typeface="黑体" pitchFamily="49" charset="-122"/>
              </a:rPr>
              <a:t>'</a:t>
            </a:r>
            <a:r>
              <a:rPr lang="zh-CN" altLang="en-US" sz="2800" smtClean="0">
                <a:latin typeface="黑体" pitchFamily="49" charset="-122"/>
                <a:ea typeface="黑体" pitchFamily="49" charset="-122"/>
              </a:rPr>
              <a:t>；</a:t>
            </a:r>
          </a:p>
        </p:txBody>
      </p:sp>
      <p:sp>
        <p:nvSpPr>
          <p:cNvPr id="78851" name="Rectangle 2"/>
          <p:cNvSpPr>
            <a:spLocks noChangeArrowheads="1"/>
          </p:cNvSpPr>
          <p:nvPr>
            <p:ph type="title"/>
          </p:nvPr>
        </p:nvSpPr>
        <p:spPr>
          <a:xfrm>
            <a:off x="684213" y="1052513"/>
            <a:ext cx="7793037" cy="863600"/>
          </a:xfrm>
        </p:spPr>
        <p:txBody>
          <a:bodyPr/>
          <a:lstStyle/>
          <a:p>
            <a:pPr eaLnBrk="1" hangingPunct="1"/>
            <a:r>
              <a:rPr lang="zh-CN" altLang="en-US" sz="2800" smtClean="0">
                <a:solidFill>
                  <a:schemeClr val="tx1"/>
                </a:solidFill>
                <a:latin typeface="黑体" pitchFamily="49" charset="-122"/>
              </a:rPr>
              <a:t>一、带有</a:t>
            </a:r>
            <a:r>
              <a:rPr lang="en-US" altLang="zh-CN" sz="2800" smtClean="0">
                <a:solidFill>
                  <a:schemeClr val="tx1"/>
                </a:solidFill>
                <a:latin typeface="黑体" pitchFamily="49" charset="-122"/>
              </a:rPr>
              <a:t>IN</a:t>
            </a:r>
            <a:r>
              <a:rPr lang="zh-CN" altLang="en-US" sz="2800" smtClean="0">
                <a:solidFill>
                  <a:schemeClr val="tx1"/>
                </a:solidFill>
                <a:latin typeface="黑体" pitchFamily="49" charset="-122"/>
              </a:rPr>
              <a:t>谓词的子查询</a:t>
            </a:r>
          </a:p>
        </p:txBody>
      </p:sp>
      <p:sp>
        <p:nvSpPr>
          <p:cNvPr id="6"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ChangeArrowheads="1"/>
          </p:cNvSpPr>
          <p:nvPr>
            <p:ph type="title"/>
          </p:nvPr>
        </p:nvSpPr>
        <p:spPr>
          <a:xfrm>
            <a:off x="539750" y="1196975"/>
            <a:ext cx="7793038" cy="863600"/>
          </a:xfrm>
        </p:spPr>
        <p:txBody>
          <a:bodyPr/>
          <a:lstStyle/>
          <a:p>
            <a:pPr eaLnBrk="1" hangingPunct="1"/>
            <a:r>
              <a:rPr lang="zh-CN" altLang="en-US" sz="2800" smtClean="0">
                <a:solidFill>
                  <a:schemeClr val="tx1"/>
                </a:solidFill>
              </a:rPr>
              <a:t>二、带有比较运算符的子查询</a:t>
            </a:r>
          </a:p>
        </p:txBody>
      </p:sp>
      <p:sp>
        <p:nvSpPr>
          <p:cNvPr id="79875" name="Rectangle 3"/>
          <p:cNvSpPr>
            <a:spLocks noChangeArrowheads="1"/>
          </p:cNvSpPr>
          <p:nvPr>
            <p:ph type="body" idx="1"/>
          </p:nvPr>
        </p:nvSpPr>
        <p:spPr>
          <a:xfrm>
            <a:off x="539750" y="2205038"/>
            <a:ext cx="7991475" cy="4114800"/>
          </a:xfrm>
        </p:spPr>
        <p:txBody>
          <a:bodyPr/>
          <a:lstStyle/>
          <a:p>
            <a:pPr eaLnBrk="1" hangingPunct="1">
              <a:lnSpc>
                <a:spcPct val="160000"/>
              </a:lnSpc>
            </a:pPr>
            <a:r>
              <a:rPr lang="zh-CN" altLang="zh-CN" sz="2400" smtClean="0">
                <a:latin typeface="黑体" pitchFamily="49" charset="-122"/>
                <a:ea typeface="黑体" pitchFamily="49" charset="-122"/>
              </a:rPr>
              <a:t> </a:t>
            </a:r>
            <a:r>
              <a:rPr lang="zh-CN" altLang="en-US" sz="2400" smtClean="0">
                <a:latin typeface="黑体" pitchFamily="49" charset="-122"/>
                <a:ea typeface="黑体" pitchFamily="49" charset="-122"/>
              </a:rPr>
              <a:t>当能确切知道内层查询返回</a:t>
            </a:r>
            <a:r>
              <a:rPr lang="zh-CN" altLang="en-US" sz="2400" smtClean="0">
                <a:solidFill>
                  <a:srgbClr val="FF0000"/>
                </a:solidFill>
                <a:latin typeface="黑体" pitchFamily="49" charset="-122"/>
                <a:ea typeface="黑体" pitchFamily="49" charset="-122"/>
              </a:rPr>
              <a:t>单值</a:t>
            </a:r>
            <a:r>
              <a:rPr lang="zh-CN" altLang="en-US" sz="2400" smtClean="0">
                <a:latin typeface="黑体" pitchFamily="49" charset="-122"/>
                <a:ea typeface="黑体" pitchFamily="49" charset="-122"/>
              </a:rPr>
              <a:t>时，引出子查询的谓词可以用比较运算符（</a:t>
            </a:r>
            <a:r>
              <a:rPr lang="zh-CN" altLang="zh-CN" sz="2400" smtClean="0">
                <a:latin typeface="黑体" pitchFamily="49" charset="-122"/>
                <a:ea typeface="黑体" pitchFamily="49" charset="-122"/>
              </a:rPr>
              <a:t>&gt;</a:t>
            </a:r>
            <a:r>
              <a:rPr lang="zh-CN" altLang="en-US" sz="2400" smtClean="0">
                <a:latin typeface="黑体" pitchFamily="49" charset="-122"/>
                <a:ea typeface="黑体" pitchFamily="49" charset="-122"/>
              </a:rPr>
              <a:t>，</a:t>
            </a:r>
            <a:r>
              <a:rPr lang="zh-CN" altLang="zh-CN" sz="2400" smtClean="0">
                <a:latin typeface="黑体" pitchFamily="49" charset="-122"/>
                <a:ea typeface="黑体" pitchFamily="49" charset="-122"/>
              </a:rPr>
              <a:t>&lt;</a:t>
            </a:r>
            <a:r>
              <a:rPr lang="zh-CN" altLang="en-US" sz="2400" smtClean="0">
                <a:latin typeface="黑体" pitchFamily="49" charset="-122"/>
                <a:ea typeface="黑体" pitchFamily="49" charset="-122"/>
              </a:rPr>
              <a:t>，</a:t>
            </a:r>
            <a:r>
              <a:rPr lang="zh-CN" altLang="zh-CN" sz="2400" smtClean="0">
                <a:latin typeface="黑体" pitchFamily="49" charset="-122"/>
                <a:ea typeface="黑体" pitchFamily="49" charset="-122"/>
              </a:rPr>
              <a:t>=</a:t>
            </a:r>
            <a:r>
              <a:rPr lang="zh-CN" altLang="en-US" sz="2400" smtClean="0">
                <a:latin typeface="黑体" pitchFamily="49" charset="-122"/>
                <a:ea typeface="黑体" pitchFamily="49" charset="-122"/>
              </a:rPr>
              <a:t>，</a:t>
            </a:r>
            <a:r>
              <a:rPr lang="zh-CN" altLang="zh-CN" sz="2400" smtClean="0">
                <a:latin typeface="黑体" pitchFamily="49" charset="-122"/>
                <a:ea typeface="黑体" pitchFamily="49" charset="-122"/>
              </a:rPr>
              <a:t>&gt;=</a:t>
            </a:r>
            <a:r>
              <a:rPr lang="zh-CN" altLang="en-US" sz="2400" smtClean="0">
                <a:latin typeface="黑体" pitchFamily="49" charset="-122"/>
                <a:ea typeface="黑体" pitchFamily="49" charset="-122"/>
              </a:rPr>
              <a:t>，</a:t>
            </a:r>
            <a:r>
              <a:rPr lang="zh-CN" altLang="zh-CN" sz="2400" smtClean="0">
                <a:latin typeface="黑体" pitchFamily="49" charset="-122"/>
                <a:ea typeface="黑体" pitchFamily="49" charset="-122"/>
              </a:rPr>
              <a:t>&lt;=</a:t>
            </a:r>
            <a:r>
              <a:rPr lang="zh-CN" altLang="en-US" sz="2400" smtClean="0">
                <a:latin typeface="黑体" pitchFamily="49" charset="-122"/>
                <a:ea typeface="黑体" pitchFamily="49" charset="-122"/>
              </a:rPr>
              <a:t>，</a:t>
            </a:r>
            <a:r>
              <a:rPr lang="zh-CN" altLang="zh-CN" sz="2400" smtClean="0">
                <a:latin typeface="黑体" pitchFamily="49" charset="-122"/>
                <a:ea typeface="黑体" pitchFamily="49" charset="-122"/>
              </a:rPr>
              <a:t>!=</a:t>
            </a:r>
            <a:r>
              <a:rPr lang="zh-CN" altLang="en-US" sz="2400" smtClean="0">
                <a:latin typeface="黑体" pitchFamily="49" charset="-122"/>
                <a:ea typeface="黑体" pitchFamily="49" charset="-122"/>
              </a:rPr>
              <a:t>或</a:t>
            </a:r>
            <a:r>
              <a:rPr lang="zh-CN" altLang="zh-CN" sz="2400" smtClean="0">
                <a:latin typeface="黑体" pitchFamily="49" charset="-122"/>
                <a:ea typeface="黑体" pitchFamily="49" charset="-122"/>
              </a:rPr>
              <a:t>&lt; &gt;</a:t>
            </a:r>
            <a:r>
              <a:rPr lang="zh-CN" altLang="en-US" sz="2400" smtClean="0">
                <a:latin typeface="黑体" pitchFamily="49" charset="-122"/>
                <a:ea typeface="黑体" pitchFamily="49" charset="-122"/>
              </a:rPr>
              <a:t>）。</a:t>
            </a:r>
          </a:p>
          <a:p>
            <a:pPr eaLnBrk="1" hangingPunct="1">
              <a:buFont typeface="Wingdings" pitchFamily="2" charset="2"/>
              <a:buNone/>
            </a:pPr>
            <a:endParaRPr lang="zh-CN" altLang="zh-CN" sz="2400" smtClean="0">
              <a:latin typeface="黑体" pitchFamily="49" charset="-122"/>
              <a:ea typeface="黑体" pitchFamily="49" charset="-122"/>
            </a:endParaRPr>
          </a:p>
        </p:txBody>
      </p:sp>
      <p:sp>
        <p:nvSpPr>
          <p:cNvPr id="5"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ChangeArrowheads="1"/>
          </p:cNvSpPr>
          <p:nvPr>
            <p:ph type="body" idx="1"/>
          </p:nvPr>
        </p:nvSpPr>
        <p:spPr>
          <a:xfrm>
            <a:off x="539750" y="2133600"/>
            <a:ext cx="8208963" cy="4070350"/>
          </a:xfrm>
        </p:spPr>
        <p:txBody>
          <a:bodyPr/>
          <a:lstStyle/>
          <a:p>
            <a:pPr eaLnBrk="1" hangingPunct="1">
              <a:lnSpc>
                <a:spcPct val="110000"/>
              </a:lnSpc>
              <a:buFont typeface="宋体" pitchFamily="2" charset="-122"/>
              <a:buNone/>
            </a:pPr>
            <a:r>
              <a:rPr lang="zh-CN" altLang="en-US" sz="2400" smtClean="0">
                <a:latin typeface="黑体" pitchFamily="49" charset="-122"/>
                <a:ea typeface="黑体" pitchFamily="49" charset="-122"/>
              </a:rPr>
              <a:t>例：一个学生只可能在一个学院学习，则在</a:t>
            </a: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38]</a:t>
            </a:r>
            <a:r>
              <a:rPr lang="zh-CN" altLang="en-US" sz="2400" smtClean="0">
                <a:latin typeface="黑体" pitchFamily="49" charset="-122"/>
                <a:ea typeface="黑体" pitchFamily="49" charset="-122"/>
              </a:rPr>
              <a:t>可以</a:t>
            </a:r>
            <a:r>
              <a:rPr lang="zh-CN" altLang="en-US" sz="2400" smtClean="0">
                <a:solidFill>
                  <a:srgbClr val="FF0000"/>
                </a:solidFill>
                <a:latin typeface="黑体" pitchFamily="49" charset="-122"/>
                <a:ea typeface="黑体" pitchFamily="49" charset="-122"/>
              </a:rPr>
              <a:t>用 </a:t>
            </a:r>
            <a:r>
              <a:rPr lang="en-US" altLang="zh-CN" sz="2400" smtClean="0">
                <a:solidFill>
                  <a:srgbClr val="FF0000"/>
                </a:solidFill>
                <a:latin typeface="黑体" pitchFamily="49" charset="-122"/>
                <a:ea typeface="黑体" pitchFamily="49" charset="-122"/>
              </a:rPr>
              <a:t>= </a:t>
            </a:r>
            <a:r>
              <a:rPr lang="zh-CN" altLang="en-US" sz="2400" smtClean="0">
                <a:solidFill>
                  <a:srgbClr val="FF0000"/>
                </a:solidFill>
                <a:latin typeface="黑体" pitchFamily="49" charset="-122"/>
                <a:ea typeface="黑体" pitchFamily="49" charset="-122"/>
              </a:rPr>
              <a:t>代替</a:t>
            </a:r>
            <a:r>
              <a:rPr lang="en-US" altLang="zh-CN" sz="2400" smtClean="0">
                <a:solidFill>
                  <a:srgbClr val="FF0000"/>
                </a:solidFill>
                <a:latin typeface="黑体" pitchFamily="49" charset="-122"/>
                <a:ea typeface="黑体" pitchFamily="49" charset="-122"/>
              </a:rPr>
              <a:t>IN</a:t>
            </a:r>
            <a:r>
              <a:rPr lang="en-US" altLang="zh-CN" sz="2400" smtClean="0">
                <a:latin typeface="黑体" pitchFamily="49" charset="-122"/>
                <a:ea typeface="黑体" pitchFamily="49" charset="-122"/>
              </a:rPr>
              <a:t> </a:t>
            </a:r>
            <a:r>
              <a:rPr lang="zh-CN" altLang="en-US" sz="2400" smtClean="0">
                <a:latin typeface="黑体" pitchFamily="49" charset="-122"/>
                <a:ea typeface="黑体" pitchFamily="49" charset="-122"/>
              </a:rPr>
              <a:t>：</a:t>
            </a:r>
          </a:p>
          <a:p>
            <a:pPr eaLnBrk="1" hangingPunct="1">
              <a:lnSpc>
                <a:spcPct val="110000"/>
              </a:lnSpc>
              <a:buFont typeface="宋体" pitchFamily="2" charset="-12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SELECT Sno</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Sname</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College</a:t>
            </a:r>
          </a:p>
          <a:p>
            <a:pPr eaLnBrk="1" hangingPunct="1">
              <a:lnSpc>
                <a:spcPct val="110000"/>
              </a:lnSpc>
              <a:buFont typeface="宋体" pitchFamily="2" charset="-122"/>
              <a:buNone/>
            </a:pPr>
            <a:r>
              <a:rPr lang="en-US" altLang="zh-CN" sz="2400" smtClean="0">
                <a:latin typeface="黑体" pitchFamily="49" charset="-122"/>
                <a:ea typeface="黑体" pitchFamily="49" charset="-122"/>
              </a:rPr>
              <a:t>     FROM    S</a:t>
            </a:r>
          </a:p>
          <a:p>
            <a:pPr eaLnBrk="1" hangingPunct="1">
              <a:lnSpc>
                <a:spcPct val="110000"/>
              </a:lnSpc>
              <a:buFont typeface="宋体" pitchFamily="2" charset="-122"/>
              <a:buNone/>
            </a:pPr>
            <a:r>
              <a:rPr lang="en-US" altLang="zh-CN" sz="2400" smtClean="0">
                <a:latin typeface="黑体" pitchFamily="49" charset="-122"/>
                <a:ea typeface="黑体" pitchFamily="49" charset="-122"/>
              </a:rPr>
              <a:t>     WHERE College  </a:t>
            </a:r>
            <a:r>
              <a:rPr lang="en-US" altLang="zh-CN" sz="2400" smtClean="0">
                <a:solidFill>
                  <a:srgbClr val="D75B5B"/>
                </a:solidFill>
                <a:latin typeface="黑体" pitchFamily="49" charset="-122"/>
                <a:ea typeface="黑体" pitchFamily="49" charset="-122"/>
              </a:rPr>
              <a:t> </a:t>
            </a:r>
            <a:r>
              <a:rPr lang="en-US" altLang="zh-CN" sz="2400" smtClean="0">
                <a:solidFill>
                  <a:srgbClr val="FF0000"/>
                </a:solidFill>
                <a:latin typeface="黑体" pitchFamily="49" charset="-122"/>
                <a:ea typeface="黑体" pitchFamily="49" charset="-122"/>
              </a:rPr>
              <a:t>=</a:t>
            </a:r>
          </a:p>
          <a:p>
            <a:pPr eaLnBrk="1" hangingPunct="1">
              <a:lnSpc>
                <a:spcPct val="110000"/>
              </a:lnSpc>
              <a:buFont typeface="宋体" pitchFamily="2" charset="-122"/>
              <a:buNone/>
            </a:pPr>
            <a:r>
              <a:rPr lang="en-US" altLang="zh-CN" sz="2400" smtClean="0">
                <a:latin typeface="黑体" pitchFamily="49" charset="-122"/>
                <a:ea typeface="黑体" pitchFamily="49" charset="-122"/>
              </a:rPr>
              <a:t>        (SELECT College</a:t>
            </a:r>
          </a:p>
          <a:p>
            <a:pPr eaLnBrk="1" hangingPunct="1">
              <a:lnSpc>
                <a:spcPct val="110000"/>
              </a:lnSpc>
              <a:buFont typeface="宋体" pitchFamily="2" charset="-122"/>
              <a:buNone/>
            </a:pPr>
            <a:r>
              <a:rPr lang="en-US" altLang="zh-CN" sz="2400" smtClean="0">
                <a:latin typeface="黑体" pitchFamily="49" charset="-122"/>
                <a:ea typeface="黑体" pitchFamily="49" charset="-122"/>
              </a:rPr>
              <a:t>        FROM    S</a:t>
            </a:r>
          </a:p>
          <a:p>
            <a:pPr eaLnBrk="1" hangingPunct="1">
              <a:lnSpc>
                <a:spcPct val="110000"/>
              </a:lnSpc>
              <a:buFont typeface="宋体" pitchFamily="2" charset="-122"/>
              <a:buNone/>
            </a:pPr>
            <a:r>
              <a:rPr lang="en-US" altLang="zh-CN" sz="2400" smtClean="0">
                <a:latin typeface="黑体" pitchFamily="49" charset="-122"/>
                <a:ea typeface="黑体" pitchFamily="49" charset="-122"/>
              </a:rPr>
              <a:t>        WHERE Sname= '</a:t>
            </a:r>
            <a:r>
              <a:rPr lang="zh-CN" altLang="en-US" sz="2400" smtClean="0">
                <a:latin typeface="黑体" pitchFamily="49" charset="-122"/>
                <a:ea typeface="黑体" pitchFamily="49" charset="-122"/>
              </a:rPr>
              <a:t>朱安琪</a:t>
            </a:r>
            <a:r>
              <a:rPr lang="en-US" altLang="zh-CN" sz="2400" smtClean="0">
                <a:latin typeface="黑体" pitchFamily="49" charset="-122"/>
                <a:ea typeface="黑体" pitchFamily="49" charset="-122"/>
              </a:rPr>
              <a:t>' )</a:t>
            </a:r>
            <a:r>
              <a:rPr lang="zh-CN" altLang="en-US" sz="2400" smtClean="0">
                <a:latin typeface="黑体" pitchFamily="49" charset="-122"/>
                <a:ea typeface="黑体" pitchFamily="49" charset="-122"/>
              </a:rPr>
              <a:t>；</a:t>
            </a:r>
          </a:p>
        </p:txBody>
      </p:sp>
      <p:sp>
        <p:nvSpPr>
          <p:cNvPr id="80899" name="Rectangle 2"/>
          <p:cNvSpPr>
            <a:spLocks noChangeArrowheads="1"/>
          </p:cNvSpPr>
          <p:nvPr>
            <p:ph type="title"/>
          </p:nvPr>
        </p:nvSpPr>
        <p:spPr>
          <a:xfrm>
            <a:off x="539750" y="1196975"/>
            <a:ext cx="7793038" cy="863600"/>
          </a:xfrm>
        </p:spPr>
        <p:txBody>
          <a:bodyPr/>
          <a:lstStyle/>
          <a:p>
            <a:pPr eaLnBrk="1" hangingPunct="1"/>
            <a:r>
              <a:rPr lang="zh-CN" altLang="en-US" sz="2800" smtClean="0">
                <a:solidFill>
                  <a:schemeClr val="tx1"/>
                </a:solidFill>
              </a:rPr>
              <a:t>二、带有比较运算符的子查询</a:t>
            </a:r>
          </a:p>
        </p:txBody>
      </p:sp>
      <p:sp>
        <p:nvSpPr>
          <p:cNvPr id="6"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ChangeArrowheads="1"/>
          </p:cNvSpPr>
          <p:nvPr>
            <p:ph type="body" idx="1"/>
          </p:nvPr>
        </p:nvSpPr>
        <p:spPr>
          <a:xfrm>
            <a:off x="611188" y="1989138"/>
            <a:ext cx="7848600" cy="4608512"/>
          </a:xfrm>
        </p:spPr>
        <p:txBody>
          <a:bodyPr/>
          <a:lstStyle/>
          <a:p>
            <a:pPr eaLnBrk="1" hangingPunct="1">
              <a:lnSpc>
                <a:spcPct val="125000"/>
              </a:lnSpc>
              <a:buFont typeface="Wingdings" pitchFamily="2" charset="2"/>
              <a:buNone/>
            </a:pP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40</a:t>
            </a:r>
            <a:r>
              <a:rPr lang="zh-CN" altLang="en-US" sz="2400" smtClean="0">
                <a:latin typeface="黑体" pitchFamily="49" charset="-122"/>
                <a:ea typeface="黑体" pitchFamily="49" charset="-122"/>
              </a:rPr>
              <a:t>］找出每个学生超过他选修课程平均成绩的学号和课程号。</a:t>
            </a:r>
          </a:p>
          <a:p>
            <a:pPr eaLnBrk="1" hangingPunct="1">
              <a:lnSpc>
                <a:spcPct val="125000"/>
              </a:lnSpc>
              <a:buFont typeface="Wingdings" pitchFamily="2" charset="2"/>
              <a:buNone/>
            </a:pPr>
            <a:r>
              <a:rPr lang="zh-CN" altLang="en-US" sz="2400" smtClean="0">
                <a:latin typeface="黑体" pitchFamily="49" charset="-122"/>
                <a:ea typeface="黑体" pitchFamily="49" charset="-122"/>
              </a:rPr>
              <a:t>  </a:t>
            </a:r>
          </a:p>
        </p:txBody>
      </p:sp>
      <p:sp>
        <p:nvSpPr>
          <p:cNvPr id="81923" name="Rectangle 2"/>
          <p:cNvSpPr>
            <a:spLocks noChangeArrowheads="1"/>
          </p:cNvSpPr>
          <p:nvPr>
            <p:ph type="title"/>
          </p:nvPr>
        </p:nvSpPr>
        <p:spPr>
          <a:xfrm>
            <a:off x="539750" y="1196975"/>
            <a:ext cx="7793038" cy="863600"/>
          </a:xfrm>
        </p:spPr>
        <p:txBody>
          <a:bodyPr/>
          <a:lstStyle/>
          <a:p>
            <a:pPr eaLnBrk="1" hangingPunct="1"/>
            <a:r>
              <a:rPr lang="zh-CN" altLang="en-US" sz="2800" smtClean="0">
                <a:solidFill>
                  <a:schemeClr val="tx1"/>
                </a:solidFill>
              </a:rPr>
              <a:t>二、带有比较运算符的子查询</a:t>
            </a:r>
          </a:p>
        </p:txBody>
      </p:sp>
      <p:sp>
        <p:nvSpPr>
          <p:cNvPr id="6"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7891">
                                            <p:txEl>
                                              <p:pRg st="1" end="1"/>
                                            </p:txEl>
                                          </p:spTgt>
                                        </p:tgtEl>
                                        <p:attrNameLst>
                                          <p:attrName>style.visibility</p:attrName>
                                        </p:attrNameLst>
                                      </p:cBhvr>
                                      <p:to>
                                        <p:strVal val="visible"/>
                                      </p:to>
                                    </p:set>
                                    <p:anim calcmode="lin" valueType="num">
                                      <p:cBhvr additive="base">
                                        <p:cTn id="7" dur="5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9062" name="Group 150"/>
          <p:cNvGraphicFramePr>
            <a:graphicFrameLocks noGrp="1"/>
          </p:cNvGraphicFramePr>
          <p:nvPr>
            <p:ph sz="half" idx="2"/>
          </p:nvPr>
        </p:nvGraphicFramePr>
        <p:xfrm>
          <a:off x="271463" y="692150"/>
          <a:ext cx="2519362" cy="5905500"/>
        </p:xfrm>
        <a:graphic>
          <a:graphicData uri="http://schemas.openxmlformats.org/drawingml/2006/table">
            <a:tbl>
              <a:tblPr/>
              <a:tblGrid>
                <a:gridCol w="863194"/>
                <a:gridCol w="864087"/>
                <a:gridCol w="792081"/>
              </a:tblGrid>
              <a:tr h="51933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Grade</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870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23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679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89</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45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9002" name="Rectangle 90"/>
          <p:cNvSpPr>
            <a:spLocks noChangeArrowheads="1"/>
          </p:cNvSpPr>
          <p:nvPr/>
        </p:nvSpPr>
        <p:spPr bwMode="auto">
          <a:xfrm>
            <a:off x="271463" y="1265238"/>
            <a:ext cx="2519362" cy="287337"/>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latin typeface="Arial" charset="0"/>
              <a:ea typeface="黑体" pitchFamily="49" charset="-122"/>
            </a:endParaRPr>
          </a:p>
        </p:txBody>
      </p:sp>
      <p:sp>
        <p:nvSpPr>
          <p:cNvPr id="39004" name="AutoShape 92"/>
          <p:cNvSpPr>
            <a:spLocks/>
          </p:cNvSpPr>
          <p:nvPr/>
        </p:nvSpPr>
        <p:spPr bwMode="auto">
          <a:xfrm>
            <a:off x="5802313" y="1363663"/>
            <a:ext cx="358775" cy="1273175"/>
          </a:xfrm>
          <a:prstGeom prst="rightBrace">
            <a:avLst>
              <a:gd name="adj1" fmla="val 29999"/>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latin typeface="Arial" charset="0"/>
              <a:ea typeface="黑体" pitchFamily="49" charset="-122"/>
            </a:endParaRPr>
          </a:p>
        </p:txBody>
      </p:sp>
      <p:sp>
        <p:nvSpPr>
          <p:cNvPr id="39006" name="Text Box 94"/>
          <p:cNvSpPr txBox="1">
            <a:spLocks noChangeArrowheads="1"/>
          </p:cNvSpPr>
          <p:nvPr/>
        </p:nvSpPr>
        <p:spPr bwMode="auto">
          <a:xfrm>
            <a:off x="6208713" y="1747838"/>
            <a:ext cx="542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spcBef>
                <a:spcPct val="50000"/>
              </a:spcBef>
            </a:pPr>
            <a:r>
              <a:rPr lang="en-US" altLang="zh-CN" sz="2400"/>
              <a:t>66</a:t>
            </a:r>
          </a:p>
        </p:txBody>
      </p:sp>
      <p:graphicFrame>
        <p:nvGraphicFramePr>
          <p:cNvPr id="39061" name="Group 149"/>
          <p:cNvGraphicFramePr>
            <a:graphicFrameLocks noGrp="1"/>
          </p:cNvGraphicFramePr>
          <p:nvPr>
            <p:ph sz="half" idx="1"/>
          </p:nvPr>
        </p:nvGraphicFramePr>
        <p:xfrm>
          <a:off x="7038975" y="871538"/>
          <a:ext cx="1871663" cy="2424112"/>
        </p:xfrm>
        <a:graphic>
          <a:graphicData uri="http://schemas.openxmlformats.org/drawingml/2006/table">
            <a:tbl>
              <a:tblPr/>
              <a:tblGrid>
                <a:gridCol w="935832"/>
                <a:gridCol w="935832"/>
              </a:tblGrid>
              <a:tr h="3729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91377" marR="91377"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91377" marR="91377"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04001</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005</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04002</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008</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04002</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006</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04003</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003</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04004</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001</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04004</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008</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3041" name="Rectangle 153"/>
          <p:cNvSpPr>
            <a:spLocks noChangeArrowheads="1"/>
          </p:cNvSpPr>
          <p:nvPr/>
        </p:nvSpPr>
        <p:spPr bwMode="auto">
          <a:xfrm>
            <a:off x="6994525" y="1254125"/>
            <a:ext cx="1970088" cy="287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2400">
              <a:latin typeface="Arial" charset="0"/>
              <a:ea typeface="黑体" pitchFamily="49" charset="-122"/>
            </a:endParaRPr>
          </a:p>
        </p:txBody>
      </p:sp>
      <p:graphicFrame>
        <p:nvGraphicFramePr>
          <p:cNvPr id="11" name="Group 150"/>
          <p:cNvGraphicFramePr>
            <a:graphicFrameLocks/>
          </p:cNvGraphicFramePr>
          <p:nvPr/>
        </p:nvGraphicFramePr>
        <p:xfrm>
          <a:off x="3295650" y="692150"/>
          <a:ext cx="2519363" cy="5905500"/>
        </p:xfrm>
        <a:graphic>
          <a:graphicData uri="http://schemas.openxmlformats.org/drawingml/2006/table">
            <a:tbl>
              <a:tblPr/>
              <a:tblGrid>
                <a:gridCol w="863194"/>
                <a:gridCol w="864087"/>
                <a:gridCol w="792081"/>
              </a:tblGrid>
              <a:tr h="51933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Grade</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870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23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679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89</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45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3108" name="TextBox 2"/>
          <p:cNvSpPr txBox="1">
            <a:spLocks noChangeArrowheads="1"/>
          </p:cNvSpPr>
          <p:nvPr/>
        </p:nvSpPr>
        <p:spPr bwMode="auto">
          <a:xfrm>
            <a:off x="563563" y="220663"/>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父查询关系</a:t>
            </a:r>
          </a:p>
        </p:txBody>
      </p:sp>
      <p:sp>
        <p:nvSpPr>
          <p:cNvPr id="83109" name="TextBox 14"/>
          <p:cNvSpPr txBox="1">
            <a:spLocks noChangeArrowheads="1"/>
          </p:cNvSpPr>
          <p:nvPr/>
        </p:nvSpPr>
        <p:spPr bwMode="auto">
          <a:xfrm>
            <a:off x="3492500" y="222250"/>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子查询关系</a:t>
            </a:r>
          </a:p>
        </p:txBody>
      </p:sp>
      <p:sp>
        <p:nvSpPr>
          <p:cNvPr id="83110" name="TextBox 15"/>
          <p:cNvSpPr txBox="1">
            <a:spLocks noChangeArrowheads="1"/>
          </p:cNvSpPr>
          <p:nvPr/>
        </p:nvSpPr>
        <p:spPr bwMode="auto">
          <a:xfrm>
            <a:off x="7054850" y="260350"/>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结果查询关系</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00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0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02" grpId="0" animBg="1"/>
      <p:bldP spid="39004" grpId="0" animBg="1"/>
      <p:bldP spid="39006" grpId="0"/>
    </p:bld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9062" name="Group 150"/>
          <p:cNvGraphicFramePr>
            <a:graphicFrameLocks noGrp="1"/>
          </p:cNvGraphicFramePr>
          <p:nvPr>
            <p:ph sz="half" idx="2"/>
          </p:nvPr>
        </p:nvGraphicFramePr>
        <p:xfrm>
          <a:off x="271463" y="692150"/>
          <a:ext cx="2519362" cy="5905500"/>
        </p:xfrm>
        <a:graphic>
          <a:graphicData uri="http://schemas.openxmlformats.org/drawingml/2006/table">
            <a:tbl>
              <a:tblPr/>
              <a:tblGrid>
                <a:gridCol w="863194"/>
                <a:gridCol w="864087"/>
                <a:gridCol w="792081"/>
              </a:tblGrid>
              <a:tr h="51933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Grade</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870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23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679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89</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45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9002" name="Rectangle 90"/>
          <p:cNvSpPr>
            <a:spLocks noChangeArrowheads="1"/>
          </p:cNvSpPr>
          <p:nvPr/>
        </p:nvSpPr>
        <p:spPr bwMode="auto">
          <a:xfrm>
            <a:off x="261938" y="1265238"/>
            <a:ext cx="2519362" cy="287337"/>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latin typeface="Arial" charset="0"/>
              <a:ea typeface="黑体" pitchFamily="49" charset="-122"/>
            </a:endParaRPr>
          </a:p>
        </p:txBody>
      </p:sp>
      <p:sp>
        <p:nvSpPr>
          <p:cNvPr id="39004" name="AutoShape 92"/>
          <p:cNvSpPr>
            <a:spLocks/>
          </p:cNvSpPr>
          <p:nvPr/>
        </p:nvSpPr>
        <p:spPr bwMode="auto">
          <a:xfrm>
            <a:off x="5802313" y="1363663"/>
            <a:ext cx="358775" cy="1273175"/>
          </a:xfrm>
          <a:prstGeom prst="rightBrace">
            <a:avLst>
              <a:gd name="adj1" fmla="val 29999"/>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latin typeface="Arial" charset="0"/>
              <a:ea typeface="黑体" pitchFamily="49" charset="-122"/>
            </a:endParaRPr>
          </a:p>
        </p:txBody>
      </p:sp>
      <p:sp>
        <p:nvSpPr>
          <p:cNvPr id="39006" name="Text Box 94"/>
          <p:cNvSpPr txBox="1">
            <a:spLocks noChangeArrowheads="1"/>
          </p:cNvSpPr>
          <p:nvPr/>
        </p:nvSpPr>
        <p:spPr bwMode="auto">
          <a:xfrm>
            <a:off x="6208713" y="1747838"/>
            <a:ext cx="542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spcBef>
                <a:spcPct val="50000"/>
              </a:spcBef>
            </a:pPr>
            <a:r>
              <a:rPr lang="en-US" altLang="zh-CN" sz="2400"/>
              <a:t>66</a:t>
            </a:r>
          </a:p>
        </p:txBody>
      </p:sp>
      <p:graphicFrame>
        <p:nvGraphicFramePr>
          <p:cNvPr id="39061" name="Group 149"/>
          <p:cNvGraphicFramePr>
            <a:graphicFrameLocks noGrp="1"/>
          </p:cNvGraphicFramePr>
          <p:nvPr>
            <p:ph sz="half" idx="1"/>
          </p:nvPr>
        </p:nvGraphicFramePr>
        <p:xfrm>
          <a:off x="7038975" y="871538"/>
          <a:ext cx="1871663" cy="2424112"/>
        </p:xfrm>
        <a:graphic>
          <a:graphicData uri="http://schemas.openxmlformats.org/drawingml/2006/table">
            <a:tbl>
              <a:tblPr/>
              <a:tblGrid>
                <a:gridCol w="935832"/>
                <a:gridCol w="935832"/>
              </a:tblGrid>
              <a:tr h="3729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91377" marR="91377"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91377" marR="91377"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04001</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005</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04002</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008</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04002</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006</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04003</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003</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04004</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001</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04004</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008</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4065" name="Rectangle 153"/>
          <p:cNvSpPr>
            <a:spLocks noChangeArrowheads="1"/>
          </p:cNvSpPr>
          <p:nvPr/>
        </p:nvSpPr>
        <p:spPr bwMode="auto">
          <a:xfrm>
            <a:off x="6994525" y="1254125"/>
            <a:ext cx="1970088" cy="287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2400">
              <a:latin typeface="Arial" charset="0"/>
              <a:ea typeface="黑体" pitchFamily="49" charset="-122"/>
            </a:endParaRPr>
          </a:p>
        </p:txBody>
      </p:sp>
      <p:graphicFrame>
        <p:nvGraphicFramePr>
          <p:cNvPr id="11" name="Group 150"/>
          <p:cNvGraphicFramePr>
            <a:graphicFrameLocks/>
          </p:cNvGraphicFramePr>
          <p:nvPr/>
        </p:nvGraphicFramePr>
        <p:xfrm>
          <a:off x="3295650" y="692150"/>
          <a:ext cx="2519363" cy="5905500"/>
        </p:xfrm>
        <a:graphic>
          <a:graphicData uri="http://schemas.openxmlformats.org/drawingml/2006/table">
            <a:tbl>
              <a:tblPr/>
              <a:tblGrid>
                <a:gridCol w="863194"/>
                <a:gridCol w="864087"/>
                <a:gridCol w="792081"/>
              </a:tblGrid>
              <a:tr h="51933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Grade</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870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23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679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89</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45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4132" name="TextBox 2"/>
          <p:cNvSpPr txBox="1">
            <a:spLocks noChangeArrowheads="1"/>
          </p:cNvSpPr>
          <p:nvPr/>
        </p:nvSpPr>
        <p:spPr bwMode="auto">
          <a:xfrm>
            <a:off x="563563" y="220663"/>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父查询关系</a:t>
            </a:r>
          </a:p>
        </p:txBody>
      </p:sp>
      <p:sp>
        <p:nvSpPr>
          <p:cNvPr id="84133" name="TextBox 14"/>
          <p:cNvSpPr txBox="1">
            <a:spLocks noChangeArrowheads="1"/>
          </p:cNvSpPr>
          <p:nvPr/>
        </p:nvSpPr>
        <p:spPr bwMode="auto">
          <a:xfrm>
            <a:off x="3492500" y="222250"/>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子查询关系</a:t>
            </a:r>
          </a:p>
        </p:txBody>
      </p:sp>
      <p:sp>
        <p:nvSpPr>
          <p:cNvPr id="84134" name="TextBox 15"/>
          <p:cNvSpPr txBox="1">
            <a:spLocks noChangeArrowheads="1"/>
          </p:cNvSpPr>
          <p:nvPr/>
        </p:nvSpPr>
        <p:spPr bwMode="auto">
          <a:xfrm>
            <a:off x="7054850" y="260350"/>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结果查询关系</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grpId="0" nodeType="clickEffect">
                                  <p:stCondLst>
                                    <p:cond delay="0"/>
                                  </p:stCondLst>
                                  <p:childTnLst>
                                    <p:animMotion origin="layout" path="M -8.33333E-7 1.48148E-6 L 0.00191 0.05324 " pathEditMode="relative" rAng="0" ptsTypes="AA">
                                      <p:cBhvr>
                                        <p:cTn id="6" dur="750" fill="hold"/>
                                        <p:tgtEl>
                                          <p:spTgt spid="39002"/>
                                        </p:tgtEl>
                                        <p:attrNameLst>
                                          <p:attrName>ppt_x</p:attrName>
                                          <p:attrName>ppt_y</p:attrName>
                                        </p:attrNameLst>
                                      </p:cBhvr>
                                      <p:rCtr x="87" y="2662"/>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0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02" grpId="0" animBg="1"/>
      <p:bldP spid="39004" grpId="0" animBg="1"/>
      <p:bldP spid="39006" grpId="0"/>
    </p:bld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9062" name="Group 150"/>
          <p:cNvGraphicFramePr>
            <a:graphicFrameLocks noGrp="1"/>
          </p:cNvGraphicFramePr>
          <p:nvPr>
            <p:ph sz="half" idx="2"/>
          </p:nvPr>
        </p:nvGraphicFramePr>
        <p:xfrm>
          <a:off x="271463" y="692150"/>
          <a:ext cx="2519362" cy="5905500"/>
        </p:xfrm>
        <a:graphic>
          <a:graphicData uri="http://schemas.openxmlformats.org/drawingml/2006/table">
            <a:tbl>
              <a:tblPr/>
              <a:tblGrid>
                <a:gridCol w="863194"/>
                <a:gridCol w="864087"/>
                <a:gridCol w="792081"/>
              </a:tblGrid>
              <a:tr h="51933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Grade</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870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23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679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89</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45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9002" name="Rectangle 90"/>
          <p:cNvSpPr>
            <a:spLocks noChangeArrowheads="1"/>
          </p:cNvSpPr>
          <p:nvPr/>
        </p:nvSpPr>
        <p:spPr bwMode="auto">
          <a:xfrm>
            <a:off x="261938" y="1636713"/>
            <a:ext cx="2519362" cy="287337"/>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latin typeface="Arial" charset="0"/>
              <a:ea typeface="黑体" pitchFamily="49" charset="-122"/>
            </a:endParaRPr>
          </a:p>
        </p:txBody>
      </p:sp>
      <p:sp>
        <p:nvSpPr>
          <p:cNvPr id="39004" name="AutoShape 92"/>
          <p:cNvSpPr>
            <a:spLocks/>
          </p:cNvSpPr>
          <p:nvPr/>
        </p:nvSpPr>
        <p:spPr bwMode="auto">
          <a:xfrm>
            <a:off x="5802313" y="1363663"/>
            <a:ext cx="358775" cy="1273175"/>
          </a:xfrm>
          <a:prstGeom prst="rightBrace">
            <a:avLst>
              <a:gd name="adj1" fmla="val 29999"/>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latin typeface="Arial" charset="0"/>
              <a:ea typeface="黑体" pitchFamily="49" charset="-122"/>
            </a:endParaRPr>
          </a:p>
        </p:txBody>
      </p:sp>
      <p:sp>
        <p:nvSpPr>
          <p:cNvPr id="39006" name="Text Box 94"/>
          <p:cNvSpPr txBox="1">
            <a:spLocks noChangeArrowheads="1"/>
          </p:cNvSpPr>
          <p:nvPr/>
        </p:nvSpPr>
        <p:spPr bwMode="auto">
          <a:xfrm>
            <a:off x="6208713" y="1747838"/>
            <a:ext cx="542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spcBef>
                <a:spcPct val="50000"/>
              </a:spcBef>
            </a:pPr>
            <a:r>
              <a:rPr lang="en-US" altLang="zh-CN" sz="2400"/>
              <a:t>66</a:t>
            </a:r>
          </a:p>
        </p:txBody>
      </p:sp>
      <p:graphicFrame>
        <p:nvGraphicFramePr>
          <p:cNvPr id="39061" name="Group 149"/>
          <p:cNvGraphicFramePr>
            <a:graphicFrameLocks noGrp="1"/>
          </p:cNvGraphicFramePr>
          <p:nvPr>
            <p:ph sz="half" idx="1"/>
          </p:nvPr>
        </p:nvGraphicFramePr>
        <p:xfrm>
          <a:off x="7038975" y="871538"/>
          <a:ext cx="1871663" cy="2424112"/>
        </p:xfrm>
        <a:graphic>
          <a:graphicData uri="http://schemas.openxmlformats.org/drawingml/2006/table">
            <a:tbl>
              <a:tblPr/>
              <a:tblGrid>
                <a:gridCol w="935832"/>
                <a:gridCol w="935832"/>
              </a:tblGrid>
              <a:tr h="3729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91377" marR="91377"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91377" marR="91377"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04001</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005</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04002</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008</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04002</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006</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04003</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003</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04004</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001</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04004</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008</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5089" name="Rectangle 153"/>
          <p:cNvSpPr>
            <a:spLocks noChangeArrowheads="1"/>
          </p:cNvSpPr>
          <p:nvPr/>
        </p:nvSpPr>
        <p:spPr bwMode="auto">
          <a:xfrm>
            <a:off x="6994525" y="1601788"/>
            <a:ext cx="1970088" cy="287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2400">
              <a:latin typeface="Arial" charset="0"/>
              <a:ea typeface="黑体" pitchFamily="49" charset="-122"/>
            </a:endParaRPr>
          </a:p>
        </p:txBody>
      </p:sp>
      <p:graphicFrame>
        <p:nvGraphicFramePr>
          <p:cNvPr id="11" name="Group 150"/>
          <p:cNvGraphicFramePr>
            <a:graphicFrameLocks/>
          </p:cNvGraphicFramePr>
          <p:nvPr/>
        </p:nvGraphicFramePr>
        <p:xfrm>
          <a:off x="3295650" y="692150"/>
          <a:ext cx="2519363" cy="5905500"/>
        </p:xfrm>
        <a:graphic>
          <a:graphicData uri="http://schemas.openxmlformats.org/drawingml/2006/table">
            <a:tbl>
              <a:tblPr/>
              <a:tblGrid>
                <a:gridCol w="863194"/>
                <a:gridCol w="864087"/>
                <a:gridCol w="792081"/>
              </a:tblGrid>
              <a:tr h="51933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Grade</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870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23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679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89</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45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5156" name="TextBox 2"/>
          <p:cNvSpPr txBox="1">
            <a:spLocks noChangeArrowheads="1"/>
          </p:cNvSpPr>
          <p:nvPr/>
        </p:nvSpPr>
        <p:spPr bwMode="auto">
          <a:xfrm>
            <a:off x="563563" y="220663"/>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父查询关系</a:t>
            </a:r>
          </a:p>
        </p:txBody>
      </p:sp>
      <p:sp>
        <p:nvSpPr>
          <p:cNvPr id="85157" name="TextBox 14"/>
          <p:cNvSpPr txBox="1">
            <a:spLocks noChangeArrowheads="1"/>
          </p:cNvSpPr>
          <p:nvPr/>
        </p:nvSpPr>
        <p:spPr bwMode="auto">
          <a:xfrm>
            <a:off x="3492500" y="222250"/>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子查询关系</a:t>
            </a:r>
          </a:p>
        </p:txBody>
      </p:sp>
      <p:sp>
        <p:nvSpPr>
          <p:cNvPr id="85158" name="TextBox 15"/>
          <p:cNvSpPr txBox="1">
            <a:spLocks noChangeArrowheads="1"/>
          </p:cNvSpPr>
          <p:nvPr/>
        </p:nvSpPr>
        <p:spPr bwMode="auto">
          <a:xfrm>
            <a:off x="7054850" y="260350"/>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结果查询关系</a:t>
            </a:r>
          </a:p>
        </p:txBody>
      </p:sp>
      <p:sp>
        <p:nvSpPr>
          <p:cNvPr id="12" name="Rectangle 153"/>
          <p:cNvSpPr>
            <a:spLocks noChangeArrowheads="1"/>
          </p:cNvSpPr>
          <p:nvPr/>
        </p:nvSpPr>
        <p:spPr bwMode="auto">
          <a:xfrm>
            <a:off x="6991350" y="1258888"/>
            <a:ext cx="1970088" cy="287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2400">
              <a:latin typeface="Arial" charset="0"/>
              <a:ea typeface="黑体"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grpId="0" nodeType="clickEffect">
                                  <p:stCondLst>
                                    <p:cond delay="0"/>
                                  </p:stCondLst>
                                  <p:childTnLst>
                                    <p:animMotion origin="layout" path="M 5.55556E-7 -7.40741E-7 L 0.00295 0.06204 " pathEditMode="relative" rAng="0" ptsTypes="AA">
                                      <p:cBhvr>
                                        <p:cTn id="6" dur="750" fill="hold"/>
                                        <p:tgtEl>
                                          <p:spTgt spid="39002"/>
                                        </p:tgtEl>
                                        <p:attrNameLst>
                                          <p:attrName>ppt_x</p:attrName>
                                          <p:attrName>ppt_y</p:attrName>
                                        </p:attrNameLst>
                                      </p:cBhvr>
                                      <p:rCtr x="139" y="3102"/>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0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00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02" grpId="0" animBg="1"/>
      <p:bldP spid="39004" grpId="0" animBg="1"/>
      <p:bldP spid="39006" grpId="0"/>
      <p:bldP spid="12" grpId="0" animBg="1"/>
    </p:bld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9062" name="Group 150"/>
          <p:cNvGraphicFramePr>
            <a:graphicFrameLocks noGrp="1"/>
          </p:cNvGraphicFramePr>
          <p:nvPr>
            <p:ph sz="half" idx="2"/>
          </p:nvPr>
        </p:nvGraphicFramePr>
        <p:xfrm>
          <a:off x="271463" y="692150"/>
          <a:ext cx="2519362" cy="5905500"/>
        </p:xfrm>
        <a:graphic>
          <a:graphicData uri="http://schemas.openxmlformats.org/drawingml/2006/table">
            <a:tbl>
              <a:tblPr/>
              <a:tblGrid>
                <a:gridCol w="863194"/>
                <a:gridCol w="864087"/>
                <a:gridCol w="792081"/>
              </a:tblGrid>
              <a:tr h="51933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Grade</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870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23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679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89</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45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9002" name="Rectangle 90"/>
          <p:cNvSpPr>
            <a:spLocks noChangeArrowheads="1"/>
          </p:cNvSpPr>
          <p:nvPr/>
        </p:nvSpPr>
        <p:spPr bwMode="auto">
          <a:xfrm>
            <a:off x="261938" y="2025650"/>
            <a:ext cx="2519362" cy="287338"/>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latin typeface="Arial" charset="0"/>
              <a:ea typeface="黑体" pitchFamily="49" charset="-122"/>
            </a:endParaRPr>
          </a:p>
        </p:txBody>
      </p:sp>
      <p:sp>
        <p:nvSpPr>
          <p:cNvPr id="39004" name="AutoShape 92"/>
          <p:cNvSpPr>
            <a:spLocks/>
          </p:cNvSpPr>
          <p:nvPr/>
        </p:nvSpPr>
        <p:spPr bwMode="auto">
          <a:xfrm>
            <a:off x="5802313" y="1363663"/>
            <a:ext cx="358775" cy="1273175"/>
          </a:xfrm>
          <a:prstGeom prst="rightBrace">
            <a:avLst>
              <a:gd name="adj1" fmla="val 29999"/>
              <a:gd name="adj2" fmla="val 50000"/>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latin typeface="Arial" charset="0"/>
              <a:ea typeface="黑体" pitchFamily="49" charset="-122"/>
            </a:endParaRPr>
          </a:p>
        </p:txBody>
      </p:sp>
      <p:sp>
        <p:nvSpPr>
          <p:cNvPr id="39006" name="Text Box 94"/>
          <p:cNvSpPr txBox="1">
            <a:spLocks noChangeArrowheads="1"/>
          </p:cNvSpPr>
          <p:nvPr/>
        </p:nvSpPr>
        <p:spPr bwMode="auto">
          <a:xfrm>
            <a:off x="6208713" y="1747838"/>
            <a:ext cx="542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spcBef>
                <a:spcPct val="50000"/>
              </a:spcBef>
            </a:pPr>
            <a:r>
              <a:rPr lang="en-US" altLang="zh-CN" sz="2400"/>
              <a:t>66</a:t>
            </a:r>
          </a:p>
        </p:txBody>
      </p:sp>
      <p:graphicFrame>
        <p:nvGraphicFramePr>
          <p:cNvPr id="39061" name="Group 149"/>
          <p:cNvGraphicFramePr>
            <a:graphicFrameLocks noGrp="1"/>
          </p:cNvGraphicFramePr>
          <p:nvPr>
            <p:ph sz="half" idx="1"/>
          </p:nvPr>
        </p:nvGraphicFramePr>
        <p:xfrm>
          <a:off x="7038975" y="871538"/>
          <a:ext cx="1871663" cy="2424112"/>
        </p:xfrm>
        <a:graphic>
          <a:graphicData uri="http://schemas.openxmlformats.org/drawingml/2006/table">
            <a:tbl>
              <a:tblPr/>
              <a:tblGrid>
                <a:gridCol w="935832"/>
                <a:gridCol w="935832"/>
              </a:tblGrid>
              <a:tr h="3729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91377" marR="91377"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91377" marR="91377"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04001</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005</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04002</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008</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04002</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006</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04003</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003</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04004</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001</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04004</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008</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6113" name="Rectangle 153"/>
          <p:cNvSpPr>
            <a:spLocks noChangeArrowheads="1"/>
          </p:cNvSpPr>
          <p:nvPr/>
        </p:nvSpPr>
        <p:spPr bwMode="auto">
          <a:xfrm>
            <a:off x="6994525" y="1601788"/>
            <a:ext cx="1970088" cy="287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2400">
              <a:latin typeface="Arial" charset="0"/>
              <a:ea typeface="黑体" pitchFamily="49" charset="-122"/>
            </a:endParaRPr>
          </a:p>
        </p:txBody>
      </p:sp>
      <p:graphicFrame>
        <p:nvGraphicFramePr>
          <p:cNvPr id="11" name="Group 150"/>
          <p:cNvGraphicFramePr>
            <a:graphicFrameLocks/>
          </p:cNvGraphicFramePr>
          <p:nvPr/>
        </p:nvGraphicFramePr>
        <p:xfrm>
          <a:off x="3295650" y="692150"/>
          <a:ext cx="2519363" cy="5905500"/>
        </p:xfrm>
        <a:graphic>
          <a:graphicData uri="http://schemas.openxmlformats.org/drawingml/2006/table">
            <a:tbl>
              <a:tblPr/>
              <a:tblGrid>
                <a:gridCol w="863194"/>
                <a:gridCol w="864087"/>
                <a:gridCol w="792081"/>
              </a:tblGrid>
              <a:tr h="51933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Grade</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870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23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679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89</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45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6180" name="TextBox 2"/>
          <p:cNvSpPr txBox="1">
            <a:spLocks noChangeArrowheads="1"/>
          </p:cNvSpPr>
          <p:nvPr/>
        </p:nvSpPr>
        <p:spPr bwMode="auto">
          <a:xfrm>
            <a:off x="563563" y="220663"/>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父查询关系</a:t>
            </a:r>
          </a:p>
        </p:txBody>
      </p:sp>
      <p:sp>
        <p:nvSpPr>
          <p:cNvPr id="86181" name="TextBox 14"/>
          <p:cNvSpPr txBox="1">
            <a:spLocks noChangeArrowheads="1"/>
          </p:cNvSpPr>
          <p:nvPr/>
        </p:nvSpPr>
        <p:spPr bwMode="auto">
          <a:xfrm>
            <a:off x="3492500" y="222250"/>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子查询关系</a:t>
            </a:r>
          </a:p>
        </p:txBody>
      </p:sp>
      <p:sp>
        <p:nvSpPr>
          <p:cNvPr id="86182" name="TextBox 15"/>
          <p:cNvSpPr txBox="1">
            <a:spLocks noChangeArrowheads="1"/>
          </p:cNvSpPr>
          <p:nvPr/>
        </p:nvSpPr>
        <p:spPr bwMode="auto">
          <a:xfrm>
            <a:off x="7054850" y="260350"/>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结果查询关系</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grpId="0" nodeType="clickEffect">
                                  <p:stCondLst>
                                    <p:cond delay="0"/>
                                  </p:stCondLst>
                                  <p:childTnLst>
                                    <p:animMotion origin="layout" path="M 5.55556E-7 -3.7037E-6 L 0.00295 0.05787 " pathEditMode="relative" rAng="0" ptsTypes="AA">
                                      <p:cBhvr>
                                        <p:cTn id="6" dur="750" fill="hold"/>
                                        <p:tgtEl>
                                          <p:spTgt spid="39002"/>
                                        </p:tgtEl>
                                        <p:attrNameLst>
                                          <p:attrName>ppt_x</p:attrName>
                                          <p:attrName>ppt_y</p:attrName>
                                        </p:attrNameLst>
                                      </p:cBhvr>
                                      <p:rCtr x="139" y="2894"/>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0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02" grpId="0" animBg="1"/>
      <p:bldP spid="39004" grpId="0" animBg="1"/>
      <p:bldP spid="39006" grpId="0"/>
    </p:bld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9062" name="Group 150"/>
          <p:cNvGraphicFramePr>
            <a:graphicFrameLocks noGrp="1"/>
          </p:cNvGraphicFramePr>
          <p:nvPr>
            <p:ph sz="half" idx="2"/>
          </p:nvPr>
        </p:nvGraphicFramePr>
        <p:xfrm>
          <a:off x="271463" y="692150"/>
          <a:ext cx="2519362" cy="5905500"/>
        </p:xfrm>
        <a:graphic>
          <a:graphicData uri="http://schemas.openxmlformats.org/drawingml/2006/table">
            <a:tbl>
              <a:tblPr/>
              <a:tblGrid>
                <a:gridCol w="863194"/>
                <a:gridCol w="864087"/>
                <a:gridCol w="792081"/>
              </a:tblGrid>
              <a:tr h="51933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Grade</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870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23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679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89</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45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9002" name="Rectangle 90"/>
          <p:cNvSpPr>
            <a:spLocks noChangeArrowheads="1"/>
          </p:cNvSpPr>
          <p:nvPr/>
        </p:nvSpPr>
        <p:spPr bwMode="auto">
          <a:xfrm>
            <a:off x="261938" y="2420938"/>
            <a:ext cx="2519362" cy="287337"/>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latin typeface="Arial" charset="0"/>
              <a:ea typeface="黑体" pitchFamily="49" charset="-122"/>
            </a:endParaRPr>
          </a:p>
        </p:txBody>
      </p:sp>
      <p:graphicFrame>
        <p:nvGraphicFramePr>
          <p:cNvPr id="39061" name="Group 149"/>
          <p:cNvGraphicFramePr>
            <a:graphicFrameLocks noGrp="1"/>
          </p:cNvGraphicFramePr>
          <p:nvPr>
            <p:ph sz="half" idx="1"/>
          </p:nvPr>
        </p:nvGraphicFramePr>
        <p:xfrm>
          <a:off x="7038975" y="871538"/>
          <a:ext cx="1871663" cy="2424112"/>
        </p:xfrm>
        <a:graphic>
          <a:graphicData uri="http://schemas.openxmlformats.org/drawingml/2006/table">
            <a:tbl>
              <a:tblPr/>
              <a:tblGrid>
                <a:gridCol w="935832"/>
                <a:gridCol w="935832"/>
              </a:tblGrid>
              <a:tr h="3729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91377" marR="91377"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91377" marR="91377"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04001</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005</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04002</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008</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04002</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006</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04003</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003</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04004</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001</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04004</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008</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7135" name="Rectangle 153"/>
          <p:cNvSpPr>
            <a:spLocks noChangeArrowheads="1"/>
          </p:cNvSpPr>
          <p:nvPr/>
        </p:nvSpPr>
        <p:spPr bwMode="auto">
          <a:xfrm>
            <a:off x="6994525" y="1601788"/>
            <a:ext cx="1970088" cy="287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sz="2400">
              <a:latin typeface="Arial" charset="0"/>
              <a:ea typeface="黑体" pitchFamily="49" charset="-122"/>
            </a:endParaRPr>
          </a:p>
        </p:txBody>
      </p:sp>
      <p:graphicFrame>
        <p:nvGraphicFramePr>
          <p:cNvPr id="11" name="Group 150"/>
          <p:cNvGraphicFramePr>
            <a:graphicFrameLocks/>
          </p:cNvGraphicFramePr>
          <p:nvPr/>
        </p:nvGraphicFramePr>
        <p:xfrm>
          <a:off x="3295650" y="692150"/>
          <a:ext cx="2519363" cy="5905500"/>
        </p:xfrm>
        <a:graphic>
          <a:graphicData uri="http://schemas.openxmlformats.org/drawingml/2006/table">
            <a:tbl>
              <a:tblPr/>
              <a:tblGrid>
                <a:gridCol w="863194"/>
                <a:gridCol w="864087"/>
                <a:gridCol w="792081"/>
              </a:tblGrid>
              <a:tr h="51933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Grade</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870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23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679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89</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45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7202" name="TextBox 2"/>
          <p:cNvSpPr txBox="1">
            <a:spLocks noChangeArrowheads="1"/>
          </p:cNvSpPr>
          <p:nvPr/>
        </p:nvSpPr>
        <p:spPr bwMode="auto">
          <a:xfrm>
            <a:off x="563563" y="220663"/>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父查询关系</a:t>
            </a:r>
          </a:p>
        </p:txBody>
      </p:sp>
      <p:sp>
        <p:nvSpPr>
          <p:cNvPr id="87203" name="TextBox 14"/>
          <p:cNvSpPr txBox="1">
            <a:spLocks noChangeArrowheads="1"/>
          </p:cNvSpPr>
          <p:nvPr/>
        </p:nvSpPr>
        <p:spPr bwMode="auto">
          <a:xfrm>
            <a:off x="3492500" y="222250"/>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子查询关系</a:t>
            </a:r>
          </a:p>
        </p:txBody>
      </p:sp>
      <p:sp>
        <p:nvSpPr>
          <p:cNvPr id="87204" name="TextBox 15"/>
          <p:cNvSpPr txBox="1">
            <a:spLocks noChangeArrowheads="1"/>
          </p:cNvSpPr>
          <p:nvPr/>
        </p:nvSpPr>
        <p:spPr bwMode="auto">
          <a:xfrm>
            <a:off x="7054850" y="260350"/>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结果查询关系</a:t>
            </a:r>
          </a:p>
        </p:txBody>
      </p:sp>
      <p:sp>
        <p:nvSpPr>
          <p:cNvPr id="12" name="AutoShape 154"/>
          <p:cNvSpPr>
            <a:spLocks/>
          </p:cNvSpPr>
          <p:nvPr/>
        </p:nvSpPr>
        <p:spPr bwMode="auto">
          <a:xfrm>
            <a:off x="5810250" y="2924175"/>
            <a:ext cx="358775" cy="1079500"/>
          </a:xfrm>
          <a:prstGeom prst="rightBrace">
            <a:avLst>
              <a:gd name="adj1" fmla="val 15267"/>
              <a:gd name="adj2" fmla="val 47556"/>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latin typeface="Arial" charset="0"/>
              <a:ea typeface="黑体" pitchFamily="49" charset="-122"/>
            </a:endParaRPr>
          </a:p>
        </p:txBody>
      </p:sp>
      <p:sp>
        <p:nvSpPr>
          <p:cNvPr id="13" name="Text Box 155"/>
          <p:cNvSpPr txBox="1">
            <a:spLocks noChangeArrowheads="1"/>
          </p:cNvSpPr>
          <p:nvPr/>
        </p:nvSpPr>
        <p:spPr bwMode="auto">
          <a:xfrm>
            <a:off x="6116638" y="3235325"/>
            <a:ext cx="727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spcBef>
                <a:spcPct val="50000"/>
              </a:spcBef>
            </a:pPr>
            <a:r>
              <a:rPr lang="en-US" altLang="zh-CN" sz="2400"/>
              <a:t>68.5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grpId="0" nodeType="clickEffect">
                                  <p:stCondLst>
                                    <p:cond delay="0"/>
                                  </p:stCondLst>
                                  <p:childTnLst>
                                    <p:animMotion origin="layout" path="M 5.55556E-7 -3.7037E-6 L 0.00295 0.05787 " pathEditMode="relative" rAng="0" ptsTypes="AA">
                                      <p:cBhvr>
                                        <p:cTn id="6" dur="750" fill="hold"/>
                                        <p:tgtEl>
                                          <p:spTgt spid="39002"/>
                                        </p:tgtEl>
                                        <p:attrNameLst>
                                          <p:attrName>ppt_x</p:attrName>
                                          <p:attrName>ppt_y</p:attrName>
                                        </p:attrNameLst>
                                      </p:cBhvr>
                                      <p:rCtr x="139" y="2894"/>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02" grpId="0" animBg="1"/>
      <p:bldP spid="12" grpId="0" animBg="1"/>
      <p:bldP spid="13" grpId="0"/>
    </p:bld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9062" name="Group 150"/>
          <p:cNvGraphicFramePr>
            <a:graphicFrameLocks noGrp="1"/>
          </p:cNvGraphicFramePr>
          <p:nvPr>
            <p:ph sz="half" idx="2"/>
          </p:nvPr>
        </p:nvGraphicFramePr>
        <p:xfrm>
          <a:off x="271463" y="692150"/>
          <a:ext cx="2519362" cy="5905500"/>
        </p:xfrm>
        <a:graphic>
          <a:graphicData uri="http://schemas.openxmlformats.org/drawingml/2006/table">
            <a:tbl>
              <a:tblPr/>
              <a:tblGrid>
                <a:gridCol w="863194"/>
                <a:gridCol w="864087"/>
                <a:gridCol w="792081"/>
              </a:tblGrid>
              <a:tr h="51933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Grade</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870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23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679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89</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45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8132" name="Rectangle 90"/>
          <p:cNvSpPr>
            <a:spLocks noChangeArrowheads="1"/>
          </p:cNvSpPr>
          <p:nvPr/>
        </p:nvSpPr>
        <p:spPr bwMode="auto">
          <a:xfrm>
            <a:off x="255588" y="6264275"/>
            <a:ext cx="2519362" cy="287338"/>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latin typeface="Arial" charset="0"/>
              <a:ea typeface="黑体" pitchFamily="49" charset="-122"/>
            </a:endParaRPr>
          </a:p>
        </p:txBody>
      </p:sp>
      <p:graphicFrame>
        <p:nvGraphicFramePr>
          <p:cNvPr id="39061" name="Group 149"/>
          <p:cNvGraphicFramePr>
            <a:graphicFrameLocks noGrp="1"/>
          </p:cNvGraphicFramePr>
          <p:nvPr>
            <p:ph sz="half" idx="1"/>
          </p:nvPr>
        </p:nvGraphicFramePr>
        <p:xfrm>
          <a:off x="7038975" y="871538"/>
          <a:ext cx="1871663" cy="2424112"/>
        </p:xfrm>
        <a:graphic>
          <a:graphicData uri="http://schemas.openxmlformats.org/drawingml/2006/table">
            <a:tbl>
              <a:tblPr/>
              <a:tblGrid>
                <a:gridCol w="935832"/>
                <a:gridCol w="935832"/>
              </a:tblGrid>
              <a:tr h="3729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91377" marR="91377"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91377" marR="91377" marT="45732" marB="4573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04001</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005</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04002</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008</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04002</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006</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04003</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003</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04004</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smtClean="0">
                          <a:ln>
                            <a:noFill/>
                          </a:ln>
                          <a:solidFill>
                            <a:schemeClr val="tx1"/>
                          </a:solidFill>
                          <a:effectLst/>
                          <a:latin typeface="Tahoma" pitchFamily="34" charset="0"/>
                          <a:ea typeface="宋体" pitchFamily="2" charset="-122"/>
                        </a:rPr>
                        <a:t>001</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186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04004</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1600" b="0" i="0" u="none" strike="noStrike" cap="none" normalizeH="0" baseline="0" dirty="0" smtClean="0">
                          <a:ln>
                            <a:noFill/>
                          </a:ln>
                          <a:solidFill>
                            <a:schemeClr val="tx1"/>
                          </a:solidFill>
                          <a:effectLst/>
                          <a:latin typeface="Tahoma" pitchFamily="34" charset="0"/>
                          <a:ea typeface="宋体" pitchFamily="2" charset="-122"/>
                        </a:rPr>
                        <a:t>008</a:t>
                      </a:r>
                    </a:p>
                  </a:txBody>
                  <a:tcPr marL="91377" marR="91377"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1" name="Group 150"/>
          <p:cNvGraphicFramePr>
            <a:graphicFrameLocks/>
          </p:cNvGraphicFramePr>
          <p:nvPr/>
        </p:nvGraphicFramePr>
        <p:xfrm>
          <a:off x="3295650" y="692150"/>
          <a:ext cx="2519363" cy="5905500"/>
        </p:xfrm>
        <a:graphic>
          <a:graphicData uri="http://schemas.openxmlformats.org/drawingml/2006/table">
            <a:tbl>
              <a:tblPr/>
              <a:tblGrid>
                <a:gridCol w="863194"/>
                <a:gridCol w="864087"/>
                <a:gridCol w="792081"/>
              </a:tblGrid>
              <a:tr h="51933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Grade</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870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23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6799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55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89</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71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839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45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88225" name="TextBox 2"/>
          <p:cNvSpPr txBox="1">
            <a:spLocks noChangeArrowheads="1"/>
          </p:cNvSpPr>
          <p:nvPr/>
        </p:nvSpPr>
        <p:spPr bwMode="auto">
          <a:xfrm>
            <a:off x="563563" y="220663"/>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父查询关系</a:t>
            </a:r>
          </a:p>
        </p:txBody>
      </p:sp>
      <p:sp>
        <p:nvSpPr>
          <p:cNvPr id="88226" name="TextBox 14"/>
          <p:cNvSpPr txBox="1">
            <a:spLocks noChangeArrowheads="1"/>
          </p:cNvSpPr>
          <p:nvPr/>
        </p:nvSpPr>
        <p:spPr bwMode="auto">
          <a:xfrm>
            <a:off x="3492500" y="222250"/>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子查询关系</a:t>
            </a:r>
          </a:p>
        </p:txBody>
      </p:sp>
      <p:sp>
        <p:nvSpPr>
          <p:cNvPr id="88227" name="TextBox 15"/>
          <p:cNvSpPr txBox="1">
            <a:spLocks noChangeArrowheads="1"/>
          </p:cNvSpPr>
          <p:nvPr/>
        </p:nvSpPr>
        <p:spPr bwMode="auto">
          <a:xfrm>
            <a:off x="7054850" y="260350"/>
            <a:ext cx="1847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lgn="ctr"/>
            <a:r>
              <a:rPr lang="zh-CN" altLang="en-US" sz="2000">
                <a:latin typeface="黑体" pitchFamily="49" charset="-122"/>
                <a:ea typeface="黑体" pitchFamily="49" charset="-122"/>
              </a:rPr>
              <a:t>结果查询关系</a:t>
            </a:r>
          </a:p>
        </p:txBody>
      </p:sp>
      <p:sp>
        <p:nvSpPr>
          <p:cNvPr id="14" name="AutoShape 154"/>
          <p:cNvSpPr>
            <a:spLocks/>
          </p:cNvSpPr>
          <p:nvPr/>
        </p:nvSpPr>
        <p:spPr bwMode="auto">
          <a:xfrm>
            <a:off x="5829300" y="5589588"/>
            <a:ext cx="358775" cy="849312"/>
          </a:xfrm>
          <a:prstGeom prst="rightBrace">
            <a:avLst>
              <a:gd name="adj1" fmla="val 15256"/>
              <a:gd name="adj2" fmla="val 47556"/>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latin typeface="Arial" charset="0"/>
              <a:ea typeface="黑体" pitchFamily="49" charset="-122"/>
            </a:endParaRPr>
          </a:p>
        </p:txBody>
      </p:sp>
      <p:sp>
        <p:nvSpPr>
          <p:cNvPr id="15" name="Text Box 155"/>
          <p:cNvSpPr txBox="1">
            <a:spLocks noChangeArrowheads="1"/>
          </p:cNvSpPr>
          <p:nvPr/>
        </p:nvSpPr>
        <p:spPr bwMode="auto">
          <a:xfrm>
            <a:off x="6188075" y="5732463"/>
            <a:ext cx="727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a:spcBef>
                <a:spcPct val="50000"/>
              </a:spcBef>
            </a:pPr>
            <a:r>
              <a:rPr lang="en-US" altLang="zh-CN" sz="2400"/>
              <a:t>68.7</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ChangeArrowheads="1"/>
          </p:cNvSpPr>
          <p:nvPr>
            <p:ph type="body" idx="1"/>
          </p:nvPr>
        </p:nvSpPr>
        <p:spPr>
          <a:xfrm>
            <a:off x="468313" y="2133600"/>
            <a:ext cx="7848600" cy="4103688"/>
          </a:xfrm>
        </p:spPr>
        <p:txBody>
          <a:bodyPr/>
          <a:lstStyle/>
          <a:p>
            <a:pPr eaLnBrk="1" hangingPunct="1">
              <a:buFont typeface="Wingdings" pitchFamily="2" charset="2"/>
              <a:buNone/>
            </a:pP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40</a:t>
            </a:r>
            <a:r>
              <a:rPr lang="zh-CN" altLang="en-US" sz="2400" smtClean="0">
                <a:latin typeface="黑体" pitchFamily="49" charset="-122"/>
                <a:ea typeface="黑体" pitchFamily="49" charset="-122"/>
              </a:rPr>
              <a:t>］找出每个学生超过他选修课程平均成绩的学号和课程号。</a:t>
            </a:r>
          </a:p>
          <a:p>
            <a:pPr eaLnBrk="1" hangingPunct="1">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SELECT sno, cno</a:t>
            </a:r>
          </a:p>
          <a:p>
            <a:pPr eaLnBrk="1" hangingPunct="1">
              <a:buFont typeface="Wingdings" pitchFamily="2" charset="2"/>
              <a:buNone/>
            </a:pPr>
            <a:r>
              <a:rPr lang="en-US" altLang="zh-CN" sz="2400" smtClean="0">
                <a:latin typeface="黑体" pitchFamily="49" charset="-122"/>
                <a:ea typeface="黑体" pitchFamily="49" charset="-122"/>
              </a:rPr>
              <a:t>	 FROM SC x</a:t>
            </a:r>
          </a:p>
          <a:p>
            <a:pPr eaLnBrk="1" hangingPunct="1">
              <a:buFont typeface="Wingdings" pitchFamily="2" charset="2"/>
              <a:buNone/>
            </a:pPr>
            <a:r>
              <a:rPr lang="en-US" altLang="zh-CN" sz="2400" smtClean="0">
                <a:latin typeface="黑体" pitchFamily="49" charset="-122"/>
                <a:ea typeface="黑体" pitchFamily="49" charset="-122"/>
              </a:rPr>
              <a:t>	 WHERE  grade &gt;=</a:t>
            </a:r>
          </a:p>
          <a:p>
            <a:pPr eaLnBrk="1" hangingPunct="1">
              <a:buFont typeface="Wingdings" pitchFamily="2" charset="2"/>
              <a:buNone/>
            </a:pPr>
            <a:r>
              <a:rPr lang="en-US" altLang="zh-CN" sz="2400" smtClean="0">
                <a:latin typeface="黑体" pitchFamily="49" charset="-122"/>
                <a:ea typeface="黑体" pitchFamily="49" charset="-122"/>
              </a:rPr>
              <a:t>          		(SELECT AVG(Grade)</a:t>
            </a:r>
          </a:p>
          <a:p>
            <a:pPr eaLnBrk="1" hangingPunct="1">
              <a:buFont typeface="Wingdings" pitchFamily="2" charset="2"/>
              <a:buNone/>
            </a:pPr>
            <a:r>
              <a:rPr lang="en-US" altLang="zh-CN" sz="2400" smtClean="0">
                <a:latin typeface="黑体" pitchFamily="49" charset="-122"/>
                <a:ea typeface="黑体" pitchFamily="49" charset="-122"/>
              </a:rPr>
              <a:t>        		 FROM SC y</a:t>
            </a:r>
          </a:p>
          <a:p>
            <a:pPr eaLnBrk="1" hangingPunct="1">
              <a:buFont typeface="Wingdings" pitchFamily="2" charset="2"/>
              <a:buNone/>
            </a:pPr>
            <a:r>
              <a:rPr lang="en-US" altLang="zh-CN" sz="2400" smtClean="0">
                <a:latin typeface="黑体" pitchFamily="49" charset="-122"/>
                <a:ea typeface="黑体" pitchFamily="49" charset="-122"/>
              </a:rPr>
              <a:t>         		 WHERE y.Sno = x.Sno)</a:t>
            </a:r>
          </a:p>
        </p:txBody>
      </p:sp>
      <p:sp>
        <p:nvSpPr>
          <p:cNvPr id="89091" name="Rectangle 2"/>
          <p:cNvSpPr>
            <a:spLocks noChangeArrowheads="1"/>
          </p:cNvSpPr>
          <p:nvPr>
            <p:ph type="title"/>
          </p:nvPr>
        </p:nvSpPr>
        <p:spPr>
          <a:xfrm>
            <a:off x="539750" y="1196975"/>
            <a:ext cx="7793038" cy="863600"/>
          </a:xfrm>
        </p:spPr>
        <p:txBody>
          <a:bodyPr/>
          <a:lstStyle/>
          <a:p>
            <a:pPr eaLnBrk="1" hangingPunct="1"/>
            <a:r>
              <a:rPr lang="zh-CN" altLang="en-US" sz="2800" smtClean="0">
                <a:solidFill>
                  <a:schemeClr val="tx1"/>
                </a:solidFill>
              </a:rPr>
              <a:t>二、带有比较运算符的子查询</a:t>
            </a:r>
          </a:p>
        </p:txBody>
      </p:sp>
      <p:sp>
        <p:nvSpPr>
          <p:cNvPr id="6"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9939">
                                            <p:txEl>
                                              <p:pRg st="4" end="4"/>
                                            </p:txEl>
                                          </p:spTgt>
                                        </p:tgtEl>
                                        <p:attrNameLst>
                                          <p:attrName>style.visibility</p:attrName>
                                        </p:attrNameLst>
                                      </p:cBhvr>
                                      <p:to>
                                        <p:strVal val="visible"/>
                                      </p:to>
                                    </p:set>
                                    <p:anim calcmode="lin" valueType="num">
                                      <p:cBhvr additive="base">
                                        <p:cTn id="7" dur="500" fill="hold"/>
                                        <p:tgtEl>
                                          <p:spTgt spid="39939">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939">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9939">
                                            <p:txEl>
                                              <p:pRg st="5" end="5"/>
                                            </p:txEl>
                                          </p:spTgt>
                                        </p:tgtEl>
                                        <p:attrNameLst>
                                          <p:attrName>style.visibility</p:attrName>
                                        </p:attrNameLst>
                                      </p:cBhvr>
                                      <p:to>
                                        <p:strVal val="visible"/>
                                      </p:to>
                                    </p:set>
                                    <p:anim calcmode="lin" valueType="num">
                                      <p:cBhvr additive="base">
                                        <p:cTn id="11" dur="500" fill="hold"/>
                                        <p:tgtEl>
                                          <p:spTgt spid="39939">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9939">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9939">
                                            <p:txEl>
                                              <p:pRg st="6" end="6"/>
                                            </p:txEl>
                                          </p:spTgt>
                                        </p:tgtEl>
                                        <p:attrNameLst>
                                          <p:attrName>style.visibility</p:attrName>
                                        </p:attrNameLst>
                                      </p:cBhvr>
                                      <p:to>
                                        <p:strVal val="visible"/>
                                      </p:to>
                                    </p:set>
                                    <p:anim calcmode="lin" valueType="num">
                                      <p:cBhvr additive="base">
                                        <p:cTn id="15" dur="500" fill="hold"/>
                                        <p:tgtEl>
                                          <p:spTgt spid="39939">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993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39939">
                                            <p:txEl>
                                              <p:pRg st="1" end="1"/>
                                            </p:txEl>
                                          </p:spTgt>
                                        </p:tgtEl>
                                        <p:attrNameLst>
                                          <p:attrName>style.visibility</p:attrName>
                                        </p:attrNameLst>
                                      </p:cBhvr>
                                      <p:to>
                                        <p:strVal val="visible"/>
                                      </p:to>
                                    </p:set>
                                    <p:anim calcmode="lin" valueType="num">
                                      <p:cBhvr additive="base">
                                        <p:cTn id="21" dur="500" fill="hold"/>
                                        <p:tgtEl>
                                          <p:spTgt spid="39939">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9939">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9939">
                                            <p:txEl>
                                              <p:pRg st="2" end="2"/>
                                            </p:txEl>
                                          </p:spTgt>
                                        </p:tgtEl>
                                        <p:attrNameLst>
                                          <p:attrName>style.visibility</p:attrName>
                                        </p:attrNameLst>
                                      </p:cBhvr>
                                      <p:to>
                                        <p:strVal val="visible"/>
                                      </p:to>
                                    </p:set>
                                    <p:anim calcmode="lin" valueType="num">
                                      <p:cBhvr additive="base">
                                        <p:cTn id="25" dur="500" fill="hold"/>
                                        <p:tgtEl>
                                          <p:spTgt spid="39939">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939">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9939">
                                            <p:txEl>
                                              <p:pRg st="3" end="3"/>
                                            </p:txEl>
                                          </p:spTgt>
                                        </p:tgtEl>
                                        <p:attrNameLst>
                                          <p:attrName>style.visibility</p:attrName>
                                        </p:attrNameLst>
                                      </p:cBhvr>
                                      <p:to>
                                        <p:strVal val="visible"/>
                                      </p:to>
                                    </p:set>
                                    <p:anim calcmode="lin" valueType="num">
                                      <p:cBhvr additive="base">
                                        <p:cTn id="29" dur="500" fill="hold"/>
                                        <p:tgtEl>
                                          <p:spTgt spid="39939">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993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1"/>
          </p:nvPr>
        </p:nvSpPr>
        <p:spPr>
          <a:xfrm>
            <a:off x="539750" y="1989138"/>
            <a:ext cx="7848600" cy="4608512"/>
          </a:xfrm>
        </p:spPr>
        <p:txBody>
          <a:bodyPr/>
          <a:lstStyle/>
          <a:p>
            <a:pPr eaLnBrk="1" hangingPunct="1">
              <a:lnSpc>
                <a:spcPct val="120000"/>
              </a:lnSpc>
              <a:buFont typeface="Wingdings" pitchFamily="2" charset="2"/>
              <a:buNone/>
              <a:defRPr/>
            </a:pPr>
            <a:r>
              <a:rPr lang="zh-CN" altLang="en-US" sz="2400" dirty="0" smtClean="0">
                <a:latin typeface="黑体" pitchFamily="49" charset="-122"/>
                <a:ea typeface="黑体" pitchFamily="49" charset="-122"/>
              </a:rPr>
              <a:t>可能的执行过程： </a:t>
            </a:r>
          </a:p>
          <a:p>
            <a:pPr marL="457200" indent="-457200" eaLnBrk="1" hangingPunct="1">
              <a:lnSpc>
                <a:spcPct val="120000"/>
              </a:lnSpc>
              <a:buFont typeface="Wingdings" pitchFamily="2" charset="2"/>
              <a:buAutoNum type="arabicPeriod"/>
              <a:defRPr/>
            </a:pPr>
            <a:r>
              <a:rPr lang="zh-CN" altLang="en-US" sz="2400" dirty="0" smtClean="0">
                <a:latin typeface="黑体" pitchFamily="49" charset="-122"/>
                <a:ea typeface="黑体" pitchFamily="49" charset="-122"/>
              </a:rPr>
              <a:t>从外层查询中取出</a:t>
            </a:r>
            <a:r>
              <a:rPr lang="zh-CN" altLang="zh-CN" sz="2400" dirty="0" smtClean="0">
                <a:latin typeface="黑体" pitchFamily="49" charset="-122"/>
                <a:ea typeface="黑体" pitchFamily="49" charset="-122"/>
              </a:rPr>
              <a:t>SC</a:t>
            </a:r>
            <a:r>
              <a:rPr lang="zh-CN" altLang="en-US" sz="2400" dirty="0" smtClean="0">
                <a:latin typeface="黑体" pitchFamily="49" charset="-122"/>
                <a:ea typeface="黑体" pitchFamily="49" charset="-122"/>
              </a:rPr>
              <a:t>的第一个元组，将第一个元组的</a:t>
            </a:r>
            <a:r>
              <a:rPr lang="zh-CN" altLang="zh-CN" sz="2400" dirty="0" smtClean="0">
                <a:latin typeface="黑体" pitchFamily="49" charset="-122"/>
                <a:ea typeface="黑体" pitchFamily="49" charset="-122"/>
              </a:rPr>
              <a:t>Sno</a:t>
            </a:r>
            <a:r>
              <a:rPr lang="zh-CN" altLang="en-US" sz="2400" dirty="0" smtClean="0">
                <a:latin typeface="黑体" pitchFamily="49" charset="-122"/>
                <a:ea typeface="黑体" pitchFamily="49" charset="-122"/>
              </a:rPr>
              <a:t>值（</a:t>
            </a:r>
            <a:r>
              <a:rPr lang="en-US" altLang="zh-CN" sz="2400" dirty="0" smtClean="0">
                <a:latin typeface="黑体" pitchFamily="49" charset="-122"/>
                <a:ea typeface="黑体" pitchFamily="49" charset="-122"/>
              </a:rPr>
              <a:t>04</a:t>
            </a:r>
            <a:r>
              <a:rPr lang="zh-CN" altLang="zh-CN" sz="2400" dirty="0" smtClean="0">
                <a:latin typeface="黑体" pitchFamily="49" charset="-122"/>
                <a:ea typeface="黑体" pitchFamily="49" charset="-122"/>
              </a:rPr>
              <a:t>001</a:t>
            </a:r>
            <a:r>
              <a:rPr lang="zh-CN" altLang="en-US" sz="2400" dirty="0" smtClean="0">
                <a:latin typeface="黑体" pitchFamily="49" charset="-122"/>
                <a:ea typeface="黑体" pitchFamily="49" charset="-122"/>
              </a:rPr>
              <a:t>）传送给内层查询。</a:t>
            </a:r>
            <a:endParaRPr lang="en-US" altLang="zh-CN" sz="2400" dirty="0" smtClean="0">
              <a:latin typeface="黑体" pitchFamily="49" charset="-122"/>
              <a:ea typeface="黑体" pitchFamily="49" charset="-122"/>
            </a:endParaRPr>
          </a:p>
          <a:p>
            <a:pPr marL="0" indent="0" eaLnBrk="1" hangingPunct="1">
              <a:lnSpc>
                <a:spcPct val="120000"/>
              </a:lnSpc>
              <a:buFontTx/>
              <a:buNone/>
              <a:defRPr/>
            </a:pPr>
            <a:r>
              <a:rPr lang="zh-CN" altLang="en-US" sz="2400" dirty="0" smtClean="0">
                <a:latin typeface="黑体" pitchFamily="49" charset="-122"/>
                <a:ea typeface="黑体" pitchFamily="49" charset="-122"/>
              </a:rPr>
              <a:t>	</a:t>
            </a:r>
            <a:r>
              <a:rPr lang="zh-CN" altLang="zh-CN" sz="2400" dirty="0" smtClean="0">
                <a:latin typeface="黑体" pitchFamily="49" charset="-122"/>
                <a:ea typeface="黑体" pitchFamily="49" charset="-122"/>
              </a:rPr>
              <a:t>SELECT AVG(Grade)        </a:t>
            </a:r>
          </a:p>
          <a:p>
            <a:pPr eaLnBrk="1" hangingPunct="1">
              <a:lnSpc>
                <a:spcPct val="120000"/>
              </a:lnSpc>
              <a:buFont typeface="Wingdings" pitchFamily="2" charset="2"/>
              <a:buNone/>
              <a:defRPr/>
            </a:pPr>
            <a:r>
              <a:rPr lang="zh-CN" altLang="zh-CN" sz="2400" dirty="0" smtClean="0">
                <a:latin typeface="黑体" pitchFamily="49" charset="-122"/>
                <a:ea typeface="黑体" pitchFamily="49" charset="-122"/>
              </a:rPr>
              <a:t>		FROM SC y        </a:t>
            </a:r>
          </a:p>
          <a:p>
            <a:pPr eaLnBrk="1" hangingPunct="1">
              <a:lnSpc>
                <a:spcPct val="120000"/>
              </a:lnSpc>
              <a:buFont typeface="Wingdings" pitchFamily="2" charset="2"/>
              <a:buNone/>
              <a:defRPr/>
            </a:pPr>
            <a:r>
              <a:rPr lang="zh-CN" altLang="zh-CN" sz="2400" dirty="0" smtClean="0">
                <a:latin typeface="黑体" pitchFamily="49" charset="-122"/>
                <a:ea typeface="黑体" pitchFamily="49" charset="-122"/>
              </a:rPr>
              <a:t>		WHERE y.Sno='</a:t>
            </a:r>
            <a:r>
              <a:rPr lang="en-US" altLang="zh-CN" sz="2400" dirty="0" smtClean="0">
                <a:latin typeface="黑体" pitchFamily="49" charset="-122"/>
                <a:ea typeface="黑体" pitchFamily="49" charset="-122"/>
              </a:rPr>
              <a:t>04</a:t>
            </a:r>
            <a:r>
              <a:rPr lang="zh-CN" altLang="zh-CN" sz="2400" dirty="0" smtClean="0">
                <a:latin typeface="黑体" pitchFamily="49" charset="-122"/>
                <a:ea typeface="黑体" pitchFamily="49" charset="-122"/>
              </a:rPr>
              <a:t>001'; </a:t>
            </a:r>
          </a:p>
          <a:p>
            <a:pPr eaLnBrk="1" hangingPunct="1">
              <a:lnSpc>
                <a:spcPct val="120000"/>
              </a:lnSpc>
              <a:buFont typeface="Wingdings" pitchFamily="2" charset="2"/>
              <a:buNone/>
              <a:defRPr/>
            </a:pPr>
            <a:r>
              <a:rPr lang="zh-CN" altLang="zh-CN" sz="2400" dirty="0" smtClean="0">
                <a:latin typeface="黑体" pitchFamily="49" charset="-122"/>
                <a:ea typeface="黑体" pitchFamily="49" charset="-122"/>
              </a:rPr>
              <a:t>2. </a:t>
            </a:r>
            <a:r>
              <a:rPr lang="zh-CN" altLang="en-US" sz="2400" dirty="0" smtClean="0">
                <a:latin typeface="黑体" pitchFamily="49" charset="-122"/>
                <a:ea typeface="黑体" pitchFamily="49" charset="-122"/>
              </a:rPr>
              <a:t>执行内层查询，得到值</a:t>
            </a:r>
            <a:r>
              <a:rPr lang="en-US" altLang="zh-CN" sz="2400" dirty="0" smtClean="0">
                <a:latin typeface="黑体" pitchFamily="49" charset="-122"/>
                <a:ea typeface="黑体" pitchFamily="49" charset="-122"/>
              </a:rPr>
              <a:t>66</a:t>
            </a:r>
            <a:r>
              <a:rPr lang="zh-CN" altLang="en-US" sz="2400" dirty="0" smtClean="0">
                <a:latin typeface="黑体" pitchFamily="49" charset="-122"/>
                <a:ea typeface="黑体" pitchFamily="49" charset="-122"/>
              </a:rPr>
              <a:t>（近似值），返回外层查询和第一个元组进行比较。</a:t>
            </a:r>
          </a:p>
        </p:txBody>
      </p:sp>
      <p:sp>
        <p:nvSpPr>
          <p:cNvPr id="90115" name="Rectangle 2"/>
          <p:cNvSpPr>
            <a:spLocks noChangeArrowheads="1"/>
          </p:cNvSpPr>
          <p:nvPr>
            <p:ph type="title"/>
          </p:nvPr>
        </p:nvSpPr>
        <p:spPr>
          <a:xfrm>
            <a:off x="539750" y="1196975"/>
            <a:ext cx="7793038" cy="863600"/>
          </a:xfrm>
        </p:spPr>
        <p:txBody>
          <a:bodyPr/>
          <a:lstStyle/>
          <a:p>
            <a:pPr eaLnBrk="1" hangingPunct="1"/>
            <a:r>
              <a:rPr lang="zh-CN" altLang="en-US" sz="2800" smtClean="0">
                <a:solidFill>
                  <a:schemeClr val="tx1"/>
                </a:solidFill>
              </a:rPr>
              <a:t>二、带有比较运算符的子查询</a:t>
            </a:r>
          </a:p>
        </p:txBody>
      </p:sp>
      <p:sp>
        <p:nvSpPr>
          <p:cNvPr id="6"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0963">
                                            <p:txEl>
                                              <p:pRg st="5" end="5"/>
                                            </p:txEl>
                                          </p:spTgt>
                                        </p:tgtEl>
                                        <p:attrNameLst>
                                          <p:attrName>style.visibility</p:attrName>
                                        </p:attrNameLst>
                                      </p:cBhvr>
                                      <p:to>
                                        <p:strVal val="visible"/>
                                      </p:to>
                                    </p:set>
                                    <p:anim calcmode="lin" valueType="num">
                                      <p:cBhvr additive="base">
                                        <p:cTn id="7" dur="500" fill="hold"/>
                                        <p:tgtEl>
                                          <p:spTgt spid="4096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6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ChangeArrowheads="1"/>
          </p:cNvSpPr>
          <p:nvPr>
            <p:ph type="body" idx="1"/>
          </p:nvPr>
        </p:nvSpPr>
        <p:spPr>
          <a:xfrm>
            <a:off x="684213" y="2060575"/>
            <a:ext cx="7632700" cy="3313113"/>
          </a:xfrm>
        </p:spPr>
        <p:txBody>
          <a:bodyPr/>
          <a:lstStyle/>
          <a:p>
            <a:pPr eaLnBrk="1" hangingPunct="1">
              <a:lnSpc>
                <a:spcPct val="150000"/>
              </a:lnSpc>
              <a:buFont typeface="Wingdings" pitchFamily="2" charset="2"/>
              <a:buNone/>
            </a:pPr>
            <a:r>
              <a:rPr lang="zh-CN" altLang="zh-CN" sz="2400" smtClean="0">
                <a:latin typeface="黑体" pitchFamily="49" charset="-122"/>
                <a:ea typeface="黑体" pitchFamily="49" charset="-122"/>
              </a:rPr>
              <a:t>3.</a:t>
            </a:r>
            <a:r>
              <a:rPr lang="zh-CN" altLang="en-US" sz="2400" smtClean="0">
                <a:latin typeface="黑体" pitchFamily="49" charset="-122"/>
                <a:ea typeface="黑体" pitchFamily="49" charset="-122"/>
              </a:rPr>
              <a:t>如果第一个元组的</a:t>
            </a:r>
            <a:r>
              <a:rPr lang="zh-CN" altLang="zh-CN" sz="2400" smtClean="0">
                <a:latin typeface="黑体" pitchFamily="49" charset="-122"/>
                <a:ea typeface="黑体" pitchFamily="49" charset="-122"/>
              </a:rPr>
              <a:t>Grade</a:t>
            </a:r>
            <a:r>
              <a:rPr lang="zh-CN" altLang="en-US" sz="2400" smtClean="0">
                <a:latin typeface="黑体" pitchFamily="49" charset="-122"/>
                <a:ea typeface="黑体" pitchFamily="49" charset="-122"/>
              </a:rPr>
              <a:t>值比平均分</a:t>
            </a:r>
            <a:r>
              <a:rPr lang="en-US" altLang="zh-CN" sz="2400" smtClean="0">
                <a:latin typeface="黑体" pitchFamily="49" charset="-122"/>
                <a:ea typeface="黑体" pitchFamily="49" charset="-122"/>
              </a:rPr>
              <a:t>66</a:t>
            </a:r>
            <a:r>
              <a:rPr lang="zh-CN" altLang="en-US" sz="2400" smtClean="0">
                <a:latin typeface="黑体" pitchFamily="49" charset="-122"/>
                <a:ea typeface="黑体" pitchFamily="49" charset="-122"/>
              </a:rPr>
              <a:t>高，则取出这个元组的</a:t>
            </a:r>
            <a:r>
              <a:rPr lang="zh-CN" altLang="zh-CN" sz="2400" smtClean="0">
                <a:latin typeface="黑体" pitchFamily="49" charset="-122"/>
                <a:ea typeface="黑体" pitchFamily="49" charset="-122"/>
              </a:rPr>
              <a:t>Sno</a:t>
            </a:r>
            <a:r>
              <a:rPr lang="zh-CN" altLang="en-US" sz="2400" smtClean="0">
                <a:latin typeface="黑体" pitchFamily="49" charset="-122"/>
                <a:ea typeface="黑体" pitchFamily="49" charset="-122"/>
              </a:rPr>
              <a:t>和</a:t>
            </a:r>
            <a:r>
              <a:rPr lang="zh-CN" altLang="zh-CN" sz="2400" smtClean="0">
                <a:latin typeface="黑体" pitchFamily="49" charset="-122"/>
                <a:ea typeface="黑体" pitchFamily="49" charset="-122"/>
              </a:rPr>
              <a:t>Cno</a:t>
            </a:r>
            <a:r>
              <a:rPr lang="zh-CN" altLang="en-US" sz="2400" smtClean="0">
                <a:latin typeface="黑体" pitchFamily="49" charset="-122"/>
                <a:ea typeface="黑体" pitchFamily="49" charset="-122"/>
              </a:rPr>
              <a:t>放入结果表中；如果</a:t>
            </a:r>
            <a:r>
              <a:rPr lang="zh-CN" altLang="zh-CN" sz="2400" smtClean="0">
                <a:latin typeface="黑体" pitchFamily="49" charset="-122"/>
                <a:ea typeface="黑体" pitchFamily="49" charset="-122"/>
              </a:rPr>
              <a:t>Grade</a:t>
            </a:r>
            <a:r>
              <a:rPr lang="zh-CN" altLang="en-US" sz="2400" smtClean="0">
                <a:latin typeface="黑体" pitchFamily="49" charset="-122"/>
                <a:ea typeface="黑体" pitchFamily="49" charset="-122"/>
              </a:rPr>
              <a:t>值比平均分低，则</a:t>
            </a:r>
            <a:r>
              <a:rPr lang="zh-CN" altLang="en-US" sz="2400" smtClean="0">
                <a:ea typeface="黑体" pitchFamily="49" charset="-122"/>
              </a:rPr>
              <a:t>“</a:t>
            </a:r>
            <a:r>
              <a:rPr lang="zh-CN" altLang="en-US" sz="2400" smtClean="0">
                <a:latin typeface="黑体" pitchFamily="49" charset="-122"/>
                <a:ea typeface="黑体" pitchFamily="49" charset="-122"/>
              </a:rPr>
              <a:t>抛弃</a:t>
            </a:r>
            <a:r>
              <a:rPr lang="zh-CN" altLang="en-US" sz="2400" smtClean="0">
                <a:ea typeface="黑体" pitchFamily="49" charset="-122"/>
              </a:rPr>
              <a:t>”</a:t>
            </a:r>
            <a:r>
              <a:rPr lang="zh-CN" altLang="en-US" sz="2400" smtClean="0">
                <a:latin typeface="黑体" pitchFamily="49" charset="-122"/>
                <a:ea typeface="黑体" pitchFamily="49" charset="-122"/>
              </a:rPr>
              <a:t>这个元组。</a:t>
            </a:r>
          </a:p>
          <a:p>
            <a:pPr eaLnBrk="1" hangingPunct="1">
              <a:lnSpc>
                <a:spcPct val="150000"/>
              </a:lnSpc>
              <a:buFont typeface="Wingdings" pitchFamily="2" charset="2"/>
              <a:buNone/>
            </a:pPr>
            <a:r>
              <a:rPr lang="zh-CN" altLang="zh-CN" sz="2400" smtClean="0">
                <a:latin typeface="黑体" pitchFamily="49" charset="-122"/>
                <a:ea typeface="黑体" pitchFamily="49" charset="-122"/>
              </a:rPr>
              <a:t>4.</a:t>
            </a:r>
            <a:r>
              <a:rPr lang="zh-CN" altLang="en-US" sz="2400" smtClean="0">
                <a:latin typeface="黑体" pitchFamily="49" charset="-122"/>
                <a:ea typeface="黑体" pitchFamily="49" charset="-122"/>
              </a:rPr>
              <a:t>外层查询取出下一个元组重复做上述</a:t>
            </a:r>
            <a:r>
              <a:rPr lang="zh-CN" altLang="zh-CN" sz="2400" smtClean="0">
                <a:latin typeface="黑体" pitchFamily="49" charset="-122"/>
                <a:ea typeface="黑体" pitchFamily="49" charset="-122"/>
              </a:rPr>
              <a:t>1</a:t>
            </a:r>
            <a:r>
              <a:rPr lang="zh-CN" altLang="en-US" sz="2400" smtClean="0">
                <a:latin typeface="黑体" pitchFamily="49" charset="-122"/>
                <a:ea typeface="黑体" pitchFamily="49" charset="-122"/>
              </a:rPr>
              <a:t>至</a:t>
            </a:r>
            <a:r>
              <a:rPr lang="zh-CN" altLang="zh-CN" sz="2400" smtClean="0">
                <a:latin typeface="黑体" pitchFamily="49" charset="-122"/>
                <a:ea typeface="黑体" pitchFamily="49" charset="-122"/>
              </a:rPr>
              <a:t>3</a:t>
            </a:r>
            <a:r>
              <a:rPr lang="zh-CN" altLang="en-US" sz="2400" smtClean="0">
                <a:latin typeface="黑体" pitchFamily="49" charset="-122"/>
                <a:ea typeface="黑体" pitchFamily="49" charset="-122"/>
              </a:rPr>
              <a:t>步骤，直到外层的</a:t>
            </a:r>
            <a:r>
              <a:rPr lang="zh-CN" altLang="zh-CN" sz="2400" smtClean="0">
                <a:latin typeface="黑体" pitchFamily="49" charset="-122"/>
                <a:ea typeface="黑体" pitchFamily="49" charset="-122"/>
              </a:rPr>
              <a:t>SC</a:t>
            </a:r>
            <a:r>
              <a:rPr lang="zh-CN" altLang="en-US" sz="2400" smtClean="0">
                <a:latin typeface="黑体" pitchFamily="49" charset="-122"/>
                <a:ea typeface="黑体" pitchFamily="49" charset="-122"/>
              </a:rPr>
              <a:t>元组全部处理完毕。</a:t>
            </a:r>
          </a:p>
        </p:txBody>
      </p:sp>
      <p:sp>
        <p:nvSpPr>
          <p:cNvPr id="91139" name="Rectangle 2"/>
          <p:cNvSpPr>
            <a:spLocks noChangeArrowheads="1"/>
          </p:cNvSpPr>
          <p:nvPr>
            <p:ph type="title"/>
          </p:nvPr>
        </p:nvSpPr>
        <p:spPr>
          <a:xfrm>
            <a:off x="539750" y="1196975"/>
            <a:ext cx="7793038" cy="863600"/>
          </a:xfrm>
        </p:spPr>
        <p:txBody>
          <a:bodyPr/>
          <a:lstStyle/>
          <a:p>
            <a:pPr eaLnBrk="1" hangingPunct="1"/>
            <a:r>
              <a:rPr lang="zh-CN" altLang="en-US" sz="2800" smtClean="0">
                <a:solidFill>
                  <a:schemeClr val="tx1"/>
                </a:solidFill>
              </a:rPr>
              <a:t>二、带有比较运算符的子查询</a:t>
            </a:r>
          </a:p>
        </p:txBody>
      </p:sp>
      <p:sp>
        <p:nvSpPr>
          <p:cNvPr id="6"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1987">
                                            <p:txEl>
                                              <p:pRg st="1" end="1"/>
                                            </p:txEl>
                                          </p:spTgt>
                                        </p:tgtEl>
                                        <p:attrNameLst>
                                          <p:attrName>style.visibility</p:attrName>
                                        </p:attrNameLst>
                                      </p:cBhvr>
                                      <p:to>
                                        <p:strVal val="visible"/>
                                      </p:to>
                                    </p:set>
                                    <p:anim calcmode="lin" valueType="num">
                                      <p:cBhvr additive="base">
                                        <p:cTn id="7" dur="500" fill="hold"/>
                                        <p:tgtEl>
                                          <p:spTgt spid="4198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98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ChangeArrowheads="1"/>
          </p:cNvSpPr>
          <p:nvPr>
            <p:ph type="title"/>
          </p:nvPr>
        </p:nvSpPr>
        <p:spPr>
          <a:xfrm>
            <a:off x="395288" y="981075"/>
            <a:ext cx="7793037" cy="792163"/>
          </a:xfrm>
        </p:spPr>
        <p:txBody>
          <a:bodyPr/>
          <a:lstStyle/>
          <a:p>
            <a:pPr eaLnBrk="1" hangingPunct="1"/>
            <a:r>
              <a:rPr lang="zh-CN" altLang="en-US" sz="2800" smtClean="0">
                <a:solidFill>
                  <a:schemeClr val="tx1"/>
                </a:solidFill>
                <a:latin typeface="黑体" pitchFamily="49" charset="-122"/>
              </a:rPr>
              <a:t>三、带有</a:t>
            </a:r>
            <a:r>
              <a:rPr lang="en-US" altLang="zh-CN" sz="2800" smtClean="0">
                <a:solidFill>
                  <a:schemeClr val="tx1"/>
                </a:solidFill>
                <a:latin typeface="黑体" pitchFamily="49" charset="-122"/>
              </a:rPr>
              <a:t>ANY</a:t>
            </a:r>
            <a:r>
              <a:rPr lang="zh-CN" altLang="en-US" sz="2800" smtClean="0">
                <a:solidFill>
                  <a:schemeClr val="tx1"/>
                </a:solidFill>
                <a:latin typeface="黑体" pitchFamily="49" charset="-122"/>
              </a:rPr>
              <a:t>或</a:t>
            </a:r>
            <a:r>
              <a:rPr lang="en-US" altLang="zh-CN" sz="2800" smtClean="0">
                <a:solidFill>
                  <a:schemeClr val="tx1"/>
                </a:solidFill>
                <a:latin typeface="黑体" pitchFamily="49" charset="-122"/>
              </a:rPr>
              <a:t>ALL</a:t>
            </a:r>
            <a:r>
              <a:rPr lang="zh-CN" altLang="en-US" sz="2800" smtClean="0">
                <a:solidFill>
                  <a:schemeClr val="tx1"/>
                </a:solidFill>
                <a:latin typeface="黑体" pitchFamily="49" charset="-122"/>
              </a:rPr>
              <a:t>谓词的子查询</a:t>
            </a:r>
            <a:endParaRPr lang="zh-CN" altLang="en-US" sz="3200" smtClean="0">
              <a:solidFill>
                <a:schemeClr val="tx1"/>
              </a:solidFill>
              <a:latin typeface="黑体" pitchFamily="49" charset="-122"/>
            </a:endParaRPr>
          </a:p>
        </p:txBody>
      </p:sp>
      <p:sp>
        <p:nvSpPr>
          <p:cNvPr id="92163" name="Rectangle 3"/>
          <p:cNvSpPr>
            <a:spLocks noChangeArrowheads="1"/>
          </p:cNvSpPr>
          <p:nvPr>
            <p:ph type="body" idx="1"/>
          </p:nvPr>
        </p:nvSpPr>
        <p:spPr>
          <a:xfrm>
            <a:off x="900113" y="1989138"/>
            <a:ext cx="7772400" cy="4114800"/>
          </a:xfrm>
        </p:spPr>
        <p:txBody>
          <a:bodyPr/>
          <a:lstStyle/>
          <a:p>
            <a:pPr marL="609600" indent="-609600" eaLnBrk="1" hangingPunct="1">
              <a:lnSpc>
                <a:spcPct val="130000"/>
              </a:lnSpc>
              <a:buFont typeface="宋体" pitchFamily="2" charset="-122"/>
              <a:buNone/>
            </a:pPr>
            <a:r>
              <a:rPr lang="zh-CN" altLang="en-US" sz="2400" smtClean="0">
                <a:latin typeface="黑体" pitchFamily="49" charset="-122"/>
                <a:ea typeface="黑体" pitchFamily="49" charset="-122"/>
              </a:rPr>
              <a:t>谓词语义</a:t>
            </a:r>
          </a:p>
          <a:p>
            <a:pPr marL="990600" lvl="1" indent="-533400" eaLnBrk="1" hangingPunct="1">
              <a:lnSpc>
                <a:spcPct val="130000"/>
              </a:lnSpc>
            </a:pPr>
            <a:r>
              <a:rPr lang="en-US" altLang="zh-CN" sz="2400" smtClean="0">
                <a:latin typeface="黑体" pitchFamily="49" charset="-122"/>
                <a:ea typeface="黑体" pitchFamily="49" charset="-122"/>
              </a:rPr>
              <a:t>ANY</a:t>
            </a:r>
            <a:r>
              <a:rPr lang="zh-CN" altLang="en-US" sz="2400" smtClean="0">
                <a:latin typeface="黑体" pitchFamily="49" charset="-122"/>
                <a:ea typeface="黑体" pitchFamily="49" charset="-122"/>
              </a:rPr>
              <a:t>：任意一个值</a:t>
            </a:r>
          </a:p>
          <a:p>
            <a:pPr marL="990600" lvl="1" indent="-533400" eaLnBrk="1" hangingPunct="1">
              <a:lnSpc>
                <a:spcPct val="130000"/>
              </a:lnSpc>
            </a:pPr>
            <a:r>
              <a:rPr lang="en-US" altLang="zh-CN" sz="2400" smtClean="0">
                <a:latin typeface="黑体" pitchFamily="49" charset="-122"/>
                <a:ea typeface="黑体" pitchFamily="49" charset="-122"/>
              </a:rPr>
              <a:t>ALL</a:t>
            </a:r>
            <a:r>
              <a:rPr lang="zh-CN" altLang="en-US" sz="2400" smtClean="0">
                <a:latin typeface="黑体" pitchFamily="49" charset="-122"/>
                <a:ea typeface="黑体" pitchFamily="49" charset="-122"/>
              </a:rPr>
              <a:t>：所有值</a:t>
            </a:r>
          </a:p>
          <a:p>
            <a:pPr marL="609600" indent="-609600" eaLnBrk="1" hangingPunct="1">
              <a:lnSpc>
                <a:spcPct val="130000"/>
              </a:lnSpc>
              <a:buFont typeface="宋体" pitchFamily="2" charset="-122"/>
              <a:buChar char="●"/>
            </a:pPr>
            <a:endParaRPr lang="zh-CN" altLang="en-US" sz="2400" smtClean="0">
              <a:latin typeface="黑体" pitchFamily="49" charset="-122"/>
              <a:ea typeface="黑体" pitchFamily="49" charset="-122"/>
            </a:endParaRPr>
          </a:p>
          <a:p>
            <a:pPr marL="609600" indent="-609600" eaLnBrk="1" hangingPunct="1">
              <a:buFont typeface="Wingdings" pitchFamily="2" charset="2"/>
              <a:buNone/>
            </a:pPr>
            <a:endParaRPr lang="zh-CN" altLang="en-US" sz="2400" smtClean="0">
              <a:latin typeface="黑体" pitchFamily="49" charset="-122"/>
              <a:ea typeface="黑体" pitchFamily="49" charset="-122"/>
            </a:endParaRPr>
          </a:p>
          <a:p>
            <a:pPr marL="609600" indent="-609600" eaLnBrk="1" hangingPunct="1">
              <a:buFont typeface="Wingdings" pitchFamily="2" charset="2"/>
              <a:buNone/>
            </a:pPr>
            <a:endParaRPr lang="zh-CN" altLang="en-US" sz="2400" smtClean="0">
              <a:latin typeface="黑体" pitchFamily="49" charset="-122"/>
              <a:ea typeface="黑体" pitchFamily="49" charset="-122"/>
            </a:endParaRPr>
          </a:p>
        </p:txBody>
      </p:sp>
      <p:sp>
        <p:nvSpPr>
          <p:cNvPr id="5"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p:cNvSpPr>
            <a:spLocks noChangeArrowheads="1"/>
          </p:cNvSpPr>
          <p:nvPr>
            <p:ph type="body" idx="1"/>
          </p:nvPr>
        </p:nvSpPr>
        <p:spPr>
          <a:xfrm>
            <a:off x="801688" y="1846263"/>
            <a:ext cx="7777162" cy="4535487"/>
          </a:xfrm>
        </p:spPr>
        <p:txBody>
          <a:bodyPr/>
          <a:lstStyle/>
          <a:p>
            <a:pPr marL="609600" indent="-609600" eaLnBrk="1" hangingPunct="1">
              <a:lnSpc>
                <a:spcPct val="120000"/>
              </a:lnSpc>
              <a:buFont typeface="宋体" pitchFamily="2" charset="-122"/>
              <a:buNone/>
            </a:pPr>
            <a:r>
              <a:rPr lang="zh-CN" altLang="en-US" sz="2400" smtClean="0">
                <a:latin typeface="黑体" pitchFamily="49" charset="-122"/>
                <a:ea typeface="黑体" pitchFamily="49" charset="-122"/>
              </a:rPr>
              <a:t>需要配合使用比较运算符</a:t>
            </a:r>
          </a:p>
          <a:p>
            <a:pPr marL="990600" lvl="1" indent="-533400" eaLnBrk="1" hangingPunct="1">
              <a:lnSpc>
                <a:spcPct val="120000"/>
              </a:lnSpc>
              <a:buFont typeface="宋体" pitchFamily="2" charset="-122"/>
              <a:buNone/>
            </a:pPr>
            <a:r>
              <a:rPr lang="en-US" altLang="zh-CN" sz="2400" smtClean="0">
                <a:latin typeface="黑体" pitchFamily="49" charset="-122"/>
                <a:ea typeface="黑体" pitchFamily="49" charset="-122"/>
              </a:rPr>
              <a:t>&gt; ANY	</a:t>
            </a:r>
            <a:r>
              <a:rPr lang="zh-CN" altLang="en-US" sz="2400" smtClean="0">
                <a:latin typeface="黑体" pitchFamily="49" charset="-122"/>
                <a:ea typeface="黑体" pitchFamily="49" charset="-122"/>
              </a:rPr>
              <a:t>大于子查询结果中的任意一个值       </a:t>
            </a:r>
          </a:p>
          <a:p>
            <a:pPr marL="990600" lvl="1" indent="-533400" eaLnBrk="1" hangingPunct="1">
              <a:lnSpc>
                <a:spcPct val="120000"/>
              </a:lnSpc>
              <a:buFont typeface="宋体" pitchFamily="2" charset="-12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&gt; ALL	</a:t>
            </a:r>
            <a:r>
              <a:rPr lang="zh-CN" altLang="en-US" sz="2400" smtClean="0">
                <a:latin typeface="黑体" pitchFamily="49" charset="-122"/>
                <a:ea typeface="黑体" pitchFamily="49" charset="-122"/>
              </a:rPr>
              <a:t>大于子查询结果中的所有值</a:t>
            </a:r>
          </a:p>
          <a:p>
            <a:pPr marL="990600" lvl="1" indent="-533400" eaLnBrk="1" hangingPunct="1">
              <a:lnSpc>
                <a:spcPct val="120000"/>
              </a:lnSpc>
              <a:buFont typeface="宋体" pitchFamily="2" charset="-122"/>
              <a:buNone/>
            </a:pPr>
            <a:r>
              <a:rPr lang="en-US" altLang="zh-CN" sz="2400" smtClean="0">
                <a:latin typeface="黑体" pitchFamily="49" charset="-122"/>
                <a:ea typeface="黑体" pitchFamily="49" charset="-122"/>
              </a:rPr>
              <a:t>&lt; ANY	</a:t>
            </a:r>
            <a:r>
              <a:rPr lang="zh-CN" altLang="en-US" sz="2400" smtClean="0">
                <a:latin typeface="黑体" pitchFamily="49" charset="-122"/>
                <a:ea typeface="黑体" pitchFamily="49" charset="-122"/>
              </a:rPr>
              <a:t>小于子查询结果中的任意一个值    </a:t>
            </a:r>
          </a:p>
          <a:p>
            <a:pPr marL="990600" lvl="1" indent="-533400" eaLnBrk="1" hangingPunct="1">
              <a:lnSpc>
                <a:spcPct val="120000"/>
              </a:lnSpc>
              <a:buFont typeface="宋体" pitchFamily="2" charset="-122"/>
              <a:buNone/>
            </a:pPr>
            <a:r>
              <a:rPr lang="en-US" altLang="zh-CN" sz="2400" smtClean="0">
                <a:latin typeface="黑体" pitchFamily="49" charset="-122"/>
                <a:ea typeface="黑体" pitchFamily="49" charset="-122"/>
              </a:rPr>
              <a:t>&lt; ALL	</a:t>
            </a:r>
            <a:r>
              <a:rPr lang="zh-CN" altLang="en-US" sz="2400" smtClean="0">
                <a:latin typeface="黑体" pitchFamily="49" charset="-122"/>
                <a:ea typeface="黑体" pitchFamily="49" charset="-122"/>
              </a:rPr>
              <a:t>小于子查询结果中的所有值</a:t>
            </a:r>
          </a:p>
          <a:p>
            <a:pPr marL="990600" lvl="1" indent="-533400" eaLnBrk="1" hangingPunct="1">
              <a:lnSpc>
                <a:spcPct val="120000"/>
              </a:lnSpc>
              <a:buFont typeface="宋体" pitchFamily="2" charset="-122"/>
              <a:buNone/>
            </a:pPr>
            <a:r>
              <a:rPr lang="en-US" altLang="zh-CN" sz="2400" smtClean="0">
                <a:latin typeface="黑体" pitchFamily="49" charset="-122"/>
                <a:ea typeface="黑体" pitchFamily="49" charset="-122"/>
              </a:rPr>
              <a:t>&gt;= ANY	</a:t>
            </a:r>
            <a:r>
              <a:rPr lang="zh-CN" altLang="en-US" sz="2400" smtClean="0">
                <a:latin typeface="黑体" pitchFamily="49" charset="-122"/>
                <a:ea typeface="黑体" pitchFamily="49" charset="-122"/>
              </a:rPr>
              <a:t>大于等于子查询结果中的任意一个值    </a:t>
            </a:r>
          </a:p>
          <a:p>
            <a:pPr marL="990600" lvl="1" indent="-533400" eaLnBrk="1" hangingPunct="1">
              <a:lnSpc>
                <a:spcPct val="120000"/>
              </a:lnSpc>
              <a:buFont typeface="宋体" pitchFamily="2" charset="-122"/>
              <a:buNone/>
            </a:pPr>
            <a:r>
              <a:rPr lang="en-US" altLang="zh-CN" sz="2400" smtClean="0">
                <a:latin typeface="黑体" pitchFamily="49" charset="-122"/>
                <a:ea typeface="黑体" pitchFamily="49" charset="-122"/>
              </a:rPr>
              <a:t>&gt;= ALL	</a:t>
            </a:r>
            <a:r>
              <a:rPr lang="zh-CN" altLang="en-US" sz="2400" smtClean="0">
                <a:latin typeface="黑体" pitchFamily="49" charset="-122"/>
                <a:ea typeface="黑体" pitchFamily="49" charset="-122"/>
              </a:rPr>
              <a:t>大于等于子查询结果中的所有值</a:t>
            </a:r>
          </a:p>
        </p:txBody>
      </p:sp>
      <p:sp>
        <p:nvSpPr>
          <p:cNvPr id="93187" name="Rectangle 2"/>
          <p:cNvSpPr>
            <a:spLocks noChangeArrowheads="1"/>
          </p:cNvSpPr>
          <p:nvPr>
            <p:ph type="title"/>
          </p:nvPr>
        </p:nvSpPr>
        <p:spPr>
          <a:xfrm>
            <a:off x="395288" y="981075"/>
            <a:ext cx="7793037" cy="792163"/>
          </a:xfrm>
        </p:spPr>
        <p:txBody>
          <a:bodyPr/>
          <a:lstStyle/>
          <a:p>
            <a:pPr eaLnBrk="1" hangingPunct="1"/>
            <a:r>
              <a:rPr lang="zh-CN" altLang="en-US" sz="2800" smtClean="0">
                <a:solidFill>
                  <a:schemeClr val="tx1"/>
                </a:solidFill>
                <a:latin typeface="黑体" pitchFamily="49" charset="-122"/>
              </a:rPr>
              <a:t>三、带有</a:t>
            </a:r>
            <a:r>
              <a:rPr lang="en-US" altLang="zh-CN" sz="2800" smtClean="0">
                <a:solidFill>
                  <a:schemeClr val="tx1"/>
                </a:solidFill>
                <a:latin typeface="黑体" pitchFamily="49" charset="-122"/>
              </a:rPr>
              <a:t>ANY</a:t>
            </a:r>
            <a:r>
              <a:rPr lang="zh-CN" altLang="en-US" sz="2800" smtClean="0">
                <a:solidFill>
                  <a:schemeClr val="tx1"/>
                </a:solidFill>
                <a:latin typeface="黑体" pitchFamily="49" charset="-122"/>
              </a:rPr>
              <a:t>或</a:t>
            </a:r>
            <a:r>
              <a:rPr lang="en-US" altLang="zh-CN" sz="2800" smtClean="0">
                <a:solidFill>
                  <a:schemeClr val="tx1"/>
                </a:solidFill>
                <a:latin typeface="黑体" pitchFamily="49" charset="-122"/>
              </a:rPr>
              <a:t>ALL</a:t>
            </a:r>
            <a:r>
              <a:rPr lang="zh-CN" altLang="en-US" sz="2800" smtClean="0">
                <a:solidFill>
                  <a:schemeClr val="tx1"/>
                </a:solidFill>
                <a:latin typeface="黑体" pitchFamily="49" charset="-122"/>
              </a:rPr>
              <a:t>谓词的子查询</a:t>
            </a:r>
            <a:endParaRPr lang="zh-CN" altLang="en-US" sz="3200" smtClean="0">
              <a:solidFill>
                <a:schemeClr val="tx1"/>
              </a:solidFill>
              <a:latin typeface="黑体" pitchFamily="49" charset="-122"/>
            </a:endParaRPr>
          </a:p>
        </p:txBody>
      </p:sp>
      <p:sp>
        <p:nvSpPr>
          <p:cNvPr id="6"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ChangeArrowheads="1"/>
          </p:cNvSpPr>
          <p:nvPr>
            <p:ph type="body" idx="1"/>
          </p:nvPr>
        </p:nvSpPr>
        <p:spPr>
          <a:xfrm>
            <a:off x="819150" y="1844675"/>
            <a:ext cx="7772400" cy="3960813"/>
          </a:xfrm>
        </p:spPr>
        <p:txBody>
          <a:bodyPr/>
          <a:lstStyle/>
          <a:p>
            <a:pPr eaLnBrk="1" hangingPunct="1">
              <a:lnSpc>
                <a:spcPct val="130000"/>
              </a:lnSpc>
              <a:spcAft>
                <a:spcPct val="20000"/>
              </a:spcAft>
              <a:buFont typeface="宋体" pitchFamily="2" charset="-122"/>
              <a:buNone/>
            </a:pPr>
            <a:r>
              <a:rPr lang="zh-CN" altLang="en-US" sz="2400" smtClean="0">
                <a:latin typeface="黑体" pitchFamily="49" charset="-122"/>
                <a:ea typeface="黑体" pitchFamily="49" charset="-122"/>
              </a:rPr>
              <a:t>需要配合使用比较运算符</a:t>
            </a:r>
          </a:p>
          <a:p>
            <a:pPr eaLnBrk="1" hangingPunct="1">
              <a:buFont typeface="宋体" pitchFamily="2" charset="-122"/>
              <a:buNone/>
            </a:pPr>
            <a:r>
              <a:rPr lang="en-US" altLang="zh-CN" sz="2400" smtClean="0">
                <a:latin typeface="黑体" pitchFamily="49" charset="-122"/>
                <a:ea typeface="黑体" pitchFamily="49" charset="-122"/>
              </a:rPr>
              <a:t>&lt;= ANY   </a:t>
            </a:r>
            <a:r>
              <a:rPr lang="zh-CN" altLang="en-US" sz="2400" smtClean="0">
                <a:latin typeface="黑体" pitchFamily="49" charset="-122"/>
                <a:ea typeface="黑体" pitchFamily="49" charset="-122"/>
              </a:rPr>
              <a:t>小于等于子查询结果中的任意一个值    </a:t>
            </a:r>
          </a:p>
          <a:p>
            <a:pPr eaLnBrk="1" hangingPunct="1">
              <a:buFont typeface="宋体" pitchFamily="2" charset="-122"/>
              <a:buNone/>
            </a:pPr>
            <a:r>
              <a:rPr lang="en-US" altLang="zh-CN" sz="2400" smtClean="0">
                <a:latin typeface="黑体" pitchFamily="49" charset="-122"/>
                <a:ea typeface="黑体" pitchFamily="49" charset="-122"/>
              </a:rPr>
              <a:t>&lt;= ALL   </a:t>
            </a:r>
            <a:r>
              <a:rPr lang="zh-CN" altLang="en-US" sz="2400" smtClean="0">
                <a:latin typeface="黑体" pitchFamily="49" charset="-122"/>
                <a:ea typeface="黑体" pitchFamily="49" charset="-122"/>
              </a:rPr>
              <a:t>小于等于子查询结果中的所有值</a:t>
            </a:r>
          </a:p>
          <a:p>
            <a:pPr eaLnBrk="1" hangingPunct="1">
              <a:buFont typeface="宋体" pitchFamily="2" charset="-122"/>
              <a:buNone/>
            </a:pPr>
            <a:r>
              <a:rPr lang="en-US" altLang="zh-CN" sz="2400" smtClean="0">
                <a:latin typeface="黑体" pitchFamily="49" charset="-122"/>
                <a:ea typeface="黑体" pitchFamily="49" charset="-122"/>
              </a:rPr>
              <a:t>= ANY	   </a:t>
            </a:r>
            <a:r>
              <a:rPr lang="zh-CN" altLang="en-US" sz="2400" smtClean="0">
                <a:latin typeface="黑体" pitchFamily="49" charset="-122"/>
                <a:ea typeface="黑体" pitchFamily="49" charset="-122"/>
              </a:rPr>
              <a:t>等于子查询结果中的任意一个值        </a:t>
            </a:r>
          </a:p>
          <a:p>
            <a:pPr eaLnBrk="1" hangingPunct="1">
              <a:buFont typeface="宋体" pitchFamily="2" charset="-122"/>
              <a:buNone/>
            </a:pPr>
            <a:r>
              <a:rPr lang="en-US" altLang="zh-CN" sz="2400" smtClean="0">
                <a:latin typeface="黑体" pitchFamily="49" charset="-122"/>
                <a:ea typeface="黑体" pitchFamily="49" charset="-122"/>
              </a:rPr>
              <a:t>= ALL	   </a:t>
            </a:r>
            <a:r>
              <a:rPr lang="zh-CN" altLang="en-US" sz="2400" smtClean="0">
                <a:latin typeface="黑体" pitchFamily="49" charset="-122"/>
                <a:ea typeface="黑体" pitchFamily="49" charset="-122"/>
              </a:rPr>
              <a:t>等于子查询结果中的所有值</a:t>
            </a:r>
          </a:p>
          <a:p>
            <a:pPr eaLnBrk="1" hangingPunct="1">
              <a:buFont typeface="宋体" pitchFamily="2" charset="-122"/>
              <a:buNone/>
            </a:pPr>
            <a:r>
              <a:rPr lang="zh-CN" altLang="en-US" sz="2400" smtClean="0">
                <a:latin typeface="黑体" pitchFamily="49" charset="-122"/>
                <a:ea typeface="黑体" pitchFamily="49" charset="-122"/>
              </a:rPr>
              <a:t>                         （通常没有实际意义）</a:t>
            </a:r>
          </a:p>
          <a:p>
            <a:pPr eaLnBrk="1" hangingPunct="1">
              <a:buFont typeface="宋体" pitchFamily="2" charset="-12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（或</a:t>
            </a:r>
            <a:r>
              <a:rPr lang="en-US" altLang="zh-CN" sz="2400" smtClean="0">
                <a:latin typeface="黑体" pitchFamily="49" charset="-122"/>
                <a:ea typeface="黑体" pitchFamily="49" charset="-122"/>
              </a:rPr>
              <a:t>&lt;&gt;</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ANY	</a:t>
            </a:r>
            <a:r>
              <a:rPr lang="zh-CN" altLang="en-US" sz="2400" smtClean="0">
                <a:latin typeface="黑体" pitchFamily="49" charset="-122"/>
                <a:ea typeface="黑体" pitchFamily="49" charset="-122"/>
              </a:rPr>
              <a:t>不等于子查询结果中的某个值</a:t>
            </a:r>
          </a:p>
          <a:p>
            <a:pPr eaLnBrk="1" hangingPunct="1">
              <a:buFont typeface="宋体" pitchFamily="2" charset="-12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（或</a:t>
            </a:r>
            <a:r>
              <a:rPr lang="en-US" altLang="zh-CN" sz="2400" smtClean="0">
                <a:latin typeface="黑体" pitchFamily="49" charset="-122"/>
                <a:ea typeface="黑体" pitchFamily="49" charset="-122"/>
              </a:rPr>
              <a:t>&lt;&gt;</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ALL	</a:t>
            </a:r>
            <a:r>
              <a:rPr lang="zh-CN" altLang="en-US" sz="2400" smtClean="0">
                <a:latin typeface="黑体" pitchFamily="49" charset="-122"/>
                <a:ea typeface="黑体" pitchFamily="49" charset="-122"/>
              </a:rPr>
              <a:t>不等于子查询结果中的任何一个值</a:t>
            </a:r>
          </a:p>
        </p:txBody>
      </p:sp>
      <p:sp>
        <p:nvSpPr>
          <p:cNvPr id="94211" name="Rectangle 2"/>
          <p:cNvSpPr>
            <a:spLocks noChangeArrowheads="1"/>
          </p:cNvSpPr>
          <p:nvPr>
            <p:ph type="title"/>
          </p:nvPr>
        </p:nvSpPr>
        <p:spPr>
          <a:xfrm>
            <a:off x="395288" y="981075"/>
            <a:ext cx="7793037" cy="792163"/>
          </a:xfrm>
        </p:spPr>
        <p:txBody>
          <a:bodyPr/>
          <a:lstStyle/>
          <a:p>
            <a:pPr eaLnBrk="1" hangingPunct="1"/>
            <a:r>
              <a:rPr lang="zh-CN" altLang="en-US" sz="2800" smtClean="0">
                <a:solidFill>
                  <a:schemeClr val="tx1"/>
                </a:solidFill>
                <a:latin typeface="黑体" pitchFamily="49" charset="-122"/>
              </a:rPr>
              <a:t>三、带有</a:t>
            </a:r>
            <a:r>
              <a:rPr lang="en-US" altLang="zh-CN" sz="2800" smtClean="0">
                <a:solidFill>
                  <a:schemeClr val="tx1"/>
                </a:solidFill>
                <a:latin typeface="黑体" pitchFamily="49" charset="-122"/>
              </a:rPr>
              <a:t>ANY</a:t>
            </a:r>
            <a:r>
              <a:rPr lang="zh-CN" altLang="en-US" sz="2800" smtClean="0">
                <a:solidFill>
                  <a:schemeClr val="tx1"/>
                </a:solidFill>
                <a:latin typeface="黑体" pitchFamily="49" charset="-122"/>
              </a:rPr>
              <a:t>或</a:t>
            </a:r>
            <a:r>
              <a:rPr lang="en-US" altLang="zh-CN" sz="2800" smtClean="0">
                <a:solidFill>
                  <a:schemeClr val="tx1"/>
                </a:solidFill>
                <a:latin typeface="黑体" pitchFamily="49" charset="-122"/>
              </a:rPr>
              <a:t>ALL</a:t>
            </a:r>
            <a:r>
              <a:rPr lang="zh-CN" altLang="en-US" sz="2800" smtClean="0">
                <a:solidFill>
                  <a:schemeClr val="tx1"/>
                </a:solidFill>
                <a:latin typeface="黑体" pitchFamily="49" charset="-122"/>
              </a:rPr>
              <a:t>谓词的子查询</a:t>
            </a:r>
            <a:endParaRPr lang="zh-CN" altLang="en-US" sz="3200" smtClean="0">
              <a:solidFill>
                <a:schemeClr val="tx1"/>
              </a:solidFill>
              <a:latin typeface="黑体" pitchFamily="49" charset="-122"/>
            </a:endParaRPr>
          </a:p>
        </p:txBody>
      </p:sp>
      <p:sp>
        <p:nvSpPr>
          <p:cNvPr id="6"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ChangeArrowheads="1"/>
          </p:cNvSpPr>
          <p:nvPr>
            <p:ph type="body" idx="1"/>
          </p:nvPr>
        </p:nvSpPr>
        <p:spPr>
          <a:xfrm>
            <a:off x="484188" y="1844675"/>
            <a:ext cx="8135937" cy="4176713"/>
          </a:xfrm>
        </p:spPr>
        <p:txBody>
          <a:bodyPr/>
          <a:lstStyle/>
          <a:p>
            <a:pPr marL="609600" indent="-609600" eaLnBrk="1" hangingPunct="1">
              <a:lnSpc>
                <a:spcPct val="110000"/>
              </a:lnSpc>
              <a:spcBef>
                <a:spcPct val="30000"/>
              </a:spcBef>
              <a:buFont typeface="宋体" pitchFamily="2" charset="-12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41]  </a:t>
            </a:r>
            <a:r>
              <a:rPr lang="zh-CN" altLang="en-US" sz="2400" smtClean="0">
                <a:latin typeface="黑体" pitchFamily="49" charset="-122"/>
                <a:ea typeface="黑体" pitchFamily="49" charset="-122"/>
              </a:rPr>
              <a:t>查询成绩比选修了</a:t>
            </a:r>
            <a:r>
              <a:rPr lang="en-US" altLang="zh-CN" sz="2400" smtClean="0">
                <a:latin typeface="黑体" pitchFamily="49" charset="-122"/>
                <a:ea typeface="黑体" pitchFamily="49" charset="-122"/>
              </a:rPr>
              <a:t>006</a:t>
            </a:r>
            <a:r>
              <a:rPr lang="zh-CN" altLang="en-US" sz="2400" smtClean="0">
                <a:latin typeface="黑体" pitchFamily="49" charset="-122"/>
                <a:ea typeface="黑体" pitchFamily="49" charset="-122"/>
              </a:rPr>
              <a:t>号课程中任意一个成绩低的选课信息</a:t>
            </a:r>
          </a:p>
          <a:p>
            <a:pPr marL="609600" indent="-609600" eaLnBrk="1" hangingPunct="1">
              <a:lnSpc>
                <a:spcPct val="90000"/>
              </a:lnSpc>
              <a:spcBef>
                <a:spcPct val="60000"/>
              </a:spcBef>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SELECT </a:t>
            </a:r>
            <a:r>
              <a:rPr lang="zh-CN" altLang="en-US" sz="2400" smtClean="0">
                <a:latin typeface="黑体" pitchFamily="49" charset="-122"/>
                <a:ea typeface="黑体" pitchFamily="49" charset="-122"/>
              </a:rPr>
              <a:t>*</a:t>
            </a:r>
            <a:endParaRPr lang="en-US" altLang="zh-CN" sz="2400" smtClean="0">
              <a:latin typeface="黑体" pitchFamily="49" charset="-122"/>
              <a:ea typeface="黑体" pitchFamily="49" charset="-122"/>
            </a:endParaRPr>
          </a:p>
          <a:p>
            <a:pPr marL="609600" indent="-609600" eaLnBrk="1" hangingPunct="1">
              <a:lnSpc>
                <a:spcPct val="90000"/>
              </a:lnSpc>
              <a:buFont typeface="Wingdings" pitchFamily="2" charset="2"/>
              <a:buNone/>
            </a:pPr>
            <a:r>
              <a:rPr lang="en-US" altLang="zh-CN" sz="2400" smtClean="0">
                <a:latin typeface="黑体" pitchFamily="49" charset="-122"/>
                <a:ea typeface="黑体" pitchFamily="49" charset="-122"/>
              </a:rPr>
              <a:t>      FROM   SC</a:t>
            </a:r>
          </a:p>
          <a:p>
            <a:pPr marL="609600" indent="-609600" eaLnBrk="1" hangingPunct="1">
              <a:lnSpc>
                <a:spcPct val="90000"/>
              </a:lnSpc>
              <a:buFont typeface="Wingdings" pitchFamily="2" charset="2"/>
              <a:buNone/>
            </a:pPr>
            <a:r>
              <a:rPr lang="en-US" altLang="zh-CN" sz="2400" smtClean="0">
                <a:latin typeface="黑体" pitchFamily="49" charset="-122"/>
                <a:ea typeface="黑体" pitchFamily="49" charset="-122"/>
              </a:rPr>
              <a:t>      WHERE Grade &lt; ANY (SELECT  Grade</a:t>
            </a:r>
            <a:endParaRPr lang="en-US" altLang="zh-CN" sz="2400" smtClean="0">
              <a:solidFill>
                <a:srgbClr val="FF0000"/>
              </a:solidFill>
              <a:latin typeface="黑体" pitchFamily="49" charset="-122"/>
              <a:ea typeface="黑体" pitchFamily="49" charset="-122"/>
            </a:endParaRPr>
          </a:p>
          <a:p>
            <a:pPr marL="609600" indent="-609600" eaLnBrk="1" hangingPunct="1">
              <a:lnSpc>
                <a:spcPct val="90000"/>
              </a:lnSpc>
              <a:buFont typeface="Wingdings" pitchFamily="2" charset="2"/>
              <a:buNone/>
            </a:pPr>
            <a:r>
              <a:rPr lang="en-US" altLang="zh-CN" sz="2400" smtClean="0">
                <a:latin typeface="黑体" pitchFamily="49" charset="-122"/>
                <a:ea typeface="黑体" pitchFamily="49" charset="-122"/>
              </a:rPr>
              <a:t>                         FROM    SC</a:t>
            </a:r>
          </a:p>
          <a:p>
            <a:pPr marL="609600" indent="-609600" eaLnBrk="1" hangingPunct="1">
              <a:lnSpc>
                <a:spcPct val="90000"/>
              </a:lnSpc>
              <a:buFont typeface="Wingdings" pitchFamily="2" charset="2"/>
              <a:buNone/>
            </a:pPr>
            <a:r>
              <a:rPr lang="en-US" altLang="zh-CN" sz="2400" smtClean="0">
                <a:latin typeface="黑体" pitchFamily="49" charset="-122"/>
                <a:ea typeface="黑体" pitchFamily="49" charset="-122"/>
              </a:rPr>
              <a:t>                        WHERE Cno= </a:t>
            </a:r>
            <a:r>
              <a:rPr lang="en-US" altLang="zh-CN" sz="2400" smtClean="0"/>
              <a:t>'006' </a:t>
            </a:r>
            <a:r>
              <a:rPr lang="en-US" altLang="zh-CN" sz="2400" smtClean="0">
                <a:latin typeface="黑体" pitchFamily="49" charset="-122"/>
                <a:ea typeface="黑体" pitchFamily="49" charset="-122"/>
              </a:rPr>
              <a:t>)</a:t>
            </a:r>
          </a:p>
        </p:txBody>
      </p:sp>
      <p:sp>
        <p:nvSpPr>
          <p:cNvPr id="95235" name="Rectangle 2"/>
          <p:cNvSpPr>
            <a:spLocks noChangeArrowheads="1"/>
          </p:cNvSpPr>
          <p:nvPr>
            <p:ph type="title"/>
          </p:nvPr>
        </p:nvSpPr>
        <p:spPr>
          <a:xfrm>
            <a:off x="395288" y="981075"/>
            <a:ext cx="7793037" cy="792163"/>
          </a:xfrm>
        </p:spPr>
        <p:txBody>
          <a:bodyPr/>
          <a:lstStyle/>
          <a:p>
            <a:pPr eaLnBrk="1" hangingPunct="1"/>
            <a:r>
              <a:rPr lang="zh-CN" altLang="en-US" sz="2800" smtClean="0">
                <a:solidFill>
                  <a:schemeClr val="tx1"/>
                </a:solidFill>
                <a:latin typeface="黑体" pitchFamily="49" charset="-122"/>
              </a:rPr>
              <a:t>三、带有</a:t>
            </a:r>
            <a:r>
              <a:rPr lang="en-US" altLang="zh-CN" sz="2800" smtClean="0">
                <a:solidFill>
                  <a:schemeClr val="tx1"/>
                </a:solidFill>
                <a:latin typeface="黑体" pitchFamily="49" charset="-122"/>
              </a:rPr>
              <a:t>ANY</a:t>
            </a:r>
            <a:r>
              <a:rPr lang="zh-CN" altLang="en-US" sz="2800" smtClean="0">
                <a:solidFill>
                  <a:schemeClr val="tx1"/>
                </a:solidFill>
                <a:latin typeface="黑体" pitchFamily="49" charset="-122"/>
              </a:rPr>
              <a:t>或</a:t>
            </a:r>
            <a:r>
              <a:rPr lang="en-US" altLang="zh-CN" sz="2800" smtClean="0">
                <a:solidFill>
                  <a:schemeClr val="tx1"/>
                </a:solidFill>
                <a:latin typeface="黑体" pitchFamily="49" charset="-122"/>
              </a:rPr>
              <a:t>ALL</a:t>
            </a:r>
            <a:r>
              <a:rPr lang="zh-CN" altLang="en-US" sz="2800" smtClean="0">
                <a:solidFill>
                  <a:schemeClr val="tx1"/>
                </a:solidFill>
                <a:latin typeface="黑体" pitchFamily="49" charset="-122"/>
              </a:rPr>
              <a:t>谓词的子查询</a:t>
            </a:r>
            <a:endParaRPr lang="zh-CN" altLang="en-US" sz="3200" smtClean="0">
              <a:solidFill>
                <a:schemeClr val="tx1"/>
              </a:solidFill>
              <a:latin typeface="黑体" pitchFamily="49" charset="-122"/>
            </a:endParaRPr>
          </a:p>
        </p:txBody>
      </p:sp>
      <p:sp>
        <p:nvSpPr>
          <p:cNvPr id="6"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2"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slide(fromRight)">
                                      <p:cBhvr>
                                        <p:cTn id="7" dur="500"/>
                                        <p:tgtEl>
                                          <p:spTgt spid="460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anim calcmode="lin" valueType="num">
                                      <p:cBhvr additive="base">
                                        <p:cTn id="12" dur="500" fill="hold"/>
                                        <p:tgtEl>
                                          <p:spTgt spid="4608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6083">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46083">
                                            <p:txEl>
                                              <p:pRg st="2" end="2"/>
                                            </p:txEl>
                                          </p:spTgt>
                                        </p:tgtEl>
                                        <p:attrNameLst>
                                          <p:attrName>style.visibility</p:attrName>
                                        </p:attrNameLst>
                                      </p:cBhvr>
                                      <p:to>
                                        <p:strVal val="visible"/>
                                      </p:to>
                                    </p:set>
                                    <p:anim calcmode="lin" valueType="num">
                                      <p:cBhvr additive="base">
                                        <p:cTn id="16" dur="500" fill="hold"/>
                                        <p:tgtEl>
                                          <p:spTgt spid="46083">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46083">
                                            <p:txEl>
                                              <p:pRg st="2" end="2"/>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46083">
                                            <p:txEl>
                                              <p:pRg st="3" end="3"/>
                                            </p:txEl>
                                          </p:spTgt>
                                        </p:tgtEl>
                                        <p:attrNameLst>
                                          <p:attrName>style.visibility</p:attrName>
                                        </p:attrNameLst>
                                      </p:cBhvr>
                                      <p:to>
                                        <p:strVal val="visible"/>
                                      </p:to>
                                    </p:set>
                                    <p:anim calcmode="lin" valueType="num">
                                      <p:cBhvr additive="base">
                                        <p:cTn id="20" dur="500" fill="hold"/>
                                        <p:tgtEl>
                                          <p:spTgt spid="46083">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46083">
                                            <p:txEl>
                                              <p:pRg st="3" end="3"/>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46083">
                                            <p:txEl>
                                              <p:pRg st="4" end="4"/>
                                            </p:txEl>
                                          </p:spTgt>
                                        </p:tgtEl>
                                        <p:attrNameLst>
                                          <p:attrName>style.visibility</p:attrName>
                                        </p:attrNameLst>
                                      </p:cBhvr>
                                      <p:to>
                                        <p:strVal val="visible"/>
                                      </p:to>
                                    </p:set>
                                    <p:anim calcmode="lin" valueType="num">
                                      <p:cBhvr additive="base">
                                        <p:cTn id="24" dur="500" fill="hold"/>
                                        <p:tgtEl>
                                          <p:spTgt spid="4608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6083">
                                            <p:txEl>
                                              <p:pRg st="4" end="4"/>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46083">
                                            <p:txEl>
                                              <p:pRg st="5" end="5"/>
                                            </p:txEl>
                                          </p:spTgt>
                                        </p:tgtEl>
                                        <p:attrNameLst>
                                          <p:attrName>style.visibility</p:attrName>
                                        </p:attrNameLst>
                                      </p:cBhvr>
                                      <p:to>
                                        <p:strVal val="visible"/>
                                      </p:to>
                                    </p:set>
                                    <p:anim calcmode="lin" valueType="num">
                                      <p:cBhvr additive="base">
                                        <p:cTn id="28" dur="500" fill="hold"/>
                                        <p:tgtEl>
                                          <p:spTgt spid="46083">
                                            <p:txEl>
                                              <p:pRg st="5" end="5"/>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4608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p:cNvSpPr>
            <a:spLocks noChangeArrowheads="1"/>
          </p:cNvSpPr>
          <p:nvPr>
            <p:ph type="body" idx="1"/>
          </p:nvPr>
        </p:nvSpPr>
        <p:spPr>
          <a:xfrm>
            <a:off x="704850" y="1844675"/>
            <a:ext cx="7772400" cy="1295400"/>
          </a:xfrm>
        </p:spPr>
        <p:txBody>
          <a:bodyPr/>
          <a:lstStyle/>
          <a:p>
            <a:pPr eaLnBrk="1" hangingPunct="1"/>
            <a:r>
              <a:rPr lang="en-US" altLang="zh-CN" sz="2400" smtClean="0">
                <a:latin typeface="黑体" pitchFamily="49" charset="-122"/>
                <a:ea typeface="黑体" pitchFamily="49" charset="-122"/>
              </a:rPr>
              <a:t>ANY</a:t>
            </a:r>
            <a:r>
              <a:rPr lang="zh-CN" altLang="en-US" sz="2400" smtClean="0">
                <a:latin typeface="黑体" pitchFamily="49" charset="-122"/>
                <a:ea typeface="黑体" pitchFamily="49" charset="-122"/>
              </a:rPr>
              <a:t>和</a:t>
            </a:r>
            <a:r>
              <a:rPr lang="en-US" altLang="zh-CN" sz="2400" smtClean="0">
                <a:latin typeface="黑体" pitchFamily="49" charset="-122"/>
                <a:ea typeface="黑体" pitchFamily="49" charset="-122"/>
              </a:rPr>
              <a:t>ALL</a:t>
            </a:r>
            <a:r>
              <a:rPr lang="zh-CN" altLang="en-US" sz="2400" smtClean="0">
                <a:latin typeface="黑体" pitchFamily="49" charset="-122"/>
                <a:ea typeface="黑体" pitchFamily="49" charset="-122"/>
              </a:rPr>
              <a:t>谓词有时可以用集函数实现</a:t>
            </a:r>
          </a:p>
          <a:p>
            <a:pPr marL="990600" lvl="1" indent="-533400" eaLnBrk="1" hangingPunct="1">
              <a:lnSpc>
                <a:spcPct val="130000"/>
              </a:lnSpc>
            </a:pPr>
            <a:r>
              <a:rPr lang="en-US" altLang="zh-CN" sz="2400" smtClean="0">
                <a:latin typeface="黑体" pitchFamily="49" charset="-122"/>
                <a:ea typeface="黑体" pitchFamily="49" charset="-122"/>
              </a:rPr>
              <a:t>ANY</a:t>
            </a:r>
            <a:r>
              <a:rPr lang="zh-CN" altLang="en-US" sz="2400" smtClean="0">
                <a:latin typeface="黑体" pitchFamily="49" charset="-122"/>
                <a:ea typeface="黑体" pitchFamily="49" charset="-122"/>
              </a:rPr>
              <a:t>与</a:t>
            </a:r>
            <a:r>
              <a:rPr lang="en-US" altLang="zh-CN" sz="2400" smtClean="0">
                <a:latin typeface="黑体" pitchFamily="49" charset="-122"/>
                <a:ea typeface="黑体" pitchFamily="49" charset="-122"/>
              </a:rPr>
              <a:t>ALL</a:t>
            </a:r>
            <a:r>
              <a:rPr lang="zh-CN" altLang="en-US" sz="2400" smtClean="0">
                <a:latin typeface="黑体" pitchFamily="49" charset="-122"/>
                <a:ea typeface="黑体" pitchFamily="49" charset="-122"/>
              </a:rPr>
              <a:t>与集函数的对应关系</a:t>
            </a:r>
          </a:p>
        </p:txBody>
      </p:sp>
      <p:grpSp>
        <p:nvGrpSpPr>
          <p:cNvPr id="96259" name="Group 4"/>
          <p:cNvGrpSpPr>
            <a:grpSpLocks/>
          </p:cNvGrpSpPr>
          <p:nvPr/>
        </p:nvGrpSpPr>
        <p:grpSpPr bwMode="auto">
          <a:xfrm>
            <a:off x="712788" y="3243263"/>
            <a:ext cx="7924800" cy="2057400"/>
            <a:chOff x="0" y="0"/>
            <a:chExt cx="4065" cy="1302"/>
          </a:xfrm>
        </p:grpSpPr>
        <p:grpSp>
          <p:nvGrpSpPr>
            <p:cNvPr id="96262" name="Group 5"/>
            <p:cNvGrpSpPr>
              <a:grpSpLocks/>
            </p:cNvGrpSpPr>
            <p:nvPr/>
          </p:nvGrpSpPr>
          <p:grpSpPr bwMode="auto">
            <a:xfrm>
              <a:off x="3" y="3"/>
              <a:ext cx="4059" cy="1296"/>
              <a:chOff x="0" y="0"/>
              <a:chExt cx="4059" cy="1296"/>
            </a:xfrm>
          </p:grpSpPr>
          <p:grpSp>
            <p:nvGrpSpPr>
              <p:cNvPr id="96264" name="Group 6"/>
              <p:cNvGrpSpPr>
                <a:grpSpLocks/>
              </p:cNvGrpSpPr>
              <p:nvPr/>
            </p:nvGrpSpPr>
            <p:grpSpPr bwMode="auto">
              <a:xfrm>
                <a:off x="0" y="0"/>
                <a:ext cx="493" cy="432"/>
                <a:chOff x="0" y="0"/>
                <a:chExt cx="493" cy="432"/>
              </a:xfrm>
            </p:grpSpPr>
            <p:sp>
              <p:nvSpPr>
                <p:cNvPr id="96325" name="Rectangle 7"/>
                <p:cNvSpPr>
                  <a:spLocks noChangeArrowheads="1"/>
                </p:cNvSpPr>
                <p:nvPr/>
              </p:nvSpPr>
              <p:spPr bwMode="auto">
                <a:xfrm>
                  <a:off x="44" y="0"/>
                  <a:ext cx="406"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900">
                      <a:latin typeface="Arial" charset="0"/>
                      <a:ea typeface="黑体" pitchFamily="49" charset="-122"/>
                    </a:rPr>
                    <a:t> </a:t>
                  </a:r>
                </a:p>
                <a:p>
                  <a:endParaRPr lang="zh-CN" altLang="en-US" sz="2400">
                    <a:latin typeface="Arial" charset="0"/>
                    <a:ea typeface="黑体" pitchFamily="49" charset="-122"/>
                  </a:endParaRPr>
                </a:p>
              </p:txBody>
            </p:sp>
            <p:sp>
              <p:nvSpPr>
                <p:cNvPr id="96326" name="Rectangle 8"/>
                <p:cNvSpPr>
                  <a:spLocks noChangeArrowheads="1"/>
                </p:cNvSpPr>
                <p:nvPr/>
              </p:nvSpPr>
              <p:spPr bwMode="auto">
                <a:xfrm>
                  <a:off x="0" y="0"/>
                  <a:ext cx="493"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65" name="Group 9"/>
              <p:cNvGrpSpPr>
                <a:grpSpLocks/>
              </p:cNvGrpSpPr>
              <p:nvPr/>
            </p:nvGrpSpPr>
            <p:grpSpPr bwMode="auto">
              <a:xfrm>
                <a:off x="493" y="0"/>
                <a:ext cx="396" cy="432"/>
                <a:chOff x="0" y="0"/>
                <a:chExt cx="396" cy="432"/>
              </a:xfrm>
            </p:grpSpPr>
            <p:sp>
              <p:nvSpPr>
                <p:cNvPr id="96323" name="Rectangle 10"/>
                <p:cNvSpPr>
                  <a:spLocks noChangeArrowheads="1"/>
                </p:cNvSpPr>
                <p:nvPr/>
              </p:nvSpPr>
              <p:spPr bwMode="auto">
                <a:xfrm>
                  <a:off x="43" y="0"/>
                  <a:ext cx="31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tabLst>
                      <a:tab pos="266700" algn="r"/>
                      <a:tab pos="5292725" algn="r"/>
                    </a:tabLst>
                  </a:pPr>
                  <a:r>
                    <a:rPr lang="zh-CN" altLang="en-US" sz="2400">
                      <a:latin typeface="Arial" charset="0"/>
                      <a:ea typeface="黑体" pitchFamily="49" charset="-122"/>
                    </a:rPr>
                    <a:t> </a:t>
                  </a:r>
                  <a:r>
                    <a:rPr lang="en-US" altLang="zh-CN" sz="2400">
                      <a:latin typeface="Arial" charset="0"/>
                      <a:ea typeface="黑体" pitchFamily="49" charset="-122"/>
                    </a:rPr>
                    <a:t>=</a:t>
                  </a:r>
                </a:p>
              </p:txBody>
            </p:sp>
            <p:sp>
              <p:nvSpPr>
                <p:cNvPr id="96324" name="Rectangle 11"/>
                <p:cNvSpPr>
                  <a:spLocks noChangeArrowheads="1"/>
                </p:cNvSpPr>
                <p:nvPr/>
              </p:nvSpPr>
              <p:spPr bwMode="auto">
                <a:xfrm>
                  <a:off x="0" y="0"/>
                  <a:ext cx="396"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66" name="Group 12"/>
              <p:cNvGrpSpPr>
                <a:grpSpLocks/>
              </p:cNvGrpSpPr>
              <p:nvPr/>
            </p:nvGrpSpPr>
            <p:grpSpPr bwMode="auto">
              <a:xfrm>
                <a:off x="889" y="0"/>
                <a:ext cx="656" cy="432"/>
                <a:chOff x="0" y="0"/>
                <a:chExt cx="656" cy="432"/>
              </a:xfrm>
            </p:grpSpPr>
            <p:sp>
              <p:nvSpPr>
                <p:cNvPr id="96321" name="Rectangle 13"/>
                <p:cNvSpPr>
                  <a:spLocks noChangeArrowheads="1"/>
                </p:cNvSpPr>
                <p:nvPr/>
              </p:nvSpPr>
              <p:spPr bwMode="auto">
                <a:xfrm>
                  <a:off x="45" y="0"/>
                  <a:ext cx="568"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2400">
                      <a:latin typeface="Arial" charset="0"/>
                      <a:ea typeface="黑体" pitchFamily="49" charset="-122"/>
                    </a:rPr>
                    <a:t> </a:t>
                  </a:r>
                  <a:r>
                    <a:rPr lang="en-US" altLang="zh-CN" sz="2000">
                      <a:latin typeface="Arial" charset="0"/>
                      <a:ea typeface="黑体" pitchFamily="49" charset="-122"/>
                    </a:rPr>
                    <a:t>&lt;&gt;</a:t>
                  </a:r>
                  <a:r>
                    <a:rPr lang="zh-CN" altLang="en-US" sz="2000">
                      <a:latin typeface="Arial" charset="0"/>
                      <a:ea typeface="黑体" pitchFamily="49" charset="-122"/>
                    </a:rPr>
                    <a:t>或</a:t>
                  </a:r>
                  <a:r>
                    <a:rPr lang="en-US" altLang="zh-CN" sz="2000">
                      <a:latin typeface="Arial" charset="0"/>
                      <a:ea typeface="黑体" pitchFamily="49" charset="-122"/>
                    </a:rPr>
                    <a:t>!=</a:t>
                  </a:r>
                </a:p>
              </p:txBody>
            </p:sp>
            <p:sp>
              <p:nvSpPr>
                <p:cNvPr id="96322" name="Rectangle 14"/>
                <p:cNvSpPr>
                  <a:spLocks noChangeArrowheads="1"/>
                </p:cNvSpPr>
                <p:nvPr/>
              </p:nvSpPr>
              <p:spPr bwMode="auto">
                <a:xfrm>
                  <a:off x="0" y="0"/>
                  <a:ext cx="656"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67" name="Group 15"/>
              <p:cNvGrpSpPr>
                <a:grpSpLocks/>
              </p:cNvGrpSpPr>
              <p:nvPr/>
            </p:nvGrpSpPr>
            <p:grpSpPr bwMode="auto">
              <a:xfrm>
                <a:off x="1545" y="0"/>
                <a:ext cx="617" cy="432"/>
                <a:chOff x="0" y="0"/>
                <a:chExt cx="617" cy="432"/>
              </a:xfrm>
            </p:grpSpPr>
            <p:sp>
              <p:nvSpPr>
                <p:cNvPr id="96319" name="Rectangle 16"/>
                <p:cNvSpPr>
                  <a:spLocks noChangeArrowheads="1"/>
                </p:cNvSpPr>
                <p:nvPr/>
              </p:nvSpPr>
              <p:spPr bwMode="auto">
                <a:xfrm>
                  <a:off x="43" y="0"/>
                  <a:ext cx="53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tabLst>
                      <a:tab pos="266700" algn="r"/>
                      <a:tab pos="5292725" algn="r"/>
                    </a:tabLst>
                  </a:pPr>
                  <a:r>
                    <a:rPr lang="zh-CN" altLang="en-US" sz="2000">
                      <a:solidFill>
                        <a:srgbClr val="FF0000"/>
                      </a:solidFill>
                      <a:latin typeface="Arial" charset="0"/>
                      <a:ea typeface="黑体" pitchFamily="49" charset="-122"/>
                    </a:rPr>
                    <a:t>   </a:t>
                  </a:r>
                  <a:r>
                    <a:rPr lang="en-US" altLang="zh-CN" sz="2000">
                      <a:solidFill>
                        <a:srgbClr val="FF0000"/>
                      </a:solidFill>
                      <a:latin typeface="Arial" charset="0"/>
                      <a:ea typeface="黑体" pitchFamily="49" charset="-122"/>
                    </a:rPr>
                    <a:t>&lt;</a:t>
                  </a:r>
                </a:p>
              </p:txBody>
            </p:sp>
            <p:sp>
              <p:nvSpPr>
                <p:cNvPr id="96320" name="Rectangle 17"/>
                <p:cNvSpPr>
                  <a:spLocks noChangeArrowheads="1"/>
                </p:cNvSpPr>
                <p:nvPr/>
              </p:nvSpPr>
              <p:spPr bwMode="auto">
                <a:xfrm>
                  <a:off x="0" y="0"/>
                  <a:ext cx="617"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68" name="Group 18"/>
              <p:cNvGrpSpPr>
                <a:grpSpLocks/>
              </p:cNvGrpSpPr>
              <p:nvPr/>
            </p:nvGrpSpPr>
            <p:grpSpPr bwMode="auto">
              <a:xfrm>
                <a:off x="2162" y="0"/>
                <a:ext cx="655" cy="432"/>
                <a:chOff x="0" y="0"/>
                <a:chExt cx="655" cy="432"/>
              </a:xfrm>
            </p:grpSpPr>
            <p:sp>
              <p:nvSpPr>
                <p:cNvPr id="96317" name="Rectangle 19"/>
                <p:cNvSpPr>
                  <a:spLocks noChangeArrowheads="1"/>
                </p:cNvSpPr>
                <p:nvPr/>
              </p:nvSpPr>
              <p:spPr bwMode="auto">
                <a:xfrm>
                  <a:off x="43" y="0"/>
                  <a:ext cx="569"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tabLst>
                      <a:tab pos="266700" algn="r"/>
                      <a:tab pos="5292725" algn="r"/>
                    </a:tabLst>
                  </a:pPr>
                  <a:r>
                    <a:rPr lang="zh-CN" altLang="en-US" sz="2400">
                      <a:latin typeface="Arial" charset="0"/>
                      <a:ea typeface="黑体" pitchFamily="49" charset="-122"/>
                    </a:rPr>
                    <a:t>  </a:t>
                  </a:r>
                  <a:r>
                    <a:rPr lang="en-US" altLang="zh-CN" sz="2400">
                      <a:latin typeface="Arial" charset="0"/>
                      <a:ea typeface="黑体" pitchFamily="49" charset="-122"/>
                    </a:rPr>
                    <a:t>&lt;=</a:t>
                  </a:r>
                </a:p>
              </p:txBody>
            </p:sp>
            <p:sp>
              <p:nvSpPr>
                <p:cNvPr id="96318" name="Rectangle 20"/>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69" name="Group 21"/>
              <p:cNvGrpSpPr>
                <a:grpSpLocks/>
              </p:cNvGrpSpPr>
              <p:nvPr/>
            </p:nvGrpSpPr>
            <p:grpSpPr bwMode="auto">
              <a:xfrm>
                <a:off x="2817" y="0"/>
                <a:ext cx="587" cy="432"/>
                <a:chOff x="0" y="0"/>
                <a:chExt cx="587" cy="432"/>
              </a:xfrm>
            </p:grpSpPr>
            <p:sp>
              <p:nvSpPr>
                <p:cNvPr id="96315" name="Rectangle 22"/>
                <p:cNvSpPr>
                  <a:spLocks noChangeArrowheads="1"/>
                </p:cNvSpPr>
                <p:nvPr/>
              </p:nvSpPr>
              <p:spPr bwMode="auto">
                <a:xfrm>
                  <a:off x="43" y="0"/>
                  <a:ext cx="501"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tabLst>
                      <a:tab pos="266700" algn="r"/>
                      <a:tab pos="5292725" algn="r"/>
                    </a:tabLst>
                  </a:pPr>
                  <a:r>
                    <a:rPr lang="zh-CN" altLang="en-US" sz="2400">
                      <a:latin typeface="Arial" charset="0"/>
                      <a:ea typeface="黑体" pitchFamily="49" charset="-122"/>
                    </a:rPr>
                    <a:t>  </a:t>
                  </a:r>
                  <a:r>
                    <a:rPr lang="en-US" altLang="zh-CN" sz="2400">
                      <a:latin typeface="Arial" charset="0"/>
                      <a:ea typeface="黑体" pitchFamily="49" charset="-122"/>
                    </a:rPr>
                    <a:t>&gt;</a:t>
                  </a:r>
                </a:p>
              </p:txBody>
            </p:sp>
            <p:sp>
              <p:nvSpPr>
                <p:cNvPr id="96316" name="Rectangle 23"/>
                <p:cNvSpPr>
                  <a:spLocks noChangeArrowheads="1"/>
                </p:cNvSpPr>
                <p:nvPr/>
              </p:nvSpPr>
              <p:spPr bwMode="auto">
                <a:xfrm>
                  <a:off x="0" y="0"/>
                  <a:ext cx="587"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70" name="Group 24"/>
              <p:cNvGrpSpPr>
                <a:grpSpLocks/>
              </p:cNvGrpSpPr>
              <p:nvPr/>
            </p:nvGrpSpPr>
            <p:grpSpPr bwMode="auto">
              <a:xfrm>
                <a:off x="3404" y="0"/>
                <a:ext cx="655" cy="432"/>
                <a:chOff x="0" y="0"/>
                <a:chExt cx="655" cy="432"/>
              </a:xfrm>
            </p:grpSpPr>
            <p:sp>
              <p:nvSpPr>
                <p:cNvPr id="96313" name="Rectangle 25"/>
                <p:cNvSpPr>
                  <a:spLocks noChangeArrowheads="1"/>
                </p:cNvSpPr>
                <p:nvPr/>
              </p:nvSpPr>
              <p:spPr bwMode="auto">
                <a:xfrm>
                  <a:off x="43" y="0"/>
                  <a:ext cx="568"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tabLst>
                      <a:tab pos="266700" algn="r"/>
                      <a:tab pos="5292725" algn="r"/>
                    </a:tabLst>
                  </a:pPr>
                  <a:r>
                    <a:rPr lang="zh-CN" altLang="en-US" sz="2400">
                      <a:latin typeface="Arial" charset="0"/>
                      <a:ea typeface="黑体" pitchFamily="49" charset="-122"/>
                    </a:rPr>
                    <a:t>  </a:t>
                  </a:r>
                  <a:r>
                    <a:rPr lang="en-US" altLang="zh-CN" sz="2400">
                      <a:latin typeface="Arial" charset="0"/>
                      <a:ea typeface="黑体" pitchFamily="49" charset="-122"/>
                    </a:rPr>
                    <a:t>&gt;=</a:t>
                  </a:r>
                </a:p>
              </p:txBody>
            </p:sp>
            <p:sp>
              <p:nvSpPr>
                <p:cNvPr id="96314" name="Rectangle 26"/>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71" name="Group 27"/>
              <p:cNvGrpSpPr>
                <a:grpSpLocks/>
              </p:cNvGrpSpPr>
              <p:nvPr/>
            </p:nvGrpSpPr>
            <p:grpSpPr bwMode="auto">
              <a:xfrm>
                <a:off x="0" y="432"/>
                <a:ext cx="493" cy="432"/>
                <a:chOff x="0" y="0"/>
                <a:chExt cx="493" cy="432"/>
              </a:xfrm>
            </p:grpSpPr>
            <p:sp>
              <p:nvSpPr>
                <p:cNvPr id="96311" name="Rectangle 28"/>
                <p:cNvSpPr>
                  <a:spLocks noChangeArrowheads="1"/>
                </p:cNvSpPr>
                <p:nvPr/>
              </p:nvSpPr>
              <p:spPr bwMode="auto">
                <a:xfrm>
                  <a:off x="44" y="2"/>
                  <a:ext cx="40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2000">
                      <a:latin typeface="Arial" charset="0"/>
                      <a:ea typeface="黑体" pitchFamily="49" charset="-122"/>
                    </a:rPr>
                    <a:t>ANY</a:t>
                  </a:r>
                </a:p>
              </p:txBody>
            </p:sp>
            <p:sp>
              <p:nvSpPr>
                <p:cNvPr id="96312" name="Rectangle 29"/>
                <p:cNvSpPr>
                  <a:spLocks noChangeArrowheads="1"/>
                </p:cNvSpPr>
                <p:nvPr/>
              </p:nvSpPr>
              <p:spPr bwMode="auto">
                <a:xfrm>
                  <a:off x="0" y="0"/>
                  <a:ext cx="493"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72" name="Group 30"/>
              <p:cNvGrpSpPr>
                <a:grpSpLocks/>
              </p:cNvGrpSpPr>
              <p:nvPr/>
            </p:nvGrpSpPr>
            <p:grpSpPr bwMode="auto">
              <a:xfrm>
                <a:off x="493" y="432"/>
                <a:ext cx="396" cy="432"/>
                <a:chOff x="0" y="0"/>
                <a:chExt cx="396" cy="432"/>
              </a:xfrm>
            </p:grpSpPr>
            <p:sp>
              <p:nvSpPr>
                <p:cNvPr id="96309" name="Rectangle 31"/>
                <p:cNvSpPr>
                  <a:spLocks noChangeArrowheads="1"/>
                </p:cNvSpPr>
                <p:nvPr/>
              </p:nvSpPr>
              <p:spPr bwMode="auto">
                <a:xfrm>
                  <a:off x="43" y="2"/>
                  <a:ext cx="31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1500">
                      <a:latin typeface="Arial" charset="0"/>
                      <a:ea typeface="黑体" pitchFamily="49" charset="-122"/>
                    </a:rPr>
                    <a:t> </a:t>
                  </a:r>
                  <a:r>
                    <a:rPr lang="zh-CN" altLang="en-US" sz="2000">
                      <a:latin typeface="Arial" charset="0"/>
                      <a:ea typeface="黑体" pitchFamily="49" charset="-122"/>
                    </a:rPr>
                    <a:t> </a:t>
                  </a:r>
                  <a:r>
                    <a:rPr lang="en-US" altLang="zh-CN" sz="2000">
                      <a:latin typeface="Arial" charset="0"/>
                      <a:ea typeface="黑体" pitchFamily="49" charset="-122"/>
                    </a:rPr>
                    <a:t>IN</a:t>
                  </a:r>
                </a:p>
              </p:txBody>
            </p:sp>
            <p:sp>
              <p:nvSpPr>
                <p:cNvPr id="96310" name="Rectangle 32"/>
                <p:cNvSpPr>
                  <a:spLocks noChangeArrowheads="1"/>
                </p:cNvSpPr>
                <p:nvPr/>
              </p:nvSpPr>
              <p:spPr bwMode="auto">
                <a:xfrm>
                  <a:off x="0" y="0"/>
                  <a:ext cx="396"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73" name="Group 33"/>
              <p:cNvGrpSpPr>
                <a:grpSpLocks/>
              </p:cNvGrpSpPr>
              <p:nvPr/>
            </p:nvGrpSpPr>
            <p:grpSpPr bwMode="auto">
              <a:xfrm>
                <a:off x="889" y="432"/>
                <a:ext cx="656" cy="432"/>
                <a:chOff x="0" y="0"/>
                <a:chExt cx="656" cy="432"/>
              </a:xfrm>
            </p:grpSpPr>
            <p:sp>
              <p:nvSpPr>
                <p:cNvPr id="96307" name="Rectangle 34"/>
                <p:cNvSpPr>
                  <a:spLocks noChangeArrowheads="1"/>
                </p:cNvSpPr>
                <p:nvPr/>
              </p:nvSpPr>
              <p:spPr bwMode="auto">
                <a:xfrm>
                  <a:off x="45" y="2"/>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1500">
                      <a:latin typeface="Arial" charset="0"/>
                      <a:ea typeface="黑体" pitchFamily="49" charset="-122"/>
                    </a:rPr>
                    <a:t>    </a:t>
                  </a:r>
                  <a:r>
                    <a:rPr lang="en-US" altLang="zh-CN" sz="2000">
                      <a:latin typeface="Arial" charset="0"/>
                      <a:ea typeface="黑体" pitchFamily="49" charset="-122"/>
                    </a:rPr>
                    <a:t>--</a:t>
                  </a:r>
                </a:p>
              </p:txBody>
            </p:sp>
            <p:sp>
              <p:nvSpPr>
                <p:cNvPr id="96308" name="Rectangle 35"/>
                <p:cNvSpPr>
                  <a:spLocks noChangeArrowheads="1"/>
                </p:cNvSpPr>
                <p:nvPr/>
              </p:nvSpPr>
              <p:spPr bwMode="auto">
                <a:xfrm>
                  <a:off x="0" y="0"/>
                  <a:ext cx="656"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74" name="Group 36"/>
              <p:cNvGrpSpPr>
                <a:grpSpLocks/>
              </p:cNvGrpSpPr>
              <p:nvPr/>
            </p:nvGrpSpPr>
            <p:grpSpPr bwMode="auto">
              <a:xfrm>
                <a:off x="1545" y="432"/>
                <a:ext cx="617" cy="432"/>
                <a:chOff x="0" y="0"/>
                <a:chExt cx="617" cy="432"/>
              </a:xfrm>
            </p:grpSpPr>
            <p:sp>
              <p:nvSpPr>
                <p:cNvPr id="96305" name="Rectangle 37"/>
                <p:cNvSpPr>
                  <a:spLocks noChangeArrowheads="1"/>
                </p:cNvSpPr>
                <p:nvPr/>
              </p:nvSpPr>
              <p:spPr bwMode="auto">
                <a:xfrm>
                  <a:off x="43" y="2"/>
                  <a:ext cx="53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1500">
                      <a:solidFill>
                        <a:srgbClr val="FF0000"/>
                      </a:solidFill>
                      <a:latin typeface="Arial" charset="0"/>
                      <a:ea typeface="黑体" pitchFamily="49" charset="-122"/>
                    </a:rPr>
                    <a:t> </a:t>
                  </a:r>
                  <a:r>
                    <a:rPr lang="en-US" altLang="zh-CN" sz="2000">
                      <a:solidFill>
                        <a:srgbClr val="FF0000"/>
                      </a:solidFill>
                      <a:latin typeface="Arial" charset="0"/>
                      <a:ea typeface="黑体" pitchFamily="49" charset="-122"/>
                    </a:rPr>
                    <a:t>&lt;MAX</a:t>
                  </a:r>
                </a:p>
              </p:txBody>
            </p:sp>
            <p:sp>
              <p:nvSpPr>
                <p:cNvPr id="96306" name="Rectangle 38"/>
                <p:cNvSpPr>
                  <a:spLocks noChangeArrowheads="1"/>
                </p:cNvSpPr>
                <p:nvPr/>
              </p:nvSpPr>
              <p:spPr bwMode="auto">
                <a:xfrm>
                  <a:off x="0" y="0"/>
                  <a:ext cx="617"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75" name="Group 39"/>
              <p:cNvGrpSpPr>
                <a:grpSpLocks/>
              </p:cNvGrpSpPr>
              <p:nvPr/>
            </p:nvGrpSpPr>
            <p:grpSpPr bwMode="auto">
              <a:xfrm>
                <a:off x="2162" y="432"/>
                <a:ext cx="655" cy="432"/>
                <a:chOff x="0" y="0"/>
                <a:chExt cx="655" cy="432"/>
              </a:xfrm>
            </p:grpSpPr>
            <p:sp>
              <p:nvSpPr>
                <p:cNvPr id="96303" name="Rectangle 40"/>
                <p:cNvSpPr>
                  <a:spLocks noChangeArrowheads="1"/>
                </p:cNvSpPr>
                <p:nvPr/>
              </p:nvSpPr>
              <p:spPr bwMode="auto">
                <a:xfrm>
                  <a:off x="43" y="2"/>
                  <a:ext cx="56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2000">
                      <a:latin typeface="Arial" charset="0"/>
                      <a:ea typeface="黑体" pitchFamily="49" charset="-122"/>
                    </a:rPr>
                    <a:t>&lt;=MAX</a:t>
                  </a:r>
                </a:p>
              </p:txBody>
            </p:sp>
            <p:sp>
              <p:nvSpPr>
                <p:cNvPr id="96304" name="Rectangle 41"/>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76" name="Group 42"/>
              <p:cNvGrpSpPr>
                <a:grpSpLocks/>
              </p:cNvGrpSpPr>
              <p:nvPr/>
            </p:nvGrpSpPr>
            <p:grpSpPr bwMode="auto">
              <a:xfrm>
                <a:off x="2817" y="432"/>
                <a:ext cx="587" cy="432"/>
                <a:chOff x="0" y="0"/>
                <a:chExt cx="587" cy="432"/>
              </a:xfrm>
            </p:grpSpPr>
            <p:sp>
              <p:nvSpPr>
                <p:cNvPr id="96301" name="Rectangle 43"/>
                <p:cNvSpPr>
                  <a:spLocks noChangeArrowheads="1"/>
                </p:cNvSpPr>
                <p:nvPr/>
              </p:nvSpPr>
              <p:spPr bwMode="auto">
                <a:xfrm>
                  <a:off x="43" y="2"/>
                  <a:ext cx="50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2000">
                      <a:latin typeface="Arial" charset="0"/>
                      <a:ea typeface="黑体" pitchFamily="49" charset="-122"/>
                    </a:rPr>
                    <a:t>&gt;MIN</a:t>
                  </a:r>
                </a:p>
              </p:txBody>
            </p:sp>
            <p:sp>
              <p:nvSpPr>
                <p:cNvPr id="96302" name="Rectangle 44"/>
                <p:cNvSpPr>
                  <a:spLocks noChangeArrowheads="1"/>
                </p:cNvSpPr>
                <p:nvPr/>
              </p:nvSpPr>
              <p:spPr bwMode="auto">
                <a:xfrm>
                  <a:off x="0" y="0"/>
                  <a:ext cx="587"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77" name="Group 45"/>
              <p:cNvGrpSpPr>
                <a:grpSpLocks/>
              </p:cNvGrpSpPr>
              <p:nvPr/>
            </p:nvGrpSpPr>
            <p:grpSpPr bwMode="auto">
              <a:xfrm>
                <a:off x="3404" y="432"/>
                <a:ext cx="655" cy="432"/>
                <a:chOff x="0" y="0"/>
                <a:chExt cx="655" cy="432"/>
              </a:xfrm>
            </p:grpSpPr>
            <p:sp>
              <p:nvSpPr>
                <p:cNvPr id="96299" name="Rectangle 46"/>
                <p:cNvSpPr>
                  <a:spLocks noChangeArrowheads="1"/>
                </p:cNvSpPr>
                <p:nvPr/>
              </p:nvSpPr>
              <p:spPr bwMode="auto">
                <a:xfrm>
                  <a:off x="43" y="2"/>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2000">
                      <a:latin typeface="Arial" charset="0"/>
                      <a:ea typeface="黑体" pitchFamily="49" charset="-122"/>
                    </a:rPr>
                    <a:t>&gt;= MIN</a:t>
                  </a:r>
                </a:p>
              </p:txBody>
            </p:sp>
            <p:sp>
              <p:nvSpPr>
                <p:cNvPr id="96300" name="Rectangle 47"/>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78" name="Group 48"/>
              <p:cNvGrpSpPr>
                <a:grpSpLocks/>
              </p:cNvGrpSpPr>
              <p:nvPr/>
            </p:nvGrpSpPr>
            <p:grpSpPr bwMode="auto">
              <a:xfrm>
                <a:off x="0" y="864"/>
                <a:ext cx="493" cy="432"/>
                <a:chOff x="0" y="0"/>
                <a:chExt cx="493" cy="432"/>
              </a:xfrm>
            </p:grpSpPr>
            <p:sp>
              <p:nvSpPr>
                <p:cNvPr id="96297" name="Rectangle 49"/>
                <p:cNvSpPr>
                  <a:spLocks noChangeArrowheads="1"/>
                </p:cNvSpPr>
                <p:nvPr/>
              </p:nvSpPr>
              <p:spPr bwMode="auto">
                <a:xfrm>
                  <a:off x="44" y="0"/>
                  <a:ext cx="40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2000">
                      <a:latin typeface="Arial" charset="0"/>
                      <a:ea typeface="黑体" pitchFamily="49" charset="-122"/>
                    </a:rPr>
                    <a:t>ALL</a:t>
                  </a:r>
                </a:p>
              </p:txBody>
            </p:sp>
            <p:sp>
              <p:nvSpPr>
                <p:cNvPr id="96298" name="Rectangle 50"/>
                <p:cNvSpPr>
                  <a:spLocks noChangeArrowheads="1"/>
                </p:cNvSpPr>
                <p:nvPr/>
              </p:nvSpPr>
              <p:spPr bwMode="auto">
                <a:xfrm>
                  <a:off x="0" y="0"/>
                  <a:ext cx="493"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79" name="Group 51"/>
              <p:cNvGrpSpPr>
                <a:grpSpLocks/>
              </p:cNvGrpSpPr>
              <p:nvPr/>
            </p:nvGrpSpPr>
            <p:grpSpPr bwMode="auto">
              <a:xfrm>
                <a:off x="493" y="864"/>
                <a:ext cx="396" cy="432"/>
                <a:chOff x="0" y="0"/>
                <a:chExt cx="396" cy="432"/>
              </a:xfrm>
            </p:grpSpPr>
            <p:sp>
              <p:nvSpPr>
                <p:cNvPr id="96295" name="Rectangle 52"/>
                <p:cNvSpPr>
                  <a:spLocks noChangeArrowheads="1"/>
                </p:cNvSpPr>
                <p:nvPr/>
              </p:nvSpPr>
              <p:spPr bwMode="auto">
                <a:xfrm>
                  <a:off x="43" y="0"/>
                  <a:ext cx="31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2400">
                      <a:latin typeface="Arial" charset="0"/>
                      <a:ea typeface="黑体" pitchFamily="49" charset="-122"/>
                    </a:rPr>
                    <a:t>  </a:t>
                  </a:r>
                  <a:r>
                    <a:rPr lang="en-US" altLang="zh-CN" sz="2400">
                      <a:latin typeface="Arial" charset="0"/>
                      <a:ea typeface="黑体" pitchFamily="49" charset="-122"/>
                    </a:rPr>
                    <a:t>--</a:t>
                  </a:r>
                </a:p>
              </p:txBody>
            </p:sp>
            <p:sp>
              <p:nvSpPr>
                <p:cNvPr id="96296" name="Rectangle 53"/>
                <p:cNvSpPr>
                  <a:spLocks noChangeArrowheads="1"/>
                </p:cNvSpPr>
                <p:nvPr/>
              </p:nvSpPr>
              <p:spPr bwMode="auto">
                <a:xfrm>
                  <a:off x="0" y="0"/>
                  <a:ext cx="396"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80" name="Group 54"/>
              <p:cNvGrpSpPr>
                <a:grpSpLocks/>
              </p:cNvGrpSpPr>
              <p:nvPr/>
            </p:nvGrpSpPr>
            <p:grpSpPr bwMode="auto">
              <a:xfrm>
                <a:off x="889" y="864"/>
                <a:ext cx="656" cy="432"/>
                <a:chOff x="0" y="0"/>
                <a:chExt cx="656" cy="432"/>
              </a:xfrm>
            </p:grpSpPr>
            <p:sp>
              <p:nvSpPr>
                <p:cNvPr id="96293" name="Rectangle 55"/>
                <p:cNvSpPr>
                  <a:spLocks noChangeArrowheads="1"/>
                </p:cNvSpPr>
                <p:nvPr/>
              </p:nvSpPr>
              <p:spPr bwMode="auto">
                <a:xfrm>
                  <a:off x="45" y="0"/>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2000">
                      <a:latin typeface="Arial" charset="0"/>
                      <a:ea typeface="黑体" pitchFamily="49" charset="-122"/>
                    </a:rPr>
                    <a:t> </a:t>
                  </a:r>
                  <a:r>
                    <a:rPr lang="en-US" altLang="zh-CN" sz="1800">
                      <a:latin typeface="Arial" charset="0"/>
                      <a:ea typeface="黑体" pitchFamily="49" charset="-122"/>
                    </a:rPr>
                    <a:t>NOT IN</a:t>
                  </a:r>
                </a:p>
              </p:txBody>
            </p:sp>
            <p:sp>
              <p:nvSpPr>
                <p:cNvPr id="96294" name="Rectangle 56"/>
                <p:cNvSpPr>
                  <a:spLocks noChangeArrowheads="1"/>
                </p:cNvSpPr>
                <p:nvPr/>
              </p:nvSpPr>
              <p:spPr bwMode="auto">
                <a:xfrm>
                  <a:off x="0" y="0"/>
                  <a:ext cx="656"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81" name="Group 57"/>
              <p:cNvGrpSpPr>
                <a:grpSpLocks/>
              </p:cNvGrpSpPr>
              <p:nvPr/>
            </p:nvGrpSpPr>
            <p:grpSpPr bwMode="auto">
              <a:xfrm>
                <a:off x="1545" y="864"/>
                <a:ext cx="617" cy="432"/>
                <a:chOff x="0" y="0"/>
                <a:chExt cx="617" cy="432"/>
              </a:xfrm>
            </p:grpSpPr>
            <p:sp>
              <p:nvSpPr>
                <p:cNvPr id="96291" name="Rectangle 58"/>
                <p:cNvSpPr>
                  <a:spLocks noChangeArrowheads="1"/>
                </p:cNvSpPr>
                <p:nvPr/>
              </p:nvSpPr>
              <p:spPr bwMode="auto">
                <a:xfrm>
                  <a:off x="43" y="0"/>
                  <a:ext cx="53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zh-CN" altLang="en-US" sz="1500">
                      <a:solidFill>
                        <a:srgbClr val="FF0000"/>
                      </a:solidFill>
                      <a:latin typeface="Arial" charset="0"/>
                      <a:ea typeface="黑体" pitchFamily="49" charset="-122"/>
                    </a:rPr>
                    <a:t> </a:t>
                  </a:r>
                  <a:r>
                    <a:rPr lang="en-US" altLang="zh-CN" sz="2000">
                      <a:solidFill>
                        <a:srgbClr val="FF0000"/>
                      </a:solidFill>
                      <a:latin typeface="Arial" charset="0"/>
                      <a:ea typeface="黑体" pitchFamily="49" charset="-122"/>
                    </a:rPr>
                    <a:t>&lt;MIN</a:t>
                  </a:r>
                </a:p>
              </p:txBody>
            </p:sp>
            <p:sp>
              <p:nvSpPr>
                <p:cNvPr id="96292" name="Rectangle 59"/>
                <p:cNvSpPr>
                  <a:spLocks noChangeArrowheads="1"/>
                </p:cNvSpPr>
                <p:nvPr/>
              </p:nvSpPr>
              <p:spPr bwMode="auto">
                <a:xfrm>
                  <a:off x="0" y="0"/>
                  <a:ext cx="617"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82" name="Group 60"/>
              <p:cNvGrpSpPr>
                <a:grpSpLocks/>
              </p:cNvGrpSpPr>
              <p:nvPr/>
            </p:nvGrpSpPr>
            <p:grpSpPr bwMode="auto">
              <a:xfrm>
                <a:off x="2162" y="864"/>
                <a:ext cx="655" cy="432"/>
                <a:chOff x="0" y="0"/>
                <a:chExt cx="655" cy="432"/>
              </a:xfrm>
            </p:grpSpPr>
            <p:sp>
              <p:nvSpPr>
                <p:cNvPr id="96289" name="Rectangle 61"/>
                <p:cNvSpPr>
                  <a:spLocks noChangeArrowheads="1"/>
                </p:cNvSpPr>
                <p:nvPr/>
              </p:nvSpPr>
              <p:spPr bwMode="auto">
                <a:xfrm>
                  <a:off x="43" y="0"/>
                  <a:ext cx="56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2000">
                      <a:latin typeface="Arial" charset="0"/>
                      <a:ea typeface="黑体" pitchFamily="49" charset="-122"/>
                    </a:rPr>
                    <a:t>&lt;= MIN</a:t>
                  </a:r>
                </a:p>
              </p:txBody>
            </p:sp>
            <p:sp>
              <p:nvSpPr>
                <p:cNvPr id="96290" name="Rectangle 62"/>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83" name="Group 63"/>
              <p:cNvGrpSpPr>
                <a:grpSpLocks/>
              </p:cNvGrpSpPr>
              <p:nvPr/>
            </p:nvGrpSpPr>
            <p:grpSpPr bwMode="auto">
              <a:xfrm>
                <a:off x="2817" y="864"/>
                <a:ext cx="587" cy="432"/>
                <a:chOff x="0" y="0"/>
                <a:chExt cx="587" cy="432"/>
              </a:xfrm>
            </p:grpSpPr>
            <p:sp>
              <p:nvSpPr>
                <p:cNvPr id="96287" name="Rectangle 64"/>
                <p:cNvSpPr>
                  <a:spLocks noChangeArrowheads="1"/>
                </p:cNvSpPr>
                <p:nvPr/>
              </p:nvSpPr>
              <p:spPr bwMode="auto">
                <a:xfrm>
                  <a:off x="43" y="0"/>
                  <a:ext cx="50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2000">
                      <a:latin typeface="Arial" charset="0"/>
                      <a:ea typeface="黑体" pitchFamily="49" charset="-122"/>
                    </a:rPr>
                    <a:t>&gt;MAX</a:t>
                  </a:r>
                </a:p>
              </p:txBody>
            </p:sp>
            <p:sp>
              <p:nvSpPr>
                <p:cNvPr id="96288" name="Rectangle 65"/>
                <p:cNvSpPr>
                  <a:spLocks noChangeArrowheads="1"/>
                </p:cNvSpPr>
                <p:nvPr/>
              </p:nvSpPr>
              <p:spPr bwMode="auto">
                <a:xfrm>
                  <a:off x="0" y="0"/>
                  <a:ext cx="587"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nvGrpSpPr>
              <p:cNvPr id="96284" name="Group 66"/>
              <p:cNvGrpSpPr>
                <a:grpSpLocks/>
              </p:cNvGrpSpPr>
              <p:nvPr/>
            </p:nvGrpSpPr>
            <p:grpSpPr bwMode="auto">
              <a:xfrm>
                <a:off x="3404" y="864"/>
                <a:ext cx="655" cy="432"/>
                <a:chOff x="0" y="0"/>
                <a:chExt cx="655" cy="432"/>
              </a:xfrm>
            </p:grpSpPr>
            <p:sp>
              <p:nvSpPr>
                <p:cNvPr id="96285" name="Rectangle 67"/>
                <p:cNvSpPr>
                  <a:spLocks noChangeArrowheads="1"/>
                </p:cNvSpPr>
                <p:nvPr/>
              </p:nvSpPr>
              <p:spPr bwMode="auto">
                <a:xfrm>
                  <a:off x="43" y="0"/>
                  <a:ext cx="568"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1800">
                      <a:latin typeface="Arial" charset="0"/>
                      <a:ea typeface="黑体" pitchFamily="49" charset="-122"/>
                    </a:rPr>
                    <a:t>&gt;= MAX</a:t>
                  </a:r>
                </a:p>
              </p:txBody>
            </p:sp>
            <p:sp>
              <p:nvSpPr>
                <p:cNvPr id="96286" name="Rectangle 68"/>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grpSp>
        <p:sp>
          <p:nvSpPr>
            <p:cNvPr id="96263" name="Rectangle 69"/>
            <p:cNvSpPr>
              <a:spLocks noChangeArrowheads="1"/>
            </p:cNvSpPr>
            <p:nvPr/>
          </p:nvSpPr>
          <p:spPr bwMode="auto">
            <a:xfrm>
              <a:off x="0" y="0"/>
              <a:ext cx="4065" cy="1302"/>
            </a:xfrm>
            <a:prstGeom prst="rect">
              <a:avLst/>
            </a:prstGeom>
            <a:noFill/>
            <a:ln w="11112">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endParaRPr lang="zh-CN" altLang="en-US" sz="2400">
                <a:latin typeface="Arial" charset="0"/>
                <a:ea typeface="黑体" pitchFamily="49" charset="-122"/>
              </a:endParaRPr>
            </a:p>
          </p:txBody>
        </p:sp>
      </p:grpSp>
      <p:sp>
        <p:nvSpPr>
          <p:cNvPr id="96260" name="Rectangle 2"/>
          <p:cNvSpPr>
            <a:spLocks noChangeArrowheads="1"/>
          </p:cNvSpPr>
          <p:nvPr>
            <p:ph type="title"/>
          </p:nvPr>
        </p:nvSpPr>
        <p:spPr>
          <a:xfrm>
            <a:off x="395288" y="981075"/>
            <a:ext cx="7793037" cy="792163"/>
          </a:xfrm>
        </p:spPr>
        <p:txBody>
          <a:bodyPr/>
          <a:lstStyle/>
          <a:p>
            <a:pPr eaLnBrk="1" hangingPunct="1"/>
            <a:r>
              <a:rPr lang="zh-CN" altLang="en-US" sz="2800" smtClean="0">
                <a:solidFill>
                  <a:schemeClr val="tx1"/>
                </a:solidFill>
                <a:latin typeface="黑体" pitchFamily="49" charset="-122"/>
              </a:rPr>
              <a:t>三、带有</a:t>
            </a:r>
            <a:r>
              <a:rPr lang="en-US" altLang="zh-CN" sz="2800" smtClean="0">
                <a:solidFill>
                  <a:schemeClr val="tx1"/>
                </a:solidFill>
                <a:latin typeface="黑体" pitchFamily="49" charset="-122"/>
              </a:rPr>
              <a:t>ANY</a:t>
            </a:r>
            <a:r>
              <a:rPr lang="zh-CN" altLang="en-US" sz="2800" smtClean="0">
                <a:solidFill>
                  <a:schemeClr val="tx1"/>
                </a:solidFill>
                <a:latin typeface="黑体" pitchFamily="49" charset="-122"/>
              </a:rPr>
              <a:t>或</a:t>
            </a:r>
            <a:r>
              <a:rPr lang="en-US" altLang="zh-CN" sz="2800" smtClean="0">
                <a:solidFill>
                  <a:schemeClr val="tx1"/>
                </a:solidFill>
                <a:latin typeface="黑体" pitchFamily="49" charset="-122"/>
              </a:rPr>
              <a:t>ALL</a:t>
            </a:r>
            <a:r>
              <a:rPr lang="zh-CN" altLang="en-US" sz="2800" smtClean="0">
                <a:solidFill>
                  <a:schemeClr val="tx1"/>
                </a:solidFill>
                <a:latin typeface="黑体" pitchFamily="49" charset="-122"/>
              </a:rPr>
              <a:t>谓词的子查询</a:t>
            </a:r>
            <a:endParaRPr lang="zh-CN" altLang="en-US" sz="3200" smtClean="0">
              <a:solidFill>
                <a:schemeClr val="tx1"/>
              </a:solidFill>
              <a:latin typeface="黑体" pitchFamily="49" charset="-122"/>
            </a:endParaRPr>
          </a:p>
        </p:txBody>
      </p:sp>
      <p:sp>
        <p:nvSpPr>
          <p:cNvPr id="72"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p:cNvSpPr>
            <a:spLocks noGrp="1" noChangeArrowheads="1"/>
          </p:cNvSpPr>
          <p:nvPr>
            <p:ph type="body" idx="1"/>
          </p:nvPr>
        </p:nvSpPr>
        <p:spPr>
          <a:xfrm>
            <a:off x="900113" y="1989138"/>
            <a:ext cx="7848600" cy="4273550"/>
          </a:xfrm>
        </p:spPr>
        <p:txBody>
          <a:bodyPr/>
          <a:lstStyle/>
          <a:p>
            <a:pPr marL="609600" indent="-609600" eaLnBrk="1" hangingPunct="1">
              <a:lnSpc>
                <a:spcPct val="90000"/>
              </a:lnSpc>
              <a:buFont typeface="宋体" pitchFamily="2" charset="-122"/>
              <a:buNone/>
              <a:defRPr/>
            </a:pPr>
            <a:r>
              <a:rPr lang="en-US" altLang="zh-CN" sz="2400" dirty="0" smtClean="0">
                <a:latin typeface="黑体" pitchFamily="49" charset="-122"/>
                <a:ea typeface="黑体" pitchFamily="49" charset="-122"/>
              </a:rPr>
              <a:t>[</a:t>
            </a:r>
            <a:r>
              <a:rPr lang="zh-CN" altLang="en-US" sz="2400" dirty="0" smtClean="0">
                <a:latin typeface="黑体" pitchFamily="49" charset="-122"/>
                <a:ea typeface="黑体" pitchFamily="49" charset="-122"/>
              </a:rPr>
              <a:t>例</a:t>
            </a:r>
            <a:r>
              <a:rPr lang="en-US" altLang="zh-CN" sz="2400" dirty="0" smtClean="0">
                <a:latin typeface="黑体" pitchFamily="49" charset="-122"/>
                <a:ea typeface="黑体" pitchFamily="49" charset="-122"/>
              </a:rPr>
              <a:t>41']</a:t>
            </a:r>
            <a:r>
              <a:rPr lang="zh-CN" altLang="en-US" sz="2400" dirty="0" smtClean="0">
                <a:latin typeface="黑体" pitchFamily="49" charset="-122"/>
                <a:ea typeface="黑体" pitchFamily="49" charset="-122"/>
              </a:rPr>
              <a:t>：用集函数实现</a:t>
            </a:r>
            <a:r>
              <a:rPr lang="en-US" altLang="zh-CN" sz="2400" dirty="0" smtClean="0">
                <a:latin typeface="黑体" pitchFamily="49" charset="-122"/>
                <a:ea typeface="黑体" pitchFamily="49" charset="-122"/>
              </a:rPr>
              <a:t>[</a:t>
            </a:r>
            <a:r>
              <a:rPr lang="zh-CN" altLang="en-US" sz="2400" dirty="0" smtClean="0">
                <a:latin typeface="黑体" pitchFamily="49" charset="-122"/>
                <a:ea typeface="黑体" pitchFamily="49" charset="-122"/>
              </a:rPr>
              <a:t>例</a:t>
            </a:r>
            <a:r>
              <a:rPr lang="en-US" altLang="zh-CN" sz="2400" dirty="0" smtClean="0">
                <a:latin typeface="黑体" pitchFamily="49" charset="-122"/>
                <a:ea typeface="黑体" pitchFamily="49" charset="-122"/>
              </a:rPr>
              <a:t>41]</a:t>
            </a:r>
            <a:r>
              <a:rPr lang="en-US" altLang="zh-CN" sz="2400" dirty="0" smtClean="0"/>
              <a:t> </a:t>
            </a:r>
          </a:p>
          <a:p>
            <a:pPr marL="609600" indent="-609600" eaLnBrk="1" hangingPunct="1">
              <a:lnSpc>
                <a:spcPct val="90000"/>
              </a:lnSpc>
              <a:buFont typeface="宋体" pitchFamily="2" charset="-122"/>
              <a:buNone/>
              <a:defRPr/>
            </a:pPr>
            <a:r>
              <a:rPr lang="en-US" altLang="zh-CN" sz="2400" dirty="0" smtClean="0">
                <a:latin typeface="+mj-ea"/>
                <a:ea typeface="+mj-ea"/>
              </a:rPr>
              <a:t>     </a:t>
            </a:r>
          </a:p>
          <a:p>
            <a:pPr marL="609600" indent="-609600" eaLnBrk="1" hangingPunct="1">
              <a:lnSpc>
                <a:spcPct val="90000"/>
              </a:lnSpc>
              <a:spcBef>
                <a:spcPct val="60000"/>
              </a:spcBef>
              <a:buFont typeface="Wingdings" pitchFamily="2" charset="2"/>
              <a:buNone/>
              <a:defRPr/>
            </a:pPr>
            <a:r>
              <a:rPr lang="zh-CN" altLang="en-US" sz="2400" dirty="0" smtClean="0">
                <a:latin typeface="黑体" pitchFamily="49" charset="-122"/>
                <a:ea typeface="黑体" pitchFamily="49" charset="-122"/>
              </a:rPr>
              <a:t>      </a:t>
            </a:r>
            <a:r>
              <a:rPr lang="en-US" altLang="zh-CN" sz="2400" dirty="0" smtClean="0">
                <a:latin typeface="黑体" pitchFamily="49" charset="-122"/>
                <a:ea typeface="黑体" pitchFamily="49" charset="-122"/>
              </a:rPr>
              <a:t>SELECT </a:t>
            </a:r>
            <a:r>
              <a:rPr lang="zh-CN" altLang="en-US" sz="2400" dirty="0" smtClean="0">
                <a:latin typeface="黑体" pitchFamily="49" charset="-122"/>
                <a:ea typeface="黑体" pitchFamily="49" charset="-122"/>
              </a:rPr>
              <a:t>*</a:t>
            </a:r>
            <a:endParaRPr lang="en-US" altLang="zh-CN" sz="2400" dirty="0" smtClean="0">
              <a:latin typeface="黑体" pitchFamily="49" charset="-122"/>
              <a:ea typeface="黑体" pitchFamily="49" charset="-122"/>
            </a:endParaRPr>
          </a:p>
          <a:p>
            <a:pPr marL="609600" indent="-609600" eaLnBrk="1" hangingPunct="1">
              <a:lnSpc>
                <a:spcPct val="90000"/>
              </a:lnSpc>
              <a:buFont typeface="Wingdings" pitchFamily="2" charset="2"/>
              <a:buNone/>
              <a:defRPr/>
            </a:pPr>
            <a:r>
              <a:rPr lang="en-US" altLang="zh-CN" sz="2400" dirty="0" smtClean="0">
                <a:latin typeface="黑体" pitchFamily="49" charset="-122"/>
                <a:ea typeface="黑体" pitchFamily="49" charset="-122"/>
              </a:rPr>
              <a:t>      FROM   SC</a:t>
            </a:r>
          </a:p>
          <a:p>
            <a:pPr marL="609600" indent="-609600" eaLnBrk="1" hangingPunct="1">
              <a:lnSpc>
                <a:spcPct val="90000"/>
              </a:lnSpc>
              <a:buFont typeface="Wingdings" pitchFamily="2" charset="2"/>
              <a:buNone/>
              <a:defRPr/>
            </a:pPr>
            <a:r>
              <a:rPr lang="en-US" altLang="zh-CN" sz="2400" dirty="0" smtClean="0">
                <a:latin typeface="黑体" pitchFamily="49" charset="-122"/>
                <a:ea typeface="黑体" pitchFamily="49" charset="-122"/>
              </a:rPr>
              <a:t>      WHERE Grade &lt; (SELECT  MAX(Grade)</a:t>
            </a:r>
            <a:endParaRPr lang="en-US" altLang="zh-CN" sz="2400" dirty="0" smtClean="0">
              <a:solidFill>
                <a:srgbClr val="FF0000"/>
              </a:solidFill>
              <a:latin typeface="黑体" pitchFamily="49" charset="-122"/>
              <a:ea typeface="黑体" pitchFamily="49" charset="-122"/>
            </a:endParaRPr>
          </a:p>
          <a:p>
            <a:pPr marL="609600" indent="-609600" eaLnBrk="1" hangingPunct="1">
              <a:lnSpc>
                <a:spcPct val="90000"/>
              </a:lnSpc>
              <a:buFont typeface="Wingdings" pitchFamily="2" charset="2"/>
              <a:buNone/>
              <a:defRPr/>
            </a:pPr>
            <a:r>
              <a:rPr lang="en-US" altLang="zh-CN" sz="2400" dirty="0" smtClean="0">
                <a:latin typeface="黑体" pitchFamily="49" charset="-122"/>
                <a:ea typeface="黑体" pitchFamily="49" charset="-122"/>
              </a:rPr>
              <a:t>                     FROM SC</a:t>
            </a:r>
          </a:p>
          <a:p>
            <a:pPr marL="609600" indent="-609600" eaLnBrk="1" hangingPunct="1">
              <a:lnSpc>
                <a:spcPct val="90000"/>
              </a:lnSpc>
              <a:buFont typeface="Wingdings" pitchFamily="2" charset="2"/>
              <a:buNone/>
              <a:defRPr/>
            </a:pPr>
            <a:r>
              <a:rPr lang="en-US" altLang="zh-CN" sz="2400" dirty="0" smtClean="0">
                <a:latin typeface="黑体" pitchFamily="49" charset="-122"/>
                <a:ea typeface="黑体" pitchFamily="49" charset="-122"/>
              </a:rPr>
              <a:t>                     WHERE </a:t>
            </a:r>
            <a:r>
              <a:rPr lang="en-US" altLang="zh-CN" sz="2400" dirty="0" err="1" smtClean="0">
                <a:latin typeface="黑体" pitchFamily="49" charset="-122"/>
                <a:ea typeface="黑体" pitchFamily="49" charset="-122"/>
              </a:rPr>
              <a:t>Cno</a:t>
            </a:r>
            <a:r>
              <a:rPr lang="en-US" altLang="zh-CN" sz="2400" dirty="0" smtClean="0">
                <a:latin typeface="黑体" pitchFamily="49" charset="-122"/>
                <a:ea typeface="黑体" pitchFamily="49" charset="-122"/>
              </a:rPr>
              <a:t>= </a:t>
            </a:r>
            <a:r>
              <a:rPr lang="en-US" altLang="zh-CN" sz="2400" dirty="0" smtClean="0"/>
              <a:t>'006' </a:t>
            </a:r>
            <a:r>
              <a:rPr lang="en-US" altLang="zh-CN" sz="2400" dirty="0" smtClean="0">
                <a:latin typeface="黑体" pitchFamily="49" charset="-122"/>
                <a:ea typeface="黑体" pitchFamily="49" charset="-122"/>
              </a:rPr>
              <a:t>)</a:t>
            </a:r>
            <a:endParaRPr lang="en-US" altLang="zh-CN" sz="2400" dirty="0" smtClean="0">
              <a:latin typeface="+mj-ea"/>
              <a:ea typeface="+mj-ea"/>
            </a:endParaRPr>
          </a:p>
        </p:txBody>
      </p:sp>
      <p:sp>
        <p:nvSpPr>
          <p:cNvPr id="97283" name="Rectangle 2"/>
          <p:cNvSpPr>
            <a:spLocks noChangeArrowheads="1"/>
          </p:cNvSpPr>
          <p:nvPr>
            <p:ph type="title"/>
          </p:nvPr>
        </p:nvSpPr>
        <p:spPr>
          <a:xfrm>
            <a:off x="395288" y="981075"/>
            <a:ext cx="7793037" cy="792163"/>
          </a:xfrm>
        </p:spPr>
        <p:txBody>
          <a:bodyPr/>
          <a:lstStyle/>
          <a:p>
            <a:pPr eaLnBrk="1" hangingPunct="1"/>
            <a:r>
              <a:rPr lang="zh-CN" altLang="en-US" sz="2800" smtClean="0">
                <a:solidFill>
                  <a:schemeClr val="tx1"/>
                </a:solidFill>
                <a:latin typeface="黑体" pitchFamily="49" charset="-122"/>
              </a:rPr>
              <a:t>三、带有</a:t>
            </a:r>
            <a:r>
              <a:rPr lang="en-US" altLang="zh-CN" sz="2800" smtClean="0">
                <a:solidFill>
                  <a:schemeClr val="tx1"/>
                </a:solidFill>
                <a:latin typeface="黑体" pitchFamily="49" charset="-122"/>
              </a:rPr>
              <a:t>ANY</a:t>
            </a:r>
            <a:r>
              <a:rPr lang="zh-CN" altLang="en-US" sz="2800" smtClean="0">
                <a:solidFill>
                  <a:schemeClr val="tx1"/>
                </a:solidFill>
                <a:latin typeface="黑体" pitchFamily="49" charset="-122"/>
              </a:rPr>
              <a:t>或</a:t>
            </a:r>
            <a:r>
              <a:rPr lang="en-US" altLang="zh-CN" sz="2800" smtClean="0">
                <a:solidFill>
                  <a:schemeClr val="tx1"/>
                </a:solidFill>
                <a:latin typeface="黑体" pitchFamily="49" charset="-122"/>
              </a:rPr>
              <a:t>ALL</a:t>
            </a:r>
            <a:r>
              <a:rPr lang="zh-CN" altLang="en-US" sz="2800" smtClean="0">
                <a:solidFill>
                  <a:schemeClr val="tx1"/>
                </a:solidFill>
                <a:latin typeface="黑体" pitchFamily="49" charset="-122"/>
              </a:rPr>
              <a:t>谓词的子查询</a:t>
            </a:r>
            <a:endParaRPr lang="zh-CN" altLang="en-US" sz="3200" smtClean="0">
              <a:solidFill>
                <a:schemeClr val="tx1"/>
              </a:solidFill>
              <a:latin typeface="黑体" pitchFamily="49" charset="-122"/>
            </a:endParaRPr>
          </a:p>
        </p:txBody>
      </p:sp>
      <p:sp>
        <p:nvSpPr>
          <p:cNvPr id="6"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ChangeArrowheads="1"/>
          </p:cNvSpPr>
          <p:nvPr>
            <p:ph type="title"/>
          </p:nvPr>
        </p:nvSpPr>
        <p:spPr>
          <a:xfrm>
            <a:off x="611188" y="908050"/>
            <a:ext cx="7793037" cy="1143000"/>
          </a:xfrm>
        </p:spPr>
        <p:txBody>
          <a:bodyPr/>
          <a:lstStyle/>
          <a:p>
            <a:pPr eaLnBrk="1" hangingPunct="1"/>
            <a:r>
              <a:rPr lang="zh-CN" altLang="en-US" sz="2800" smtClean="0">
                <a:solidFill>
                  <a:schemeClr val="tx1"/>
                </a:solidFill>
              </a:rPr>
              <a:t>四、带有</a:t>
            </a:r>
            <a:r>
              <a:rPr lang="en-US" altLang="zh-CN" sz="2800" smtClean="0">
                <a:solidFill>
                  <a:schemeClr val="tx1"/>
                </a:solidFill>
              </a:rPr>
              <a:t>EXISTS</a:t>
            </a:r>
            <a:r>
              <a:rPr lang="zh-CN" altLang="en-US" sz="2800" smtClean="0">
                <a:solidFill>
                  <a:schemeClr val="tx1"/>
                </a:solidFill>
              </a:rPr>
              <a:t>谓词的子查询</a:t>
            </a:r>
          </a:p>
        </p:txBody>
      </p:sp>
      <p:sp>
        <p:nvSpPr>
          <p:cNvPr id="52227" name="Rectangle 3"/>
          <p:cNvSpPr>
            <a:spLocks noChangeArrowheads="1"/>
          </p:cNvSpPr>
          <p:nvPr>
            <p:ph type="body" idx="1"/>
          </p:nvPr>
        </p:nvSpPr>
        <p:spPr>
          <a:xfrm>
            <a:off x="539750" y="1916113"/>
            <a:ext cx="8064500" cy="4332287"/>
          </a:xfrm>
        </p:spPr>
        <p:txBody>
          <a:bodyPr/>
          <a:lstStyle/>
          <a:p>
            <a:pPr eaLnBrk="1" hangingPunct="1"/>
            <a:r>
              <a:rPr lang="zh-CN" altLang="zh-CN" sz="2400" smtClean="0">
                <a:latin typeface="黑体" pitchFamily="49" charset="-122"/>
                <a:ea typeface="黑体" pitchFamily="49" charset="-122"/>
              </a:rPr>
              <a:t>EXISTS</a:t>
            </a:r>
            <a:r>
              <a:rPr lang="zh-CN" altLang="en-US" sz="2400" smtClean="0">
                <a:latin typeface="黑体" pitchFamily="49" charset="-122"/>
                <a:ea typeface="黑体" pitchFamily="49" charset="-122"/>
              </a:rPr>
              <a:t>谓词</a:t>
            </a:r>
          </a:p>
          <a:p>
            <a:pPr lvl="1" eaLnBrk="1" hangingPunct="1">
              <a:lnSpc>
                <a:spcPct val="125000"/>
              </a:lnSpc>
            </a:pPr>
            <a:r>
              <a:rPr lang="zh-CN" altLang="en-US" sz="2400" smtClean="0">
                <a:latin typeface="黑体" pitchFamily="49" charset="-122"/>
                <a:ea typeface="黑体" pitchFamily="49" charset="-122"/>
              </a:rPr>
              <a:t>带有</a:t>
            </a:r>
            <a:r>
              <a:rPr lang="zh-CN" altLang="zh-CN" sz="2400" smtClean="0">
                <a:latin typeface="黑体" pitchFamily="49" charset="-122"/>
                <a:ea typeface="黑体" pitchFamily="49" charset="-122"/>
              </a:rPr>
              <a:t>EXISTS</a:t>
            </a:r>
            <a:r>
              <a:rPr lang="zh-CN" altLang="en-US" sz="2400" smtClean="0">
                <a:latin typeface="黑体" pitchFamily="49" charset="-122"/>
                <a:ea typeface="黑体" pitchFamily="49" charset="-122"/>
              </a:rPr>
              <a:t>谓词的查询中，子查询不返回任何数据，只产生逻辑真值</a:t>
            </a:r>
            <a:r>
              <a:rPr lang="zh-CN" altLang="en-US" sz="2400" smtClean="0">
                <a:ea typeface="黑体" pitchFamily="49" charset="-122"/>
              </a:rPr>
              <a:t>“</a:t>
            </a:r>
            <a:r>
              <a:rPr lang="en-US" altLang="zh-CN" sz="2400" smtClean="0">
                <a:latin typeface="黑体" pitchFamily="49" charset="-122"/>
                <a:ea typeface="黑体" pitchFamily="49" charset="-122"/>
              </a:rPr>
              <a:t>T</a:t>
            </a:r>
            <a:r>
              <a:rPr lang="zh-CN" altLang="zh-CN" sz="2400" smtClean="0">
                <a:latin typeface="黑体" pitchFamily="49" charset="-122"/>
                <a:ea typeface="黑体" pitchFamily="49" charset="-122"/>
              </a:rPr>
              <a:t>rue</a:t>
            </a:r>
            <a:r>
              <a:rPr lang="zh-CN" altLang="zh-CN" sz="2400" smtClean="0">
                <a:ea typeface="黑体" pitchFamily="49" charset="-122"/>
              </a:rPr>
              <a:t>”</a:t>
            </a:r>
            <a:r>
              <a:rPr lang="zh-CN" altLang="en-US" sz="2400" smtClean="0">
                <a:latin typeface="黑体" pitchFamily="49" charset="-122"/>
                <a:ea typeface="黑体" pitchFamily="49" charset="-122"/>
              </a:rPr>
              <a:t>或逻辑假值</a:t>
            </a:r>
            <a:r>
              <a:rPr lang="zh-CN" altLang="en-US" sz="2400" smtClean="0">
                <a:ea typeface="黑体" pitchFamily="49" charset="-122"/>
              </a:rPr>
              <a:t>“</a:t>
            </a:r>
            <a:r>
              <a:rPr lang="en-US" altLang="zh-CN" sz="2400" smtClean="0">
                <a:latin typeface="黑体" pitchFamily="49" charset="-122"/>
                <a:ea typeface="黑体" pitchFamily="49" charset="-122"/>
              </a:rPr>
              <a:t>F</a:t>
            </a:r>
            <a:r>
              <a:rPr lang="zh-CN" altLang="zh-CN" sz="2400" smtClean="0">
                <a:latin typeface="黑体" pitchFamily="49" charset="-122"/>
                <a:ea typeface="黑体" pitchFamily="49" charset="-122"/>
              </a:rPr>
              <a:t>alse</a:t>
            </a:r>
            <a:r>
              <a:rPr lang="zh-CN" altLang="zh-CN" sz="2400" smtClean="0">
                <a:ea typeface="黑体" pitchFamily="49" charset="-122"/>
              </a:rPr>
              <a:t>”</a:t>
            </a:r>
            <a:r>
              <a:rPr lang="zh-CN" altLang="en-US" sz="2400" smtClean="0">
                <a:latin typeface="黑体" pitchFamily="49" charset="-122"/>
                <a:ea typeface="黑体" pitchFamily="49" charset="-122"/>
              </a:rPr>
              <a:t>。</a:t>
            </a:r>
          </a:p>
          <a:p>
            <a:pPr lvl="2" eaLnBrk="1" hangingPunct="1">
              <a:lnSpc>
                <a:spcPct val="125000"/>
              </a:lnSpc>
            </a:pPr>
            <a:r>
              <a:rPr lang="zh-CN" altLang="en-US" smtClean="0">
                <a:latin typeface="黑体" pitchFamily="49" charset="-122"/>
                <a:ea typeface="黑体" pitchFamily="49" charset="-122"/>
              </a:rPr>
              <a:t>若内层查询结果非空，则返回真值</a:t>
            </a:r>
          </a:p>
          <a:p>
            <a:pPr lvl="2" eaLnBrk="1" hangingPunct="1">
              <a:lnSpc>
                <a:spcPct val="125000"/>
              </a:lnSpc>
            </a:pPr>
            <a:r>
              <a:rPr lang="zh-CN" altLang="en-US" smtClean="0">
                <a:latin typeface="黑体" pitchFamily="49" charset="-122"/>
                <a:ea typeface="黑体" pitchFamily="49" charset="-122"/>
              </a:rPr>
              <a:t>若内层查询结果为空，则返回假值</a:t>
            </a:r>
          </a:p>
          <a:p>
            <a:pPr lvl="1" eaLnBrk="1" hangingPunct="1">
              <a:lnSpc>
                <a:spcPct val="125000"/>
              </a:lnSpc>
            </a:pPr>
            <a:r>
              <a:rPr lang="zh-CN" altLang="en-US" sz="2400" smtClean="0">
                <a:latin typeface="黑体" pitchFamily="49" charset="-122"/>
                <a:ea typeface="黑体" pitchFamily="49" charset="-122"/>
              </a:rPr>
              <a:t>由</a:t>
            </a:r>
            <a:r>
              <a:rPr lang="zh-CN" altLang="zh-CN" sz="2400" smtClean="0">
                <a:latin typeface="黑体" pitchFamily="49" charset="-122"/>
                <a:ea typeface="黑体" pitchFamily="49" charset="-122"/>
              </a:rPr>
              <a:t>EXISTS</a:t>
            </a:r>
            <a:r>
              <a:rPr lang="zh-CN" altLang="en-US" sz="2400" smtClean="0">
                <a:latin typeface="黑体" pitchFamily="49" charset="-122"/>
                <a:ea typeface="黑体" pitchFamily="49" charset="-122"/>
              </a:rPr>
              <a:t>引出的子查询，其目标列表达式通常都用</a:t>
            </a:r>
            <a:r>
              <a:rPr lang="zh-CN" altLang="en-US" sz="2400" smtClean="0">
                <a:ea typeface="黑体" pitchFamily="49" charset="-122"/>
              </a:rPr>
              <a:t>“</a:t>
            </a:r>
            <a:r>
              <a:rPr lang="zh-CN" altLang="en-US" sz="2400" smtClean="0">
                <a:latin typeface="黑体" pitchFamily="49" charset="-122"/>
                <a:ea typeface="黑体" pitchFamily="49" charset="-122"/>
              </a:rPr>
              <a:t> * </a:t>
            </a:r>
            <a:r>
              <a:rPr lang="zh-CN" altLang="en-US" sz="2400" smtClean="0">
                <a:ea typeface="黑体" pitchFamily="49" charset="-122"/>
              </a:rPr>
              <a:t>”</a:t>
            </a:r>
            <a:r>
              <a:rPr lang="zh-CN" altLang="en-US" sz="2400" smtClean="0">
                <a:latin typeface="黑体" pitchFamily="49" charset="-122"/>
                <a:ea typeface="黑体" pitchFamily="49" charset="-122"/>
              </a:rPr>
              <a:t>，因为带</a:t>
            </a:r>
            <a:r>
              <a:rPr lang="zh-CN" altLang="zh-CN" sz="2400" smtClean="0">
                <a:latin typeface="黑体" pitchFamily="49" charset="-122"/>
                <a:ea typeface="黑体" pitchFamily="49" charset="-122"/>
              </a:rPr>
              <a:t>EXISTS</a:t>
            </a:r>
            <a:r>
              <a:rPr lang="zh-CN" altLang="en-US" sz="2400" smtClean="0">
                <a:latin typeface="黑体" pitchFamily="49" charset="-122"/>
                <a:ea typeface="黑体" pitchFamily="49" charset="-122"/>
              </a:rPr>
              <a:t>的子查询只返回真值或假值，给出列名无实际意义</a:t>
            </a:r>
          </a:p>
        </p:txBody>
      </p:sp>
      <p:sp>
        <p:nvSpPr>
          <p:cNvPr id="5"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2227">
                                            <p:txEl>
                                              <p:pRg st="4" end="4"/>
                                            </p:txEl>
                                          </p:spTgt>
                                        </p:tgtEl>
                                        <p:attrNameLst>
                                          <p:attrName>style.visibility</p:attrName>
                                        </p:attrNameLst>
                                      </p:cBhvr>
                                      <p:to>
                                        <p:strVal val="visible"/>
                                      </p:to>
                                    </p:set>
                                    <p:anim calcmode="lin" valueType="num">
                                      <p:cBhvr additive="base">
                                        <p:cTn id="7" dur="500" fill="hold"/>
                                        <p:tgtEl>
                                          <p:spTgt spid="52227">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22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type="body" idx="1"/>
          </p:nvPr>
        </p:nvSpPr>
        <p:spPr>
          <a:xfrm>
            <a:off x="555625" y="2133600"/>
            <a:ext cx="8064500" cy="4319588"/>
          </a:xfrm>
        </p:spPr>
        <p:txBody>
          <a:bodyPr/>
          <a:lstStyle/>
          <a:p>
            <a:pPr marL="0" indent="0" eaLnBrk="1" hangingPunct="1">
              <a:lnSpc>
                <a:spcPct val="110000"/>
              </a:lnSpc>
              <a:spcBef>
                <a:spcPct val="10000"/>
              </a:spcBef>
              <a:buFont typeface="宋体" pitchFamily="2" charset="-122"/>
              <a:buNone/>
              <a:defRPr/>
            </a:pPr>
            <a:r>
              <a:rPr lang="en-US" altLang="zh-CN" sz="2400" dirty="0" smtClean="0">
                <a:latin typeface="黑体" pitchFamily="49" charset="-122"/>
                <a:ea typeface="黑体" pitchFamily="49" charset="-122"/>
              </a:rPr>
              <a:t>[</a:t>
            </a:r>
            <a:r>
              <a:rPr lang="zh-CN" altLang="en-US" sz="2400" dirty="0" smtClean="0">
                <a:latin typeface="黑体" pitchFamily="49" charset="-122"/>
                <a:ea typeface="黑体" pitchFamily="49" charset="-122"/>
              </a:rPr>
              <a:t>例</a:t>
            </a:r>
            <a:r>
              <a:rPr lang="en-US" altLang="zh-CN" sz="2400" dirty="0" smtClean="0">
                <a:latin typeface="黑体" pitchFamily="49" charset="-122"/>
                <a:ea typeface="黑体" pitchFamily="49" charset="-122"/>
              </a:rPr>
              <a:t>41] </a:t>
            </a:r>
            <a:r>
              <a:rPr lang="zh-CN" altLang="en-US" sz="2400" dirty="0" smtClean="0">
                <a:latin typeface="黑体" pitchFamily="49" charset="-122"/>
                <a:ea typeface="黑体" pitchFamily="49" charset="-122"/>
              </a:rPr>
              <a:t>查询选修了</a:t>
            </a:r>
            <a:r>
              <a:rPr lang="en-US" altLang="zh-CN" sz="2400" dirty="0" smtClean="0">
                <a:latin typeface="黑体" pitchFamily="49" charset="-122"/>
                <a:ea typeface="黑体" pitchFamily="49" charset="-122"/>
              </a:rPr>
              <a:t>001</a:t>
            </a:r>
            <a:r>
              <a:rPr lang="zh-CN" altLang="en-US" sz="2400" dirty="0" smtClean="0">
                <a:latin typeface="黑体" pitchFamily="49" charset="-122"/>
                <a:ea typeface="黑体" pitchFamily="49" charset="-122"/>
              </a:rPr>
              <a:t>号课程的学生姓名。</a:t>
            </a:r>
          </a:p>
          <a:p>
            <a:pPr eaLnBrk="1" hangingPunct="1">
              <a:lnSpc>
                <a:spcPct val="110000"/>
              </a:lnSpc>
              <a:spcBef>
                <a:spcPct val="10000"/>
              </a:spcBef>
              <a:buFont typeface="宋体" pitchFamily="2" charset="-122"/>
              <a:buNone/>
              <a:defRPr/>
            </a:pPr>
            <a:endParaRPr lang="zh-CN" altLang="en-US" sz="2400" dirty="0" smtClean="0">
              <a:latin typeface="黑体" pitchFamily="49" charset="-122"/>
              <a:ea typeface="黑体" pitchFamily="49" charset="-122"/>
            </a:endParaRPr>
          </a:p>
          <a:p>
            <a:pPr eaLnBrk="1" hangingPunct="1">
              <a:lnSpc>
                <a:spcPct val="110000"/>
              </a:lnSpc>
              <a:spcBef>
                <a:spcPct val="10000"/>
              </a:spcBef>
              <a:buFont typeface="宋体" pitchFamily="2" charset="-122"/>
              <a:buNone/>
              <a:defRPr/>
            </a:pPr>
            <a:r>
              <a:rPr lang="zh-CN" altLang="en-US" sz="2400" dirty="0" smtClean="0">
                <a:latin typeface="黑体" pitchFamily="49" charset="-122"/>
                <a:ea typeface="黑体" pitchFamily="49" charset="-122"/>
              </a:rPr>
              <a:t> 思路分析：</a:t>
            </a:r>
          </a:p>
          <a:p>
            <a:pPr lvl="1" eaLnBrk="1" hangingPunct="1">
              <a:lnSpc>
                <a:spcPct val="110000"/>
              </a:lnSpc>
              <a:spcBef>
                <a:spcPct val="10000"/>
              </a:spcBef>
              <a:buSzPct val="50000"/>
              <a:buFont typeface="宋体" pitchFamily="2" charset="-122"/>
              <a:buChar char="●"/>
              <a:defRPr/>
            </a:pPr>
            <a:r>
              <a:rPr lang="zh-CN" altLang="en-US" sz="2400" dirty="0" smtClean="0">
                <a:latin typeface="黑体" pitchFamily="49" charset="-122"/>
                <a:ea typeface="黑体" pitchFamily="49" charset="-122"/>
              </a:rPr>
              <a:t> 本查询涉及</a:t>
            </a:r>
            <a:r>
              <a:rPr lang="en-US" altLang="zh-CN" sz="2400" dirty="0" smtClean="0">
                <a:latin typeface="黑体" pitchFamily="49" charset="-122"/>
                <a:ea typeface="黑体" pitchFamily="49" charset="-122"/>
              </a:rPr>
              <a:t>S</a:t>
            </a:r>
            <a:r>
              <a:rPr lang="zh-CN" altLang="en-US" sz="2400" dirty="0" smtClean="0">
                <a:latin typeface="黑体" pitchFamily="49" charset="-122"/>
                <a:ea typeface="黑体" pitchFamily="49" charset="-122"/>
              </a:rPr>
              <a:t>和</a:t>
            </a:r>
            <a:r>
              <a:rPr lang="en-US" altLang="zh-CN" sz="2400" dirty="0" smtClean="0">
                <a:latin typeface="黑体" pitchFamily="49" charset="-122"/>
                <a:ea typeface="黑体" pitchFamily="49" charset="-122"/>
              </a:rPr>
              <a:t>SC</a:t>
            </a:r>
            <a:r>
              <a:rPr lang="zh-CN" altLang="en-US" sz="2400" dirty="0" smtClean="0">
                <a:latin typeface="黑体" pitchFamily="49" charset="-122"/>
                <a:ea typeface="黑体" pitchFamily="49" charset="-122"/>
              </a:rPr>
              <a:t>关系。</a:t>
            </a:r>
          </a:p>
          <a:p>
            <a:pPr lvl="1" eaLnBrk="1" hangingPunct="1">
              <a:lnSpc>
                <a:spcPct val="110000"/>
              </a:lnSpc>
              <a:spcBef>
                <a:spcPct val="10000"/>
              </a:spcBef>
              <a:buSzPct val="50000"/>
              <a:buFont typeface="宋体" pitchFamily="2" charset="-122"/>
              <a:buChar char="●"/>
              <a:defRPr/>
            </a:pPr>
            <a:r>
              <a:rPr lang="zh-CN" altLang="en-US" sz="2400" dirty="0" smtClean="0">
                <a:latin typeface="黑体" pitchFamily="49" charset="-122"/>
                <a:ea typeface="黑体" pitchFamily="49" charset="-122"/>
              </a:rPr>
              <a:t> 在</a:t>
            </a:r>
            <a:r>
              <a:rPr lang="en-US" altLang="zh-CN" sz="2400" dirty="0" smtClean="0">
                <a:latin typeface="黑体" pitchFamily="49" charset="-122"/>
                <a:ea typeface="黑体" pitchFamily="49" charset="-122"/>
              </a:rPr>
              <a:t>S</a:t>
            </a:r>
            <a:r>
              <a:rPr lang="zh-CN" altLang="en-US" sz="2400" dirty="0" smtClean="0">
                <a:latin typeface="黑体" pitchFamily="49" charset="-122"/>
                <a:ea typeface="黑体" pitchFamily="49" charset="-122"/>
              </a:rPr>
              <a:t>中依次取每个元组的值，用此值去检查</a:t>
            </a:r>
            <a:r>
              <a:rPr lang="en-US" altLang="zh-CN" sz="2400" dirty="0" smtClean="0">
                <a:latin typeface="黑体" pitchFamily="49" charset="-122"/>
                <a:ea typeface="黑体" pitchFamily="49" charset="-122"/>
              </a:rPr>
              <a:t>SC</a:t>
            </a:r>
            <a:r>
              <a:rPr lang="zh-CN" altLang="en-US" sz="2400" dirty="0" smtClean="0">
                <a:latin typeface="黑体" pitchFamily="49" charset="-122"/>
                <a:ea typeface="黑体" pitchFamily="49" charset="-122"/>
              </a:rPr>
              <a:t>关系。</a:t>
            </a:r>
          </a:p>
          <a:p>
            <a:pPr lvl="1" eaLnBrk="1" hangingPunct="1">
              <a:lnSpc>
                <a:spcPct val="110000"/>
              </a:lnSpc>
              <a:spcBef>
                <a:spcPct val="10000"/>
              </a:spcBef>
              <a:buSzPct val="50000"/>
              <a:buFont typeface="宋体" pitchFamily="2" charset="-122"/>
              <a:buChar char="●"/>
              <a:defRPr/>
            </a:pPr>
            <a:r>
              <a:rPr lang="zh-CN" altLang="en-US" sz="2400" dirty="0" smtClean="0">
                <a:latin typeface="黑体" pitchFamily="49" charset="-122"/>
                <a:ea typeface="黑体" pitchFamily="49" charset="-122"/>
              </a:rPr>
              <a:t> 若</a:t>
            </a:r>
            <a:r>
              <a:rPr lang="en-US" altLang="zh-CN" sz="2400" dirty="0" smtClean="0">
                <a:latin typeface="黑体" pitchFamily="49" charset="-122"/>
                <a:ea typeface="黑体" pitchFamily="49" charset="-122"/>
              </a:rPr>
              <a:t>SC</a:t>
            </a:r>
            <a:r>
              <a:rPr lang="zh-CN" altLang="en-US" sz="2400" dirty="0" smtClean="0">
                <a:latin typeface="黑体" pitchFamily="49" charset="-122"/>
                <a:ea typeface="黑体" pitchFamily="49" charset="-122"/>
              </a:rPr>
              <a:t>中存在这样的元组，其</a:t>
            </a:r>
            <a:r>
              <a:rPr lang="en-US" altLang="zh-CN" sz="2400" dirty="0" err="1" smtClean="0">
                <a:latin typeface="黑体" pitchFamily="49" charset="-122"/>
                <a:ea typeface="黑体" pitchFamily="49" charset="-122"/>
              </a:rPr>
              <a:t>Sno</a:t>
            </a:r>
            <a:r>
              <a:rPr lang="zh-CN" altLang="en-US" sz="2400" dirty="0" smtClean="0">
                <a:latin typeface="黑体" pitchFamily="49" charset="-122"/>
                <a:ea typeface="黑体" pitchFamily="49" charset="-122"/>
              </a:rPr>
              <a:t>值等于此</a:t>
            </a:r>
            <a:r>
              <a:rPr lang="en-US" altLang="zh-CN" sz="2400" dirty="0" err="1" smtClean="0">
                <a:latin typeface="黑体" pitchFamily="49" charset="-122"/>
                <a:ea typeface="黑体" pitchFamily="49" charset="-122"/>
              </a:rPr>
              <a:t>S.Sno</a:t>
            </a:r>
            <a:r>
              <a:rPr lang="zh-CN" altLang="en-US" sz="2400" dirty="0" smtClean="0">
                <a:latin typeface="黑体" pitchFamily="49" charset="-122"/>
                <a:ea typeface="黑体" pitchFamily="49" charset="-122"/>
              </a:rPr>
              <a:t>值，并且其</a:t>
            </a:r>
            <a:r>
              <a:rPr lang="en-US" altLang="zh-CN" sz="2400" dirty="0" err="1" smtClean="0">
                <a:latin typeface="黑体" pitchFamily="49" charset="-122"/>
                <a:ea typeface="黑体" pitchFamily="49" charset="-122"/>
              </a:rPr>
              <a:t>Cno</a:t>
            </a:r>
            <a:r>
              <a:rPr lang="en-US" altLang="zh-CN" sz="2400" dirty="0" smtClean="0">
                <a:latin typeface="黑体" pitchFamily="49" charset="-122"/>
                <a:ea typeface="黑体" pitchFamily="49" charset="-122"/>
              </a:rPr>
              <a:t>= </a:t>
            </a:r>
            <a:r>
              <a:rPr lang="en-US" altLang="zh-CN" sz="2400" dirty="0" smtClean="0">
                <a:ea typeface="黑体" pitchFamily="49" charset="-122"/>
              </a:rPr>
              <a:t>‘</a:t>
            </a:r>
            <a:r>
              <a:rPr lang="en-US" altLang="zh-CN" sz="2400" dirty="0" smtClean="0">
                <a:latin typeface="黑体" pitchFamily="49" charset="-122"/>
                <a:ea typeface="黑体" pitchFamily="49" charset="-122"/>
              </a:rPr>
              <a:t>001'</a:t>
            </a:r>
            <a:r>
              <a:rPr lang="zh-CN" altLang="en-US" sz="2400" dirty="0" smtClean="0">
                <a:latin typeface="黑体" pitchFamily="49" charset="-122"/>
                <a:ea typeface="黑体" pitchFamily="49" charset="-122"/>
              </a:rPr>
              <a:t>，则取此</a:t>
            </a:r>
            <a:r>
              <a:rPr lang="en-US" altLang="zh-CN" sz="2400" dirty="0" err="1" smtClean="0">
                <a:latin typeface="黑体" pitchFamily="49" charset="-122"/>
                <a:ea typeface="黑体" pitchFamily="49" charset="-122"/>
              </a:rPr>
              <a:t>S.Sname</a:t>
            </a:r>
            <a:r>
              <a:rPr lang="zh-CN" altLang="en-US" sz="2400" dirty="0" smtClean="0">
                <a:latin typeface="黑体" pitchFamily="49" charset="-122"/>
                <a:ea typeface="黑体" pitchFamily="49" charset="-122"/>
              </a:rPr>
              <a:t>送入结果关系。</a:t>
            </a:r>
          </a:p>
        </p:txBody>
      </p:sp>
      <p:sp>
        <p:nvSpPr>
          <p:cNvPr id="99331" name="Rectangle 2"/>
          <p:cNvSpPr>
            <a:spLocks noChangeArrowheads="1"/>
          </p:cNvSpPr>
          <p:nvPr>
            <p:ph type="title"/>
          </p:nvPr>
        </p:nvSpPr>
        <p:spPr>
          <a:xfrm>
            <a:off x="611188" y="908050"/>
            <a:ext cx="7793037" cy="1143000"/>
          </a:xfrm>
        </p:spPr>
        <p:txBody>
          <a:bodyPr/>
          <a:lstStyle/>
          <a:p>
            <a:pPr eaLnBrk="1" hangingPunct="1"/>
            <a:r>
              <a:rPr lang="zh-CN" altLang="en-US" sz="2800" smtClean="0">
                <a:solidFill>
                  <a:schemeClr val="tx1"/>
                </a:solidFill>
              </a:rPr>
              <a:t>四、带有</a:t>
            </a:r>
            <a:r>
              <a:rPr lang="en-US" altLang="zh-CN" sz="2800" smtClean="0">
                <a:solidFill>
                  <a:schemeClr val="tx1"/>
                </a:solidFill>
              </a:rPr>
              <a:t>EXISTS</a:t>
            </a:r>
            <a:r>
              <a:rPr lang="zh-CN" altLang="en-US" sz="2800" smtClean="0">
                <a:solidFill>
                  <a:schemeClr val="tx1"/>
                </a:solidFill>
              </a:rPr>
              <a:t>谓词的子查询</a:t>
            </a:r>
          </a:p>
        </p:txBody>
      </p:sp>
      <p:sp>
        <p:nvSpPr>
          <p:cNvPr id="6"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 calcmode="lin" valueType="num">
                                      <p:cBhvr additive="base">
                                        <p:cTn id="7" dur="500" fill="hold"/>
                                        <p:tgtEl>
                                          <p:spTgt spid="532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2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3251">
                                            <p:txEl>
                                              <p:pRg st="2" end="2"/>
                                            </p:txEl>
                                          </p:spTgt>
                                        </p:tgtEl>
                                        <p:attrNameLst>
                                          <p:attrName>style.visibility</p:attrName>
                                        </p:attrNameLst>
                                      </p:cBhvr>
                                      <p:to>
                                        <p:strVal val="visible"/>
                                      </p:to>
                                    </p:set>
                                    <p:anim calcmode="lin" valueType="num">
                                      <p:cBhvr additive="base">
                                        <p:cTn id="13" dur="500" fill="hold"/>
                                        <p:tgtEl>
                                          <p:spTgt spid="5325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3251">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3251">
                                            <p:txEl>
                                              <p:pRg st="3" end="3"/>
                                            </p:txEl>
                                          </p:spTgt>
                                        </p:tgtEl>
                                        <p:attrNameLst>
                                          <p:attrName>style.visibility</p:attrName>
                                        </p:attrNameLst>
                                      </p:cBhvr>
                                      <p:to>
                                        <p:strVal val="visible"/>
                                      </p:to>
                                    </p:set>
                                    <p:anim calcmode="lin" valueType="num">
                                      <p:cBhvr additive="base">
                                        <p:cTn id="17" dur="500" fill="hold"/>
                                        <p:tgtEl>
                                          <p:spTgt spid="53251">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3251">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3251">
                                            <p:txEl>
                                              <p:pRg st="4" end="4"/>
                                            </p:txEl>
                                          </p:spTgt>
                                        </p:tgtEl>
                                        <p:attrNameLst>
                                          <p:attrName>style.visibility</p:attrName>
                                        </p:attrNameLst>
                                      </p:cBhvr>
                                      <p:to>
                                        <p:strVal val="visible"/>
                                      </p:to>
                                    </p:set>
                                    <p:anim calcmode="lin" valueType="num">
                                      <p:cBhvr additive="base">
                                        <p:cTn id="21" dur="500" fill="hold"/>
                                        <p:tgtEl>
                                          <p:spTgt spid="53251">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3251">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3251">
                                            <p:txEl>
                                              <p:pRg st="5" end="5"/>
                                            </p:txEl>
                                          </p:spTgt>
                                        </p:tgtEl>
                                        <p:attrNameLst>
                                          <p:attrName>style.visibility</p:attrName>
                                        </p:attrNameLst>
                                      </p:cBhvr>
                                      <p:to>
                                        <p:strVal val="visible"/>
                                      </p:to>
                                    </p:set>
                                    <p:anim calcmode="lin" valueType="num">
                                      <p:cBhvr additive="base">
                                        <p:cTn id="25" dur="500" fill="hold"/>
                                        <p:tgtEl>
                                          <p:spTgt spid="53251">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325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4274" name="Group 2"/>
          <p:cNvGraphicFramePr>
            <a:graphicFrameLocks noGrp="1"/>
          </p:cNvGraphicFramePr>
          <p:nvPr>
            <p:ph sz="half" idx="1"/>
          </p:nvPr>
        </p:nvGraphicFramePr>
        <p:xfrm>
          <a:off x="539750" y="908050"/>
          <a:ext cx="4003675" cy="4032250"/>
        </p:xfrm>
        <a:graphic>
          <a:graphicData uri="http://schemas.openxmlformats.org/drawingml/2006/table">
            <a:tbl>
              <a:tblPr/>
              <a:tblGrid>
                <a:gridCol w="792049"/>
                <a:gridCol w="720044"/>
                <a:gridCol w="504031"/>
                <a:gridCol w="1008062"/>
                <a:gridCol w="979489"/>
              </a:tblGrid>
              <a:tr h="403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600" b="0" i="0" u="none" strike="noStrike" cap="none" normalizeH="0" baseline="0" dirty="0" smtClean="0">
                        <a:ln>
                          <a:noFill/>
                        </a:ln>
                        <a:solidFill>
                          <a:schemeClr val="tx1"/>
                        </a:solidFill>
                        <a:effectLst/>
                        <a:latin typeface="Times New Roman" pitchFamily="18" charset="0"/>
                        <a:ea typeface="宋体" pitchFamily="2" charset="-122"/>
                      </a:endParaRP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Sname</a:t>
                      </a:r>
                      <a:endParaRPr kumimoji="0" lang="en-US" altLang="zh-CN" sz="16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Ssex</a:t>
                      </a:r>
                      <a:endParaRPr kumimoji="0" lang="en-US" altLang="zh-CN" sz="16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Sbirth</a:t>
                      </a:r>
                      <a:endParaRPr kumimoji="0" lang="en-US" altLang="zh-CN" sz="1600" b="0" i="0" u="none" strike="noStrike" cap="none" normalizeH="0" baseline="0" dirty="0" smtClean="0">
                        <a:ln>
                          <a:noFill/>
                        </a:ln>
                        <a:solidFill>
                          <a:schemeClr val="tx1"/>
                        </a:solidFill>
                        <a:effectLst/>
                        <a:latin typeface="Times New Roman" pitchFamily="18" charset="0"/>
                        <a:ea typeface="宋体" pitchFamily="2" charset="-122"/>
                      </a:endParaRP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College</a:t>
                      </a:r>
                      <a:endParaRPr kumimoji="0" lang="en-US" altLang="zh-CN" sz="1600" b="0" i="0" u="none" strike="noStrike" cap="none" normalizeH="0" baseline="0" dirty="0" smtClean="0">
                        <a:ln>
                          <a:noFill/>
                        </a:ln>
                        <a:solidFill>
                          <a:schemeClr val="tx1"/>
                        </a:solidFill>
                        <a:effectLst/>
                        <a:latin typeface="Times New Roman" pitchFamily="18" charset="0"/>
                        <a:ea typeface="宋体" pitchFamily="2" charset="-122"/>
                      </a:endParaRP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r>
              <a:tr h="403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孙天</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男</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1500" b="0" i="0" u="none" strike="noStrike" dirty="0" smtClean="0">
                          <a:effectLst/>
                          <a:latin typeface="宋体"/>
                        </a:rPr>
                        <a:t>1904/9/29</a:t>
                      </a:r>
                      <a:endParaRPr lang="en-US" altLang="zh-CN" sz="1500" b="0" i="0" u="none" strike="noStrike" dirty="0">
                        <a:effectLst/>
                        <a:latin typeface="宋体"/>
                      </a:endParaRP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农学</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r>
              <a:tr h="403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dirty="0" smtClean="0">
                          <a:ln>
                            <a:noFill/>
                          </a:ln>
                          <a:solidFill>
                            <a:schemeClr val="tx1"/>
                          </a:solidFill>
                          <a:effectLst/>
                          <a:latin typeface="黑体" pitchFamily="2" charset="-122"/>
                          <a:ea typeface="黑体" pitchFamily="2" charset="-122"/>
                        </a:rPr>
                        <a:t>覃祥</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dirty="0" smtClean="0">
                          <a:ln>
                            <a:noFill/>
                          </a:ln>
                          <a:solidFill>
                            <a:schemeClr val="tx1"/>
                          </a:solidFill>
                          <a:effectLst/>
                          <a:latin typeface="黑体" pitchFamily="2" charset="-122"/>
                          <a:ea typeface="黑体" pitchFamily="2" charset="-122"/>
                        </a:rPr>
                        <a:t>女</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1500" b="0" i="0" u="none" strike="noStrike" dirty="0" smtClean="0">
                          <a:effectLst/>
                          <a:latin typeface="宋体"/>
                        </a:rPr>
                        <a:t>1904/8/23</a:t>
                      </a:r>
                      <a:endParaRPr lang="en-US" altLang="zh-CN" sz="1500" b="0" i="0" u="none" strike="noStrike" dirty="0">
                        <a:effectLst/>
                        <a:latin typeface="宋体"/>
                      </a:endParaRP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农学</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r>
              <a:tr h="403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dirty="0" smtClean="0">
                          <a:ln>
                            <a:noFill/>
                          </a:ln>
                          <a:solidFill>
                            <a:schemeClr val="tx1"/>
                          </a:solidFill>
                          <a:effectLst/>
                          <a:latin typeface="黑体" pitchFamily="2" charset="-122"/>
                          <a:ea typeface="黑体" pitchFamily="2" charset="-122"/>
                        </a:rPr>
                        <a:t>陈旭</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男</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1500" b="0" i="0" u="none" strike="noStrike" dirty="0">
                          <a:effectLst/>
                          <a:latin typeface="宋体"/>
                        </a:rPr>
                        <a:t>1994/12/12</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水建</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r>
              <a:tr h="403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李丽</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女</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1500" b="0" i="0" u="none" strike="noStrike" dirty="0" smtClean="0">
                          <a:effectLst/>
                          <a:latin typeface="宋体"/>
                        </a:rPr>
                        <a:t>1904/5/4</a:t>
                      </a:r>
                      <a:endParaRPr lang="en-US" altLang="zh-CN" sz="1500" b="0" i="0" u="none" strike="noStrike" dirty="0">
                        <a:effectLst/>
                        <a:latin typeface="宋体"/>
                      </a:endParaRP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生命</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r>
              <a:tr h="403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04005</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韩振兴</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男</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1500" b="0" i="0" u="none" strike="noStrike" dirty="0" smtClean="0">
                          <a:effectLst/>
                          <a:latin typeface="宋体"/>
                        </a:rPr>
                        <a:t>1904/4/4</a:t>
                      </a:r>
                      <a:endParaRPr lang="en-US" altLang="zh-CN" sz="1500" b="0" i="0" u="none" strike="noStrike" dirty="0">
                        <a:effectLst/>
                        <a:latin typeface="宋体"/>
                      </a:endParaRP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资环</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r>
              <a:tr h="403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04006</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田野</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男</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1500" b="0" i="0" u="none" strike="noStrike" dirty="0" smtClean="0">
                          <a:effectLst/>
                          <a:latin typeface="宋体"/>
                        </a:rPr>
                        <a:t>1904/9/1</a:t>
                      </a:r>
                      <a:endParaRPr lang="en-US" altLang="zh-CN" sz="1500" b="0" i="0" u="none" strike="noStrike" dirty="0">
                        <a:effectLst/>
                        <a:latin typeface="宋体"/>
                      </a:endParaRP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信息</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r>
              <a:tr h="403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04007</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赵永亮</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男</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1500" b="0" i="0" u="none" strike="noStrike" dirty="0">
                          <a:effectLst/>
                          <a:latin typeface="宋体"/>
                        </a:rPr>
                        <a:t>1994/7/23</a:t>
                      </a: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信息</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r>
              <a:tr h="403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04008</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侯玉</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女</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1500" b="0" i="0" u="none" strike="noStrike" dirty="0" smtClean="0">
                          <a:effectLst/>
                          <a:latin typeface="宋体"/>
                        </a:rPr>
                        <a:t>1904/5/15</a:t>
                      </a:r>
                      <a:endParaRPr lang="en-US" altLang="zh-CN" sz="1500" b="0" i="0" u="none" strike="noStrike" dirty="0">
                        <a:effectLst/>
                        <a:latin typeface="宋体"/>
                      </a:endParaRP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资环</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r>
              <a:tr h="403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04009</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白晓鹏</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smtClean="0">
                          <a:ln>
                            <a:noFill/>
                          </a:ln>
                          <a:solidFill>
                            <a:schemeClr val="tx1"/>
                          </a:solidFill>
                          <a:effectLst/>
                          <a:latin typeface="黑体" pitchFamily="2" charset="-122"/>
                          <a:ea typeface="黑体" pitchFamily="2" charset="-122"/>
                        </a:rPr>
                        <a:t>男</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algn="r" fontAlgn="ctr"/>
                      <a:r>
                        <a:rPr lang="en-US" altLang="zh-CN" sz="1500" b="0" i="0" u="none" strike="noStrike" dirty="0" smtClean="0">
                          <a:effectLst/>
                          <a:latin typeface="宋体"/>
                        </a:rPr>
                        <a:t>1904/4/16</a:t>
                      </a:r>
                      <a:endParaRPr lang="en-US" altLang="zh-CN" sz="1500" b="0" i="0" u="none" strike="noStrike" dirty="0">
                        <a:effectLst/>
                        <a:latin typeface="宋体"/>
                      </a:endParaRPr>
                    </a:p>
                  </a:txBody>
                  <a:tcPr marL="7620" marR="7620" marT="762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dirty="0" smtClean="0">
                          <a:ln>
                            <a:noFill/>
                          </a:ln>
                          <a:solidFill>
                            <a:schemeClr val="tx1"/>
                          </a:solidFill>
                          <a:effectLst/>
                          <a:latin typeface="黑体" pitchFamily="2" charset="-122"/>
                          <a:ea typeface="黑体" pitchFamily="2" charset="-122"/>
                        </a:rPr>
                        <a:t>外语系</a:t>
                      </a:r>
                    </a:p>
                  </a:txBody>
                  <a:tcPr marL="0" marR="0" marT="0" marB="0" anchor="ct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54342" name="Group 70"/>
          <p:cNvGraphicFramePr>
            <a:graphicFrameLocks noGrp="1"/>
          </p:cNvGraphicFramePr>
          <p:nvPr>
            <p:ph sz="half" idx="2"/>
          </p:nvPr>
        </p:nvGraphicFramePr>
        <p:xfrm>
          <a:off x="5219700" y="333375"/>
          <a:ext cx="3168650" cy="6192838"/>
        </p:xfrm>
        <a:graphic>
          <a:graphicData uri="http://schemas.openxmlformats.org/drawingml/2006/table">
            <a:tbl>
              <a:tblPr/>
              <a:tblGrid>
                <a:gridCol w="1223963"/>
                <a:gridCol w="1096962"/>
                <a:gridCol w="847725"/>
              </a:tblGrid>
              <a:tr h="4095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dirty="0" err="1" smtClean="0">
                          <a:ln>
                            <a:noFill/>
                          </a:ln>
                          <a:solidFill>
                            <a:schemeClr val="tx1"/>
                          </a:solidFill>
                          <a:effectLst/>
                          <a:latin typeface="Times New Roman" pitchFamily="18" charset="0"/>
                          <a:ea typeface="宋体" pitchFamily="2" charset="-122"/>
                          <a:cs typeface="Times New Roman" pitchFamily="18" charset="0"/>
                        </a:rPr>
                        <a:t>Sno</a:t>
                      </a:r>
                      <a:endParaRPr kumimoji="0"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Cno</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Grade</a:t>
                      </a:r>
                      <a:endParaRPr kumimoji="0" lang="en-US"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50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63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23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89</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80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91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008</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45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003</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77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004</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61</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04006</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60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002</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smtClean="0">
                          <a:ln>
                            <a:noFill/>
                          </a:ln>
                          <a:solidFill>
                            <a:schemeClr val="tx1"/>
                          </a:solidFill>
                          <a:effectLst/>
                          <a:latin typeface="黑体" pitchFamily="2" charset="-122"/>
                          <a:ea typeface="黑体" pitchFamily="2" charset="-122"/>
                        </a:rPr>
                        <a:t>77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r h="304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黑体" pitchFamily="2" charset="-122"/>
                          <a:ea typeface="黑体" pitchFamily="2" charset="-122"/>
                        </a:rPr>
                        <a:t>04007</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005</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smtClean="0">
                          <a:ln>
                            <a:noFill/>
                          </a:ln>
                          <a:solidFill>
                            <a:schemeClr val="tx1"/>
                          </a:solidFill>
                          <a:effectLst/>
                          <a:latin typeface="黑体" pitchFamily="2" charset="-122"/>
                          <a:ea typeface="黑体" pitchFamily="2" charset="-122"/>
                        </a:rPr>
                        <a:t>100</a:t>
                      </a:r>
                    </a:p>
                  </a:txBody>
                  <a:tcPr marL="0" marR="0" marT="0" marB="0" anchor="ctr" horzOverflow="overflow">
                    <a:lnL w="0" cap="flat" cmpd="sng" algn="ctr">
                      <a:solidFill>
                        <a:srgbClr val="000000"/>
                      </a:solidFill>
                      <a:prstDash val="solid"/>
                      <a:round/>
                      <a:headEnd type="none" w="med" len="med"/>
                      <a:tailEnd type="none" w="med" len="med"/>
                    </a:lnL>
                    <a:lnR w="0" cap="flat" cmpd="sng" algn="ctr">
                      <a:solidFill>
                        <a:srgbClr val="000000"/>
                      </a:solidFill>
                      <a:prstDash val="solid"/>
                      <a:round/>
                      <a:headEnd type="none" w="med" len="med"/>
                      <a:tailEnd type="none" w="med" len="med"/>
                    </a:lnR>
                    <a:lnT w="0" cap="flat" cmpd="sng" algn="ctr">
                      <a:solidFill>
                        <a:srgbClr val="000000"/>
                      </a:solidFill>
                      <a:prstDash val="solid"/>
                      <a:round/>
                      <a:headEnd type="none" w="med" len="med"/>
                      <a:tailEnd type="none" w="med" len="med"/>
                    </a:lnT>
                    <a:lnB w="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54428" name="Rectangle 156"/>
          <p:cNvSpPr>
            <a:spLocks noChangeArrowheads="1"/>
          </p:cNvSpPr>
          <p:nvPr/>
        </p:nvSpPr>
        <p:spPr bwMode="auto">
          <a:xfrm>
            <a:off x="539750" y="1341438"/>
            <a:ext cx="4083050" cy="33337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latin typeface="Arial" charset="0"/>
              <a:ea typeface="黑体" pitchFamily="49" charset="-122"/>
            </a:endParaRPr>
          </a:p>
        </p:txBody>
      </p:sp>
      <p:sp>
        <p:nvSpPr>
          <p:cNvPr id="54429" name="Rectangle 157"/>
          <p:cNvSpPr>
            <a:spLocks noChangeArrowheads="1"/>
          </p:cNvSpPr>
          <p:nvPr/>
        </p:nvSpPr>
        <p:spPr bwMode="auto">
          <a:xfrm>
            <a:off x="357188" y="5143500"/>
            <a:ext cx="4608512" cy="1512888"/>
          </a:xfrm>
          <a:prstGeom prst="rect">
            <a:avLst/>
          </a:prstGeom>
          <a:solidFill>
            <a:srgbClr val="FFCC00"/>
          </a:solidFill>
          <a:ln w="9525">
            <a:solidFill>
              <a:schemeClr val="tx1"/>
            </a:solidFill>
            <a:miter lim="800000"/>
            <a:headEnd/>
            <a:tailEnd/>
          </a:ln>
        </p:spPr>
        <p:txBody>
          <a:bodyPr wrap="none" anchor="ctr"/>
          <a:lstStyle/>
          <a:p>
            <a:r>
              <a:rPr lang="zh-CN" altLang="en-US" sz="2800">
                <a:latin typeface="黑体" pitchFamily="49" charset="-122"/>
                <a:ea typeface="黑体" pitchFamily="49" charset="-122"/>
              </a:rPr>
              <a:t>查询条件</a:t>
            </a:r>
          </a:p>
          <a:p>
            <a:r>
              <a:rPr lang="en-US" altLang="zh-CN" sz="2800">
                <a:latin typeface="Arial" charset="0"/>
                <a:ea typeface="黑体" pitchFamily="49" charset="-122"/>
              </a:rPr>
              <a:t>s.sno=sc.sno and cno=‘001’</a:t>
            </a:r>
          </a:p>
        </p:txBody>
      </p:sp>
      <p:sp>
        <p:nvSpPr>
          <p:cNvPr id="54431" name="Rectangle 159"/>
          <p:cNvSpPr>
            <a:spLocks noChangeArrowheads="1"/>
          </p:cNvSpPr>
          <p:nvPr/>
        </p:nvSpPr>
        <p:spPr bwMode="auto">
          <a:xfrm>
            <a:off x="428625" y="2857500"/>
            <a:ext cx="4608513" cy="1512888"/>
          </a:xfrm>
          <a:prstGeom prst="rect">
            <a:avLst/>
          </a:prstGeom>
          <a:solidFill>
            <a:srgbClr val="FFCC00"/>
          </a:solidFill>
          <a:ln w="9525">
            <a:solidFill>
              <a:schemeClr val="tx1"/>
            </a:solidFill>
            <a:miter lim="800000"/>
            <a:headEnd/>
            <a:tailEnd/>
          </a:ln>
        </p:spPr>
        <p:txBody>
          <a:bodyPr wrap="none" anchor="ctr"/>
          <a:lstStyle/>
          <a:p>
            <a:r>
              <a:rPr lang="en-US" altLang="zh-CN" sz="2800">
                <a:latin typeface="黑体" pitchFamily="49" charset="-122"/>
                <a:ea typeface="黑体" pitchFamily="49" charset="-122"/>
              </a:rPr>
              <a:t>04001</a:t>
            </a:r>
            <a:r>
              <a:rPr lang="zh-CN" altLang="en-US" sz="2800">
                <a:latin typeface="黑体" pitchFamily="49" charset="-122"/>
                <a:ea typeface="黑体" pitchFamily="49" charset="-122"/>
              </a:rPr>
              <a:t>在</a:t>
            </a:r>
            <a:r>
              <a:rPr lang="en-US" altLang="zh-CN" sz="2800">
                <a:latin typeface="黑体" pitchFamily="49" charset="-122"/>
                <a:ea typeface="黑体" pitchFamily="49" charset="-122"/>
              </a:rPr>
              <a:t>SC</a:t>
            </a:r>
            <a:r>
              <a:rPr lang="zh-CN" altLang="en-US" sz="2800">
                <a:latin typeface="黑体" pitchFamily="49" charset="-122"/>
                <a:ea typeface="黑体" pitchFamily="49" charset="-122"/>
              </a:rPr>
              <a:t>表中查询，无满足</a:t>
            </a:r>
          </a:p>
          <a:p>
            <a:r>
              <a:rPr lang="zh-CN" altLang="en-US" sz="2800">
                <a:latin typeface="黑体" pitchFamily="49" charset="-122"/>
                <a:ea typeface="黑体" pitchFamily="49" charset="-122"/>
              </a:rPr>
              <a:t>条件的元组，查询结果为</a:t>
            </a:r>
          </a:p>
          <a:p>
            <a:r>
              <a:rPr lang="en-US" altLang="zh-CN" sz="2800">
                <a:latin typeface="黑体" pitchFamily="49" charset="-122"/>
                <a:ea typeface="黑体" pitchFamily="49" charset="-122"/>
              </a:rPr>
              <a:t>Null</a:t>
            </a:r>
            <a:r>
              <a:rPr lang="zh-CN" altLang="en-US" sz="2800">
                <a:latin typeface="黑体" pitchFamily="49" charset="-122"/>
                <a:ea typeface="黑体" pitchFamily="49" charset="-122"/>
              </a:rPr>
              <a:t>，返回</a:t>
            </a:r>
            <a:r>
              <a:rPr lang="en-US" altLang="zh-CN" sz="2800">
                <a:latin typeface="黑体" pitchFamily="49" charset="-122"/>
                <a:ea typeface="黑体" pitchFamily="49" charset="-122"/>
              </a:rPr>
              <a:t>False</a:t>
            </a:r>
            <a:r>
              <a:rPr lang="zh-CN" altLang="en-US" sz="2800">
                <a:latin typeface="黑体" pitchFamily="49" charset="-122"/>
                <a:ea typeface="黑体" pitchFamily="49" charset="-122"/>
              </a:rPr>
              <a:t>。</a:t>
            </a:r>
            <a:endParaRPr lang="zh-CN" altLang="en-US" sz="2800">
              <a:latin typeface="Arial" charset="0"/>
              <a:ea typeface="黑体" pitchFamily="49" charset="-122"/>
            </a:endParaRPr>
          </a:p>
        </p:txBody>
      </p:sp>
      <p:sp>
        <p:nvSpPr>
          <p:cNvPr id="7" name="Rectangle 159"/>
          <p:cNvSpPr>
            <a:spLocks noChangeArrowheads="1"/>
          </p:cNvSpPr>
          <p:nvPr/>
        </p:nvSpPr>
        <p:spPr bwMode="auto">
          <a:xfrm>
            <a:off x="428625" y="2857500"/>
            <a:ext cx="4608513" cy="1512888"/>
          </a:xfrm>
          <a:prstGeom prst="rect">
            <a:avLst/>
          </a:prstGeom>
          <a:solidFill>
            <a:srgbClr val="FFCC00"/>
          </a:solidFill>
          <a:ln w="9525">
            <a:solidFill>
              <a:schemeClr val="tx1"/>
            </a:solidFill>
            <a:miter lim="800000"/>
            <a:headEnd/>
            <a:tailEnd/>
          </a:ln>
        </p:spPr>
        <p:txBody>
          <a:bodyPr wrap="none" anchor="ctr"/>
          <a:lstStyle/>
          <a:p>
            <a:r>
              <a:rPr lang="en-US" altLang="zh-CN" sz="2800">
                <a:latin typeface="黑体" pitchFamily="49" charset="-122"/>
                <a:ea typeface="黑体" pitchFamily="49" charset="-122"/>
              </a:rPr>
              <a:t>04002</a:t>
            </a:r>
            <a:r>
              <a:rPr lang="zh-CN" altLang="en-US" sz="2800">
                <a:latin typeface="黑体" pitchFamily="49" charset="-122"/>
                <a:ea typeface="黑体" pitchFamily="49" charset="-122"/>
              </a:rPr>
              <a:t>在</a:t>
            </a:r>
            <a:r>
              <a:rPr lang="en-US" altLang="zh-CN" sz="2800">
                <a:latin typeface="黑体" pitchFamily="49" charset="-122"/>
                <a:ea typeface="黑体" pitchFamily="49" charset="-122"/>
              </a:rPr>
              <a:t>SC</a:t>
            </a:r>
            <a:r>
              <a:rPr lang="zh-CN" altLang="en-US" sz="2800">
                <a:latin typeface="黑体" pitchFamily="49" charset="-122"/>
                <a:ea typeface="黑体" pitchFamily="49" charset="-122"/>
              </a:rPr>
              <a:t>表中查询，有满足</a:t>
            </a:r>
          </a:p>
          <a:p>
            <a:r>
              <a:rPr lang="zh-CN" altLang="en-US" sz="2800">
                <a:latin typeface="黑体" pitchFamily="49" charset="-122"/>
                <a:ea typeface="黑体" pitchFamily="49" charset="-122"/>
              </a:rPr>
              <a:t>条件的元组，查询结果非空，</a:t>
            </a:r>
            <a:endParaRPr lang="en-US" altLang="zh-CN" sz="2800">
              <a:latin typeface="黑体" pitchFamily="49" charset="-122"/>
              <a:ea typeface="黑体" pitchFamily="49" charset="-122"/>
            </a:endParaRPr>
          </a:p>
          <a:p>
            <a:r>
              <a:rPr lang="zh-CN" altLang="en-US" sz="2800">
                <a:latin typeface="黑体" pitchFamily="49" charset="-122"/>
                <a:ea typeface="黑体" pitchFamily="49" charset="-122"/>
              </a:rPr>
              <a:t>返回</a:t>
            </a:r>
            <a:r>
              <a:rPr lang="en-US" altLang="zh-CN" sz="2800">
                <a:latin typeface="黑体" pitchFamily="49" charset="-122"/>
                <a:ea typeface="黑体" pitchFamily="49" charset="-122"/>
              </a:rPr>
              <a:t>True</a:t>
            </a:r>
            <a:r>
              <a:rPr lang="zh-CN" altLang="en-US" sz="2800">
                <a:latin typeface="黑体" pitchFamily="49" charset="-122"/>
                <a:ea typeface="黑体" pitchFamily="49" charset="-122"/>
              </a:rPr>
              <a:t>。</a:t>
            </a:r>
            <a:endParaRPr lang="zh-CN" altLang="en-US" sz="2800">
              <a:latin typeface="Arial" charset="0"/>
              <a:ea typeface="黑体"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42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442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43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54431"/>
                                        </p:tgtEl>
                                        <p:attrNameLst>
                                          <p:attrName>style.visibility</p:attrName>
                                        </p:attrNameLst>
                                      </p:cBhvr>
                                      <p:to>
                                        <p:strVal val="hidden"/>
                                      </p:to>
                                    </p:set>
                                  </p:childTnLst>
                                </p:cTn>
                              </p:par>
                              <p:par>
                                <p:cTn id="19" presetID="42" presetClass="path" presetSubtype="0" accel="50000" decel="50000" fill="hold" grpId="1" nodeType="withEffect">
                                  <p:stCondLst>
                                    <p:cond delay="0"/>
                                  </p:stCondLst>
                                  <p:childTnLst>
                                    <p:animMotion origin="layout" path="M -1.94444E-6 2.59259E-6 L -0.00191 0.05879 " pathEditMode="relative" rAng="0" ptsTypes="AA">
                                      <p:cBhvr>
                                        <p:cTn id="20" dur="1000" fill="hold"/>
                                        <p:tgtEl>
                                          <p:spTgt spid="54428"/>
                                        </p:tgtEl>
                                        <p:attrNameLst>
                                          <p:attrName>ppt_x</p:attrName>
                                          <p:attrName>ppt_y</p:attrName>
                                        </p:attrNameLst>
                                      </p:cBhvr>
                                      <p:rCtr x="-100" y="2900"/>
                                    </p:animMotion>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1" nodeType="clickEffect">
                                  <p:stCondLst>
                                    <p:cond delay="0"/>
                                  </p:stCondLst>
                                  <p:childTnLst>
                                    <p:set>
                                      <p:cBhvr>
                                        <p:cTn id="24" dur="1" fill="hold">
                                          <p:stCondLst>
                                            <p:cond delay="0"/>
                                          </p:stCondLst>
                                        </p:cTn>
                                        <p:tgtEl>
                                          <p:spTgt spid="5442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7"/>
                                        </p:tgtEl>
                                        <p:attrNameLst>
                                          <p:attrName>style.visibility</p:attrName>
                                        </p:attrNameLst>
                                      </p:cBhvr>
                                      <p:to>
                                        <p:strVal val="hidden"/>
                                      </p:to>
                                    </p:set>
                                  </p:childTnLst>
                                </p:cTn>
                              </p:par>
                              <p:par>
                                <p:cTn id="33" presetID="42" presetClass="path" presetSubtype="0" accel="50000" decel="50000" fill="hold" grpId="2" nodeType="withEffect">
                                  <p:stCondLst>
                                    <p:cond delay="0"/>
                                  </p:stCondLst>
                                  <p:childTnLst>
                                    <p:animMotion origin="layout" path="M -0.00191 0.05879 L -0.00052 0.12361 " pathEditMode="relative" rAng="0" ptsTypes="AA">
                                      <p:cBhvr>
                                        <p:cTn id="34" dur="1000" fill="hold"/>
                                        <p:tgtEl>
                                          <p:spTgt spid="54428"/>
                                        </p:tgtEl>
                                        <p:attrNameLst>
                                          <p:attrName>ppt_x</p:attrName>
                                          <p:attrName>ppt_y</p:attrName>
                                        </p:attrNameLst>
                                      </p:cBhvr>
                                      <p:rCtr x="69" y="324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428" grpId="0" animBg="1"/>
      <p:bldP spid="54428" grpId="1" animBg="1"/>
      <p:bldP spid="54428" grpId="2" animBg="1"/>
      <p:bldP spid="54429" grpId="0" animBg="1"/>
      <p:bldP spid="54429" grpId="1" animBg="1"/>
      <p:bldP spid="54431" grpId="0" animBg="1"/>
      <p:bldP spid="54431" grpId="1" animBg="1"/>
      <p:bldP spid="7" grpId="0" animBg="1"/>
      <p:bldP spid="7" grpId="1"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p:cNvSpPr>
            <a:spLocks noChangeArrowheads="1"/>
          </p:cNvSpPr>
          <p:nvPr>
            <p:ph type="body" idx="1"/>
          </p:nvPr>
        </p:nvSpPr>
        <p:spPr>
          <a:xfrm>
            <a:off x="755650" y="1989138"/>
            <a:ext cx="7772400" cy="4259262"/>
          </a:xfrm>
        </p:spPr>
        <p:txBody>
          <a:bodyPr/>
          <a:lstStyle/>
          <a:p>
            <a:pPr eaLnBrk="1" hangingPunct="1">
              <a:buFontTx/>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41] </a:t>
            </a:r>
            <a:r>
              <a:rPr lang="zh-CN" altLang="en-US" sz="2400" smtClean="0">
                <a:latin typeface="黑体" pitchFamily="49" charset="-122"/>
                <a:ea typeface="黑体" pitchFamily="49" charset="-122"/>
              </a:rPr>
              <a:t>查询选修了</a:t>
            </a:r>
            <a:r>
              <a:rPr lang="en-US" altLang="zh-CN" sz="2400" smtClean="0">
                <a:latin typeface="黑体" pitchFamily="49" charset="-122"/>
                <a:ea typeface="黑体" pitchFamily="49" charset="-122"/>
              </a:rPr>
              <a:t>001</a:t>
            </a:r>
            <a:r>
              <a:rPr lang="zh-CN" altLang="en-US" sz="2400" smtClean="0">
                <a:latin typeface="黑体" pitchFamily="49" charset="-122"/>
                <a:ea typeface="黑体" pitchFamily="49" charset="-122"/>
              </a:rPr>
              <a:t>号课程的学生姓名。</a:t>
            </a:r>
          </a:p>
          <a:p>
            <a:pPr eaLnBrk="1" hangingPunct="1">
              <a:buFontTx/>
              <a:buNone/>
            </a:pPr>
            <a:r>
              <a:rPr lang="zh-CN" altLang="en-US" sz="2400" smtClean="0">
                <a:latin typeface="黑体" pitchFamily="49" charset="-122"/>
                <a:ea typeface="黑体" pitchFamily="49" charset="-122"/>
              </a:rPr>
              <a:t> </a:t>
            </a:r>
          </a:p>
          <a:p>
            <a:pPr eaLnBrk="1" hangingPunct="1">
              <a:buFontTx/>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SELECT Sname</a:t>
            </a:r>
          </a:p>
          <a:p>
            <a:pPr eaLnBrk="1" hangingPunct="1">
              <a:buFont typeface="Wingdings" pitchFamily="2" charset="2"/>
              <a:buNone/>
            </a:pPr>
            <a:r>
              <a:rPr lang="en-US" altLang="zh-CN" sz="2400" smtClean="0">
                <a:latin typeface="黑体" pitchFamily="49" charset="-122"/>
                <a:ea typeface="黑体" pitchFamily="49" charset="-122"/>
              </a:rPr>
              <a:t>     FROM </a:t>
            </a:r>
            <a:r>
              <a:rPr lang="en-US" altLang="zh-CN" sz="2400" smtClean="0">
                <a:solidFill>
                  <a:srgbClr val="FF3399"/>
                </a:solidFill>
                <a:latin typeface="黑体" pitchFamily="49" charset="-122"/>
                <a:ea typeface="黑体" pitchFamily="49" charset="-122"/>
              </a:rPr>
              <a:t>S</a:t>
            </a:r>
            <a:endParaRPr lang="en-US" altLang="zh-CN" sz="2400" smtClean="0">
              <a:latin typeface="黑体" pitchFamily="49" charset="-122"/>
              <a:ea typeface="黑体" pitchFamily="49" charset="-122"/>
            </a:endParaRPr>
          </a:p>
          <a:p>
            <a:pPr eaLnBrk="1" hangingPunct="1">
              <a:buFont typeface="Wingdings" pitchFamily="2" charset="2"/>
              <a:buNone/>
            </a:pPr>
            <a:r>
              <a:rPr lang="en-US" altLang="zh-CN" sz="2400" smtClean="0">
                <a:latin typeface="黑体" pitchFamily="49" charset="-122"/>
                <a:ea typeface="黑体" pitchFamily="49" charset="-122"/>
              </a:rPr>
              <a:t>     WHERE EXISTS</a:t>
            </a:r>
          </a:p>
          <a:p>
            <a:pPr eaLnBrk="1" hangingPunct="1">
              <a:buFont typeface="Wingdings" pitchFamily="2" charset="2"/>
              <a:buNone/>
            </a:pPr>
            <a:r>
              <a:rPr lang="en-US" altLang="zh-CN" sz="2400" smtClean="0">
                <a:latin typeface="黑体" pitchFamily="49" charset="-122"/>
                <a:ea typeface="黑体" pitchFamily="49" charset="-122"/>
              </a:rPr>
              <a:t>        (SELECT </a:t>
            </a:r>
            <a:r>
              <a:rPr lang="en-US" altLang="zh-CN" sz="2400" smtClean="0">
                <a:solidFill>
                  <a:srgbClr val="FF3399"/>
                </a:solidFill>
                <a:latin typeface="黑体" pitchFamily="49" charset="-122"/>
                <a:ea typeface="黑体" pitchFamily="49" charset="-122"/>
              </a:rPr>
              <a:t>*</a:t>
            </a:r>
          </a:p>
          <a:p>
            <a:pPr eaLnBrk="1" hangingPunct="1">
              <a:buFont typeface="Wingdings" pitchFamily="2" charset="2"/>
              <a:buNone/>
            </a:pPr>
            <a:r>
              <a:rPr lang="en-US" altLang="zh-CN" sz="2400" smtClean="0">
                <a:latin typeface="黑体" pitchFamily="49" charset="-122"/>
                <a:ea typeface="黑体" pitchFamily="49" charset="-122"/>
              </a:rPr>
              <a:t>         FROM SC</a:t>
            </a:r>
          </a:p>
          <a:p>
            <a:pPr eaLnBrk="1" hangingPunct="1">
              <a:buFont typeface="Wingdings" pitchFamily="2" charset="2"/>
              <a:buNone/>
            </a:pPr>
            <a:r>
              <a:rPr lang="en-US" altLang="zh-CN" sz="2400" smtClean="0">
                <a:latin typeface="黑体" pitchFamily="49" charset="-122"/>
                <a:ea typeface="黑体" pitchFamily="49" charset="-122"/>
              </a:rPr>
              <a:t>         WHERE Sno=</a:t>
            </a:r>
            <a:r>
              <a:rPr lang="en-US" altLang="zh-CN" sz="2400" smtClean="0">
                <a:solidFill>
                  <a:srgbClr val="FF3399"/>
                </a:solidFill>
                <a:latin typeface="黑体" pitchFamily="49" charset="-122"/>
                <a:ea typeface="黑体" pitchFamily="49" charset="-122"/>
              </a:rPr>
              <a:t>S.Sno</a:t>
            </a:r>
            <a:r>
              <a:rPr lang="en-US" altLang="zh-CN" sz="2400" smtClean="0">
                <a:latin typeface="黑体" pitchFamily="49" charset="-122"/>
                <a:ea typeface="黑体" pitchFamily="49" charset="-122"/>
              </a:rPr>
              <a:t> AND Cno= </a:t>
            </a:r>
            <a:r>
              <a:rPr lang="en-US" altLang="zh-CN" sz="2400" smtClean="0">
                <a:ea typeface="黑体" pitchFamily="49" charset="-122"/>
              </a:rPr>
              <a:t>‘</a:t>
            </a:r>
            <a:r>
              <a:rPr lang="en-US" altLang="zh-CN" sz="2400" smtClean="0">
                <a:latin typeface="黑体" pitchFamily="49" charset="-122"/>
                <a:ea typeface="黑体" pitchFamily="49" charset="-122"/>
              </a:rPr>
              <a:t>001</a:t>
            </a:r>
            <a:r>
              <a:rPr lang="en-US" altLang="zh-CN" sz="2400" smtClean="0">
                <a:ea typeface="黑体" pitchFamily="49" charset="-122"/>
              </a:rPr>
              <a:t>’</a:t>
            </a:r>
            <a:r>
              <a:rPr lang="en-US" altLang="zh-CN" sz="2400" smtClean="0">
                <a:latin typeface="黑体" pitchFamily="49" charset="-122"/>
                <a:ea typeface="黑体" pitchFamily="49" charset="-122"/>
              </a:rPr>
              <a:t>)</a:t>
            </a:r>
          </a:p>
        </p:txBody>
      </p:sp>
      <p:sp>
        <p:nvSpPr>
          <p:cNvPr id="101379" name="Rectangle 2"/>
          <p:cNvSpPr>
            <a:spLocks noChangeArrowheads="1"/>
          </p:cNvSpPr>
          <p:nvPr>
            <p:ph type="title"/>
          </p:nvPr>
        </p:nvSpPr>
        <p:spPr>
          <a:xfrm>
            <a:off x="611188" y="908050"/>
            <a:ext cx="7793037" cy="1143000"/>
          </a:xfrm>
        </p:spPr>
        <p:txBody>
          <a:bodyPr/>
          <a:lstStyle/>
          <a:p>
            <a:pPr eaLnBrk="1" hangingPunct="1"/>
            <a:r>
              <a:rPr lang="zh-CN" altLang="en-US" sz="2800" smtClean="0">
                <a:solidFill>
                  <a:schemeClr val="tx1"/>
                </a:solidFill>
              </a:rPr>
              <a:t>四、带有</a:t>
            </a:r>
            <a:r>
              <a:rPr lang="en-US" altLang="zh-CN" sz="2800" smtClean="0">
                <a:solidFill>
                  <a:schemeClr val="tx1"/>
                </a:solidFill>
              </a:rPr>
              <a:t>EXISTS</a:t>
            </a:r>
            <a:r>
              <a:rPr lang="zh-CN" altLang="en-US" sz="2800" smtClean="0">
                <a:solidFill>
                  <a:schemeClr val="tx1"/>
                </a:solidFill>
              </a:rPr>
              <a:t>谓词的子查询</a:t>
            </a:r>
          </a:p>
        </p:txBody>
      </p:sp>
      <p:sp>
        <p:nvSpPr>
          <p:cNvPr id="6"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p:cNvSpPr>
            <a:spLocks noChangeArrowheads="1"/>
          </p:cNvSpPr>
          <p:nvPr>
            <p:ph type="body" idx="1"/>
          </p:nvPr>
        </p:nvSpPr>
        <p:spPr>
          <a:xfrm>
            <a:off x="468313" y="1989138"/>
            <a:ext cx="8229600" cy="4525962"/>
          </a:xfrm>
        </p:spPr>
        <p:txBody>
          <a:bodyPr/>
          <a:lstStyle/>
          <a:p>
            <a:pPr lvl="1" eaLnBrk="1" hangingPunct="1"/>
            <a:r>
              <a:rPr lang="zh-CN" altLang="en-US" sz="2400" smtClean="0">
                <a:latin typeface="黑体" pitchFamily="49" charset="-122"/>
                <a:ea typeface="黑体" pitchFamily="49" charset="-122"/>
              </a:rPr>
              <a:t>用连接运算实现</a:t>
            </a:r>
          </a:p>
          <a:p>
            <a:pPr lvl="1" eaLnBrk="1" hangingPunct="1"/>
            <a:endParaRPr lang="zh-CN" altLang="en-US" sz="2400" smtClean="0">
              <a:latin typeface="黑体" pitchFamily="49" charset="-122"/>
              <a:ea typeface="黑体" pitchFamily="49" charset="-122"/>
            </a:endParaRPr>
          </a:p>
          <a:p>
            <a:pPr lvl="1" eaLnBrk="1" hangingPunct="1">
              <a:buFont typeface="Wingdings" pitchFamily="2" charset="2"/>
              <a:buNone/>
            </a:pPr>
            <a:r>
              <a:rPr lang="en-US" altLang="zh-CN" sz="2400" smtClean="0">
                <a:latin typeface="黑体" pitchFamily="49" charset="-122"/>
                <a:ea typeface="黑体" pitchFamily="49" charset="-122"/>
              </a:rPr>
              <a:t>SELECT Sname</a:t>
            </a:r>
          </a:p>
          <a:p>
            <a:pPr lvl="1" eaLnBrk="1" hangingPunct="1">
              <a:buFont typeface="Wingdings" pitchFamily="2" charset="2"/>
              <a:buNone/>
            </a:pPr>
            <a:r>
              <a:rPr lang="en-US" altLang="zh-CN" sz="2400" smtClean="0">
                <a:latin typeface="黑体" pitchFamily="49" charset="-122"/>
                <a:ea typeface="黑体" pitchFamily="49" charset="-122"/>
              </a:rPr>
              <a:t>FROM S, SC</a:t>
            </a:r>
          </a:p>
          <a:p>
            <a:pPr lvl="1" eaLnBrk="1" hangingPunct="1">
              <a:buFont typeface="Wingdings" pitchFamily="2" charset="2"/>
              <a:buNone/>
            </a:pPr>
            <a:r>
              <a:rPr lang="en-US" altLang="zh-CN" sz="2400" smtClean="0">
                <a:latin typeface="黑体" pitchFamily="49" charset="-122"/>
                <a:ea typeface="黑体" pitchFamily="49" charset="-122"/>
              </a:rPr>
              <a:t>WHERE S.Sno=SC.Sno AND </a:t>
            </a:r>
          </a:p>
          <a:p>
            <a:pPr lvl="1" eaLnBrk="1" hangingPunct="1">
              <a:buFont typeface="Wingdings" pitchFamily="2" charset="2"/>
              <a:buNone/>
            </a:pPr>
            <a:r>
              <a:rPr lang="en-US" altLang="zh-CN" sz="2400" smtClean="0">
                <a:latin typeface="黑体" pitchFamily="49" charset="-122"/>
                <a:ea typeface="黑体" pitchFamily="49" charset="-122"/>
              </a:rPr>
              <a:t>			SC.Cno= </a:t>
            </a:r>
            <a:r>
              <a:rPr lang="en-US" altLang="zh-CN" sz="2400" smtClean="0">
                <a:ea typeface="黑体" pitchFamily="49" charset="-122"/>
              </a:rPr>
              <a:t>‘</a:t>
            </a:r>
            <a:r>
              <a:rPr lang="en-US" altLang="zh-CN" sz="2400" smtClean="0">
                <a:latin typeface="黑体" pitchFamily="49" charset="-122"/>
                <a:ea typeface="黑体" pitchFamily="49" charset="-122"/>
              </a:rPr>
              <a:t>001';</a:t>
            </a:r>
          </a:p>
          <a:p>
            <a:pPr eaLnBrk="1" hangingPunct="1">
              <a:buFont typeface="Wingdings" pitchFamily="2" charset="2"/>
              <a:buNone/>
            </a:pPr>
            <a:endParaRPr lang="zh-CN" altLang="en-US" sz="2400" smtClean="0">
              <a:latin typeface="黑体" pitchFamily="49" charset="-122"/>
              <a:ea typeface="黑体" pitchFamily="49" charset="-122"/>
            </a:endParaRPr>
          </a:p>
        </p:txBody>
      </p:sp>
      <p:sp>
        <p:nvSpPr>
          <p:cNvPr id="102403" name="Rectangle 2"/>
          <p:cNvSpPr>
            <a:spLocks noChangeArrowheads="1"/>
          </p:cNvSpPr>
          <p:nvPr>
            <p:ph type="title"/>
          </p:nvPr>
        </p:nvSpPr>
        <p:spPr>
          <a:xfrm>
            <a:off x="611188" y="908050"/>
            <a:ext cx="7793037" cy="1143000"/>
          </a:xfrm>
        </p:spPr>
        <p:txBody>
          <a:bodyPr/>
          <a:lstStyle/>
          <a:p>
            <a:pPr eaLnBrk="1" hangingPunct="1"/>
            <a:r>
              <a:rPr lang="zh-CN" altLang="en-US" sz="2800" smtClean="0">
                <a:solidFill>
                  <a:schemeClr val="tx1"/>
                </a:solidFill>
              </a:rPr>
              <a:t>四、带有</a:t>
            </a:r>
            <a:r>
              <a:rPr lang="en-US" altLang="zh-CN" sz="2800" smtClean="0">
                <a:solidFill>
                  <a:schemeClr val="tx1"/>
                </a:solidFill>
              </a:rPr>
              <a:t>EXISTS</a:t>
            </a:r>
            <a:r>
              <a:rPr lang="zh-CN" altLang="en-US" sz="2800" smtClean="0">
                <a:solidFill>
                  <a:schemeClr val="tx1"/>
                </a:solidFill>
              </a:rPr>
              <a:t>谓词的子查询</a:t>
            </a:r>
          </a:p>
        </p:txBody>
      </p:sp>
      <p:sp>
        <p:nvSpPr>
          <p:cNvPr id="6"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ChangeArrowheads="1"/>
          </p:cNvSpPr>
          <p:nvPr>
            <p:ph type="body" idx="1"/>
          </p:nvPr>
        </p:nvSpPr>
        <p:spPr>
          <a:xfrm>
            <a:off x="684213" y="1989138"/>
            <a:ext cx="7848600" cy="4300537"/>
          </a:xfrm>
        </p:spPr>
        <p:txBody>
          <a:bodyPr/>
          <a:lstStyle/>
          <a:p>
            <a:pPr algn="just" eaLnBrk="1" hangingPunct="1">
              <a:lnSpc>
                <a:spcPct val="110000"/>
              </a:lnSpc>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42]  </a:t>
            </a:r>
            <a:r>
              <a:rPr lang="zh-CN" altLang="en-US" sz="2400" smtClean="0">
                <a:latin typeface="黑体" pitchFamily="49" charset="-122"/>
                <a:ea typeface="黑体" pitchFamily="49" charset="-122"/>
              </a:rPr>
              <a:t>查询没有选修</a:t>
            </a:r>
            <a:r>
              <a:rPr lang="en-US" altLang="zh-CN" sz="2400" smtClean="0">
                <a:latin typeface="黑体" pitchFamily="49" charset="-122"/>
                <a:ea typeface="黑体" pitchFamily="49" charset="-122"/>
              </a:rPr>
              <a:t>001</a:t>
            </a:r>
            <a:r>
              <a:rPr lang="zh-CN" altLang="en-US" sz="2400" smtClean="0">
                <a:latin typeface="黑体" pitchFamily="49" charset="-122"/>
                <a:ea typeface="黑体" pitchFamily="49" charset="-122"/>
              </a:rPr>
              <a:t>号课程的学生姓名。</a:t>
            </a:r>
          </a:p>
          <a:p>
            <a:pPr algn="just" eaLnBrk="1" hangingPunct="1">
              <a:lnSpc>
                <a:spcPct val="110000"/>
              </a:lnSpc>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SELECT Sname</a:t>
            </a:r>
          </a:p>
          <a:p>
            <a:pPr algn="just" eaLnBrk="1" hangingPunct="1">
              <a:lnSpc>
                <a:spcPct val="110000"/>
              </a:lnSpc>
              <a:buFont typeface="Wingdings" pitchFamily="2" charset="2"/>
              <a:buNone/>
            </a:pPr>
            <a:r>
              <a:rPr lang="en-US" altLang="zh-CN" sz="2400" smtClean="0">
                <a:latin typeface="黑体" pitchFamily="49" charset="-122"/>
                <a:ea typeface="黑体" pitchFamily="49" charset="-122"/>
              </a:rPr>
              <a:t>     FROM </a:t>
            </a:r>
            <a:r>
              <a:rPr lang="en-US" altLang="zh-CN" sz="2400" smtClean="0">
                <a:solidFill>
                  <a:srgbClr val="FF0000"/>
                </a:solidFill>
                <a:latin typeface="黑体" pitchFamily="49" charset="-122"/>
                <a:ea typeface="黑体" pitchFamily="49" charset="-122"/>
              </a:rPr>
              <a:t>S</a:t>
            </a:r>
          </a:p>
          <a:p>
            <a:pPr algn="just" eaLnBrk="1" hangingPunct="1">
              <a:lnSpc>
                <a:spcPct val="110000"/>
              </a:lnSpc>
              <a:buFont typeface="Wingdings" pitchFamily="2" charset="2"/>
              <a:buNone/>
            </a:pPr>
            <a:r>
              <a:rPr lang="en-US" altLang="zh-CN" sz="2400" smtClean="0">
                <a:latin typeface="黑体" pitchFamily="49" charset="-122"/>
                <a:ea typeface="黑体" pitchFamily="49" charset="-122"/>
              </a:rPr>
              <a:t>     WHERE NOT EXISTS</a:t>
            </a:r>
          </a:p>
          <a:p>
            <a:pPr algn="just" eaLnBrk="1" hangingPunct="1">
              <a:lnSpc>
                <a:spcPct val="110000"/>
              </a:lnSpc>
              <a:buFont typeface="Wingdings" pitchFamily="2" charset="2"/>
              <a:buNone/>
            </a:pPr>
            <a:r>
              <a:rPr lang="en-US" altLang="zh-CN" sz="2400" smtClean="0">
                <a:latin typeface="黑体" pitchFamily="49" charset="-122"/>
                <a:ea typeface="黑体" pitchFamily="49" charset="-122"/>
              </a:rPr>
              <a:t>            (SELECT *</a:t>
            </a:r>
          </a:p>
          <a:p>
            <a:pPr algn="just" eaLnBrk="1" hangingPunct="1">
              <a:lnSpc>
                <a:spcPct val="110000"/>
              </a:lnSpc>
              <a:buFont typeface="Wingdings" pitchFamily="2" charset="2"/>
              <a:buNone/>
            </a:pPr>
            <a:r>
              <a:rPr lang="en-US" altLang="zh-CN" sz="2400" smtClean="0">
                <a:latin typeface="黑体" pitchFamily="49" charset="-122"/>
                <a:ea typeface="黑体" pitchFamily="49" charset="-122"/>
              </a:rPr>
              <a:t>             FROM SC</a:t>
            </a:r>
          </a:p>
          <a:p>
            <a:pPr eaLnBrk="1" hangingPunct="1">
              <a:lnSpc>
                <a:spcPct val="110000"/>
              </a:lnSpc>
              <a:buFont typeface="Wingdings" pitchFamily="2" charset="2"/>
              <a:buNone/>
            </a:pPr>
            <a:r>
              <a:rPr lang="en-US" altLang="zh-CN" sz="2400" smtClean="0">
                <a:latin typeface="黑体" pitchFamily="49" charset="-122"/>
                <a:ea typeface="黑体" pitchFamily="49" charset="-122"/>
              </a:rPr>
              <a:t>             WHERE Sno = </a:t>
            </a:r>
            <a:r>
              <a:rPr lang="en-US" altLang="zh-CN" sz="2400" smtClean="0">
                <a:solidFill>
                  <a:srgbClr val="FF0000"/>
                </a:solidFill>
                <a:latin typeface="黑体" pitchFamily="49" charset="-122"/>
                <a:ea typeface="黑体" pitchFamily="49" charset="-122"/>
              </a:rPr>
              <a:t>S.</a:t>
            </a:r>
            <a:r>
              <a:rPr lang="en-US" altLang="zh-CN" sz="2400" smtClean="0">
                <a:latin typeface="黑体" pitchFamily="49" charset="-122"/>
                <a:ea typeface="黑体" pitchFamily="49" charset="-122"/>
              </a:rPr>
              <a:t>Sno </a:t>
            </a:r>
          </a:p>
          <a:p>
            <a:pPr eaLnBrk="1" hangingPunct="1">
              <a:lnSpc>
                <a:spcPct val="110000"/>
              </a:lnSpc>
              <a:buFont typeface="Wingdings" pitchFamily="2" charset="2"/>
              <a:buNone/>
            </a:pPr>
            <a:r>
              <a:rPr lang="en-US" altLang="zh-CN" sz="2400" smtClean="0">
                <a:latin typeface="黑体" pitchFamily="49" charset="-122"/>
                <a:ea typeface="黑体" pitchFamily="49" charset="-122"/>
              </a:rPr>
              <a:t>                   AND Cno=</a:t>
            </a:r>
            <a:r>
              <a:rPr lang="en-US" altLang="zh-CN" sz="2400" smtClean="0">
                <a:ea typeface="黑体" pitchFamily="49" charset="-122"/>
              </a:rPr>
              <a:t>‘</a:t>
            </a:r>
            <a:r>
              <a:rPr lang="en-US" altLang="zh-CN" sz="2400" smtClean="0">
                <a:latin typeface="黑体" pitchFamily="49" charset="-122"/>
                <a:ea typeface="黑体" pitchFamily="49" charset="-122"/>
              </a:rPr>
              <a:t>001')</a:t>
            </a:r>
          </a:p>
          <a:p>
            <a:pPr eaLnBrk="1" hangingPunct="1">
              <a:lnSpc>
                <a:spcPct val="110000"/>
              </a:lnSpc>
              <a:buFont typeface="Wingdings" pitchFamily="2" charset="2"/>
              <a:buNone/>
            </a:pPr>
            <a:endParaRPr lang="en-US" altLang="zh-CN" sz="800" smtClean="0">
              <a:latin typeface="黑体" pitchFamily="49" charset="-122"/>
              <a:ea typeface="黑体" pitchFamily="49" charset="-122"/>
            </a:endParaRPr>
          </a:p>
        </p:txBody>
      </p:sp>
      <p:sp>
        <p:nvSpPr>
          <p:cNvPr id="103427" name="Rectangle 2"/>
          <p:cNvSpPr>
            <a:spLocks noChangeArrowheads="1"/>
          </p:cNvSpPr>
          <p:nvPr>
            <p:ph type="title"/>
          </p:nvPr>
        </p:nvSpPr>
        <p:spPr>
          <a:xfrm>
            <a:off x="611188" y="908050"/>
            <a:ext cx="7793037" cy="1143000"/>
          </a:xfrm>
        </p:spPr>
        <p:txBody>
          <a:bodyPr/>
          <a:lstStyle/>
          <a:p>
            <a:pPr eaLnBrk="1" hangingPunct="1"/>
            <a:r>
              <a:rPr lang="zh-CN" altLang="en-US" sz="2800" smtClean="0">
                <a:solidFill>
                  <a:schemeClr val="tx1"/>
                </a:solidFill>
              </a:rPr>
              <a:t>四、带有</a:t>
            </a:r>
            <a:r>
              <a:rPr lang="en-US" altLang="zh-CN" sz="2800" smtClean="0">
                <a:solidFill>
                  <a:schemeClr val="tx1"/>
                </a:solidFill>
              </a:rPr>
              <a:t>EXISTS</a:t>
            </a:r>
            <a:r>
              <a:rPr lang="zh-CN" altLang="en-US" sz="2800" smtClean="0">
                <a:solidFill>
                  <a:schemeClr val="tx1"/>
                </a:solidFill>
              </a:rPr>
              <a:t>谓词的子查询</a:t>
            </a:r>
          </a:p>
        </p:txBody>
      </p:sp>
      <p:sp>
        <p:nvSpPr>
          <p:cNvPr id="6" name="Rectangle 2"/>
          <p:cNvSpPr txBox="1">
            <a:spLocks noChangeArrowheads="1"/>
          </p:cNvSpPr>
          <p:nvPr/>
        </p:nvSpPr>
        <p:spPr bwMode="auto">
          <a:xfrm>
            <a:off x="827088" y="-9525"/>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3.4.4  </a:t>
            </a:r>
            <a:r>
              <a:rPr lang="zh-CN" altLang="en-US" b="0" kern="0" dirty="0" smtClean="0">
                <a:latin typeface="黑体" pitchFamily="49" charset="-122"/>
              </a:rPr>
              <a:t>嵌套查询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7347">
                                            <p:txEl>
                                              <p:pRg st="1" end="1"/>
                                            </p:txEl>
                                          </p:spTgt>
                                        </p:tgtEl>
                                        <p:attrNameLst>
                                          <p:attrName>style.visibility</p:attrName>
                                        </p:attrNameLst>
                                      </p:cBhvr>
                                      <p:to>
                                        <p:strVal val="visible"/>
                                      </p:to>
                                    </p:set>
                                    <p:anim calcmode="lin" valueType="num">
                                      <p:cBhvr additive="base">
                                        <p:cTn id="7" dur="500" fill="hold"/>
                                        <p:tgtEl>
                                          <p:spTgt spid="5734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347">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7347">
                                            <p:txEl>
                                              <p:pRg st="2" end="2"/>
                                            </p:txEl>
                                          </p:spTgt>
                                        </p:tgtEl>
                                        <p:attrNameLst>
                                          <p:attrName>style.visibility</p:attrName>
                                        </p:attrNameLst>
                                      </p:cBhvr>
                                      <p:to>
                                        <p:strVal val="visible"/>
                                      </p:to>
                                    </p:set>
                                    <p:anim calcmode="lin" valueType="num">
                                      <p:cBhvr additive="base">
                                        <p:cTn id="11" dur="500" fill="hold"/>
                                        <p:tgtEl>
                                          <p:spTgt spid="57347">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7347">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7347">
                                            <p:txEl>
                                              <p:pRg st="3" end="3"/>
                                            </p:txEl>
                                          </p:spTgt>
                                        </p:tgtEl>
                                        <p:attrNameLst>
                                          <p:attrName>style.visibility</p:attrName>
                                        </p:attrNameLst>
                                      </p:cBhvr>
                                      <p:to>
                                        <p:strVal val="visible"/>
                                      </p:to>
                                    </p:set>
                                    <p:anim calcmode="lin" valueType="num">
                                      <p:cBhvr additive="base">
                                        <p:cTn id="15" dur="500" fill="hold"/>
                                        <p:tgtEl>
                                          <p:spTgt spid="57347">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7347">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7347">
                                            <p:txEl>
                                              <p:pRg st="4" end="4"/>
                                            </p:txEl>
                                          </p:spTgt>
                                        </p:tgtEl>
                                        <p:attrNameLst>
                                          <p:attrName>style.visibility</p:attrName>
                                        </p:attrNameLst>
                                      </p:cBhvr>
                                      <p:to>
                                        <p:strVal val="visible"/>
                                      </p:to>
                                    </p:set>
                                    <p:anim calcmode="lin" valueType="num">
                                      <p:cBhvr additive="base">
                                        <p:cTn id="19" dur="500" fill="hold"/>
                                        <p:tgtEl>
                                          <p:spTgt spid="5734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7347">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7347">
                                            <p:txEl>
                                              <p:pRg st="5" end="5"/>
                                            </p:txEl>
                                          </p:spTgt>
                                        </p:tgtEl>
                                        <p:attrNameLst>
                                          <p:attrName>style.visibility</p:attrName>
                                        </p:attrNameLst>
                                      </p:cBhvr>
                                      <p:to>
                                        <p:strVal val="visible"/>
                                      </p:to>
                                    </p:set>
                                    <p:anim calcmode="lin" valueType="num">
                                      <p:cBhvr additive="base">
                                        <p:cTn id="23" dur="500" fill="hold"/>
                                        <p:tgtEl>
                                          <p:spTgt spid="57347">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7347">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57347">
                                            <p:txEl>
                                              <p:pRg st="6" end="6"/>
                                            </p:txEl>
                                          </p:spTgt>
                                        </p:tgtEl>
                                        <p:attrNameLst>
                                          <p:attrName>style.visibility</p:attrName>
                                        </p:attrNameLst>
                                      </p:cBhvr>
                                      <p:to>
                                        <p:strVal val="visible"/>
                                      </p:to>
                                    </p:set>
                                    <p:anim calcmode="lin" valueType="num">
                                      <p:cBhvr additive="base">
                                        <p:cTn id="27" dur="500" fill="hold"/>
                                        <p:tgtEl>
                                          <p:spTgt spid="57347">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7347">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7347">
                                            <p:txEl>
                                              <p:pRg st="7" end="7"/>
                                            </p:txEl>
                                          </p:spTgt>
                                        </p:tgtEl>
                                        <p:attrNameLst>
                                          <p:attrName>style.visibility</p:attrName>
                                        </p:attrNameLst>
                                      </p:cBhvr>
                                      <p:to>
                                        <p:strVal val="visible"/>
                                      </p:to>
                                    </p:set>
                                    <p:anim calcmode="lin" valueType="num">
                                      <p:cBhvr additive="base">
                                        <p:cTn id="31" dur="500" fill="hold"/>
                                        <p:tgtEl>
                                          <p:spTgt spid="57347">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734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ChangeArrowheads="1"/>
          </p:cNvSpPr>
          <p:nvPr>
            <p:ph type="title"/>
          </p:nvPr>
        </p:nvSpPr>
        <p:spPr>
          <a:xfrm>
            <a:off x="1136650" y="0"/>
            <a:ext cx="7793038" cy="1143000"/>
          </a:xfrm>
        </p:spPr>
        <p:txBody>
          <a:bodyPr/>
          <a:lstStyle/>
          <a:p>
            <a:pPr eaLnBrk="1" hangingPunct="1"/>
            <a:r>
              <a:rPr lang="en-US" altLang="zh-CN" smtClean="0">
                <a:latin typeface="黑体" pitchFamily="49" charset="-122"/>
              </a:rPr>
              <a:t>3.4  </a:t>
            </a:r>
            <a:r>
              <a:rPr lang="zh-CN" altLang="en-US" smtClean="0">
                <a:latin typeface="黑体" pitchFamily="49" charset="-122"/>
              </a:rPr>
              <a:t>查    询 </a:t>
            </a:r>
          </a:p>
        </p:txBody>
      </p:sp>
      <p:sp>
        <p:nvSpPr>
          <p:cNvPr id="104451" name="Rectangle 3"/>
          <p:cNvSpPr>
            <a:spLocks noChangeArrowheads="1"/>
          </p:cNvSpPr>
          <p:nvPr>
            <p:ph type="body" idx="1"/>
          </p:nvPr>
        </p:nvSpPr>
        <p:spPr>
          <a:xfrm>
            <a:off x="1476375" y="1557338"/>
            <a:ext cx="6119813" cy="4608512"/>
          </a:xfrm>
        </p:spPr>
        <p:txBody>
          <a:bodyPr/>
          <a:lstStyle/>
          <a:p>
            <a:pPr algn="just" eaLnBrk="1" hangingPunct="1">
              <a:buFont typeface="Wingdings" pitchFamily="2" charset="2"/>
              <a:buNone/>
            </a:pPr>
            <a:r>
              <a:rPr lang="en-US" altLang="zh-CN" smtClean="0">
                <a:latin typeface="黑体" pitchFamily="49" charset="-122"/>
                <a:ea typeface="黑体" pitchFamily="49" charset="-122"/>
              </a:rPr>
              <a:t>3.4.1 </a:t>
            </a:r>
            <a:r>
              <a:rPr lang="zh-CN" altLang="en-US" smtClean="0">
                <a:latin typeface="黑体" pitchFamily="49" charset="-122"/>
                <a:ea typeface="黑体" pitchFamily="49" charset="-122"/>
              </a:rPr>
              <a:t>概述</a:t>
            </a:r>
          </a:p>
          <a:p>
            <a:pPr algn="just" eaLnBrk="1" hangingPunct="1">
              <a:buFont typeface="Wingdings" pitchFamily="2" charset="2"/>
              <a:buNone/>
            </a:pPr>
            <a:r>
              <a:rPr lang="en-US" altLang="zh-CN" smtClean="0">
                <a:latin typeface="黑体" pitchFamily="49" charset="-122"/>
                <a:ea typeface="黑体" pitchFamily="49" charset="-122"/>
              </a:rPr>
              <a:t>3.3.6 </a:t>
            </a:r>
            <a:r>
              <a:rPr lang="zh-CN" altLang="en-US" smtClean="0">
                <a:latin typeface="黑体" pitchFamily="49" charset="-122"/>
                <a:ea typeface="黑体" pitchFamily="49" charset="-122"/>
              </a:rPr>
              <a:t>单表查询</a:t>
            </a:r>
          </a:p>
          <a:p>
            <a:pPr algn="just" eaLnBrk="1" hangingPunct="1">
              <a:buFont typeface="Wingdings" pitchFamily="2" charset="2"/>
              <a:buNone/>
            </a:pPr>
            <a:r>
              <a:rPr lang="en-US" altLang="zh-CN" smtClean="0">
                <a:latin typeface="黑体" pitchFamily="49" charset="-122"/>
                <a:ea typeface="黑体" pitchFamily="49" charset="-122"/>
              </a:rPr>
              <a:t>3.4.3 </a:t>
            </a:r>
            <a:r>
              <a:rPr lang="zh-CN" altLang="en-US" smtClean="0">
                <a:latin typeface="黑体" pitchFamily="49" charset="-122"/>
                <a:ea typeface="黑体" pitchFamily="49" charset="-122"/>
              </a:rPr>
              <a:t>连接查询</a:t>
            </a:r>
          </a:p>
          <a:p>
            <a:pPr algn="just" eaLnBrk="1" hangingPunct="1">
              <a:buFont typeface="Wingdings" pitchFamily="2" charset="2"/>
              <a:buNone/>
            </a:pPr>
            <a:r>
              <a:rPr lang="en-US" altLang="zh-CN" smtClean="0">
                <a:latin typeface="黑体" pitchFamily="49" charset="-122"/>
                <a:ea typeface="黑体" pitchFamily="49" charset="-122"/>
              </a:rPr>
              <a:t>3.4.4 </a:t>
            </a:r>
            <a:r>
              <a:rPr lang="zh-CN" altLang="en-US" smtClean="0">
                <a:latin typeface="黑体" pitchFamily="49" charset="-122"/>
                <a:ea typeface="黑体" pitchFamily="49" charset="-122"/>
              </a:rPr>
              <a:t>嵌套查询</a:t>
            </a:r>
          </a:p>
          <a:p>
            <a:pPr algn="just" eaLnBrk="1" hangingPunct="1">
              <a:buFont typeface="Wingdings" pitchFamily="2" charset="2"/>
              <a:buNone/>
            </a:pPr>
            <a:r>
              <a:rPr lang="en-US" altLang="zh-CN" smtClean="0">
                <a:solidFill>
                  <a:srgbClr val="FF0000"/>
                </a:solidFill>
                <a:latin typeface="黑体" pitchFamily="49" charset="-122"/>
                <a:ea typeface="黑体" pitchFamily="49" charset="-122"/>
              </a:rPr>
              <a:t>3.4.5 </a:t>
            </a:r>
            <a:r>
              <a:rPr lang="zh-CN" altLang="en-US" smtClean="0">
                <a:solidFill>
                  <a:srgbClr val="FF0000"/>
                </a:solidFill>
                <a:latin typeface="黑体" pitchFamily="49" charset="-122"/>
                <a:ea typeface="黑体" pitchFamily="49" charset="-122"/>
              </a:rPr>
              <a:t>集合查询</a:t>
            </a:r>
          </a:p>
        </p:txBody>
      </p:sp>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ChangeArrowheads="1"/>
          </p:cNvSpPr>
          <p:nvPr>
            <p:ph type="title"/>
          </p:nvPr>
        </p:nvSpPr>
        <p:spPr>
          <a:xfrm>
            <a:off x="755650" y="0"/>
            <a:ext cx="8174038" cy="1143000"/>
          </a:xfrm>
        </p:spPr>
        <p:txBody>
          <a:bodyPr/>
          <a:lstStyle/>
          <a:p>
            <a:pPr eaLnBrk="1" hangingPunct="1"/>
            <a:r>
              <a:rPr lang="en-US" altLang="zh-CN" smtClean="0">
                <a:latin typeface="黑体" pitchFamily="49" charset="-122"/>
              </a:rPr>
              <a:t>3.4.5  </a:t>
            </a:r>
            <a:r>
              <a:rPr lang="zh-CN" altLang="en-US" smtClean="0">
                <a:latin typeface="黑体" pitchFamily="49" charset="-122"/>
              </a:rPr>
              <a:t>集合查询</a:t>
            </a:r>
          </a:p>
        </p:txBody>
      </p:sp>
      <p:sp>
        <p:nvSpPr>
          <p:cNvPr id="105475" name="Rectangle 3"/>
          <p:cNvSpPr>
            <a:spLocks noChangeArrowheads="1"/>
          </p:cNvSpPr>
          <p:nvPr>
            <p:ph type="body" idx="1"/>
          </p:nvPr>
        </p:nvSpPr>
        <p:spPr>
          <a:xfrm>
            <a:off x="1546225" y="1773238"/>
            <a:ext cx="5905500" cy="4114800"/>
          </a:xfrm>
        </p:spPr>
        <p:txBody>
          <a:bodyPr/>
          <a:lstStyle/>
          <a:p>
            <a:pPr algn="just" eaLnBrk="1" hangingPunct="1">
              <a:lnSpc>
                <a:spcPct val="120000"/>
              </a:lnSpc>
              <a:buFont typeface="Wingdings" pitchFamily="2" charset="2"/>
              <a:buNone/>
            </a:pPr>
            <a:r>
              <a:rPr lang="zh-CN" altLang="en-US" sz="2800" smtClean="0">
                <a:latin typeface="黑体" pitchFamily="49" charset="-122"/>
                <a:ea typeface="黑体" pitchFamily="49" charset="-122"/>
              </a:rPr>
              <a:t>集合操作种类</a:t>
            </a:r>
          </a:p>
          <a:p>
            <a:pPr lvl="1" algn="just" eaLnBrk="1" hangingPunct="1">
              <a:lnSpc>
                <a:spcPct val="120000"/>
              </a:lnSpc>
              <a:buFont typeface="Wingdings" pitchFamily="2" charset="2"/>
              <a:buNone/>
            </a:pPr>
            <a:r>
              <a:rPr lang="zh-CN" altLang="en-US" smtClean="0">
                <a:latin typeface="黑体" pitchFamily="49" charset="-122"/>
                <a:ea typeface="黑体" pitchFamily="49" charset="-122"/>
              </a:rPr>
              <a:t>并操作</a:t>
            </a:r>
            <a:r>
              <a:rPr lang="en-US" altLang="zh-CN" smtClean="0">
                <a:latin typeface="黑体" pitchFamily="49" charset="-122"/>
                <a:ea typeface="黑体" pitchFamily="49" charset="-122"/>
              </a:rPr>
              <a:t>(UNION)</a:t>
            </a:r>
          </a:p>
          <a:p>
            <a:pPr lvl="1" algn="just" eaLnBrk="1" hangingPunct="1">
              <a:lnSpc>
                <a:spcPct val="120000"/>
              </a:lnSpc>
              <a:buFont typeface="Wingdings" pitchFamily="2" charset="2"/>
              <a:buNone/>
            </a:pPr>
            <a:r>
              <a:rPr lang="zh-CN" altLang="en-US" smtClean="0">
                <a:latin typeface="黑体" pitchFamily="49" charset="-122"/>
                <a:ea typeface="黑体" pitchFamily="49" charset="-122"/>
              </a:rPr>
              <a:t>交操作</a:t>
            </a:r>
            <a:r>
              <a:rPr lang="en-US" altLang="zh-CN" smtClean="0">
                <a:latin typeface="黑体" pitchFamily="49" charset="-122"/>
                <a:ea typeface="黑体" pitchFamily="49" charset="-122"/>
              </a:rPr>
              <a:t>(INTERSECT)</a:t>
            </a:r>
          </a:p>
          <a:p>
            <a:pPr lvl="1" algn="just" eaLnBrk="1" hangingPunct="1">
              <a:lnSpc>
                <a:spcPct val="120000"/>
              </a:lnSpc>
              <a:buFont typeface="Wingdings" pitchFamily="2" charset="2"/>
              <a:buNone/>
            </a:pPr>
            <a:r>
              <a:rPr lang="zh-CN" altLang="en-US" smtClean="0">
                <a:latin typeface="黑体" pitchFamily="49" charset="-122"/>
                <a:ea typeface="黑体" pitchFamily="49" charset="-122"/>
              </a:rPr>
              <a:t>差操作</a:t>
            </a:r>
            <a:r>
              <a:rPr lang="en-US" altLang="zh-CN" smtClean="0">
                <a:latin typeface="黑体" pitchFamily="49" charset="-122"/>
                <a:ea typeface="黑体" pitchFamily="49" charset="-122"/>
              </a:rPr>
              <a:t>(EXCEPT,MINUS)</a:t>
            </a:r>
          </a:p>
        </p:txBody>
      </p:sp>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ChangeArrowheads="1"/>
          </p:cNvSpPr>
          <p:nvPr>
            <p:ph type="title"/>
          </p:nvPr>
        </p:nvSpPr>
        <p:spPr>
          <a:xfrm>
            <a:off x="684213" y="908050"/>
            <a:ext cx="7793037" cy="1143000"/>
          </a:xfrm>
        </p:spPr>
        <p:txBody>
          <a:bodyPr/>
          <a:lstStyle/>
          <a:p>
            <a:pPr eaLnBrk="1" hangingPunct="1"/>
            <a:r>
              <a:rPr lang="zh-CN" altLang="en-US" sz="2800" smtClean="0">
                <a:solidFill>
                  <a:schemeClr val="tx1"/>
                </a:solidFill>
                <a:latin typeface="黑体" pitchFamily="49" charset="-122"/>
              </a:rPr>
              <a:t>一、并操作</a:t>
            </a:r>
          </a:p>
        </p:txBody>
      </p:sp>
      <p:sp>
        <p:nvSpPr>
          <p:cNvPr id="106499" name="Rectangle 3"/>
          <p:cNvSpPr>
            <a:spLocks noChangeArrowheads="1"/>
          </p:cNvSpPr>
          <p:nvPr>
            <p:ph type="body" idx="1"/>
          </p:nvPr>
        </p:nvSpPr>
        <p:spPr>
          <a:xfrm>
            <a:off x="684213" y="1844675"/>
            <a:ext cx="7772400" cy="4114800"/>
          </a:xfrm>
        </p:spPr>
        <p:txBody>
          <a:bodyPr/>
          <a:lstStyle/>
          <a:p>
            <a:pPr eaLnBrk="1" hangingPunct="1"/>
            <a:r>
              <a:rPr lang="zh-CN" altLang="en-US" sz="2400" smtClean="0">
                <a:latin typeface="黑体" pitchFamily="49" charset="-122"/>
                <a:ea typeface="黑体" pitchFamily="49" charset="-122"/>
              </a:rPr>
              <a:t>形式</a:t>
            </a:r>
          </a:p>
          <a:p>
            <a:pPr lvl="1" eaLnBrk="1" hangingPunct="1">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&lt;</a:t>
            </a:r>
            <a:r>
              <a:rPr lang="zh-CN" altLang="en-US" sz="2400" smtClean="0">
                <a:latin typeface="黑体" pitchFamily="49" charset="-122"/>
                <a:ea typeface="黑体" pitchFamily="49" charset="-122"/>
              </a:rPr>
              <a:t>查询块</a:t>
            </a:r>
            <a:r>
              <a:rPr lang="en-US" altLang="zh-CN" sz="2400" smtClean="0">
                <a:latin typeface="黑体" pitchFamily="49" charset="-122"/>
                <a:ea typeface="黑体" pitchFamily="49" charset="-122"/>
              </a:rPr>
              <a:t>&gt;</a:t>
            </a:r>
          </a:p>
          <a:p>
            <a:pPr lvl="1" eaLnBrk="1" hangingPunct="1">
              <a:buFont typeface="Wingdings" pitchFamily="2" charset="2"/>
              <a:buNone/>
            </a:pPr>
            <a:r>
              <a:rPr lang="en-US" altLang="zh-CN" sz="2400" smtClean="0">
                <a:latin typeface="黑体" pitchFamily="49" charset="-122"/>
                <a:ea typeface="黑体" pitchFamily="49" charset="-122"/>
              </a:rPr>
              <a:t>	 UNION</a:t>
            </a:r>
          </a:p>
          <a:p>
            <a:pPr lvl="1" eaLnBrk="1" hangingPunct="1">
              <a:buFont typeface="Wingdings" pitchFamily="2" charset="2"/>
              <a:buNone/>
            </a:pPr>
            <a:r>
              <a:rPr lang="en-US" altLang="zh-CN" sz="2400" smtClean="0">
                <a:latin typeface="黑体" pitchFamily="49" charset="-122"/>
                <a:ea typeface="黑体" pitchFamily="49" charset="-122"/>
              </a:rPr>
              <a:t>	 &lt;</a:t>
            </a:r>
            <a:r>
              <a:rPr lang="zh-CN" altLang="en-US" sz="2400" smtClean="0">
                <a:latin typeface="黑体" pitchFamily="49" charset="-122"/>
                <a:ea typeface="黑体" pitchFamily="49" charset="-122"/>
              </a:rPr>
              <a:t>查询块</a:t>
            </a:r>
            <a:r>
              <a:rPr lang="en-US" altLang="zh-CN" sz="2400" smtClean="0">
                <a:latin typeface="黑体" pitchFamily="49" charset="-122"/>
                <a:ea typeface="黑体" pitchFamily="49" charset="-122"/>
              </a:rPr>
              <a:t>&gt;</a:t>
            </a:r>
          </a:p>
          <a:p>
            <a:pPr lvl="1" eaLnBrk="1" hangingPunct="1"/>
            <a:endParaRPr lang="en-US" altLang="zh-CN" sz="2400" smtClean="0">
              <a:latin typeface="黑体" pitchFamily="49" charset="-122"/>
              <a:ea typeface="黑体" pitchFamily="49" charset="-122"/>
            </a:endParaRPr>
          </a:p>
          <a:p>
            <a:pPr lvl="1" eaLnBrk="1" hangingPunct="1"/>
            <a:r>
              <a:rPr lang="zh-CN" altLang="en-US" sz="2400" smtClean="0">
                <a:latin typeface="黑体" pitchFamily="49" charset="-122"/>
                <a:ea typeface="黑体" pitchFamily="49" charset="-122"/>
              </a:rPr>
              <a:t>参加</a:t>
            </a:r>
            <a:r>
              <a:rPr lang="en-US" altLang="zh-CN" sz="2400" smtClean="0">
                <a:latin typeface="黑体" pitchFamily="49" charset="-122"/>
                <a:ea typeface="黑体" pitchFamily="49" charset="-122"/>
              </a:rPr>
              <a:t>UNION</a:t>
            </a:r>
            <a:r>
              <a:rPr lang="zh-CN" altLang="en-US" sz="2400" smtClean="0">
                <a:latin typeface="黑体" pitchFamily="49" charset="-122"/>
                <a:ea typeface="黑体" pitchFamily="49" charset="-122"/>
              </a:rPr>
              <a:t>操作的各结果表的列数必须相同；对应项的数据类型也必须相同</a:t>
            </a:r>
          </a:p>
        </p:txBody>
      </p:sp>
      <p:sp>
        <p:nvSpPr>
          <p:cNvPr id="4" name="Rectangle 2"/>
          <p:cNvSpPr txBox="1">
            <a:spLocks noChangeArrowheads="1"/>
          </p:cNvSpPr>
          <p:nvPr/>
        </p:nvSpPr>
        <p:spPr bwMode="auto">
          <a:xfrm>
            <a:off x="755650" y="0"/>
            <a:ext cx="817403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3.4.5  </a:t>
            </a:r>
            <a:r>
              <a:rPr lang="zh-CN" altLang="en-US" b="0" kern="0" dirty="0" smtClean="0">
                <a:latin typeface="黑体" pitchFamily="49" charset="-122"/>
              </a:rPr>
              <a:t>集合查询</a:t>
            </a:r>
          </a:p>
        </p:txBody>
      </p:sp>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ChangeArrowheads="1"/>
          </p:cNvSpPr>
          <p:nvPr>
            <p:ph type="body" idx="1"/>
          </p:nvPr>
        </p:nvSpPr>
        <p:spPr>
          <a:xfrm>
            <a:off x="587375" y="2051050"/>
            <a:ext cx="7986713" cy="3960813"/>
          </a:xfrm>
        </p:spPr>
        <p:txBody>
          <a:bodyPr/>
          <a:lstStyle/>
          <a:p>
            <a:pPr eaLnBrk="1" hangingPunct="1">
              <a:lnSpc>
                <a:spcPct val="90000"/>
              </a:lnSpc>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44]  </a:t>
            </a:r>
            <a:r>
              <a:rPr lang="zh-CN" altLang="en-US" sz="2400" smtClean="0">
                <a:latin typeface="黑体" pitchFamily="49" charset="-122"/>
                <a:ea typeface="黑体" pitchFamily="49" charset="-122"/>
              </a:rPr>
              <a:t>查询选修了</a:t>
            </a:r>
            <a:r>
              <a:rPr lang="en-US" altLang="zh-CN" sz="2400" smtClean="0">
                <a:latin typeface="黑体" pitchFamily="49" charset="-122"/>
                <a:ea typeface="黑体" pitchFamily="49" charset="-122"/>
              </a:rPr>
              <a:t>001</a:t>
            </a:r>
            <a:r>
              <a:rPr lang="zh-CN" altLang="en-US" sz="2400" smtClean="0">
                <a:latin typeface="黑体" pitchFamily="49" charset="-122"/>
                <a:ea typeface="黑体" pitchFamily="49" charset="-122"/>
              </a:rPr>
              <a:t>号或者</a:t>
            </a:r>
            <a:r>
              <a:rPr lang="en-US" altLang="zh-CN" sz="2400" smtClean="0">
                <a:latin typeface="黑体" pitchFamily="49" charset="-122"/>
                <a:ea typeface="黑体" pitchFamily="49" charset="-122"/>
              </a:rPr>
              <a:t>003</a:t>
            </a:r>
            <a:r>
              <a:rPr lang="zh-CN" altLang="en-US" sz="2400" smtClean="0">
                <a:latin typeface="黑体" pitchFamily="49" charset="-122"/>
                <a:ea typeface="黑体" pitchFamily="49" charset="-122"/>
              </a:rPr>
              <a:t>号课程的学生学号。</a:t>
            </a:r>
          </a:p>
          <a:p>
            <a:pPr eaLnBrk="1" hangingPunct="1">
              <a:lnSpc>
                <a:spcPct val="90000"/>
              </a:lnSpc>
              <a:buFont typeface="Wingdings" pitchFamily="2" charset="2"/>
              <a:buNone/>
            </a:pPr>
            <a:r>
              <a:rPr lang="zh-CN" altLang="en-US" sz="2400" smtClean="0">
                <a:latin typeface="黑体" pitchFamily="49" charset="-122"/>
                <a:ea typeface="黑体" pitchFamily="49" charset="-122"/>
              </a:rPr>
              <a:t>  方法一：</a:t>
            </a:r>
          </a:p>
          <a:p>
            <a:pPr eaLnBrk="1" hangingPunct="1">
              <a:lnSpc>
                <a:spcPct val="90000"/>
              </a:lnSpc>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SELECT Sno</a:t>
            </a:r>
          </a:p>
          <a:p>
            <a:pPr eaLnBrk="1" hangingPunct="1">
              <a:lnSpc>
                <a:spcPct val="90000"/>
              </a:lnSpc>
              <a:buFont typeface="Wingdings" pitchFamily="2" charset="2"/>
              <a:buNone/>
            </a:pPr>
            <a:r>
              <a:rPr lang="en-US" altLang="zh-CN" sz="2400" smtClean="0">
                <a:latin typeface="黑体" pitchFamily="49" charset="-122"/>
                <a:ea typeface="黑体" pitchFamily="49" charset="-122"/>
              </a:rPr>
              <a:t>            FROM SC</a:t>
            </a:r>
          </a:p>
          <a:p>
            <a:pPr eaLnBrk="1" hangingPunct="1">
              <a:lnSpc>
                <a:spcPct val="90000"/>
              </a:lnSpc>
              <a:buFont typeface="Wingdings" pitchFamily="2" charset="2"/>
              <a:buNone/>
            </a:pPr>
            <a:r>
              <a:rPr lang="en-US" altLang="zh-CN" sz="2400" smtClean="0">
                <a:latin typeface="黑体" pitchFamily="49" charset="-122"/>
                <a:ea typeface="黑体" pitchFamily="49" charset="-122"/>
              </a:rPr>
              <a:t>            WHERE Cno=</a:t>
            </a:r>
            <a:r>
              <a:rPr lang="en-US" altLang="zh-CN" sz="2400" smtClean="0">
                <a:ea typeface="黑体" pitchFamily="49" charset="-122"/>
              </a:rPr>
              <a:t>‘</a:t>
            </a:r>
            <a:r>
              <a:rPr lang="en-US" altLang="zh-CN" sz="2400" smtClean="0">
                <a:latin typeface="黑体" pitchFamily="49" charset="-122"/>
                <a:ea typeface="黑体" pitchFamily="49" charset="-122"/>
              </a:rPr>
              <a:t>001'</a:t>
            </a:r>
          </a:p>
          <a:p>
            <a:pPr eaLnBrk="1" hangingPunct="1">
              <a:lnSpc>
                <a:spcPct val="90000"/>
              </a:lnSpc>
              <a:buFont typeface="Wingdings" pitchFamily="2" charset="2"/>
              <a:buNone/>
            </a:pPr>
            <a:r>
              <a:rPr lang="en-US" altLang="zh-CN" sz="2400" smtClean="0">
                <a:latin typeface="黑体" pitchFamily="49" charset="-122"/>
                <a:ea typeface="黑体" pitchFamily="49" charset="-122"/>
              </a:rPr>
              <a:t>            </a:t>
            </a:r>
            <a:r>
              <a:rPr lang="en-US" altLang="zh-CN" sz="2400" smtClean="0">
                <a:solidFill>
                  <a:srgbClr val="FF0000"/>
                </a:solidFill>
                <a:latin typeface="黑体" pitchFamily="49" charset="-122"/>
                <a:ea typeface="黑体" pitchFamily="49" charset="-122"/>
              </a:rPr>
              <a:t>UNION</a:t>
            </a:r>
          </a:p>
          <a:p>
            <a:pPr eaLnBrk="1" hangingPunct="1">
              <a:lnSpc>
                <a:spcPct val="90000"/>
              </a:lnSpc>
              <a:buFont typeface="Wingdings" pitchFamily="2" charset="2"/>
              <a:buNone/>
            </a:pPr>
            <a:r>
              <a:rPr lang="en-US" altLang="zh-CN" sz="2400" smtClean="0">
                <a:latin typeface="黑体" pitchFamily="49" charset="-122"/>
                <a:ea typeface="黑体" pitchFamily="49" charset="-122"/>
              </a:rPr>
              <a:t>            SELECT Sno</a:t>
            </a:r>
          </a:p>
          <a:p>
            <a:pPr eaLnBrk="1" hangingPunct="1">
              <a:lnSpc>
                <a:spcPct val="90000"/>
              </a:lnSpc>
              <a:buFont typeface="Wingdings" pitchFamily="2" charset="2"/>
              <a:buNone/>
            </a:pPr>
            <a:r>
              <a:rPr lang="en-US" altLang="zh-CN" sz="2400" smtClean="0">
                <a:latin typeface="黑体" pitchFamily="49" charset="-122"/>
                <a:ea typeface="黑体" pitchFamily="49" charset="-122"/>
              </a:rPr>
              <a:t>            FROM SC</a:t>
            </a:r>
          </a:p>
          <a:p>
            <a:pPr eaLnBrk="1" hangingPunct="1">
              <a:lnSpc>
                <a:spcPct val="90000"/>
              </a:lnSpc>
              <a:buFont typeface="Wingdings" pitchFamily="2" charset="2"/>
              <a:buNone/>
            </a:pPr>
            <a:r>
              <a:rPr lang="en-US" altLang="zh-CN" sz="2400" smtClean="0">
                <a:latin typeface="黑体" pitchFamily="49" charset="-122"/>
                <a:ea typeface="黑体" pitchFamily="49" charset="-122"/>
              </a:rPr>
              <a:t>            WHERE Cno= </a:t>
            </a:r>
            <a:r>
              <a:rPr lang="en-US" altLang="zh-CN" sz="2400" smtClean="0">
                <a:ea typeface="黑体" pitchFamily="49" charset="-122"/>
              </a:rPr>
              <a:t>‘</a:t>
            </a:r>
            <a:r>
              <a:rPr lang="en-US" altLang="zh-CN" sz="2400" smtClean="0">
                <a:latin typeface="黑体" pitchFamily="49" charset="-122"/>
                <a:ea typeface="黑体" pitchFamily="49" charset="-122"/>
              </a:rPr>
              <a:t>003'</a:t>
            </a:r>
            <a:r>
              <a:rPr lang="zh-CN" altLang="en-US" sz="2400" smtClean="0">
                <a:latin typeface="黑体" pitchFamily="49" charset="-122"/>
                <a:ea typeface="黑体" pitchFamily="49" charset="-122"/>
              </a:rPr>
              <a:t>；</a:t>
            </a:r>
          </a:p>
        </p:txBody>
      </p:sp>
      <p:sp>
        <p:nvSpPr>
          <p:cNvPr id="107523" name="Rectangle 2"/>
          <p:cNvSpPr>
            <a:spLocks noChangeArrowheads="1"/>
          </p:cNvSpPr>
          <p:nvPr>
            <p:ph type="title"/>
          </p:nvPr>
        </p:nvSpPr>
        <p:spPr>
          <a:xfrm>
            <a:off x="755650" y="0"/>
            <a:ext cx="8174038" cy="1143000"/>
          </a:xfrm>
        </p:spPr>
        <p:txBody>
          <a:bodyPr/>
          <a:lstStyle/>
          <a:p>
            <a:pPr eaLnBrk="1" hangingPunct="1"/>
            <a:r>
              <a:rPr lang="en-US" altLang="zh-CN" smtClean="0">
                <a:latin typeface="黑体" pitchFamily="49" charset="-122"/>
              </a:rPr>
              <a:t>3.4.5  </a:t>
            </a:r>
            <a:r>
              <a:rPr lang="zh-CN" altLang="en-US" smtClean="0">
                <a:latin typeface="黑体" pitchFamily="49" charset="-122"/>
              </a:rPr>
              <a:t>集合查询</a:t>
            </a:r>
          </a:p>
        </p:txBody>
      </p:sp>
      <p:sp>
        <p:nvSpPr>
          <p:cNvPr id="6" name="Rectangle 2"/>
          <p:cNvSpPr txBox="1">
            <a:spLocks noChangeArrowheads="1"/>
          </p:cNvSpPr>
          <p:nvPr/>
        </p:nvSpPr>
        <p:spPr bwMode="auto">
          <a:xfrm>
            <a:off x="684213" y="90805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zh-CN" altLang="en-US" sz="2800" b="0" kern="0" dirty="0" smtClean="0">
                <a:solidFill>
                  <a:schemeClr val="tx1"/>
                </a:solidFill>
                <a:latin typeface="黑体" pitchFamily="49" charset="-122"/>
              </a:rPr>
              <a:t>一、并操作</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3491">
                                            <p:txEl>
                                              <p:pRg st="2" end="2"/>
                                            </p:txEl>
                                          </p:spTgt>
                                        </p:tgtEl>
                                        <p:attrNameLst>
                                          <p:attrName>style.visibility</p:attrName>
                                        </p:attrNameLst>
                                      </p:cBhvr>
                                      <p:to>
                                        <p:strVal val="visible"/>
                                      </p:to>
                                    </p:set>
                                    <p:anim calcmode="lin" valueType="num">
                                      <p:cBhvr additive="base">
                                        <p:cTn id="7" dur="500" fill="hold"/>
                                        <p:tgtEl>
                                          <p:spTgt spid="6349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491">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3491">
                                            <p:txEl>
                                              <p:pRg st="3" end="3"/>
                                            </p:txEl>
                                          </p:spTgt>
                                        </p:tgtEl>
                                        <p:attrNameLst>
                                          <p:attrName>style.visibility</p:attrName>
                                        </p:attrNameLst>
                                      </p:cBhvr>
                                      <p:to>
                                        <p:strVal val="visible"/>
                                      </p:to>
                                    </p:set>
                                    <p:anim calcmode="lin" valueType="num">
                                      <p:cBhvr additive="base">
                                        <p:cTn id="11" dur="500" fill="hold"/>
                                        <p:tgtEl>
                                          <p:spTgt spid="63491">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3491">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3491">
                                            <p:txEl>
                                              <p:pRg st="4" end="4"/>
                                            </p:txEl>
                                          </p:spTgt>
                                        </p:tgtEl>
                                        <p:attrNameLst>
                                          <p:attrName>style.visibility</p:attrName>
                                        </p:attrNameLst>
                                      </p:cBhvr>
                                      <p:to>
                                        <p:strVal val="visible"/>
                                      </p:to>
                                    </p:set>
                                    <p:anim calcmode="lin" valueType="num">
                                      <p:cBhvr additive="base">
                                        <p:cTn id="15" dur="500" fill="hold"/>
                                        <p:tgtEl>
                                          <p:spTgt spid="63491">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349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63491">
                                            <p:txEl>
                                              <p:pRg st="6" end="6"/>
                                            </p:txEl>
                                          </p:spTgt>
                                        </p:tgtEl>
                                        <p:attrNameLst>
                                          <p:attrName>style.visibility</p:attrName>
                                        </p:attrNameLst>
                                      </p:cBhvr>
                                      <p:to>
                                        <p:strVal val="visible"/>
                                      </p:to>
                                    </p:set>
                                    <p:anim calcmode="lin" valueType="num">
                                      <p:cBhvr additive="base">
                                        <p:cTn id="21" dur="500" fill="hold"/>
                                        <p:tgtEl>
                                          <p:spTgt spid="63491">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3491">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3491">
                                            <p:txEl>
                                              <p:pRg st="7" end="7"/>
                                            </p:txEl>
                                          </p:spTgt>
                                        </p:tgtEl>
                                        <p:attrNameLst>
                                          <p:attrName>style.visibility</p:attrName>
                                        </p:attrNameLst>
                                      </p:cBhvr>
                                      <p:to>
                                        <p:strVal val="visible"/>
                                      </p:to>
                                    </p:set>
                                    <p:anim calcmode="lin" valueType="num">
                                      <p:cBhvr additive="base">
                                        <p:cTn id="25" dur="500" fill="hold"/>
                                        <p:tgtEl>
                                          <p:spTgt spid="63491">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3491">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3491">
                                            <p:txEl>
                                              <p:pRg st="8" end="8"/>
                                            </p:txEl>
                                          </p:spTgt>
                                        </p:tgtEl>
                                        <p:attrNameLst>
                                          <p:attrName>style.visibility</p:attrName>
                                        </p:attrNameLst>
                                      </p:cBhvr>
                                      <p:to>
                                        <p:strVal val="visible"/>
                                      </p:to>
                                    </p:set>
                                    <p:anim calcmode="lin" valueType="num">
                                      <p:cBhvr additive="base">
                                        <p:cTn id="29" dur="500" fill="hold"/>
                                        <p:tgtEl>
                                          <p:spTgt spid="63491">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349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63491">
                                            <p:txEl>
                                              <p:pRg st="5" end="5"/>
                                            </p:txEl>
                                          </p:spTgt>
                                        </p:tgtEl>
                                        <p:attrNameLst>
                                          <p:attrName>style.visibility</p:attrName>
                                        </p:attrNameLst>
                                      </p:cBhvr>
                                      <p:to>
                                        <p:strVal val="visible"/>
                                      </p:to>
                                    </p:set>
                                    <p:anim calcmode="lin" valueType="num">
                                      <p:cBhvr additive="base">
                                        <p:cTn id="35" dur="500" fill="hold"/>
                                        <p:tgtEl>
                                          <p:spTgt spid="63491">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349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ChangeArrowheads="1"/>
          </p:cNvSpPr>
          <p:nvPr>
            <p:ph type="body" idx="1"/>
          </p:nvPr>
        </p:nvSpPr>
        <p:spPr>
          <a:xfrm>
            <a:off x="900113" y="2060575"/>
            <a:ext cx="7272337" cy="4608513"/>
          </a:xfrm>
        </p:spPr>
        <p:txBody>
          <a:bodyPr/>
          <a:lstStyle/>
          <a:p>
            <a:pPr eaLnBrk="1" hangingPunct="1">
              <a:buFont typeface="Wingdings" pitchFamily="2" charset="2"/>
              <a:buNone/>
            </a:pPr>
            <a:r>
              <a:rPr lang="zh-CN" altLang="en-US" sz="2800" smtClean="0">
                <a:latin typeface="黑体" pitchFamily="49" charset="-122"/>
                <a:ea typeface="黑体" pitchFamily="49" charset="-122"/>
              </a:rPr>
              <a:t>方法二：</a:t>
            </a:r>
          </a:p>
          <a:p>
            <a:pPr eaLnBrk="1" hangingPunct="1">
              <a:spcBef>
                <a:spcPct val="60000"/>
              </a:spcBef>
              <a:buFont typeface="Wingdings" pitchFamily="2" charset="2"/>
              <a:buNone/>
            </a:pPr>
            <a:r>
              <a:rPr lang="zh-CN" altLang="en-US" sz="2800" smtClean="0">
                <a:latin typeface="黑体" pitchFamily="49" charset="-122"/>
                <a:ea typeface="黑体" pitchFamily="49" charset="-122"/>
              </a:rPr>
              <a:t>    </a:t>
            </a:r>
            <a:r>
              <a:rPr lang="en-US" altLang="zh-CN" sz="2800" smtClean="0">
                <a:latin typeface="黑体" pitchFamily="49" charset="-122"/>
                <a:ea typeface="黑体" pitchFamily="49" charset="-122"/>
              </a:rPr>
              <a:t>SELECT  DISTINCT  Sno</a:t>
            </a:r>
          </a:p>
          <a:p>
            <a:pPr eaLnBrk="1" hangingPunct="1">
              <a:buFont typeface="Wingdings" pitchFamily="2" charset="2"/>
              <a:buNone/>
            </a:pPr>
            <a:r>
              <a:rPr lang="en-US" altLang="zh-CN" sz="2800" smtClean="0">
                <a:latin typeface="黑体" pitchFamily="49" charset="-122"/>
                <a:ea typeface="黑体" pitchFamily="49" charset="-122"/>
              </a:rPr>
              <a:t>    FROM SC</a:t>
            </a:r>
          </a:p>
          <a:p>
            <a:pPr eaLnBrk="1" hangingPunct="1">
              <a:buFont typeface="Wingdings" pitchFamily="2" charset="2"/>
              <a:buNone/>
            </a:pPr>
            <a:r>
              <a:rPr lang="en-US" altLang="zh-CN" sz="2800" smtClean="0">
                <a:latin typeface="黑体" pitchFamily="49" charset="-122"/>
                <a:ea typeface="黑体" pitchFamily="49" charset="-122"/>
              </a:rPr>
              <a:t>    WHERE Cno=</a:t>
            </a:r>
            <a:r>
              <a:rPr lang="en-US" altLang="zh-CN" sz="2800" smtClean="0">
                <a:ea typeface="黑体" pitchFamily="49" charset="-122"/>
              </a:rPr>
              <a:t>‘</a:t>
            </a:r>
            <a:r>
              <a:rPr lang="en-US" altLang="zh-CN" sz="2800" smtClean="0">
                <a:latin typeface="黑体" pitchFamily="49" charset="-122"/>
                <a:ea typeface="黑体" pitchFamily="49" charset="-122"/>
              </a:rPr>
              <a:t>001'  OR  Cno= </a:t>
            </a:r>
            <a:r>
              <a:rPr lang="en-US" altLang="zh-CN" sz="2800" smtClean="0">
                <a:ea typeface="黑体" pitchFamily="49" charset="-122"/>
              </a:rPr>
              <a:t>‘</a:t>
            </a:r>
            <a:r>
              <a:rPr lang="en-US" altLang="zh-CN" sz="2800" smtClean="0">
                <a:latin typeface="黑体" pitchFamily="49" charset="-122"/>
                <a:ea typeface="黑体" pitchFamily="49" charset="-122"/>
              </a:rPr>
              <a:t>003'</a:t>
            </a:r>
            <a:r>
              <a:rPr lang="zh-CN" altLang="en-US" sz="2800" smtClean="0">
                <a:latin typeface="黑体" pitchFamily="49" charset="-122"/>
                <a:ea typeface="黑体" pitchFamily="49" charset="-122"/>
              </a:rPr>
              <a:t>；</a:t>
            </a:r>
          </a:p>
          <a:p>
            <a:pPr eaLnBrk="1" hangingPunct="1">
              <a:buFont typeface="Wingdings" pitchFamily="2" charset="2"/>
              <a:buNone/>
            </a:pPr>
            <a:endParaRPr lang="zh-CN" altLang="en-US" sz="2800" smtClean="0">
              <a:latin typeface="黑体" pitchFamily="49" charset="-122"/>
              <a:ea typeface="黑体" pitchFamily="49" charset="-122"/>
            </a:endParaRPr>
          </a:p>
          <a:p>
            <a:pPr eaLnBrk="1" hangingPunct="1">
              <a:buFont typeface="Wingdings" pitchFamily="2" charset="2"/>
              <a:buNone/>
            </a:pPr>
            <a:endParaRPr lang="zh-CN" altLang="en-US" smtClean="0">
              <a:latin typeface="黑体" pitchFamily="49" charset="-122"/>
              <a:ea typeface="黑体" pitchFamily="49" charset="-122"/>
            </a:endParaRPr>
          </a:p>
        </p:txBody>
      </p:sp>
      <p:sp>
        <p:nvSpPr>
          <p:cNvPr id="108547" name="Rectangle 2"/>
          <p:cNvSpPr>
            <a:spLocks noChangeArrowheads="1"/>
          </p:cNvSpPr>
          <p:nvPr>
            <p:ph type="title"/>
          </p:nvPr>
        </p:nvSpPr>
        <p:spPr>
          <a:xfrm>
            <a:off x="755650" y="0"/>
            <a:ext cx="8174038" cy="1143000"/>
          </a:xfrm>
        </p:spPr>
        <p:txBody>
          <a:bodyPr/>
          <a:lstStyle/>
          <a:p>
            <a:pPr eaLnBrk="1" hangingPunct="1"/>
            <a:r>
              <a:rPr lang="en-US" altLang="zh-CN" smtClean="0">
                <a:latin typeface="黑体" pitchFamily="49" charset="-122"/>
              </a:rPr>
              <a:t>3.4.5  </a:t>
            </a:r>
            <a:r>
              <a:rPr lang="zh-CN" altLang="en-US" smtClean="0">
                <a:latin typeface="黑体" pitchFamily="49" charset="-122"/>
              </a:rPr>
              <a:t>集合查询</a:t>
            </a:r>
          </a:p>
        </p:txBody>
      </p:sp>
      <p:sp>
        <p:nvSpPr>
          <p:cNvPr id="6" name="Rectangle 2"/>
          <p:cNvSpPr txBox="1">
            <a:spLocks noChangeArrowheads="1"/>
          </p:cNvSpPr>
          <p:nvPr/>
        </p:nvSpPr>
        <p:spPr bwMode="auto">
          <a:xfrm>
            <a:off x="684213" y="90805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zh-CN" altLang="en-US" sz="2800" b="0" kern="0" dirty="0" smtClean="0">
                <a:solidFill>
                  <a:schemeClr val="tx1"/>
                </a:solidFill>
                <a:latin typeface="黑体" pitchFamily="49" charset="-122"/>
              </a:rPr>
              <a:t>一、并操作</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nodeType="clickEffect">
                                  <p:stCondLst>
                                    <p:cond delay="0"/>
                                  </p:stCondLst>
                                  <p:childTnLst>
                                    <p:set>
                                      <p:cBhvr>
                                        <p:cTn id="6" dur="1" fill="hold">
                                          <p:stCondLst>
                                            <p:cond delay="0"/>
                                          </p:stCondLst>
                                        </p:cTn>
                                        <p:tgtEl>
                                          <p:spTgt spid="64515">
                                            <p:txEl>
                                              <p:pRg st="1" end="1"/>
                                            </p:txEl>
                                          </p:spTgt>
                                        </p:tgtEl>
                                        <p:attrNameLst>
                                          <p:attrName>style.visibility</p:attrName>
                                        </p:attrNameLst>
                                      </p:cBhvr>
                                      <p:to>
                                        <p:strVal val="visible"/>
                                      </p:to>
                                    </p:set>
                                    <p:animEffect transition="in" filter="fade">
                                      <p:cBhvr>
                                        <p:cTn id="7" dur="1000"/>
                                        <p:tgtEl>
                                          <p:spTgt spid="64515">
                                            <p:txEl>
                                              <p:pRg st="1" end="1"/>
                                            </p:txEl>
                                          </p:spTgt>
                                        </p:tgtEl>
                                      </p:cBhvr>
                                    </p:animEffect>
                                    <p:anim calcmode="lin" valueType="num">
                                      <p:cBhvr>
                                        <p:cTn id="8" dur="1000" fill="hold"/>
                                        <p:tgtEl>
                                          <p:spTgt spid="64515">
                                            <p:txEl>
                                              <p:pRg st="1" end="1"/>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64515">
                                            <p:txEl>
                                              <p:pRg st="1" end="1"/>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64515">
                                            <p:txEl>
                                              <p:pRg st="1" end="1"/>
                                            </p:txEl>
                                          </p:spTgt>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64515">
                                            <p:txEl>
                                              <p:pRg st="2" end="2"/>
                                            </p:txEl>
                                          </p:spTgt>
                                        </p:tgtEl>
                                        <p:attrNameLst>
                                          <p:attrName>style.visibility</p:attrName>
                                        </p:attrNameLst>
                                      </p:cBhvr>
                                      <p:to>
                                        <p:strVal val="visible"/>
                                      </p:to>
                                    </p:set>
                                    <p:animEffect transition="in" filter="fade">
                                      <p:cBhvr>
                                        <p:cTn id="13" dur="1000"/>
                                        <p:tgtEl>
                                          <p:spTgt spid="64515">
                                            <p:txEl>
                                              <p:pRg st="2" end="2"/>
                                            </p:txEl>
                                          </p:spTgt>
                                        </p:tgtEl>
                                      </p:cBhvr>
                                    </p:animEffect>
                                    <p:anim calcmode="lin" valueType="num">
                                      <p:cBhvr>
                                        <p:cTn id="14" dur="1000" fill="hold"/>
                                        <p:tgtEl>
                                          <p:spTgt spid="64515">
                                            <p:txEl>
                                              <p:pRg st="2" end="2"/>
                                            </p:txEl>
                                          </p:spTgt>
                                        </p:tgtEl>
                                        <p:attrNameLst>
                                          <p:attrName>ppt_x</p:attrName>
                                        </p:attrNameLst>
                                      </p:cBhvr>
                                      <p:tavLst>
                                        <p:tav tm="0">
                                          <p:val>
                                            <p:strVal val="#ppt_x"/>
                                          </p:val>
                                        </p:tav>
                                        <p:tav tm="100000">
                                          <p:val>
                                            <p:strVal val="#ppt_x"/>
                                          </p:val>
                                        </p:tav>
                                      </p:tavLst>
                                    </p:anim>
                                    <p:anim calcmode="lin" valueType="num">
                                      <p:cBhvr>
                                        <p:cTn id="15" dur="900" decel="100000" fill="hold"/>
                                        <p:tgtEl>
                                          <p:spTgt spid="64515">
                                            <p:txEl>
                                              <p:pRg st="2" end="2"/>
                                            </p:txEl>
                                          </p:spTgt>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64515">
                                            <p:txEl>
                                              <p:pRg st="2" end="2"/>
                                            </p:txEl>
                                          </p:spTgt>
                                        </p:tgtEl>
                                        <p:attrNameLst>
                                          <p:attrName>ppt_y</p:attrName>
                                        </p:attrNameLst>
                                      </p:cBhvr>
                                      <p:tavLst>
                                        <p:tav tm="0">
                                          <p:val>
                                            <p:strVal val="#ppt_y-.03"/>
                                          </p:val>
                                        </p:tav>
                                        <p:tav tm="100000">
                                          <p:val>
                                            <p:strVal val="#ppt_y"/>
                                          </p:val>
                                        </p:tav>
                                      </p:tavLst>
                                    </p:anim>
                                  </p:childTnLst>
                                </p:cTn>
                              </p:par>
                              <p:par>
                                <p:cTn id="17" presetID="37" presetClass="entr" presetSubtype="0" fill="hold" nodeType="withEffect">
                                  <p:stCondLst>
                                    <p:cond delay="0"/>
                                  </p:stCondLst>
                                  <p:childTnLst>
                                    <p:set>
                                      <p:cBhvr>
                                        <p:cTn id="18" dur="1" fill="hold">
                                          <p:stCondLst>
                                            <p:cond delay="0"/>
                                          </p:stCondLst>
                                        </p:cTn>
                                        <p:tgtEl>
                                          <p:spTgt spid="64515">
                                            <p:txEl>
                                              <p:pRg st="3" end="3"/>
                                            </p:txEl>
                                          </p:spTgt>
                                        </p:tgtEl>
                                        <p:attrNameLst>
                                          <p:attrName>style.visibility</p:attrName>
                                        </p:attrNameLst>
                                      </p:cBhvr>
                                      <p:to>
                                        <p:strVal val="visible"/>
                                      </p:to>
                                    </p:set>
                                    <p:animEffect transition="in" filter="fade">
                                      <p:cBhvr>
                                        <p:cTn id="19" dur="1000"/>
                                        <p:tgtEl>
                                          <p:spTgt spid="64515">
                                            <p:txEl>
                                              <p:pRg st="3" end="3"/>
                                            </p:txEl>
                                          </p:spTgt>
                                        </p:tgtEl>
                                      </p:cBhvr>
                                    </p:animEffect>
                                    <p:anim calcmode="lin" valueType="num">
                                      <p:cBhvr>
                                        <p:cTn id="20" dur="1000" fill="hold"/>
                                        <p:tgtEl>
                                          <p:spTgt spid="64515">
                                            <p:txEl>
                                              <p:pRg st="3" end="3"/>
                                            </p:txEl>
                                          </p:spTgt>
                                        </p:tgtEl>
                                        <p:attrNameLst>
                                          <p:attrName>ppt_x</p:attrName>
                                        </p:attrNameLst>
                                      </p:cBhvr>
                                      <p:tavLst>
                                        <p:tav tm="0">
                                          <p:val>
                                            <p:strVal val="#ppt_x"/>
                                          </p:val>
                                        </p:tav>
                                        <p:tav tm="100000">
                                          <p:val>
                                            <p:strVal val="#ppt_x"/>
                                          </p:val>
                                        </p:tav>
                                      </p:tavLst>
                                    </p:anim>
                                    <p:anim calcmode="lin" valueType="num">
                                      <p:cBhvr>
                                        <p:cTn id="21" dur="900" decel="100000" fill="hold"/>
                                        <p:tgtEl>
                                          <p:spTgt spid="64515">
                                            <p:txEl>
                                              <p:pRg st="3" end="3"/>
                                            </p:txEl>
                                          </p:spTgt>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64515">
                                            <p:txEl>
                                              <p:pRg st="3" end="3"/>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3"/>
          <p:cNvSpPr>
            <a:spLocks noChangeArrowheads="1"/>
          </p:cNvSpPr>
          <p:nvPr>
            <p:ph type="body" idx="1"/>
          </p:nvPr>
        </p:nvSpPr>
        <p:spPr>
          <a:xfrm>
            <a:off x="539750" y="2205038"/>
            <a:ext cx="8229600" cy="3960812"/>
          </a:xfrm>
        </p:spPr>
        <p:txBody>
          <a:bodyPr/>
          <a:lstStyle/>
          <a:p>
            <a:pPr eaLnBrk="1" hangingPunct="1"/>
            <a:r>
              <a:rPr lang="zh-CN" altLang="en-US" sz="2400" smtClean="0">
                <a:latin typeface="黑体" pitchFamily="49" charset="-122"/>
                <a:ea typeface="黑体" pitchFamily="49" charset="-122"/>
              </a:rPr>
              <a:t>形式</a:t>
            </a:r>
          </a:p>
          <a:p>
            <a:pPr lvl="1" eaLnBrk="1" hangingPunct="1">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&lt;</a:t>
            </a:r>
            <a:r>
              <a:rPr lang="zh-CN" altLang="en-US" sz="2400" smtClean="0">
                <a:latin typeface="黑体" pitchFamily="49" charset="-122"/>
                <a:ea typeface="黑体" pitchFamily="49" charset="-122"/>
              </a:rPr>
              <a:t>查询块</a:t>
            </a:r>
            <a:r>
              <a:rPr lang="en-US" altLang="zh-CN" sz="2400" smtClean="0">
                <a:latin typeface="黑体" pitchFamily="49" charset="-122"/>
                <a:ea typeface="黑体" pitchFamily="49" charset="-122"/>
              </a:rPr>
              <a:t>&gt;</a:t>
            </a:r>
          </a:p>
          <a:p>
            <a:pPr lvl="1" eaLnBrk="1" hangingPunct="1">
              <a:buFont typeface="Wingdings" pitchFamily="2" charset="2"/>
              <a:buNone/>
            </a:pPr>
            <a:r>
              <a:rPr lang="en-US" altLang="zh-CN" sz="2400" smtClean="0">
                <a:latin typeface="黑体" pitchFamily="49" charset="-122"/>
                <a:ea typeface="黑体" pitchFamily="49" charset="-122"/>
              </a:rPr>
              <a:t>	 </a:t>
            </a:r>
            <a:r>
              <a:rPr lang="en-US" altLang="zh-CN" sz="2400" smtClean="0">
                <a:solidFill>
                  <a:schemeClr val="hlink"/>
                </a:solidFill>
                <a:latin typeface="黑体" pitchFamily="49" charset="-122"/>
                <a:ea typeface="黑体" pitchFamily="49" charset="-122"/>
              </a:rPr>
              <a:t>INTERSECT</a:t>
            </a:r>
            <a:endParaRPr lang="en-US" altLang="zh-CN" sz="2400" smtClean="0">
              <a:latin typeface="黑体" pitchFamily="49" charset="-122"/>
              <a:ea typeface="黑体" pitchFamily="49" charset="-122"/>
            </a:endParaRPr>
          </a:p>
          <a:p>
            <a:pPr lvl="1" eaLnBrk="1" hangingPunct="1">
              <a:buFont typeface="Wingdings" pitchFamily="2" charset="2"/>
              <a:buNone/>
            </a:pPr>
            <a:r>
              <a:rPr lang="en-US" altLang="zh-CN" sz="2400" smtClean="0">
                <a:latin typeface="黑体" pitchFamily="49" charset="-122"/>
                <a:ea typeface="黑体" pitchFamily="49" charset="-122"/>
              </a:rPr>
              <a:t>	 &lt;</a:t>
            </a:r>
            <a:r>
              <a:rPr lang="zh-CN" altLang="en-US" sz="2400" smtClean="0">
                <a:latin typeface="黑体" pitchFamily="49" charset="-122"/>
                <a:ea typeface="黑体" pitchFamily="49" charset="-122"/>
              </a:rPr>
              <a:t>查询块</a:t>
            </a:r>
            <a:r>
              <a:rPr lang="en-US" altLang="zh-CN" sz="2400" smtClean="0">
                <a:latin typeface="黑体" pitchFamily="49" charset="-122"/>
                <a:ea typeface="黑体" pitchFamily="49" charset="-122"/>
              </a:rPr>
              <a:t>&gt;</a:t>
            </a:r>
          </a:p>
          <a:p>
            <a:pPr lvl="1" eaLnBrk="1" hangingPunct="1"/>
            <a:endParaRPr lang="en-US" altLang="zh-CN" sz="2400" smtClean="0">
              <a:latin typeface="黑体" pitchFamily="49" charset="-122"/>
              <a:ea typeface="黑体" pitchFamily="49" charset="-122"/>
            </a:endParaRPr>
          </a:p>
          <a:p>
            <a:pPr lvl="1" eaLnBrk="1" hangingPunct="1"/>
            <a:r>
              <a:rPr lang="zh-CN" altLang="en-US" sz="2400" smtClean="0">
                <a:latin typeface="黑体" pitchFamily="49" charset="-122"/>
                <a:ea typeface="黑体" pitchFamily="49" charset="-122"/>
              </a:rPr>
              <a:t>参加</a:t>
            </a:r>
            <a:r>
              <a:rPr lang="en-US" altLang="zh-CN" sz="2400" smtClean="0">
                <a:solidFill>
                  <a:schemeClr val="hlink"/>
                </a:solidFill>
                <a:latin typeface="黑体" pitchFamily="49" charset="-122"/>
                <a:ea typeface="黑体" pitchFamily="49" charset="-122"/>
              </a:rPr>
              <a:t>INTERSECT</a:t>
            </a:r>
            <a:r>
              <a:rPr lang="zh-CN" altLang="en-US" sz="2400" smtClean="0">
                <a:latin typeface="黑体" pitchFamily="49" charset="-122"/>
                <a:ea typeface="黑体" pitchFamily="49" charset="-122"/>
              </a:rPr>
              <a:t>操作的各结果表的列数必须相同；对应项的数据类型也必须相同</a:t>
            </a:r>
          </a:p>
          <a:p>
            <a:pPr eaLnBrk="1" hangingPunct="1">
              <a:buFont typeface="Wingdings" pitchFamily="2" charset="2"/>
              <a:buNone/>
            </a:pPr>
            <a:endParaRPr lang="zh-CN" altLang="en-US" sz="2400" smtClean="0"/>
          </a:p>
        </p:txBody>
      </p:sp>
      <p:sp>
        <p:nvSpPr>
          <p:cNvPr id="109571" name="Rectangle 2"/>
          <p:cNvSpPr>
            <a:spLocks noChangeArrowheads="1"/>
          </p:cNvSpPr>
          <p:nvPr>
            <p:ph type="title"/>
          </p:nvPr>
        </p:nvSpPr>
        <p:spPr>
          <a:xfrm>
            <a:off x="755650" y="0"/>
            <a:ext cx="8174038" cy="1143000"/>
          </a:xfrm>
        </p:spPr>
        <p:txBody>
          <a:bodyPr/>
          <a:lstStyle/>
          <a:p>
            <a:pPr eaLnBrk="1" hangingPunct="1"/>
            <a:r>
              <a:rPr lang="en-US" altLang="zh-CN" smtClean="0">
                <a:latin typeface="黑体" pitchFamily="49" charset="-122"/>
              </a:rPr>
              <a:t>3.4.5  </a:t>
            </a:r>
            <a:r>
              <a:rPr lang="zh-CN" altLang="en-US" smtClean="0">
                <a:latin typeface="黑体" pitchFamily="49" charset="-122"/>
              </a:rPr>
              <a:t>集合查询</a:t>
            </a:r>
          </a:p>
        </p:txBody>
      </p:sp>
      <p:sp>
        <p:nvSpPr>
          <p:cNvPr id="6" name="Rectangle 2"/>
          <p:cNvSpPr txBox="1">
            <a:spLocks noChangeArrowheads="1"/>
          </p:cNvSpPr>
          <p:nvPr/>
        </p:nvSpPr>
        <p:spPr bwMode="auto">
          <a:xfrm>
            <a:off x="684213" y="90805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zh-CN" altLang="en-US" sz="2800" b="0" kern="0" dirty="0" smtClean="0">
                <a:solidFill>
                  <a:schemeClr val="tx1"/>
                </a:solidFill>
                <a:latin typeface="黑体" pitchFamily="49" charset="-122"/>
              </a:rPr>
              <a:t>二、</a:t>
            </a:r>
            <a:r>
              <a:rPr lang="zh-CN" altLang="en-US" sz="2800" b="0" kern="0" dirty="0">
                <a:solidFill>
                  <a:schemeClr val="tx1"/>
                </a:solidFill>
                <a:latin typeface="黑体" pitchFamily="49" charset="-122"/>
              </a:rPr>
              <a:t>交</a:t>
            </a:r>
            <a:r>
              <a:rPr lang="zh-CN" altLang="en-US" sz="2800" b="0" kern="0" dirty="0" smtClean="0">
                <a:solidFill>
                  <a:schemeClr val="tx1"/>
                </a:solidFill>
                <a:latin typeface="黑体" pitchFamily="49" charset="-122"/>
              </a:rPr>
              <a:t>操作</a:t>
            </a:r>
          </a:p>
        </p:txBody>
      </p:sp>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ChangeArrowheads="1"/>
          </p:cNvSpPr>
          <p:nvPr>
            <p:ph type="body" idx="1"/>
          </p:nvPr>
        </p:nvSpPr>
        <p:spPr>
          <a:xfrm>
            <a:off x="611188" y="1916113"/>
            <a:ext cx="7772400" cy="4752975"/>
          </a:xfrm>
        </p:spPr>
        <p:txBody>
          <a:bodyPr/>
          <a:lstStyle/>
          <a:p>
            <a:pPr eaLnBrk="1" hangingPunct="1">
              <a:lnSpc>
                <a:spcPct val="130000"/>
              </a:lnSpc>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45]</a:t>
            </a:r>
            <a:r>
              <a:rPr lang="zh-CN" altLang="en-US" sz="2400" smtClean="0">
                <a:latin typeface="黑体" pitchFamily="49" charset="-122"/>
                <a:ea typeface="黑体" pitchFamily="49" charset="-122"/>
              </a:rPr>
              <a:t>查询选修了</a:t>
            </a:r>
            <a:r>
              <a:rPr lang="en-US" altLang="zh-CN" sz="2400" smtClean="0">
                <a:latin typeface="黑体" pitchFamily="49" charset="-122"/>
                <a:ea typeface="黑体" pitchFamily="49" charset="-122"/>
              </a:rPr>
              <a:t>001</a:t>
            </a:r>
            <a:r>
              <a:rPr lang="zh-CN" altLang="en-US" sz="2400" smtClean="0">
                <a:latin typeface="黑体" pitchFamily="49" charset="-122"/>
                <a:ea typeface="黑体" pitchFamily="49" charset="-122"/>
              </a:rPr>
              <a:t>号和</a:t>
            </a:r>
            <a:r>
              <a:rPr lang="en-US" altLang="zh-CN" sz="2400" smtClean="0">
                <a:latin typeface="黑体" pitchFamily="49" charset="-122"/>
                <a:ea typeface="黑体" pitchFamily="49" charset="-122"/>
              </a:rPr>
              <a:t>003</a:t>
            </a:r>
            <a:r>
              <a:rPr lang="zh-CN" altLang="en-US" sz="2400" smtClean="0">
                <a:latin typeface="黑体" pitchFamily="49" charset="-122"/>
                <a:ea typeface="黑体" pitchFamily="49" charset="-122"/>
              </a:rPr>
              <a:t>号课程的学生学号。</a:t>
            </a:r>
          </a:p>
          <a:p>
            <a:pPr eaLnBrk="1" hangingPunct="1">
              <a:lnSpc>
                <a:spcPct val="90000"/>
              </a:lnSpc>
              <a:buFont typeface="Wingdings" pitchFamily="2" charset="2"/>
              <a:buNone/>
            </a:pPr>
            <a:r>
              <a:rPr lang="zh-CN" altLang="en-US" sz="2400" smtClean="0">
                <a:latin typeface="黑体" pitchFamily="49" charset="-122"/>
                <a:ea typeface="黑体" pitchFamily="49" charset="-122"/>
              </a:rPr>
              <a:t>    方法一：</a:t>
            </a:r>
          </a:p>
          <a:p>
            <a:pPr eaLnBrk="1" hangingPunct="1">
              <a:lnSpc>
                <a:spcPct val="90000"/>
              </a:lnSpc>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SELECT Sno</a:t>
            </a:r>
          </a:p>
          <a:p>
            <a:pPr eaLnBrk="1" hangingPunct="1">
              <a:lnSpc>
                <a:spcPct val="90000"/>
              </a:lnSpc>
              <a:buFont typeface="Wingdings" pitchFamily="2" charset="2"/>
              <a:buNone/>
            </a:pPr>
            <a:r>
              <a:rPr lang="en-US" altLang="zh-CN" sz="2400" smtClean="0">
                <a:latin typeface="黑体" pitchFamily="49" charset="-122"/>
                <a:ea typeface="黑体" pitchFamily="49" charset="-122"/>
              </a:rPr>
              <a:t>        FROM SC</a:t>
            </a:r>
          </a:p>
          <a:p>
            <a:pPr eaLnBrk="1" hangingPunct="1">
              <a:lnSpc>
                <a:spcPct val="90000"/>
              </a:lnSpc>
              <a:buFont typeface="Wingdings" pitchFamily="2" charset="2"/>
              <a:buNone/>
            </a:pPr>
            <a:r>
              <a:rPr lang="en-US" altLang="zh-CN" sz="2400" smtClean="0">
                <a:latin typeface="黑体" pitchFamily="49" charset="-122"/>
                <a:ea typeface="黑体" pitchFamily="49" charset="-122"/>
              </a:rPr>
              <a:t>        WHERE Cno=</a:t>
            </a:r>
            <a:r>
              <a:rPr lang="en-US" altLang="zh-CN" sz="2400" smtClean="0">
                <a:ea typeface="黑体" pitchFamily="49" charset="-122"/>
              </a:rPr>
              <a:t>‘</a:t>
            </a:r>
            <a:r>
              <a:rPr lang="en-US" altLang="zh-CN" sz="2400" smtClean="0">
                <a:latin typeface="黑体" pitchFamily="49" charset="-122"/>
                <a:ea typeface="黑体" pitchFamily="49" charset="-122"/>
              </a:rPr>
              <a:t>001'</a:t>
            </a:r>
          </a:p>
          <a:p>
            <a:pPr eaLnBrk="1" hangingPunct="1">
              <a:lnSpc>
                <a:spcPct val="90000"/>
              </a:lnSpc>
              <a:buFont typeface="Wingdings" pitchFamily="2" charset="2"/>
              <a:buNone/>
            </a:pPr>
            <a:r>
              <a:rPr lang="en-US" altLang="zh-CN" sz="2400" smtClean="0">
                <a:latin typeface="黑体" pitchFamily="49" charset="-122"/>
                <a:ea typeface="黑体" pitchFamily="49" charset="-122"/>
              </a:rPr>
              <a:t>        </a:t>
            </a:r>
            <a:r>
              <a:rPr lang="en-US" altLang="zh-CN" sz="2400" smtClean="0">
                <a:solidFill>
                  <a:schemeClr val="hlink"/>
                </a:solidFill>
                <a:latin typeface="黑体" pitchFamily="49" charset="-122"/>
                <a:ea typeface="黑体" pitchFamily="49" charset="-122"/>
              </a:rPr>
              <a:t>INTERSECT</a:t>
            </a:r>
          </a:p>
          <a:p>
            <a:pPr eaLnBrk="1" hangingPunct="1">
              <a:lnSpc>
                <a:spcPct val="90000"/>
              </a:lnSpc>
              <a:buFont typeface="Wingdings" pitchFamily="2" charset="2"/>
              <a:buNone/>
            </a:pPr>
            <a:r>
              <a:rPr lang="en-US" altLang="zh-CN" sz="2400" smtClean="0">
                <a:latin typeface="黑体" pitchFamily="49" charset="-122"/>
                <a:ea typeface="黑体" pitchFamily="49" charset="-122"/>
              </a:rPr>
              <a:t>        SELECT Sno</a:t>
            </a:r>
          </a:p>
          <a:p>
            <a:pPr eaLnBrk="1" hangingPunct="1">
              <a:lnSpc>
                <a:spcPct val="90000"/>
              </a:lnSpc>
              <a:buFont typeface="Wingdings" pitchFamily="2" charset="2"/>
              <a:buNone/>
            </a:pPr>
            <a:r>
              <a:rPr lang="en-US" altLang="zh-CN" sz="2400" smtClean="0">
                <a:latin typeface="黑体" pitchFamily="49" charset="-122"/>
                <a:ea typeface="黑体" pitchFamily="49" charset="-122"/>
              </a:rPr>
              <a:t>        FROM SC</a:t>
            </a:r>
          </a:p>
          <a:p>
            <a:pPr eaLnBrk="1" hangingPunct="1">
              <a:lnSpc>
                <a:spcPct val="90000"/>
              </a:lnSpc>
              <a:buFont typeface="Wingdings" pitchFamily="2" charset="2"/>
              <a:buNone/>
            </a:pPr>
            <a:r>
              <a:rPr lang="en-US" altLang="zh-CN" sz="2400" smtClean="0">
                <a:latin typeface="黑体" pitchFamily="49" charset="-122"/>
                <a:ea typeface="黑体" pitchFamily="49" charset="-122"/>
              </a:rPr>
              <a:t>        WHERE Cno= </a:t>
            </a:r>
            <a:r>
              <a:rPr lang="en-US" altLang="zh-CN" sz="2400" smtClean="0">
                <a:ea typeface="黑体" pitchFamily="49" charset="-122"/>
              </a:rPr>
              <a:t>‘</a:t>
            </a:r>
            <a:r>
              <a:rPr lang="en-US" altLang="zh-CN" sz="2400" smtClean="0">
                <a:latin typeface="黑体" pitchFamily="49" charset="-122"/>
                <a:ea typeface="黑体" pitchFamily="49" charset="-122"/>
              </a:rPr>
              <a:t>003'</a:t>
            </a:r>
            <a:r>
              <a:rPr lang="zh-CN" altLang="en-US" sz="2400" smtClean="0">
                <a:latin typeface="黑体" pitchFamily="49" charset="-122"/>
                <a:ea typeface="黑体" pitchFamily="49" charset="-122"/>
              </a:rPr>
              <a:t>；</a:t>
            </a:r>
          </a:p>
          <a:p>
            <a:pPr eaLnBrk="1" hangingPunct="1">
              <a:lnSpc>
                <a:spcPct val="90000"/>
              </a:lnSpc>
              <a:buFont typeface="Wingdings" pitchFamily="2" charset="2"/>
              <a:buNone/>
            </a:pPr>
            <a:r>
              <a:rPr lang="zh-CN" altLang="en-US" sz="2400" smtClean="0">
                <a:latin typeface="黑体" pitchFamily="49" charset="-122"/>
                <a:ea typeface="黑体" pitchFamily="49" charset="-122"/>
              </a:rPr>
              <a:t>        </a:t>
            </a:r>
          </a:p>
        </p:txBody>
      </p:sp>
      <p:sp>
        <p:nvSpPr>
          <p:cNvPr id="110595" name="Rectangle 2"/>
          <p:cNvSpPr>
            <a:spLocks noChangeArrowheads="1"/>
          </p:cNvSpPr>
          <p:nvPr>
            <p:ph type="title"/>
          </p:nvPr>
        </p:nvSpPr>
        <p:spPr>
          <a:xfrm>
            <a:off x="755650" y="0"/>
            <a:ext cx="8174038" cy="1143000"/>
          </a:xfrm>
        </p:spPr>
        <p:txBody>
          <a:bodyPr/>
          <a:lstStyle/>
          <a:p>
            <a:pPr eaLnBrk="1" hangingPunct="1"/>
            <a:r>
              <a:rPr lang="en-US" altLang="zh-CN" smtClean="0">
                <a:latin typeface="黑体" pitchFamily="49" charset="-122"/>
              </a:rPr>
              <a:t>3.4.5  </a:t>
            </a:r>
            <a:r>
              <a:rPr lang="zh-CN" altLang="en-US" smtClean="0">
                <a:latin typeface="黑体" pitchFamily="49" charset="-122"/>
              </a:rPr>
              <a:t>集合查询</a:t>
            </a:r>
          </a:p>
        </p:txBody>
      </p:sp>
      <p:sp>
        <p:nvSpPr>
          <p:cNvPr id="6" name="Rectangle 2"/>
          <p:cNvSpPr txBox="1">
            <a:spLocks noChangeArrowheads="1"/>
          </p:cNvSpPr>
          <p:nvPr/>
        </p:nvSpPr>
        <p:spPr bwMode="auto">
          <a:xfrm>
            <a:off x="684213" y="90805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zh-CN" altLang="en-US" sz="2800" b="0" kern="0" dirty="0" smtClean="0">
                <a:solidFill>
                  <a:schemeClr val="tx1"/>
                </a:solidFill>
                <a:latin typeface="黑体" pitchFamily="49" charset="-122"/>
              </a:rPr>
              <a:t>二、</a:t>
            </a:r>
            <a:r>
              <a:rPr lang="zh-CN" altLang="en-US" sz="2800" b="0" kern="0" dirty="0">
                <a:solidFill>
                  <a:schemeClr val="tx1"/>
                </a:solidFill>
                <a:latin typeface="黑体" pitchFamily="49" charset="-122"/>
              </a:rPr>
              <a:t>交</a:t>
            </a:r>
            <a:r>
              <a:rPr lang="zh-CN" altLang="en-US" sz="2800" b="0" kern="0" dirty="0" smtClean="0">
                <a:solidFill>
                  <a:schemeClr val="tx1"/>
                </a:solidFill>
                <a:latin typeface="黑体" pitchFamily="49" charset="-122"/>
              </a:rPr>
              <a:t>操作</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6563">
                                            <p:txEl>
                                              <p:pRg st="2" end="2"/>
                                            </p:txEl>
                                          </p:spTgt>
                                        </p:tgtEl>
                                        <p:attrNameLst>
                                          <p:attrName>style.visibility</p:attrName>
                                        </p:attrNameLst>
                                      </p:cBhvr>
                                      <p:to>
                                        <p:strVal val="visible"/>
                                      </p:to>
                                    </p:set>
                                    <p:anim calcmode="lin" valueType="num">
                                      <p:cBhvr additive="base">
                                        <p:cTn id="7" dur="500" fill="hold"/>
                                        <p:tgtEl>
                                          <p:spTgt spid="6656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56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6563">
                                            <p:txEl>
                                              <p:pRg st="3" end="3"/>
                                            </p:txEl>
                                          </p:spTgt>
                                        </p:tgtEl>
                                        <p:attrNameLst>
                                          <p:attrName>style.visibility</p:attrName>
                                        </p:attrNameLst>
                                      </p:cBhvr>
                                      <p:to>
                                        <p:strVal val="visible"/>
                                      </p:to>
                                    </p:set>
                                    <p:anim calcmode="lin" valueType="num">
                                      <p:cBhvr additive="base">
                                        <p:cTn id="11" dur="500" fill="hold"/>
                                        <p:tgtEl>
                                          <p:spTgt spid="6656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656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6563">
                                            <p:txEl>
                                              <p:pRg st="4" end="4"/>
                                            </p:txEl>
                                          </p:spTgt>
                                        </p:tgtEl>
                                        <p:attrNameLst>
                                          <p:attrName>style.visibility</p:attrName>
                                        </p:attrNameLst>
                                      </p:cBhvr>
                                      <p:to>
                                        <p:strVal val="visible"/>
                                      </p:to>
                                    </p:set>
                                    <p:anim calcmode="lin" valueType="num">
                                      <p:cBhvr additive="base">
                                        <p:cTn id="15" dur="500" fill="hold"/>
                                        <p:tgtEl>
                                          <p:spTgt spid="6656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65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66563">
                                            <p:txEl>
                                              <p:pRg st="6" end="6"/>
                                            </p:txEl>
                                          </p:spTgt>
                                        </p:tgtEl>
                                        <p:attrNameLst>
                                          <p:attrName>style.visibility</p:attrName>
                                        </p:attrNameLst>
                                      </p:cBhvr>
                                      <p:to>
                                        <p:strVal val="visible"/>
                                      </p:to>
                                    </p:set>
                                    <p:anim calcmode="lin" valueType="num">
                                      <p:cBhvr additive="base">
                                        <p:cTn id="21" dur="500" fill="hold"/>
                                        <p:tgtEl>
                                          <p:spTgt spid="6656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6563">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6563">
                                            <p:txEl>
                                              <p:pRg st="7" end="7"/>
                                            </p:txEl>
                                          </p:spTgt>
                                        </p:tgtEl>
                                        <p:attrNameLst>
                                          <p:attrName>style.visibility</p:attrName>
                                        </p:attrNameLst>
                                      </p:cBhvr>
                                      <p:to>
                                        <p:strVal val="visible"/>
                                      </p:to>
                                    </p:set>
                                    <p:anim calcmode="lin" valueType="num">
                                      <p:cBhvr additive="base">
                                        <p:cTn id="25" dur="500" fill="hold"/>
                                        <p:tgtEl>
                                          <p:spTgt spid="6656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6563">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6563">
                                            <p:txEl>
                                              <p:pRg st="8" end="8"/>
                                            </p:txEl>
                                          </p:spTgt>
                                        </p:tgtEl>
                                        <p:attrNameLst>
                                          <p:attrName>style.visibility</p:attrName>
                                        </p:attrNameLst>
                                      </p:cBhvr>
                                      <p:to>
                                        <p:strVal val="visible"/>
                                      </p:to>
                                    </p:set>
                                    <p:anim calcmode="lin" valueType="num">
                                      <p:cBhvr additive="base">
                                        <p:cTn id="29" dur="500" fill="hold"/>
                                        <p:tgtEl>
                                          <p:spTgt spid="66563">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656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66563">
                                            <p:txEl>
                                              <p:pRg st="5" end="5"/>
                                            </p:txEl>
                                          </p:spTgt>
                                        </p:tgtEl>
                                        <p:attrNameLst>
                                          <p:attrName>style.visibility</p:attrName>
                                        </p:attrNameLst>
                                      </p:cBhvr>
                                      <p:to>
                                        <p:strVal val="visible"/>
                                      </p:to>
                                    </p:set>
                                    <p:anim calcmode="lin" valueType="num">
                                      <p:cBhvr additive="base">
                                        <p:cTn id="35" dur="500" fill="hold"/>
                                        <p:tgtEl>
                                          <p:spTgt spid="6656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656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p:cNvSpPr>
            <a:spLocks noChangeArrowheads="1"/>
          </p:cNvSpPr>
          <p:nvPr>
            <p:ph type="body" idx="1"/>
          </p:nvPr>
        </p:nvSpPr>
        <p:spPr>
          <a:xfrm>
            <a:off x="684213" y="2060575"/>
            <a:ext cx="7848600" cy="4608513"/>
          </a:xfrm>
        </p:spPr>
        <p:txBody>
          <a:bodyPr/>
          <a:lstStyle/>
          <a:p>
            <a:pPr eaLnBrk="1" hangingPunct="1">
              <a:buFont typeface="Wingdings" pitchFamily="2" charset="2"/>
              <a:buNone/>
            </a:pPr>
            <a:r>
              <a:rPr lang="zh-CN" altLang="en-US" sz="2800" smtClean="0">
                <a:latin typeface="黑体" pitchFamily="49" charset="-122"/>
                <a:ea typeface="黑体" pitchFamily="49" charset="-122"/>
              </a:rPr>
              <a:t> 方法二：</a:t>
            </a:r>
          </a:p>
          <a:p>
            <a:pPr eaLnBrk="1" hangingPunct="1">
              <a:buFont typeface="Wingdings" pitchFamily="2" charset="2"/>
              <a:buNone/>
            </a:pPr>
            <a:r>
              <a:rPr lang="zh-CN" altLang="en-US" sz="2800" smtClean="0">
                <a:latin typeface="黑体" pitchFamily="49" charset="-122"/>
                <a:ea typeface="黑体" pitchFamily="49" charset="-122"/>
              </a:rPr>
              <a:t>      </a:t>
            </a:r>
            <a:r>
              <a:rPr lang="en-US" altLang="zh-CN" sz="2800" smtClean="0">
                <a:latin typeface="黑体" pitchFamily="49" charset="-122"/>
                <a:ea typeface="黑体" pitchFamily="49" charset="-122"/>
              </a:rPr>
              <a:t>SELECT Sno</a:t>
            </a:r>
          </a:p>
          <a:p>
            <a:pPr eaLnBrk="1" hangingPunct="1">
              <a:buFont typeface="Wingdings" pitchFamily="2" charset="2"/>
              <a:buNone/>
            </a:pPr>
            <a:r>
              <a:rPr lang="en-US" altLang="zh-CN" sz="2800" smtClean="0">
                <a:latin typeface="黑体" pitchFamily="49" charset="-122"/>
                <a:ea typeface="黑体" pitchFamily="49" charset="-122"/>
              </a:rPr>
              <a:t>      FROM SC</a:t>
            </a:r>
          </a:p>
          <a:p>
            <a:pPr eaLnBrk="1" hangingPunct="1">
              <a:buFont typeface="Wingdings" pitchFamily="2" charset="2"/>
              <a:buNone/>
            </a:pPr>
            <a:r>
              <a:rPr lang="en-US" altLang="zh-CN" sz="2800" smtClean="0">
                <a:latin typeface="黑体" pitchFamily="49" charset="-122"/>
                <a:ea typeface="黑体" pitchFamily="49" charset="-122"/>
              </a:rPr>
              <a:t>      WHERE Cno=‘001' AND Sno IN</a:t>
            </a:r>
          </a:p>
          <a:p>
            <a:pPr eaLnBrk="1" hangingPunct="1">
              <a:buFont typeface="Wingdings" pitchFamily="2" charset="2"/>
              <a:buNone/>
            </a:pPr>
            <a:r>
              <a:rPr lang="en-US" altLang="zh-CN" sz="2800" smtClean="0">
                <a:latin typeface="黑体" pitchFamily="49" charset="-122"/>
                <a:ea typeface="黑体" pitchFamily="49" charset="-122"/>
              </a:rPr>
              <a:t>            (SELECT Sno</a:t>
            </a:r>
          </a:p>
          <a:p>
            <a:pPr eaLnBrk="1" hangingPunct="1">
              <a:buFont typeface="Wingdings" pitchFamily="2" charset="2"/>
              <a:buNone/>
            </a:pPr>
            <a:r>
              <a:rPr lang="en-US" altLang="zh-CN" sz="2800" smtClean="0">
                <a:latin typeface="黑体" pitchFamily="49" charset="-122"/>
                <a:ea typeface="黑体" pitchFamily="49" charset="-122"/>
              </a:rPr>
              <a:t>             FROM SC</a:t>
            </a:r>
          </a:p>
          <a:p>
            <a:pPr eaLnBrk="1" hangingPunct="1">
              <a:buFont typeface="Wingdings" pitchFamily="2" charset="2"/>
              <a:buNone/>
            </a:pPr>
            <a:r>
              <a:rPr lang="en-US" altLang="zh-CN" sz="2800" smtClean="0">
                <a:latin typeface="黑体" pitchFamily="49" charset="-122"/>
                <a:ea typeface="黑体" pitchFamily="49" charset="-122"/>
              </a:rPr>
              <a:t>             WHERE Cno=</a:t>
            </a:r>
            <a:r>
              <a:rPr lang="en-US" altLang="zh-CN" sz="2800" smtClean="0">
                <a:ea typeface="黑体" pitchFamily="49" charset="-122"/>
              </a:rPr>
              <a:t>‘</a:t>
            </a:r>
            <a:r>
              <a:rPr lang="en-US" altLang="zh-CN" sz="2800" smtClean="0">
                <a:latin typeface="黑体" pitchFamily="49" charset="-122"/>
                <a:ea typeface="黑体" pitchFamily="49" charset="-122"/>
              </a:rPr>
              <a:t>003')</a:t>
            </a:r>
            <a:r>
              <a:rPr lang="zh-CN" altLang="en-US" sz="2800" smtClean="0">
                <a:latin typeface="黑体" pitchFamily="49" charset="-122"/>
                <a:ea typeface="黑体" pitchFamily="49" charset="-122"/>
              </a:rPr>
              <a:t>；</a:t>
            </a:r>
          </a:p>
          <a:p>
            <a:pPr eaLnBrk="1" hangingPunct="1">
              <a:buFont typeface="Wingdings" pitchFamily="2" charset="2"/>
              <a:buNone/>
            </a:pPr>
            <a:endParaRPr lang="zh-CN" altLang="en-US" sz="2800" smtClean="0">
              <a:latin typeface="黑体" pitchFamily="49" charset="-122"/>
              <a:ea typeface="黑体" pitchFamily="49" charset="-122"/>
            </a:endParaRPr>
          </a:p>
        </p:txBody>
      </p:sp>
      <p:sp>
        <p:nvSpPr>
          <p:cNvPr id="111619" name="Rectangle 2"/>
          <p:cNvSpPr>
            <a:spLocks noChangeArrowheads="1"/>
          </p:cNvSpPr>
          <p:nvPr>
            <p:ph type="title"/>
          </p:nvPr>
        </p:nvSpPr>
        <p:spPr>
          <a:xfrm>
            <a:off x="755650" y="0"/>
            <a:ext cx="8174038" cy="1143000"/>
          </a:xfrm>
        </p:spPr>
        <p:txBody>
          <a:bodyPr/>
          <a:lstStyle/>
          <a:p>
            <a:pPr eaLnBrk="1" hangingPunct="1"/>
            <a:r>
              <a:rPr lang="en-US" altLang="zh-CN" smtClean="0">
                <a:latin typeface="黑体" pitchFamily="49" charset="-122"/>
              </a:rPr>
              <a:t>3.4.5  </a:t>
            </a:r>
            <a:r>
              <a:rPr lang="zh-CN" altLang="en-US" smtClean="0">
                <a:latin typeface="黑体" pitchFamily="49" charset="-122"/>
              </a:rPr>
              <a:t>集合查询</a:t>
            </a:r>
          </a:p>
        </p:txBody>
      </p:sp>
      <p:sp>
        <p:nvSpPr>
          <p:cNvPr id="6" name="Rectangle 2"/>
          <p:cNvSpPr txBox="1">
            <a:spLocks noChangeArrowheads="1"/>
          </p:cNvSpPr>
          <p:nvPr/>
        </p:nvSpPr>
        <p:spPr bwMode="auto">
          <a:xfrm>
            <a:off x="684213" y="90805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zh-CN" altLang="en-US" sz="2800" b="0" kern="0" dirty="0" smtClean="0">
                <a:solidFill>
                  <a:schemeClr val="tx1"/>
                </a:solidFill>
                <a:latin typeface="黑体" pitchFamily="49" charset="-122"/>
              </a:rPr>
              <a:t>二、</a:t>
            </a:r>
            <a:r>
              <a:rPr lang="zh-CN" altLang="en-US" sz="2800" b="0" kern="0" dirty="0">
                <a:solidFill>
                  <a:schemeClr val="tx1"/>
                </a:solidFill>
                <a:latin typeface="黑体" pitchFamily="49" charset="-122"/>
              </a:rPr>
              <a:t>交</a:t>
            </a:r>
            <a:r>
              <a:rPr lang="zh-CN" altLang="en-US" sz="2800" b="0" kern="0" dirty="0" smtClean="0">
                <a:solidFill>
                  <a:schemeClr val="tx1"/>
                </a:solidFill>
                <a:latin typeface="黑体" pitchFamily="49" charset="-122"/>
              </a:rPr>
              <a:t>操作</a:t>
            </a:r>
          </a:p>
        </p:txBody>
      </p:sp>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ChangeArrowheads="1"/>
          </p:cNvSpPr>
          <p:nvPr>
            <p:ph type="title"/>
          </p:nvPr>
        </p:nvSpPr>
        <p:spPr>
          <a:xfrm>
            <a:off x="684213" y="1052513"/>
            <a:ext cx="7793037" cy="1143000"/>
          </a:xfrm>
        </p:spPr>
        <p:txBody>
          <a:bodyPr/>
          <a:lstStyle/>
          <a:p>
            <a:pPr eaLnBrk="1" hangingPunct="1"/>
            <a:r>
              <a:rPr lang="en-US" altLang="zh-CN" sz="2800" smtClean="0">
                <a:solidFill>
                  <a:schemeClr val="tx1"/>
                </a:solidFill>
                <a:latin typeface="黑体" pitchFamily="49" charset="-122"/>
              </a:rPr>
              <a:t>3</a:t>
            </a:r>
            <a:r>
              <a:rPr lang="zh-CN" altLang="en-US" sz="2800" smtClean="0">
                <a:solidFill>
                  <a:schemeClr val="tx1"/>
                </a:solidFill>
                <a:latin typeface="黑体" pitchFamily="49" charset="-122"/>
              </a:rPr>
              <a:t>．差操作</a:t>
            </a:r>
          </a:p>
        </p:txBody>
      </p:sp>
      <p:sp>
        <p:nvSpPr>
          <p:cNvPr id="112643" name="Rectangle 3"/>
          <p:cNvSpPr>
            <a:spLocks noChangeArrowheads="1"/>
          </p:cNvSpPr>
          <p:nvPr>
            <p:ph type="body" idx="1"/>
          </p:nvPr>
        </p:nvSpPr>
        <p:spPr>
          <a:xfrm>
            <a:off x="539750" y="2349500"/>
            <a:ext cx="8229600" cy="3671888"/>
          </a:xfrm>
        </p:spPr>
        <p:txBody>
          <a:bodyPr/>
          <a:lstStyle/>
          <a:p>
            <a:pPr eaLnBrk="1" hangingPunct="1"/>
            <a:r>
              <a:rPr lang="zh-CN" altLang="en-US" sz="2400" smtClean="0">
                <a:latin typeface="黑体" pitchFamily="49" charset="-122"/>
                <a:ea typeface="黑体" pitchFamily="49" charset="-122"/>
              </a:rPr>
              <a:t>形式</a:t>
            </a:r>
          </a:p>
          <a:p>
            <a:pPr lvl="1" eaLnBrk="1" hangingPunct="1">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&lt;</a:t>
            </a:r>
            <a:r>
              <a:rPr lang="zh-CN" altLang="en-US" sz="2400" smtClean="0">
                <a:latin typeface="黑体" pitchFamily="49" charset="-122"/>
                <a:ea typeface="黑体" pitchFamily="49" charset="-122"/>
              </a:rPr>
              <a:t>查询块</a:t>
            </a:r>
            <a:r>
              <a:rPr lang="en-US" altLang="zh-CN" sz="2400" smtClean="0">
                <a:latin typeface="黑体" pitchFamily="49" charset="-122"/>
                <a:ea typeface="黑体" pitchFamily="49" charset="-122"/>
              </a:rPr>
              <a:t>&gt;</a:t>
            </a:r>
          </a:p>
          <a:p>
            <a:pPr lvl="1" eaLnBrk="1" hangingPunct="1">
              <a:buFont typeface="Wingdings" pitchFamily="2" charset="2"/>
              <a:buNone/>
            </a:pPr>
            <a:r>
              <a:rPr lang="en-US" altLang="zh-CN" sz="2400" smtClean="0">
                <a:latin typeface="黑体" pitchFamily="49" charset="-122"/>
                <a:ea typeface="黑体" pitchFamily="49" charset="-122"/>
              </a:rPr>
              <a:t>	  MINUS</a:t>
            </a:r>
          </a:p>
          <a:p>
            <a:pPr lvl="1" eaLnBrk="1" hangingPunct="1">
              <a:buFont typeface="Wingdings" pitchFamily="2" charset="2"/>
              <a:buNone/>
            </a:pPr>
            <a:r>
              <a:rPr lang="en-US" altLang="zh-CN" sz="2400" smtClean="0">
                <a:latin typeface="黑体" pitchFamily="49" charset="-122"/>
                <a:ea typeface="黑体" pitchFamily="49" charset="-122"/>
              </a:rPr>
              <a:t>	 &lt;</a:t>
            </a:r>
            <a:r>
              <a:rPr lang="zh-CN" altLang="en-US" sz="2400" smtClean="0">
                <a:latin typeface="黑体" pitchFamily="49" charset="-122"/>
                <a:ea typeface="黑体" pitchFamily="49" charset="-122"/>
              </a:rPr>
              <a:t>查询块</a:t>
            </a:r>
            <a:r>
              <a:rPr lang="en-US" altLang="zh-CN" sz="2400" smtClean="0">
                <a:latin typeface="黑体" pitchFamily="49" charset="-122"/>
                <a:ea typeface="黑体" pitchFamily="49" charset="-122"/>
              </a:rPr>
              <a:t>&gt;</a:t>
            </a:r>
          </a:p>
          <a:p>
            <a:pPr lvl="1" eaLnBrk="1" hangingPunct="1"/>
            <a:endParaRPr lang="en-US" altLang="zh-CN" sz="2400" smtClean="0">
              <a:latin typeface="黑体" pitchFamily="49" charset="-122"/>
              <a:ea typeface="黑体" pitchFamily="49" charset="-122"/>
            </a:endParaRPr>
          </a:p>
          <a:p>
            <a:pPr lvl="1" eaLnBrk="1" hangingPunct="1"/>
            <a:r>
              <a:rPr lang="zh-CN" altLang="en-US" sz="2400" smtClean="0">
                <a:latin typeface="黑体" pitchFamily="49" charset="-122"/>
                <a:ea typeface="黑体" pitchFamily="49" charset="-122"/>
              </a:rPr>
              <a:t>参加</a:t>
            </a:r>
            <a:r>
              <a:rPr lang="en-US" altLang="zh-CN" sz="2400" smtClean="0">
                <a:latin typeface="黑体" pitchFamily="49" charset="-122"/>
                <a:ea typeface="黑体" pitchFamily="49" charset="-122"/>
              </a:rPr>
              <a:t>MINUS</a:t>
            </a:r>
            <a:r>
              <a:rPr lang="zh-CN" altLang="en-US" sz="2400" smtClean="0">
                <a:latin typeface="黑体" pitchFamily="49" charset="-122"/>
                <a:ea typeface="黑体" pitchFamily="49" charset="-122"/>
              </a:rPr>
              <a:t>操作的各结果表的列数必须相同；对应项的数据类型也必须相同</a:t>
            </a:r>
          </a:p>
        </p:txBody>
      </p:sp>
      <p:sp>
        <p:nvSpPr>
          <p:cNvPr id="4" name="Rectangle 2"/>
          <p:cNvSpPr txBox="1">
            <a:spLocks noChangeArrowheads="1"/>
          </p:cNvSpPr>
          <p:nvPr/>
        </p:nvSpPr>
        <p:spPr bwMode="auto">
          <a:xfrm>
            <a:off x="755650" y="0"/>
            <a:ext cx="817403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3.4.5  </a:t>
            </a:r>
            <a:r>
              <a:rPr lang="zh-CN" altLang="en-US" b="0" kern="0" dirty="0" smtClean="0">
                <a:latin typeface="黑体" pitchFamily="49" charset="-122"/>
              </a:rPr>
              <a:t>集合查询</a:t>
            </a:r>
          </a:p>
        </p:txBody>
      </p:sp>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ChangeArrowheads="1"/>
          </p:cNvSpPr>
          <p:nvPr>
            <p:ph type="body" idx="1"/>
          </p:nvPr>
        </p:nvSpPr>
        <p:spPr>
          <a:xfrm>
            <a:off x="611188" y="1989138"/>
            <a:ext cx="8208962" cy="4608512"/>
          </a:xfrm>
        </p:spPr>
        <p:txBody>
          <a:bodyPr/>
          <a:lstStyle/>
          <a:p>
            <a:pPr eaLnBrk="1" hangingPunct="1">
              <a:lnSpc>
                <a:spcPct val="130000"/>
              </a:lnSpc>
              <a:buFont typeface="宋体" pitchFamily="2" charset="-12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46]  </a:t>
            </a:r>
            <a:r>
              <a:rPr lang="zh-CN" altLang="en-US" sz="2400" smtClean="0">
                <a:latin typeface="黑体" pitchFamily="49" charset="-122"/>
                <a:ea typeface="黑体" pitchFamily="49" charset="-122"/>
              </a:rPr>
              <a:t>查询选修了</a:t>
            </a:r>
            <a:r>
              <a:rPr lang="en-US" altLang="zh-CN" sz="2400" smtClean="0">
                <a:latin typeface="黑体" pitchFamily="49" charset="-122"/>
                <a:ea typeface="黑体" pitchFamily="49" charset="-122"/>
              </a:rPr>
              <a:t>003</a:t>
            </a:r>
            <a:r>
              <a:rPr lang="zh-CN" altLang="en-US" sz="2400" smtClean="0">
                <a:latin typeface="黑体" pitchFamily="49" charset="-122"/>
                <a:ea typeface="黑体" pitchFamily="49" charset="-122"/>
              </a:rPr>
              <a:t>号课程与成绩低于</a:t>
            </a:r>
            <a:r>
              <a:rPr lang="en-US" altLang="zh-CN" sz="2400" smtClean="0">
                <a:latin typeface="黑体" pitchFamily="49" charset="-122"/>
                <a:ea typeface="黑体" pitchFamily="49" charset="-122"/>
              </a:rPr>
              <a:t>60</a:t>
            </a:r>
            <a:r>
              <a:rPr lang="zh-CN" altLang="en-US" sz="2400" smtClean="0">
                <a:latin typeface="黑体" pitchFamily="49" charset="-122"/>
                <a:ea typeface="黑体" pitchFamily="49" charset="-122"/>
              </a:rPr>
              <a:t>分的学生选课信息的差集。</a:t>
            </a:r>
          </a:p>
          <a:p>
            <a:pPr eaLnBrk="1" hangingPunct="1">
              <a:lnSpc>
                <a:spcPct val="80000"/>
              </a:lnSpc>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SELECT *</a:t>
            </a:r>
          </a:p>
          <a:p>
            <a:pPr eaLnBrk="1" hangingPunct="1">
              <a:lnSpc>
                <a:spcPct val="80000"/>
              </a:lnSpc>
              <a:buFont typeface="Wingdings" pitchFamily="2" charset="2"/>
              <a:buNone/>
            </a:pPr>
            <a:r>
              <a:rPr lang="en-US" altLang="zh-CN" sz="2400" smtClean="0">
                <a:latin typeface="黑体" pitchFamily="49" charset="-122"/>
                <a:ea typeface="黑体" pitchFamily="49" charset="-122"/>
              </a:rPr>
              <a:t>        FROM SC</a:t>
            </a:r>
          </a:p>
          <a:p>
            <a:pPr eaLnBrk="1" hangingPunct="1">
              <a:lnSpc>
                <a:spcPct val="80000"/>
              </a:lnSpc>
              <a:buFont typeface="Wingdings" pitchFamily="2" charset="2"/>
              <a:buNone/>
            </a:pPr>
            <a:r>
              <a:rPr lang="en-US" altLang="zh-CN" sz="2400" smtClean="0">
                <a:latin typeface="黑体" pitchFamily="49" charset="-122"/>
                <a:ea typeface="黑体" pitchFamily="49" charset="-122"/>
              </a:rPr>
              <a:t>        WHERE Cno='003'</a:t>
            </a:r>
          </a:p>
          <a:p>
            <a:pPr eaLnBrk="1" hangingPunct="1">
              <a:lnSpc>
                <a:spcPct val="80000"/>
              </a:lnSpc>
              <a:buFont typeface="Wingdings" pitchFamily="2" charset="2"/>
              <a:buNone/>
            </a:pPr>
            <a:r>
              <a:rPr lang="en-US" altLang="zh-CN" sz="2400" smtClean="0">
                <a:latin typeface="黑体" pitchFamily="49" charset="-122"/>
                <a:ea typeface="黑体" pitchFamily="49" charset="-122"/>
              </a:rPr>
              <a:t>         MINUS</a:t>
            </a:r>
          </a:p>
          <a:p>
            <a:pPr eaLnBrk="1" hangingPunct="1">
              <a:lnSpc>
                <a:spcPct val="80000"/>
              </a:lnSpc>
              <a:buFont typeface="Wingdings" pitchFamily="2" charset="2"/>
              <a:buNone/>
            </a:pPr>
            <a:r>
              <a:rPr lang="en-US" altLang="zh-CN" sz="2400" smtClean="0">
                <a:latin typeface="黑体" pitchFamily="49" charset="-122"/>
                <a:ea typeface="黑体" pitchFamily="49" charset="-122"/>
              </a:rPr>
              <a:t>        SELECT *</a:t>
            </a:r>
          </a:p>
          <a:p>
            <a:pPr eaLnBrk="1" hangingPunct="1">
              <a:lnSpc>
                <a:spcPct val="80000"/>
              </a:lnSpc>
              <a:buFont typeface="Wingdings" pitchFamily="2" charset="2"/>
              <a:buNone/>
            </a:pPr>
            <a:r>
              <a:rPr lang="en-US" altLang="zh-CN" sz="2400" smtClean="0">
                <a:latin typeface="黑体" pitchFamily="49" charset="-122"/>
                <a:ea typeface="黑体" pitchFamily="49" charset="-122"/>
              </a:rPr>
              <a:t>        FROM SC</a:t>
            </a:r>
          </a:p>
          <a:p>
            <a:pPr eaLnBrk="1" hangingPunct="1">
              <a:lnSpc>
                <a:spcPct val="80000"/>
              </a:lnSpc>
              <a:buFont typeface="Wingdings" pitchFamily="2" charset="2"/>
              <a:buNone/>
            </a:pPr>
            <a:r>
              <a:rPr lang="en-US" altLang="zh-CN" sz="2400" smtClean="0">
                <a:latin typeface="黑体" pitchFamily="49" charset="-122"/>
                <a:ea typeface="黑体" pitchFamily="49" charset="-122"/>
              </a:rPr>
              <a:t>        WHERE Grade&lt;60</a:t>
            </a:r>
          </a:p>
          <a:p>
            <a:pPr eaLnBrk="1" hangingPunct="1">
              <a:lnSpc>
                <a:spcPct val="80000"/>
              </a:lnSpc>
              <a:buFont typeface="Wingdings" pitchFamily="2" charset="2"/>
              <a:buNone/>
            </a:pPr>
            <a:r>
              <a:rPr lang="en-US" altLang="zh-CN" sz="2400" smtClean="0">
                <a:latin typeface="黑体" pitchFamily="49" charset="-122"/>
                <a:ea typeface="黑体" pitchFamily="49" charset="-122"/>
              </a:rPr>
              <a:t>  </a:t>
            </a:r>
          </a:p>
        </p:txBody>
      </p:sp>
      <p:sp>
        <p:nvSpPr>
          <p:cNvPr id="113667" name="Rectangle 2"/>
          <p:cNvSpPr>
            <a:spLocks noChangeArrowheads="1"/>
          </p:cNvSpPr>
          <p:nvPr>
            <p:ph type="title"/>
          </p:nvPr>
        </p:nvSpPr>
        <p:spPr>
          <a:xfrm>
            <a:off x="684213" y="1052513"/>
            <a:ext cx="7793037" cy="1143000"/>
          </a:xfrm>
        </p:spPr>
        <p:txBody>
          <a:bodyPr/>
          <a:lstStyle/>
          <a:p>
            <a:pPr eaLnBrk="1" hangingPunct="1"/>
            <a:r>
              <a:rPr lang="en-US" altLang="zh-CN" sz="2800" smtClean="0">
                <a:solidFill>
                  <a:schemeClr val="tx1"/>
                </a:solidFill>
                <a:latin typeface="黑体" pitchFamily="49" charset="-122"/>
              </a:rPr>
              <a:t>3</a:t>
            </a:r>
            <a:r>
              <a:rPr lang="zh-CN" altLang="en-US" sz="2800" smtClean="0">
                <a:solidFill>
                  <a:schemeClr val="tx1"/>
                </a:solidFill>
                <a:latin typeface="黑体" pitchFamily="49" charset="-122"/>
              </a:rPr>
              <a:t>．差操作</a:t>
            </a:r>
          </a:p>
        </p:txBody>
      </p:sp>
      <p:sp>
        <p:nvSpPr>
          <p:cNvPr id="6" name="Rectangle 2"/>
          <p:cNvSpPr txBox="1">
            <a:spLocks noChangeArrowheads="1"/>
          </p:cNvSpPr>
          <p:nvPr/>
        </p:nvSpPr>
        <p:spPr bwMode="auto">
          <a:xfrm>
            <a:off x="755650" y="0"/>
            <a:ext cx="817403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3.4.5  </a:t>
            </a:r>
            <a:r>
              <a:rPr lang="zh-CN" altLang="en-US" b="0" kern="0" dirty="0" smtClean="0">
                <a:latin typeface="黑体" pitchFamily="49" charset="-122"/>
              </a:rPr>
              <a:t>集合查询</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9635">
                                            <p:txEl>
                                              <p:pRg st="1" end="1"/>
                                            </p:txEl>
                                          </p:spTgt>
                                        </p:tgtEl>
                                        <p:attrNameLst>
                                          <p:attrName>style.visibility</p:attrName>
                                        </p:attrNameLst>
                                      </p:cBhvr>
                                      <p:to>
                                        <p:strVal val="visible"/>
                                      </p:to>
                                    </p:set>
                                    <p:anim calcmode="lin" valueType="num">
                                      <p:cBhvr additive="base">
                                        <p:cTn id="7" dur="500" fill="hold"/>
                                        <p:tgtEl>
                                          <p:spTgt spid="6963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63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9635">
                                            <p:txEl>
                                              <p:pRg st="2" end="2"/>
                                            </p:txEl>
                                          </p:spTgt>
                                        </p:tgtEl>
                                        <p:attrNameLst>
                                          <p:attrName>style.visibility</p:attrName>
                                        </p:attrNameLst>
                                      </p:cBhvr>
                                      <p:to>
                                        <p:strVal val="visible"/>
                                      </p:to>
                                    </p:set>
                                    <p:anim calcmode="lin" valueType="num">
                                      <p:cBhvr additive="base">
                                        <p:cTn id="11" dur="500" fill="hold"/>
                                        <p:tgtEl>
                                          <p:spTgt spid="6963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963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9635">
                                            <p:txEl>
                                              <p:pRg st="3" end="3"/>
                                            </p:txEl>
                                          </p:spTgt>
                                        </p:tgtEl>
                                        <p:attrNameLst>
                                          <p:attrName>style.visibility</p:attrName>
                                        </p:attrNameLst>
                                      </p:cBhvr>
                                      <p:to>
                                        <p:strVal val="visible"/>
                                      </p:to>
                                    </p:set>
                                    <p:anim calcmode="lin" valueType="num">
                                      <p:cBhvr additive="base">
                                        <p:cTn id="15" dur="500" fill="hold"/>
                                        <p:tgtEl>
                                          <p:spTgt spid="69635">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96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69635">
                                            <p:txEl>
                                              <p:pRg st="5" end="5"/>
                                            </p:txEl>
                                          </p:spTgt>
                                        </p:tgtEl>
                                        <p:attrNameLst>
                                          <p:attrName>style.visibility</p:attrName>
                                        </p:attrNameLst>
                                      </p:cBhvr>
                                      <p:to>
                                        <p:strVal val="visible"/>
                                      </p:to>
                                    </p:set>
                                    <p:anim calcmode="lin" valueType="num">
                                      <p:cBhvr additive="base">
                                        <p:cTn id="21" dur="500" fill="hold"/>
                                        <p:tgtEl>
                                          <p:spTgt spid="69635">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9635">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9635">
                                            <p:txEl>
                                              <p:pRg st="6" end="6"/>
                                            </p:txEl>
                                          </p:spTgt>
                                        </p:tgtEl>
                                        <p:attrNameLst>
                                          <p:attrName>style.visibility</p:attrName>
                                        </p:attrNameLst>
                                      </p:cBhvr>
                                      <p:to>
                                        <p:strVal val="visible"/>
                                      </p:to>
                                    </p:set>
                                    <p:anim calcmode="lin" valueType="num">
                                      <p:cBhvr additive="base">
                                        <p:cTn id="25" dur="500" fill="hold"/>
                                        <p:tgtEl>
                                          <p:spTgt spid="6963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9635">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9635">
                                            <p:txEl>
                                              <p:pRg st="7" end="7"/>
                                            </p:txEl>
                                          </p:spTgt>
                                        </p:tgtEl>
                                        <p:attrNameLst>
                                          <p:attrName>style.visibility</p:attrName>
                                        </p:attrNameLst>
                                      </p:cBhvr>
                                      <p:to>
                                        <p:strVal val="visible"/>
                                      </p:to>
                                    </p:set>
                                    <p:anim calcmode="lin" valueType="num">
                                      <p:cBhvr additive="base">
                                        <p:cTn id="29" dur="500" fill="hold"/>
                                        <p:tgtEl>
                                          <p:spTgt spid="69635">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963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69635">
                                            <p:txEl>
                                              <p:pRg st="4" end="4"/>
                                            </p:txEl>
                                          </p:spTgt>
                                        </p:tgtEl>
                                        <p:attrNameLst>
                                          <p:attrName>style.visibility</p:attrName>
                                        </p:attrNameLst>
                                      </p:cBhvr>
                                      <p:to>
                                        <p:strVal val="visible"/>
                                      </p:to>
                                    </p:set>
                                    <p:anim calcmode="lin" valueType="num">
                                      <p:cBhvr additive="base">
                                        <p:cTn id="35" dur="500" fill="hold"/>
                                        <p:tgtEl>
                                          <p:spTgt spid="69635">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963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8313" y="1557338"/>
            <a:ext cx="8229600" cy="4525962"/>
          </a:xfrm>
        </p:spPr>
        <p:txBody>
          <a:bodyPr/>
          <a:lstStyle/>
          <a:p>
            <a:pPr>
              <a:lnSpc>
                <a:spcPts val="3700"/>
              </a:lnSpc>
              <a:defRPr/>
            </a:pPr>
            <a:r>
              <a:rPr lang="zh-CN" altLang="en-US" sz="2400" dirty="0" smtClean="0">
                <a:latin typeface="+mj-ea"/>
                <a:ea typeface="+mj-ea"/>
              </a:rPr>
              <a:t>子查询不仅可以出现在</a:t>
            </a:r>
            <a:r>
              <a:rPr lang="en-US" altLang="zh-CN" sz="2400" dirty="0" smtClean="0">
                <a:latin typeface="+mj-ea"/>
                <a:ea typeface="+mj-ea"/>
              </a:rPr>
              <a:t>where</a:t>
            </a:r>
            <a:r>
              <a:rPr lang="zh-CN" altLang="en-US" sz="2400" dirty="0" smtClean="0">
                <a:latin typeface="+mj-ea"/>
                <a:ea typeface="+mj-ea"/>
              </a:rPr>
              <a:t>子句中，还可以出现在</a:t>
            </a:r>
            <a:r>
              <a:rPr lang="en-US" altLang="zh-CN" sz="2400" dirty="0" smtClean="0">
                <a:latin typeface="+mj-ea"/>
                <a:ea typeface="+mj-ea"/>
              </a:rPr>
              <a:t>from</a:t>
            </a:r>
            <a:r>
              <a:rPr lang="zh-CN" altLang="en-US" sz="2400" dirty="0" smtClean="0">
                <a:latin typeface="+mj-ea"/>
                <a:ea typeface="+mj-ea"/>
              </a:rPr>
              <a:t>子句中，这时子查询生成的临时</a:t>
            </a:r>
            <a:r>
              <a:rPr lang="zh-CN" altLang="en-US" sz="2400" dirty="0" smtClean="0">
                <a:solidFill>
                  <a:srgbClr val="FF0000"/>
                </a:solidFill>
                <a:latin typeface="+mj-ea"/>
                <a:ea typeface="+mj-ea"/>
              </a:rPr>
              <a:t>派生表</a:t>
            </a:r>
            <a:r>
              <a:rPr lang="zh-CN" altLang="en-US" sz="2400" dirty="0" smtClean="0">
                <a:latin typeface="+mj-ea"/>
                <a:ea typeface="+mj-ea"/>
              </a:rPr>
              <a:t>成为主查询的查询对象。</a:t>
            </a:r>
            <a:endParaRPr lang="en-US" altLang="zh-CN" sz="2400" dirty="0" smtClean="0">
              <a:latin typeface="+mj-ea"/>
              <a:ea typeface="+mj-ea"/>
            </a:endParaRPr>
          </a:p>
          <a:p>
            <a:pPr marL="0" indent="0">
              <a:lnSpc>
                <a:spcPts val="3700"/>
              </a:lnSpc>
              <a:buFontTx/>
              <a:buNone/>
              <a:defRPr/>
            </a:pPr>
            <a:r>
              <a:rPr lang="zh-CN" altLang="en-US" sz="2400" dirty="0" smtClean="0">
                <a:latin typeface="+mj-ea"/>
                <a:ea typeface="+mj-ea"/>
              </a:rPr>
              <a:t>   如［例</a:t>
            </a:r>
            <a:r>
              <a:rPr lang="en-US" altLang="zh-CN" sz="2400" dirty="0" smtClean="0">
                <a:latin typeface="+mj-ea"/>
                <a:ea typeface="+mj-ea"/>
              </a:rPr>
              <a:t>40</a:t>
            </a:r>
            <a:r>
              <a:rPr lang="zh-CN" altLang="en-US" sz="2400" dirty="0" smtClean="0">
                <a:latin typeface="+mj-ea"/>
                <a:ea typeface="+mj-ea"/>
              </a:rPr>
              <a:t>］中找出每个学生超过他选修课程平均成绩的学号和课程号，也可以用如下的查询完成</a:t>
            </a:r>
            <a:r>
              <a:rPr lang="en-US" altLang="zh-CN" sz="2400" dirty="0" smtClean="0">
                <a:latin typeface="+mj-ea"/>
                <a:ea typeface="+mj-ea"/>
              </a:rPr>
              <a:t>:</a:t>
            </a:r>
          </a:p>
          <a:p>
            <a:pPr marL="400050" lvl="1" indent="0">
              <a:lnSpc>
                <a:spcPts val="3700"/>
              </a:lnSpc>
              <a:buFontTx/>
              <a:buNone/>
              <a:defRPr/>
            </a:pPr>
            <a:r>
              <a:rPr lang="en-US" altLang="zh-CN" sz="2000" dirty="0" smtClean="0">
                <a:latin typeface="+mj-ea"/>
                <a:ea typeface="+mj-ea"/>
              </a:rPr>
              <a:t>SELECT </a:t>
            </a:r>
            <a:r>
              <a:rPr lang="en-US" altLang="zh-CN" sz="2000" dirty="0" err="1" smtClean="0">
                <a:latin typeface="+mj-ea"/>
                <a:ea typeface="+mj-ea"/>
              </a:rPr>
              <a:t>Sno,Cno</a:t>
            </a:r>
            <a:endParaRPr lang="en-US" altLang="zh-CN" sz="2000" dirty="0" smtClean="0">
              <a:latin typeface="+mj-ea"/>
              <a:ea typeface="+mj-ea"/>
            </a:endParaRPr>
          </a:p>
          <a:p>
            <a:pPr marL="400050" lvl="1" indent="0">
              <a:lnSpc>
                <a:spcPts val="3700"/>
              </a:lnSpc>
              <a:buFontTx/>
              <a:buNone/>
              <a:defRPr/>
            </a:pPr>
            <a:r>
              <a:rPr lang="en-US" altLang="zh-CN" sz="2000" dirty="0" smtClean="0">
                <a:latin typeface="+mj-ea"/>
                <a:ea typeface="+mj-ea"/>
              </a:rPr>
              <a:t>FROM SC,(SELECT </a:t>
            </a:r>
            <a:r>
              <a:rPr lang="en-US" altLang="zh-CN" sz="2000" dirty="0" err="1" smtClean="0">
                <a:latin typeface="+mj-ea"/>
                <a:ea typeface="+mj-ea"/>
              </a:rPr>
              <a:t>Sno,Avg</a:t>
            </a:r>
            <a:r>
              <a:rPr lang="en-US" altLang="zh-CN" sz="2000" dirty="0" smtClean="0">
                <a:latin typeface="+mj-ea"/>
                <a:ea typeface="+mj-ea"/>
              </a:rPr>
              <a:t>(Grade) FROM SC GROUP BY </a:t>
            </a:r>
            <a:r>
              <a:rPr lang="en-US" altLang="zh-CN" sz="2000" dirty="0" err="1" smtClean="0">
                <a:latin typeface="+mj-ea"/>
                <a:ea typeface="+mj-ea"/>
              </a:rPr>
              <a:t>Sno</a:t>
            </a:r>
            <a:r>
              <a:rPr lang="en-US" altLang="zh-CN" sz="2000" dirty="0" smtClean="0">
                <a:latin typeface="+mj-ea"/>
                <a:ea typeface="+mj-ea"/>
              </a:rPr>
              <a:t>)</a:t>
            </a:r>
          </a:p>
          <a:p>
            <a:pPr marL="400050" lvl="1" indent="0">
              <a:lnSpc>
                <a:spcPts val="3700"/>
              </a:lnSpc>
              <a:buFontTx/>
              <a:buNone/>
              <a:defRPr/>
            </a:pPr>
            <a:r>
              <a:rPr lang="en-US" altLang="zh-CN" sz="2000" dirty="0">
                <a:latin typeface="+mj-ea"/>
                <a:ea typeface="+mj-ea"/>
              </a:rPr>
              <a:t> </a:t>
            </a:r>
            <a:r>
              <a:rPr lang="en-US" altLang="zh-CN" sz="2000" dirty="0" smtClean="0">
                <a:latin typeface="+mj-ea"/>
                <a:ea typeface="+mj-ea"/>
              </a:rPr>
              <a:t>        AS </a:t>
            </a:r>
            <a:r>
              <a:rPr lang="en-US" altLang="zh-CN" sz="2000" dirty="0" err="1" smtClean="0">
                <a:latin typeface="+mj-ea"/>
                <a:ea typeface="+mj-ea"/>
              </a:rPr>
              <a:t>Avg_sc</a:t>
            </a:r>
            <a:r>
              <a:rPr lang="en-US" altLang="zh-CN" sz="2000" dirty="0" smtClean="0">
                <a:latin typeface="+mj-ea"/>
                <a:ea typeface="+mj-ea"/>
              </a:rPr>
              <a:t>(</a:t>
            </a:r>
            <a:r>
              <a:rPr lang="en-US" altLang="zh-CN" sz="2000" dirty="0" err="1" smtClean="0">
                <a:latin typeface="+mj-ea"/>
                <a:ea typeface="+mj-ea"/>
              </a:rPr>
              <a:t>avg_sno,avg_grade</a:t>
            </a:r>
            <a:r>
              <a:rPr lang="en-US" altLang="zh-CN" sz="2000" dirty="0" smtClean="0">
                <a:latin typeface="+mj-ea"/>
                <a:ea typeface="+mj-ea"/>
              </a:rPr>
              <a:t>)</a:t>
            </a:r>
          </a:p>
          <a:p>
            <a:pPr marL="400050" lvl="1" indent="0">
              <a:lnSpc>
                <a:spcPts val="3700"/>
              </a:lnSpc>
              <a:buFontTx/>
              <a:buNone/>
              <a:defRPr/>
            </a:pPr>
            <a:r>
              <a:rPr lang="en-US" altLang="zh-CN" sz="2000" dirty="0" smtClean="0">
                <a:latin typeface="+mj-ea"/>
                <a:ea typeface="+mj-ea"/>
              </a:rPr>
              <a:t>WHERE </a:t>
            </a:r>
            <a:r>
              <a:rPr lang="en-US" altLang="zh-CN" sz="2000" dirty="0" err="1" smtClean="0">
                <a:latin typeface="+mj-ea"/>
                <a:ea typeface="+mj-ea"/>
              </a:rPr>
              <a:t>SC.Sno</a:t>
            </a:r>
            <a:r>
              <a:rPr lang="en-US" altLang="zh-CN" sz="2000" dirty="0" smtClean="0">
                <a:latin typeface="+mj-ea"/>
                <a:ea typeface="+mj-ea"/>
              </a:rPr>
              <a:t>=</a:t>
            </a:r>
            <a:r>
              <a:rPr lang="en-US" altLang="zh-CN" sz="2000" dirty="0" err="1" smtClean="0">
                <a:latin typeface="+mj-ea"/>
                <a:ea typeface="+mj-ea"/>
              </a:rPr>
              <a:t>Avg_sc.avg_sno</a:t>
            </a:r>
            <a:r>
              <a:rPr lang="en-US" altLang="zh-CN" sz="2000" dirty="0" smtClean="0">
                <a:latin typeface="+mj-ea"/>
                <a:ea typeface="+mj-ea"/>
              </a:rPr>
              <a:t> and </a:t>
            </a:r>
            <a:r>
              <a:rPr lang="en-US" altLang="zh-CN" sz="2000" dirty="0" err="1" smtClean="0">
                <a:latin typeface="+mj-ea"/>
                <a:ea typeface="+mj-ea"/>
              </a:rPr>
              <a:t>SC.Grade</a:t>
            </a:r>
            <a:r>
              <a:rPr lang="en-US" altLang="zh-CN" sz="2000" dirty="0" smtClean="0">
                <a:latin typeface="+mj-ea"/>
                <a:ea typeface="+mj-ea"/>
              </a:rPr>
              <a:t>&gt;=</a:t>
            </a:r>
            <a:r>
              <a:rPr lang="en-US" altLang="zh-CN" sz="2000" dirty="0" err="1" smtClean="0">
                <a:latin typeface="+mj-ea"/>
                <a:ea typeface="+mj-ea"/>
              </a:rPr>
              <a:t>Avg_sc.avg_grade</a:t>
            </a:r>
            <a:endParaRPr lang="zh-CN" altLang="en-US" sz="2000" dirty="0" smtClean="0">
              <a:latin typeface="+mj-ea"/>
              <a:ea typeface="+mj-ea"/>
            </a:endParaRPr>
          </a:p>
          <a:p>
            <a:pPr>
              <a:lnSpc>
                <a:spcPts val="3700"/>
              </a:lnSpc>
              <a:defRPr/>
            </a:pPr>
            <a:endParaRPr lang="zh-CN" altLang="en-US" sz="2400" dirty="0">
              <a:latin typeface="+mj-ea"/>
              <a:ea typeface="+mj-ea"/>
            </a:endParaRPr>
          </a:p>
        </p:txBody>
      </p:sp>
      <p:sp>
        <p:nvSpPr>
          <p:cNvPr id="4" name="Rectangle 2"/>
          <p:cNvSpPr txBox="1">
            <a:spLocks noChangeArrowheads="1"/>
          </p:cNvSpPr>
          <p:nvPr/>
        </p:nvSpPr>
        <p:spPr bwMode="auto">
          <a:xfrm>
            <a:off x="755650" y="0"/>
            <a:ext cx="817403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3.4.6  </a:t>
            </a:r>
            <a:r>
              <a:rPr lang="zh-CN" altLang="en-US" b="0" kern="0" dirty="0" smtClean="0">
                <a:latin typeface="黑体" pitchFamily="49" charset="-122"/>
              </a:rPr>
              <a:t>基于派生表的查询</a:t>
            </a:r>
          </a:p>
        </p:txBody>
      </p:sp>
    </p:spTree>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900113" y="44450"/>
            <a:ext cx="7793037" cy="1143000"/>
          </a:xfrm>
        </p:spPr>
        <p:txBody>
          <a:bodyPr/>
          <a:lstStyle/>
          <a:p>
            <a:pPr eaLnBrk="1" hangingPunct="1"/>
            <a:r>
              <a:rPr lang="en-US" altLang="zh-CN" smtClean="0">
                <a:latin typeface="黑体" pitchFamily="49" charset="-122"/>
              </a:rPr>
              <a:t>3.5  </a:t>
            </a:r>
            <a:r>
              <a:rPr lang="zh-CN" altLang="en-US" smtClean="0">
                <a:latin typeface="黑体" pitchFamily="49" charset="-122"/>
              </a:rPr>
              <a:t>数据更新</a:t>
            </a:r>
          </a:p>
        </p:txBody>
      </p:sp>
      <p:sp>
        <p:nvSpPr>
          <p:cNvPr id="115715" name="Rectangle 3"/>
          <p:cNvSpPr>
            <a:spLocks noGrp="1" noChangeArrowheads="1"/>
          </p:cNvSpPr>
          <p:nvPr>
            <p:ph type="body" idx="1"/>
          </p:nvPr>
        </p:nvSpPr>
        <p:spPr>
          <a:xfrm>
            <a:off x="1692275" y="1916113"/>
            <a:ext cx="5689600" cy="3744912"/>
          </a:xfrm>
        </p:spPr>
        <p:txBody>
          <a:bodyPr/>
          <a:lstStyle/>
          <a:p>
            <a:pPr algn="just" eaLnBrk="1" hangingPunct="1">
              <a:lnSpc>
                <a:spcPct val="130000"/>
              </a:lnSpc>
              <a:buFont typeface="Wingdings" pitchFamily="2" charset="2"/>
              <a:buNone/>
            </a:pPr>
            <a:r>
              <a:rPr lang="en-US" altLang="zh-CN" smtClean="0">
                <a:solidFill>
                  <a:srgbClr val="FF0000"/>
                </a:solidFill>
                <a:latin typeface="黑体" pitchFamily="49" charset="-122"/>
                <a:ea typeface="黑体" pitchFamily="49" charset="-122"/>
              </a:rPr>
              <a:t>3.5.1  </a:t>
            </a:r>
            <a:r>
              <a:rPr lang="zh-CN" altLang="en-US" smtClean="0">
                <a:solidFill>
                  <a:srgbClr val="FF0000"/>
                </a:solidFill>
                <a:latin typeface="黑体" pitchFamily="49" charset="-122"/>
                <a:ea typeface="黑体" pitchFamily="49" charset="-122"/>
              </a:rPr>
              <a:t>插入数据</a:t>
            </a:r>
          </a:p>
          <a:p>
            <a:pPr algn="just" eaLnBrk="1" hangingPunct="1">
              <a:lnSpc>
                <a:spcPct val="130000"/>
              </a:lnSpc>
              <a:buFont typeface="Wingdings" pitchFamily="2" charset="2"/>
              <a:buNone/>
            </a:pPr>
            <a:r>
              <a:rPr lang="en-US" altLang="zh-CN" smtClean="0">
                <a:latin typeface="黑体" pitchFamily="49" charset="-122"/>
                <a:ea typeface="黑体" pitchFamily="49" charset="-122"/>
              </a:rPr>
              <a:t>3.5.2  </a:t>
            </a:r>
            <a:r>
              <a:rPr lang="zh-CN" altLang="en-US" smtClean="0">
                <a:latin typeface="黑体" pitchFamily="49" charset="-122"/>
                <a:ea typeface="黑体" pitchFamily="49" charset="-122"/>
              </a:rPr>
              <a:t>修改数据</a:t>
            </a:r>
          </a:p>
          <a:p>
            <a:pPr eaLnBrk="1" hangingPunct="1">
              <a:lnSpc>
                <a:spcPct val="130000"/>
              </a:lnSpc>
              <a:buFont typeface="Wingdings" pitchFamily="2" charset="2"/>
              <a:buNone/>
            </a:pPr>
            <a:r>
              <a:rPr lang="en-US" altLang="zh-CN" smtClean="0">
                <a:latin typeface="黑体" pitchFamily="49" charset="-122"/>
                <a:ea typeface="黑体" pitchFamily="49" charset="-122"/>
              </a:rPr>
              <a:t>3.5.3  </a:t>
            </a:r>
            <a:r>
              <a:rPr lang="zh-CN" altLang="en-US" smtClean="0">
                <a:latin typeface="黑体" pitchFamily="49" charset="-122"/>
                <a:ea typeface="黑体" pitchFamily="49" charset="-122"/>
              </a:rPr>
              <a:t>删除数据 </a:t>
            </a:r>
          </a:p>
        </p:txBody>
      </p:sp>
    </p:spTree>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755650" y="981075"/>
            <a:ext cx="6624638" cy="1143000"/>
          </a:xfrm>
        </p:spPr>
        <p:txBody>
          <a:bodyPr/>
          <a:lstStyle/>
          <a:p>
            <a:pPr eaLnBrk="1" hangingPunct="1"/>
            <a:r>
              <a:rPr lang="zh-CN" altLang="en-US" sz="2800" smtClean="0">
                <a:solidFill>
                  <a:schemeClr val="tx1"/>
                </a:solidFill>
              </a:rPr>
              <a:t>注意的问题</a:t>
            </a:r>
          </a:p>
        </p:txBody>
      </p:sp>
      <p:sp>
        <p:nvSpPr>
          <p:cNvPr id="116739" name="Rectangle 3"/>
          <p:cNvSpPr>
            <a:spLocks noGrp="1" noChangeArrowheads="1"/>
          </p:cNvSpPr>
          <p:nvPr>
            <p:ph type="body" idx="1"/>
          </p:nvPr>
        </p:nvSpPr>
        <p:spPr>
          <a:xfrm>
            <a:off x="1116013" y="1916113"/>
            <a:ext cx="7772400" cy="3611562"/>
          </a:xfrm>
        </p:spPr>
        <p:txBody>
          <a:bodyPr/>
          <a:lstStyle/>
          <a:p>
            <a:pPr eaLnBrk="1" hangingPunct="1">
              <a:lnSpc>
                <a:spcPct val="130000"/>
              </a:lnSpc>
              <a:buFont typeface="Wingdings" pitchFamily="2" charset="2"/>
              <a:buNone/>
            </a:pPr>
            <a:endParaRPr lang="en-US" altLang="zh-CN" sz="2400" smtClean="0">
              <a:latin typeface="黑体" pitchFamily="49" charset="-122"/>
              <a:ea typeface="黑体" pitchFamily="49" charset="-122"/>
            </a:endParaRPr>
          </a:p>
          <a:p>
            <a:pPr eaLnBrk="1" hangingPunct="1">
              <a:lnSpc>
                <a:spcPct val="130000"/>
              </a:lnSpc>
            </a:pPr>
            <a:r>
              <a:rPr lang="zh-CN" altLang="en-US" sz="2400" smtClean="0">
                <a:latin typeface="黑体" pitchFamily="49" charset="-122"/>
                <a:ea typeface="黑体" pitchFamily="49" charset="-122"/>
              </a:rPr>
              <a:t>修改数据与修改基本表的区别</a:t>
            </a:r>
          </a:p>
          <a:p>
            <a:pPr lvl="1" eaLnBrk="1" hangingPunct="1">
              <a:lnSpc>
                <a:spcPct val="130000"/>
              </a:lnSpc>
            </a:pPr>
            <a:r>
              <a:rPr lang="en-US" altLang="zh-CN" sz="2400" smtClean="0">
                <a:latin typeface="黑体" pitchFamily="49" charset="-122"/>
                <a:ea typeface="黑体" pitchFamily="49" charset="-122"/>
              </a:rPr>
              <a:t>UPDATE</a:t>
            </a:r>
            <a:r>
              <a:rPr lang="zh-CN" altLang="en-US" sz="2400" smtClean="0">
                <a:latin typeface="黑体" pitchFamily="49" charset="-122"/>
                <a:ea typeface="黑体" pitchFamily="49" charset="-122"/>
              </a:rPr>
              <a:t>与</a:t>
            </a:r>
            <a:r>
              <a:rPr lang="en-US" altLang="zh-CN" sz="2400" smtClean="0">
                <a:latin typeface="黑体" pitchFamily="49" charset="-122"/>
                <a:ea typeface="黑体" pitchFamily="49" charset="-122"/>
              </a:rPr>
              <a:t>ALTER</a:t>
            </a:r>
          </a:p>
          <a:p>
            <a:pPr eaLnBrk="1" hangingPunct="1">
              <a:lnSpc>
                <a:spcPct val="130000"/>
              </a:lnSpc>
            </a:pPr>
            <a:r>
              <a:rPr lang="zh-CN" altLang="en-US" sz="2400" smtClean="0">
                <a:latin typeface="黑体" pitchFamily="49" charset="-122"/>
                <a:ea typeface="黑体" pitchFamily="49" charset="-122"/>
              </a:rPr>
              <a:t>删除数据与删除基本表的区别</a:t>
            </a:r>
          </a:p>
          <a:p>
            <a:pPr lvl="1" eaLnBrk="1" hangingPunct="1">
              <a:lnSpc>
                <a:spcPct val="130000"/>
              </a:lnSpc>
            </a:pPr>
            <a:r>
              <a:rPr lang="en-US" altLang="zh-CN" sz="2400" smtClean="0">
                <a:latin typeface="黑体" pitchFamily="49" charset="-122"/>
                <a:ea typeface="黑体" pitchFamily="49" charset="-122"/>
              </a:rPr>
              <a:t>DELETE</a:t>
            </a:r>
            <a:r>
              <a:rPr lang="zh-CN" altLang="en-US" sz="2400" smtClean="0">
                <a:latin typeface="黑体" pitchFamily="49" charset="-122"/>
                <a:ea typeface="黑体" pitchFamily="49" charset="-122"/>
              </a:rPr>
              <a:t>与</a:t>
            </a:r>
            <a:r>
              <a:rPr lang="en-US" altLang="zh-CN" sz="2400" smtClean="0">
                <a:latin typeface="黑体" pitchFamily="49" charset="-122"/>
                <a:ea typeface="黑体" pitchFamily="49" charset="-122"/>
              </a:rPr>
              <a:t>DROP</a:t>
            </a:r>
          </a:p>
        </p:txBody>
      </p:sp>
      <p:sp>
        <p:nvSpPr>
          <p:cNvPr id="4" name="Rectangle 2"/>
          <p:cNvSpPr txBox="1">
            <a:spLocks noChangeArrowheads="1"/>
          </p:cNvSpPr>
          <p:nvPr/>
        </p:nvSpPr>
        <p:spPr bwMode="auto">
          <a:xfrm>
            <a:off x="900113" y="4445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3.5  </a:t>
            </a:r>
            <a:r>
              <a:rPr lang="zh-CN" altLang="en-US" b="0" kern="0" dirty="0" smtClean="0">
                <a:latin typeface="黑体" pitchFamily="49" charset="-122"/>
              </a:rPr>
              <a:t>数据更新</a:t>
            </a:r>
          </a:p>
        </p:txBody>
      </p:sp>
    </p:spTree>
  </p:cSld>
  <p:clrMapOvr>
    <a:masterClrMapping/>
  </p:clrMapOv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395288" y="1052513"/>
            <a:ext cx="7793037" cy="1143000"/>
          </a:xfrm>
        </p:spPr>
        <p:txBody>
          <a:bodyPr/>
          <a:lstStyle/>
          <a:p>
            <a:pPr eaLnBrk="1" hangingPunct="1"/>
            <a:r>
              <a:rPr lang="en-US" altLang="zh-CN" sz="3200" smtClean="0">
                <a:solidFill>
                  <a:schemeClr val="tx1"/>
                </a:solidFill>
                <a:latin typeface="黑体" pitchFamily="49" charset="-122"/>
              </a:rPr>
              <a:t>3.5.1  </a:t>
            </a:r>
            <a:r>
              <a:rPr lang="zh-CN" altLang="en-US" sz="3200" smtClean="0">
                <a:solidFill>
                  <a:schemeClr val="tx1"/>
                </a:solidFill>
                <a:latin typeface="黑体" pitchFamily="49" charset="-122"/>
              </a:rPr>
              <a:t>插入数据</a:t>
            </a:r>
          </a:p>
        </p:txBody>
      </p:sp>
      <p:sp>
        <p:nvSpPr>
          <p:cNvPr id="117763" name="Rectangle 3"/>
          <p:cNvSpPr>
            <a:spLocks noGrp="1" noChangeArrowheads="1"/>
          </p:cNvSpPr>
          <p:nvPr>
            <p:ph type="body" idx="1"/>
          </p:nvPr>
        </p:nvSpPr>
        <p:spPr>
          <a:xfrm>
            <a:off x="1116013" y="2276475"/>
            <a:ext cx="6480175" cy="3384550"/>
          </a:xfrm>
        </p:spPr>
        <p:txBody>
          <a:bodyPr/>
          <a:lstStyle/>
          <a:p>
            <a:pPr eaLnBrk="1" hangingPunct="1">
              <a:lnSpc>
                <a:spcPct val="140000"/>
              </a:lnSpc>
            </a:pPr>
            <a:r>
              <a:rPr lang="zh-CN" altLang="en-US" sz="2800" smtClean="0">
                <a:latin typeface="黑体" pitchFamily="49" charset="-122"/>
                <a:ea typeface="黑体" pitchFamily="49" charset="-122"/>
              </a:rPr>
              <a:t>两种插入数据方式</a:t>
            </a:r>
          </a:p>
          <a:p>
            <a:pPr lvl="1" eaLnBrk="1" hangingPunct="1">
              <a:lnSpc>
                <a:spcPct val="140000"/>
              </a:lnSpc>
            </a:pPr>
            <a:r>
              <a:rPr lang="zh-CN" altLang="en-US" smtClean="0">
                <a:latin typeface="黑体" pitchFamily="49" charset="-122"/>
                <a:ea typeface="黑体" pitchFamily="49" charset="-122"/>
              </a:rPr>
              <a:t> </a:t>
            </a:r>
            <a:r>
              <a:rPr lang="zh-CN" altLang="en-US" sz="2400" smtClean="0">
                <a:latin typeface="黑体" pitchFamily="49" charset="-122"/>
                <a:ea typeface="黑体" pitchFamily="49" charset="-122"/>
              </a:rPr>
              <a:t>插入单个元组</a:t>
            </a:r>
          </a:p>
          <a:p>
            <a:pPr lvl="1" eaLnBrk="1" hangingPunct="1">
              <a:lnSpc>
                <a:spcPct val="140000"/>
              </a:lnSpc>
            </a:pPr>
            <a:r>
              <a:rPr lang="zh-CN" altLang="en-US" sz="2400" smtClean="0">
                <a:latin typeface="黑体" pitchFamily="49" charset="-122"/>
                <a:ea typeface="黑体" pitchFamily="49" charset="-122"/>
              </a:rPr>
              <a:t> 插入子查询结果</a:t>
            </a:r>
          </a:p>
          <a:p>
            <a:pPr eaLnBrk="1" hangingPunct="1">
              <a:lnSpc>
                <a:spcPct val="140000"/>
              </a:lnSpc>
            </a:pPr>
            <a:endParaRPr lang="en-US" altLang="zh-CN" smtClean="0">
              <a:latin typeface="黑体" pitchFamily="49" charset="-122"/>
              <a:ea typeface="黑体" pitchFamily="49" charset="-122"/>
            </a:endParaRPr>
          </a:p>
        </p:txBody>
      </p:sp>
      <p:sp>
        <p:nvSpPr>
          <p:cNvPr id="4" name="Rectangle 2"/>
          <p:cNvSpPr txBox="1">
            <a:spLocks noChangeArrowheads="1"/>
          </p:cNvSpPr>
          <p:nvPr/>
        </p:nvSpPr>
        <p:spPr bwMode="auto">
          <a:xfrm>
            <a:off x="900113" y="4445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latin typeface="黑体" pitchFamily="49" charset="-122"/>
              </a:rPr>
              <a:t>3.5  </a:t>
            </a:r>
            <a:r>
              <a:rPr lang="zh-CN" altLang="en-US" b="0" kern="0" dirty="0" smtClean="0">
                <a:latin typeface="黑体" pitchFamily="49" charset="-122"/>
              </a:rPr>
              <a:t>数据更新</a:t>
            </a:r>
          </a:p>
        </p:txBody>
      </p:sp>
    </p:spTree>
  </p:cSld>
  <p:clrMapOvr>
    <a:masterClrMapping/>
  </p:clrMapOv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468313" y="1052513"/>
            <a:ext cx="7793037" cy="1008062"/>
          </a:xfrm>
        </p:spPr>
        <p:txBody>
          <a:bodyPr/>
          <a:lstStyle/>
          <a:p>
            <a:pPr eaLnBrk="1" hangingPunct="1"/>
            <a:r>
              <a:rPr lang="en-US" altLang="zh-CN" sz="2800" smtClean="0">
                <a:solidFill>
                  <a:schemeClr val="tx1"/>
                </a:solidFill>
              </a:rPr>
              <a:t>1. </a:t>
            </a:r>
            <a:r>
              <a:rPr lang="zh-CN" altLang="en-US" sz="2800" smtClean="0">
                <a:solidFill>
                  <a:schemeClr val="tx1"/>
                </a:solidFill>
              </a:rPr>
              <a:t>插入单个元组</a:t>
            </a:r>
          </a:p>
        </p:txBody>
      </p:sp>
      <p:sp>
        <p:nvSpPr>
          <p:cNvPr id="118787" name="Rectangle 3"/>
          <p:cNvSpPr>
            <a:spLocks noGrp="1" noChangeArrowheads="1"/>
          </p:cNvSpPr>
          <p:nvPr>
            <p:ph type="body" idx="1"/>
          </p:nvPr>
        </p:nvSpPr>
        <p:spPr>
          <a:xfrm>
            <a:off x="755650" y="2060575"/>
            <a:ext cx="7772400" cy="4114800"/>
          </a:xfrm>
        </p:spPr>
        <p:txBody>
          <a:bodyPr/>
          <a:lstStyle/>
          <a:p>
            <a:pPr marL="609600" indent="-609600" eaLnBrk="1" hangingPunct="1"/>
            <a:r>
              <a:rPr lang="zh-CN" altLang="en-US" sz="2400" smtClean="0">
                <a:latin typeface="黑体" pitchFamily="49" charset="-122"/>
                <a:ea typeface="黑体" pitchFamily="49" charset="-122"/>
              </a:rPr>
              <a:t>语句格式</a:t>
            </a:r>
          </a:p>
          <a:p>
            <a:pPr marL="609600" indent="-609600" eaLnBrk="1" hangingPunct="1">
              <a:lnSpc>
                <a:spcPct val="120000"/>
              </a:lnSpc>
              <a:buFont typeface="Wingdings" pitchFamily="2" charset="2"/>
              <a:buNone/>
            </a:pPr>
            <a:r>
              <a:rPr lang="en-US" altLang="zh-CN" sz="2400" smtClean="0">
                <a:latin typeface="黑体" pitchFamily="49" charset="-122"/>
                <a:ea typeface="黑体" pitchFamily="49" charset="-122"/>
              </a:rPr>
              <a:t>INSERT</a:t>
            </a:r>
          </a:p>
          <a:p>
            <a:pPr marL="609600" indent="-609600" eaLnBrk="1" hangingPunct="1">
              <a:lnSpc>
                <a:spcPct val="120000"/>
              </a:lnSpc>
              <a:buFont typeface="Wingdings" pitchFamily="2" charset="2"/>
              <a:buNone/>
            </a:pPr>
            <a:r>
              <a:rPr lang="en-US" altLang="zh-CN" sz="2400" smtClean="0">
                <a:latin typeface="黑体" pitchFamily="49" charset="-122"/>
                <a:ea typeface="黑体" pitchFamily="49" charset="-122"/>
              </a:rPr>
              <a:t>INTO &lt;</a:t>
            </a:r>
            <a:r>
              <a:rPr lang="zh-CN" altLang="en-US" sz="2400" smtClean="0">
                <a:latin typeface="黑体" pitchFamily="49" charset="-122"/>
                <a:ea typeface="黑体" pitchFamily="49" charset="-122"/>
              </a:rPr>
              <a:t>表名</a:t>
            </a:r>
            <a:r>
              <a:rPr lang="en-US" altLang="zh-CN" sz="2400" smtClean="0">
                <a:latin typeface="黑体" pitchFamily="49" charset="-122"/>
                <a:ea typeface="黑体" pitchFamily="49" charset="-122"/>
              </a:rPr>
              <a:t>&gt; [(&lt;</a:t>
            </a:r>
            <a:r>
              <a:rPr lang="zh-CN" altLang="en-US" sz="2400" smtClean="0">
                <a:latin typeface="黑体" pitchFamily="49" charset="-122"/>
                <a:ea typeface="黑体" pitchFamily="49" charset="-122"/>
              </a:rPr>
              <a:t>属性列</a:t>
            </a:r>
            <a:r>
              <a:rPr lang="en-US" altLang="zh-CN" sz="2400" smtClean="0">
                <a:latin typeface="黑体" pitchFamily="49" charset="-122"/>
                <a:ea typeface="黑体" pitchFamily="49" charset="-122"/>
              </a:rPr>
              <a:t>1&gt;[</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&lt;</a:t>
            </a:r>
            <a:r>
              <a:rPr lang="zh-CN" altLang="en-US" sz="2400" smtClean="0">
                <a:latin typeface="黑体" pitchFamily="49" charset="-122"/>
                <a:ea typeface="黑体" pitchFamily="49" charset="-122"/>
              </a:rPr>
              <a:t>属性列</a:t>
            </a:r>
            <a:r>
              <a:rPr lang="en-US" altLang="zh-CN" sz="2400" smtClean="0">
                <a:latin typeface="黑体" pitchFamily="49" charset="-122"/>
                <a:ea typeface="黑体" pitchFamily="49" charset="-122"/>
              </a:rPr>
              <a:t>2 &gt;</a:t>
            </a:r>
            <a:r>
              <a:rPr lang="en-US" altLang="zh-CN" sz="2400" smtClean="0">
                <a:ea typeface="黑体" pitchFamily="49" charset="-122"/>
              </a:rPr>
              <a:t>…</a:t>
            </a:r>
            <a:r>
              <a:rPr lang="en-US" altLang="zh-CN" sz="2400" smtClean="0">
                <a:latin typeface="黑体" pitchFamily="49" charset="-122"/>
                <a:ea typeface="黑体" pitchFamily="49" charset="-122"/>
              </a:rPr>
              <a:t>)]</a:t>
            </a:r>
          </a:p>
          <a:p>
            <a:pPr marL="609600" indent="-609600" eaLnBrk="1" hangingPunct="1">
              <a:lnSpc>
                <a:spcPct val="120000"/>
              </a:lnSpc>
              <a:buFont typeface="Wingdings" pitchFamily="2" charset="2"/>
              <a:buNone/>
            </a:pPr>
            <a:r>
              <a:rPr lang="en-US" altLang="zh-CN" sz="2400" smtClean="0">
                <a:latin typeface="黑体" pitchFamily="49" charset="-122"/>
                <a:ea typeface="黑体" pitchFamily="49" charset="-122"/>
              </a:rPr>
              <a:t>VALUES (&lt;</a:t>
            </a:r>
            <a:r>
              <a:rPr lang="zh-CN" altLang="en-US" sz="2400" smtClean="0">
                <a:latin typeface="黑体" pitchFamily="49" charset="-122"/>
                <a:ea typeface="黑体" pitchFamily="49" charset="-122"/>
              </a:rPr>
              <a:t>常量</a:t>
            </a:r>
            <a:r>
              <a:rPr lang="en-US" altLang="zh-CN" sz="2400" smtClean="0">
                <a:latin typeface="黑体" pitchFamily="49" charset="-122"/>
                <a:ea typeface="黑体" pitchFamily="49" charset="-122"/>
              </a:rPr>
              <a:t>1&gt; [</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&lt;</a:t>
            </a:r>
            <a:r>
              <a:rPr lang="zh-CN" altLang="en-US" sz="2400" smtClean="0">
                <a:latin typeface="黑体" pitchFamily="49" charset="-122"/>
                <a:ea typeface="黑体" pitchFamily="49" charset="-122"/>
              </a:rPr>
              <a:t>常量</a:t>
            </a:r>
            <a:r>
              <a:rPr lang="en-US" altLang="zh-CN" sz="2400" smtClean="0">
                <a:latin typeface="黑体" pitchFamily="49" charset="-122"/>
                <a:ea typeface="黑体" pitchFamily="49" charset="-122"/>
              </a:rPr>
              <a:t>2&gt; </a:t>
            </a:r>
            <a:r>
              <a:rPr lang="en-US" altLang="zh-CN" sz="2400" smtClean="0">
                <a:ea typeface="黑体" pitchFamily="49" charset="-122"/>
              </a:rPr>
              <a:t>…</a:t>
            </a:r>
            <a:r>
              <a:rPr lang="en-US" altLang="zh-CN" sz="2400" smtClean="0">
                <a:latin typeface="黑体" pitchFamily="49" charset="-122"/>
                <a:ea typeface="黑体" pitchFamily="49" charset="-122"/>
              </a:rPr>
              <a:t> )</a:t>
            </a:r>
          </a:p>
          <a:p>
            <a:pPr marL="609600" indent="-609600" eaLnBrk="1" hangingPunct="1"/>
            <a:r>
              <a:rPr lang="zh-CN" altLang="en-US" sz="2400" smtClean="0">
                <a:latin typeface="黑体" pitchFamily="49" charset="-122"/>
                <a:ea typeface="黑体" pitchFamily="49" charset="-122"/>
              </a:rPr>
              <a:t>功能</a:t>
            </a:r>
          </a:p>
          <a:p>
            <a:pPr marL="609600" indent="-609600" eaLnBrk="1" hangingPunct="1">
              <a:buFont typeface="Wingdings" pitchFamily="2" charset="2"/>
              <a:buNone/>
            </a:pPr>
            <a:r>
              <a:rPr lang="zh-CN" altLang="en-US" sz="2400" smtClean="0">
                <a:latin typeface="黑体" pitchFamily="49" charset="-122"/>
                <a:ea typeface="黑体" pitchFamily="49" charset="-122"/>
              </a:rPr>
              <a:t>     将新元组插入指定表中。</a:t>
            </a:r>
          </a:p>
          <a:p>
            <a:pPr marL="990600" lvl="1" indent="-533400" eaLnBrk="1" hangingPunct="1">
              <a:buFont typeface="Wingdings" pitchFamily="2" charset="2"/>
              <a:buNone/>
            </a:pPr>
            <a:endParaRPr lang="en-US" altLang="zh-CN" sz="2400" smtClean="0">
              <a:latin typeface="黑体" pitchFamily="49" charset="-122"/>
              <a:ea typeface="黑体" pitchFamily="49" charset="-122"/>
            </a:endParaRPr>
          </a:p>
        </p:txBody>
      </p:sp>
      <p:sp>
        <p:nvSpPr>
          <p:cNvPr id="5" name="Rectangle 2"/>
          <p:cNvSpPr txBox="1">
            <a:spLocks noChangeArrowheads="1"/>
          </p:cNvSpPr>
          <p:nvPr/>
        </p:nvSpPr>
        <p:spPr bwMode="auto">
          <a:xfrm>
            <a:off x="611188" y="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sz="3200" b="0" kern="0" smtClean="0">
                <a:latin typeface="黑体" pitchFamily="49" charset="-122"/>
              </a:rPr>
              <a:t>3.5.1  </a:t>
            </a:r>
            <a:r>
              <a:rPr lang="zh-CN" altLang="en-US" sz="3200" b="0" kern="0" smtClean="0">
                <a:latin typeface="黑体" pitchFamily="49" charset="-122"/>
              </a:rPr>
              <a:t>插入数据</a:t>
            </a:r>
            <a:endParaRPr lang="zh-CN" altLang="en-US" sz="3200" b="0" kern="0" dirty="0" smtClean="0">
              <a:latin typeface="黑体" pitchFamily="49" charset="-122"/>
            </a:endParaRPr>
          </a:p>
        </p:txBody>
      </p:sp>
    </p:spTree>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3"/>
          <p:cNvSpPr>
            <a:spLocks noGrp="1" noChangeArrowheads="1"/>
          </p:cNvSpPr>
          <p:nvPr>
            <p:ph type="body" idx="1"/>
          </p:nvPr>
        </p:nvSpPr>
        <p:spPr>
          <a:xfrm>
            <a:off x="755650" y="1916113"/>
            <a:ext cx="8131175" cy="4681537"/>
          </a:xfrm>
        </p:spPr>
        <p:txBody>
          <a:bodyPr/>
          <a:lstStyle/>
          <a:p>
            <a:pPr eaLnBrk="1" hangingPunct="1">
              <a:lnSpc>
                <a:spcPct val="120000"/>
              </a:lnSpc>
              <a:spcBef>
                <a:spcPct val="0"/>
              </a:spcBef>
            </a:pPr>
            <a:r>
              <a:rPr lang="en-US" altLang="zh-CN" sz="2400" smtClean="0">
                <a:latin typeface="黑体" pitchFamily="49" charset="-122"/>
                <a:ea typeface="黑体" pitchFamily="49" charset="-122"/>
              </a:rPr>
              <a:t> INTO</a:t>
            </a:r>
            <a:r>
              <a:rPr lang="zh-CN" altLang="en-US" sz="2400" smtClean="0">
                <a:latin typeface="黑体" pitchFamily="49" charset="-122"/>
                <a:ea typeface="黑体" pitchFamily="49" charset="-122"/>
              </a:rPr>
              <a:t>子句</a:t>
            </a: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指定要插入数据的表名及属性列名</a:t>
            </a:r>
          </a:p>
          <a:p>
            <a:pPr lvl="1" eaLnBrk="1" hangingPunct="1">
              <a:lnSpc>
                <a:spcPct val="120000"/>
              </a:lnSpc>
              <a:spcBef>
                <a:spcPct val="0"/>
              </a:spcBef>
            </a:pPr>
            <a:r>
              <a:rPr lang="zh-CN" altLang="en-US" sz="2400" smtClean="0">
                <a:latin typeface="黑体" pitchFamily="49" charset="-122"/>
                <a:ea typeface="黑体" pitchFamily="49" charset="-122"/>
              </a:rPr>
              <a:t>全部指定属性列名：属性列的顺序可与表定义中的顺序不一致</a:t>
            </a:r>
          </a:p>
          <a:p>
            <a:pPr lvl="1" eaLnBrk="1" hangingPunct="1">
              <a:lnSpc>
                <a:spcPct val="120000"/>
              </a:lnSpc>
              <a:spcBef>
                <a:spcPct val="0"/>
              </a:spcBef>
            </a:pPr>
            <a:r>
              <a:rPr lang="zh-CN" altLang="en-US" sz="2400" smtClean="0">
                <a:latin typeface="黑体" pitchFamily="49" charset="-122"/>
                <a:ea typeface="黑体" pitchFamily="49" charset="-122"/>
              </a:rPr>
              <a:t>没有指定任何属性列：表示要插入的是一条完整的元组，且插入数据顺序与表定义中属性列的顺序一致</a:t>
            </a:r>
          </a:p>
          <a:p>
            <a:pPr lvl="1" eaLnBrk="1" hangingPunct="1">
              <a:lnSpc>
                <a:spcPct val="120000"/>
              </a:lnSpc>
              <a:spcBef>
                <a:spcPct val="0"/>
              </a:spcBef>
            </a:pPr>
            <a:r>
              <a:rPr lang="zh-CN" altLang="en-US" sz="2400" smtClean="0">
                <a:latin typeface="黑体" pitchFamily="49" charset="-122"/>
                <a:ea typeface="黑体" pitchFamily="49" charset="-122"/>
              </a:rPr>
              <a:t>指定部分属性列：插入的元组在其余属性列上取空值</a:t>
            </a:r>
          </a:p>
          <a:p>
            <a:pPr eaLnBrk="1" hangingPunct="1">
              <a:lnSpc>
                <a:spcPct val="120000"/>
              </a:lnSpc>
              <a:spcBef>
                <a:spcPct val="0"/>
              </a:spcBef>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VALUES</a:t>
            </a:r>
            <a:r>
              <a:rPr lang="zh-CN" altLang="en-US" sz="2400" smtClean="0">
                <a:latin typeface="黑体" pitchFamily="49" charset="-122"/>
                <a:ea typeface="黑体" pitchFamily="49" charset="-122"/>
              </a:rPr>
              <a:t>子句</a:t>
            </a:r>
          </a:p>
          <a:p>
            <a:pPr lvl="1" eaLnBrk="1" hangingPunct="1">
              <a:lnSpc>
                <a:spcPct val="120000"/>
              </a:lnSpc>
              <a:spcBef>
                <a:spcPct val="0"/>
              </a:spcBef>
            </a:pPr>
            <a:r>
              <a:rPr lang="zh-CN" altLang="en-US" sz="2400" smtClean="0">
                <a:latin typeface="黑体" pitchFamily="49" charset="-122"/>
                <a:ea typeface="黑体" pitchFamily="49" charset="-122"/>
              </a:rPr>
              <a:t> 提供的值必须与</a:t>
            </a:r>
            <a:r>
              <a:rPr lang="en-US" altLang="zh-CN" sz="2400" smtClean="0">
                <a:latin typeface="黑体" pitchFamily="49" charset="-122"/>
                <a:ea typeface="黑体" pitchFamily="49" charset="-122"/>
              </a:rPr>
              <a:t>INTO</a:t>
            </a:r>
            <a:r>
              <a:rPr lang="zh-CN" altLang="en-US" sz="2400" smtClean="0">
                <a:latin typeface="黑体" pitchFamily="49" charset="-122"/>
                <a:ea typeface="黑体" pitchFamily="49" charset="-122"/>
              </a:rPr>
              <a:t>子句匹配</a:t>
            </a:r>
          </a:p>
          <a:p>
            <a:pPr lvl="2" eaLnBrk="1" hangingPunct="1">
              <a:lnSpc>
                <a:spcPct val="120000"/>
              </a:lnSpc>
              <a:spcBef>
                <a:spcPct val="0"/>
              </a:spcBef>
              <a:buFontTx/>
              <a:buChar char="&gt;"/>
            </a:pPr>
            <a:r>
              <a:rPr lang="zh-CN" altLang="en-US" smtClean="0">
                <a:latin typeface="黑体" pitchFamily="49" charset="-122"/>
                <a:ea typeface="黑体" pitchFamily="49" charset="-122"/>
              </a:rPr>
              <a:t>值的个数</a:t>
            </a:r>
          </a:p>
          <a:p>
            <a:pPr lvl="2" eaLnBrk="1" hangingPunct="1">
              <a:lnSpc>
                <a:spcPct val="120000"/>
              </a:lnSpc>
              <a:spcBef>
                <a:spcPct val="0"/>
              </a:spcBef>
              <a:buFontTx/>
              <a:buChar char="&gt;"/>
            </a:pPr>
            <a:r>
              <a:rPr lang="zh-CN" altLang="en-US" smtClean="0">
                <a:latin typeface="黑体" pitchFamily="49" charset="-122"/>
                <a:ea typeface="黑体" pitchFamily="49" charset="-122"/>
              </a:rPr>
              <a:t>值的类型</a:t>
            </a:r>
          </a:p>
        </p:txBody>
      </p:sp>
      <p:sp>
        <p:nvSpPr>
          <p:cNvPr id="119811" name="Rectangle 2"/>
          <p:cNvSpPr>
            <a:spLocks noGrp="1" noChangeArrowheads="1"/>
          </p:cNvSpPr>
          <p:nvPr>
            <p:ph type="title"/>
          </p:nvPr>
        </p:nvSpPr>
        <p:spPr>
          <a:xfrm>
            <a:off x="468313" y="1052513"/>
            <a:ext cx="7793037" cy="863600"/>
          </a:xfrm>
        </p:spPr>
        <p:txBody>
          <a:bodyPr/>
          <a:lstStyle/>
          <a:p>
            <a:pPr eaLnBrk="1" hangingPunct="1"/>
            <a:r>
              <a:rPr lang="en-US" altLang="zh-CN" sz="2800" smtClean="0">
                <a:solidFill>
                  <a:schemeClr val="tx1"/>
                </a:solidFill>
              </a:rPr>
              <a:t>1. </a:t>
            </a:r>
            <a:r>
              <a:rPr lang="zh-CN" altLang="en-US" sz="2800" smtClean="0">
                <a:solidFill>
                  <a:schemeClr val="tx1"/>
                </a:solidFill>
              </a:rPr>
              <a:t>插入单个元组</a:t>
            </a:r>
          </a:p>
        </p:txBody>
      </p:sp>
      <p:sp>
        <p:nvSpPr>
          <p:cNvPr id="6" name="Rectangle 2"/>
          <p:cNvSpPr txBox="1">
            <a:spLocks noChangeArrowheads="1"/>
          </p:cNvSpPr>
          <p:nvPr/>
        </p:nvSpPr>
        <p:spPr bwMode="auto">
          <a:xfrm>
            <a:off x="611188" y="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sz="3200" b="0" kern="0" smtClean="0">
                <a:latin typeface="黑体" pitchFamily="49" charset="-122"/>
              </a:rPr>
              <a:t>3.5.1  </a:t>
            </a:r>
            <a:r>
              <a:rPr lang="zh-CN" altLang="en-US" sz="3200" b="0" kern="0" smtClean="0">
                <a:latin typeface="黑体" pitchFamily="49" charset="-122"/>
              </a:rPr>
              <a:t>插入数据</a:t>
            </a:r>
            <a:endParaRPr lang="zh-CN" altLang="en-US" sz="3200" b="0" kern="0" dirty="0" smtClean="0">
              <a:latin typeface="黑体" pitchFamily="49" charset="-122"/>
            </a:endParaRPr>
          </a:p>
        </p:txBody>
      </p:sp>
    </p:spTree>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3" name="Rectangle 3"/>
          <p:cNvSpPr>
            <a:spLocks noGrp="1" noChangeArrowheads="1"/>
          </p:cNvSpPr>
          <p:nvPr>
            <p:ph type="body" idx="1"/>
          </p:nvPr>
        </p:nvSpPr>
        <p:spPr>
          <a:xfrm>
            <a:off x="358775" y="2133600"/>
            <a:ext cx="8785225" cy="4114800"/>
          </a:xfrm>
        </p:spPr>
        <p:txBody>
          <a:bodyPr/>
          <a:lstStyle/>
          <a:p>
            <a:pPr eaLnBrk="1" hangingPunct="1">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1]  </a:t>
            </a:r>
            <a:r>
              <a:rPr lang="zh-CN" altLang="en-US" sz="2400" smtClean="0">
                <a:latin typeface="黑体" pitchFamily="49" charset="-122"/>
                <a:ea typeface="黑体" pitchFamily="49" charset="-122"/>
              </a:rPr>
              <a:t>将一个新学生记录</a:t>
            </a:r>
          </a:p>
          <a:p>
            <a:pPr eaLnBrk="1" hangingPunct="1">
              <a:buFont typeface="Wingdings" pitchFamily="2" charset="2"/>
              <a:buNone/>
            </a:pPr>
            <a:r>
              <a:rPr lang="zh-CN" altLang="en-US" sz="2400" smtClean="0">
                <a:latin typeface="黑体" pitchFamily="49" charset="-122"/>
                <a:ea typeface="黑体" pitchFamily="49" charset="-122"/>
              </a:rPr>
              <a:t>		（学号：</a:t>
            </a:r>
            <a:r>
              <a:rPr lang="en-US" altLang="zh-CN" sz="2400" smtClean="0">
                <a:latin typeface="黑体" pitchFamily="49" charset="-122"/>
                <a:ea typeface="黑体" pitchFamily="49" charset="-122"/>
              </a:rPr>
              <a:t>04050</a:t>
            </a:r>
            <a:r>
              <a:rPr lang="zh-CN" altLang="en-US" sz="2400" smtClean="0">
                <a:latin typeface="黑体" pitchFamily="49" charset="-122"/>
                <a:ea typeface="黑体" pitchFamily="49" charset="-122"/>
              </a:rPr>
              <a:t>；姓名：陈冬；性别：男；所在学院：	信息；出生日期：</a:t>
            </a:r>
            <a:r>
              <a:rPr lang="en-US" altLang="zh-CN" sz="2400" smtClean="0">
                <a:latin typeface="黑体" pitchFamily="49" charset="-122"/>
                <a:ea typeface="黑体" pitchFamily="49" charset="-122"/>
              </a:rPr>
              <a:t>1997/10/01</a:t>
            </a:r>
            <a:r>
              <a:rPr lang="zh-CN" altLang="en-US" sz="2400" smtClean="0">
                <a:latin typeface="黑体" pitchFamily="49" charset="-122"/>
                <a:ea typeface="黑体" pitchFamily="49" charset="-122"/>
              </a:rPr>
              <a:t>）插入到</a:t>
            </a:r>
            <a:r>
              <a:rPr lang="en-US" altLang="zh-CN" sz="2400" smtClean="0">
                <a:latin typeface="黑体" pitchFamily="49" charset="-122"/>
                <a:ea typeface="黑体" pitchFamily="49" charset="-122"/>
              </a:rPr>
              <a:t>S</a:t>
            </a:r>
            <a:r>
              <a:rPr lang="zh-CN" altLang="en-US" sz="2400" smtClean="0">
                <a:latin typeface="黑体" pitchFamily="49" charset="-122"/>
                <a:ea typeface="黑体" pitchFamily="49" charset="-122"/>
              </a:rPr>
              <a:t>表中</a:t>
            </a:r>
            <a:r>
              <a:rPr lang="zh-CN" altLang="en-US" smtClean="0">
                <a:latin typeface="黑体" pitchFamily="49" charset="-122"/>
                <a:ea typeface="黑体" pitchFamily="49" charset="-122"/>
              </a:rPr>
              <a:t>。</a:t>
            </a:r>
            <a:endParaRPr lang="zh-CN" altLang="en-US" sz="4000" smtClean="0">
              <a:latin typeface="黑体" pitchFamily="49" charset="-122"/>
              <a:ea typeface="黑体" pitchFamily="49" charset="-122"/>
            </a:endParaRPr>
          </a:p>
          <a:p>
            <a:pPr eaLnBrk="1" hangingPunct="1">
              <a:buFont typeface="Wingdings" pitchFamily="2" charset="2"/>
              <a:buNone/>
            </a:pPr>
            <a:r>
              <a:rPr lang="zh-CN" altLang="en-US" sz="2800" smtClean="0">
                <a:latin typeface="黑体" pitchFamily="49" charset="-122"/>
                <a:ea typeface="黑体" pitchFamily="49" charset="-122"/>
              </a:rPr>
              <a:t>   </a:t>
            </a:r>
          </a:p>
          <a:p>
            <a:pPr eaLnBrk="1" hangingPunct="1">
              <a:buFont typeface="Wingdings" pitchFamily="2" charset="2"/>
              <a:buNone/>
            </a:pPr>
            <a:r>
              <a:rPr lang="en-US" altLang="zh-CN" sz="2000" smtClean="0">
                <a:latin typeface="黑体" pitchFamily="49" charset="-122"/>
                <a:ea typeface="黑体" pitchFamily="49" charset="-122"/>
              </a:rPr>
              <a:t>    INSERT</a:t>
            </a:r>
          </a:p>
          <a:p>
            <a:pPr eaLnBrk="1" hangingPunct="1">
              <a:buFont typeface="Wingdings" pitchFamily="2" charset="2"/>
              <a:buNone/>
            </a:pPr>
            <a:r>
              <a:rPr lang="en-US" altLang="zh-CN" sz="2000" smtClean="0">
                <a:latin typeface="黑体" pitchFamily="49" charset="-122"/>
                <a:ea typeface="黑体" pitchFamily="49" charset="-122"/>
              </a:rPr>
              <a:t>    INTO  S(sno,College,sname,ssex,Sbirth)</a:t>
            </a:r>
          </a:p>
          <a:p>
            <a:pPr eaLnBrk="1" hangingPunct="1">
              <a:buFont typeface="Wingdings" pitchFamily="2" charset="2"/>
              <a:buNone/>
            </a:pPr>
            <a:r>
              <a:rPr lang="en-US" altLang="zh-CN" sz="2000" smtClean="0">
                <a:latin typeface="黑体" pitchFamily="49" charset="-122"/>
                <a:ea typeface="黑体" pitchFamily="49" charset="-122"/>
              </a:rPr>
              <a:t>    VALUES (‘04050’,‘</a:t>
            </a:r>
            <a:r>
              <a:rPr lang="zh-CN" altLang="en-US" sz="2000" smtClean="0">
                <a:latin typeface="黑体" pitchFamily="49" charset="-122"/>
                <a:ea typeface="黑体" pitchFamily="49" charset="-122"/>
              </a:rPr>
              <a:t>信息</a:t>
            </a:r>
            <a:r>
              <a:rPr lang="en-US" altLang="zh-CN" sz="2000" smtClean="0">
                <a:latin typeface="黑体" pitchFamily="49" charset="-122"/>
                <a:ea typeface="黑体" pitchFamily="49" charset="-122"/>
              </a:rPr>
              <a:t>’,‘</a:t>
            </a:r>
            <a:r>
              <a:rPr lang="zh-CN" altLang="en-US" sz="2000" smtClean="0">
                <a:latin typeface="黑体" pitchFamily="49" charset="-122"/>
                <a:ea typeface="黑体" pitchFamily="49" charset="-122"/>
              </a:rPr>
              <a:t>陈冬</a:t>
            </a:r>
            <a:r>
              <a:rPr lang="en-US" altLang="zh-CN" sz="2000" smtClean="0">
                <a:latin typeface="黑体" pitchFamily="49" charset="-122"/>
                <a:ea typeface="黑体" pitchFamily="49" charset="-122"/>
              </a:rPr>
              <a:t>’,‘</a:t>
            </a:r>
            <a:r>
              <a:rPr lang="zh-CN" altLang="en-US" sz="2000" smtClean="0">
                <a:latin typeface="黑体" pitchFamily="49" charset="-122"/>
                <a:ea typeface="黑体" pitchFamily="49" charset="-122"/>
              </a:rPr>
              <a:t>男</a:t>
            </a:r>
            <a:r>
              <a:rPr lang="en-US" altLang="zh-CN" sz="2000" smtClean="0">
                <a:latin typeface="黑体" pitchFamily="49" charset="-122"/>
                <a:ea typeface="黑体" pitchFamily="49" charset="-122"/>
              </a:rPr>
              <a:t>’,</a:t>
            </a:r>
            <a:r>
              <a:rPr lang="zh-CN" altLang="en-US" sz="2000" smtClean="0">
                <a:solidFill>
                  <a:srgbClr val="FF0000"/>
                </a:solidFill>
                <a:latin typeface="黑体" pitchFamily="49" charset="-122"/>
                <a:ea typeface="黑体" pitchFamily="49" charset="-122"/>
              </a:rPr>
              <a:t>‘</a:t>
            </a:r>
            <a:r>
              <a:rPr lang="en-US" altLang="zh-CN" sz="2000" smtClean="0">
                <a:solidFill>
                  <a:srgbClr val="FF0000"/>
                </a:solidFill>
                <a:latin typeface="黑体" pitchFamily="49" charset="-122"/>
                <a:ea typeface="黑体" pitchFamily="49" charset="-122"/>
              </a:rPr>
              <a:t>1997/10/01’</a:t>
            </a:r>
            <a:r>
              <a:rPr lang="en-US" altLang="zh-CN" sz="2000" smtClean="0">
                <a:latin typeface="黑体" pitchFamily="49" charset="-122"/>
                <a:ea typeface="黑体" pitchFamily="49" charset="-122"/>
              </a:rPr>
              <a:t>)</a:t>
            </a:r>
          </a:p>
        </p:txBody>
      </p:sp>
      <p:sp>
        <p:nvSpPr>
          <p:cNvPr id="120835" name="Rectangle 2"/>
          <p:cNvSpPr>
            <a:spLocks noGrp="1" noChangeArrowheads="1"/>
          </p:cNvSpPr>
          <p:nvPr>
            <p:ph type="title"/>
          </p:nvPr>
        </p:nvSpPr>
        <p:spPr>
          <a:xfrm>
            <a:off x="468313" y="1052513"/>
            <a:ext cx="7793037" cy="1008062"/>
          </a:xfrm>
        </p:spPr>
        <p:txBody>
          <a:bodyPr/>
          <a:lstStyle/>
          <a:p>
            <a:pPr eaLnBrk="1" hangingPunct="1"/>
            <a:r>
              <a:rPr lang="en-US" altLang="zh-CN" sz="2800" smtClean="0">
                <a:solidFill>
                  <a:schemeClr val="tx1"/>
                </a:solidFill>
              </a:rPr>
              <a:t>1. </a:t>
            </a:r>
            <a:r>
              <a:rPr lang="zh-CN" altLang="en-US" sz="2800" smtClean="0">
                <a:solidFill>
                  <a:schemeClr val="tx1"/>
                </a:solidFill>
              </a:rPr>
              <a:t>插入单个元组</a:t>
            </a:r>
          </a:p>
        </p:txBody>
      </p:sp>
      <p:sp>
        <p:nvSpPr>
          <p:cNvPr id="6" name="Rectangle 2"/>
          <p:cNvSpPr txBox="1">
            <a:spLocks noChangeArrowheads="1"/>
          </p:cNvSpPr>
          <p:nvPr/>
        </p:nvSpPr>
        <p:spPr bwMode="auto">
          <a:xfrm>
            <a:off x="611188" y="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sz="3200" b="0" kern="0" dirty="0" smtClean="0">
                <a:latin typeface="黑体" pitchFamily="49" charset="-122"/>
              </a:rPr>
              <a:t>3.5.1  </a:t>
            </a:r>
            <a:r>
              <a:rPr lang="zh-CN" altLang="en-US" sz="3200" b="0" kern="0" dirty="0" smtClean="0">
                <a:latin typeface="黑体" pitchFamily="49" charset="-122"/>
              </a:rPr>
              <a:t>插入数据</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04163">
                                            <p:txEl>
                                              <p:pRg st="3" end="3"/>
                                            </p:txEl>
                                          </p:spTgt>
                                        </p:tgtEl>
                                        <p:attrNameLst>
                                          <p:attrName>style.visibility</p:attrName>
                                        </p:attrNameLst>
                                      </p:cBhvr>
                                      <p:to>
                                        <p:strVal val="visible"/>
                                      </p:to>
                                    </p:set>
                                    <p:anim calcmode="lin" valueType="num">
                                      <p:cBhvr additive="base">
                                        <p:cTn id="7" dur="500" fill="hold"/>
                                        <p:tgtEl>
                                          <p:spTgt spid="60416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0416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04163">
                                            <p:txEl>
                                              <p:pRg st="4" end="4"/>
                                            </p:txEl>
                                          </p:spTgt>
                                        </p:tgtEl>
                                        <p:attrNameLst>
                                          <p:attrName>style.visibility</p:attrName>
                                        </p:attrNameLst>
                                      </p:cBhvr>
                                      <p:to>
                                        <p:strVal val="visible"/>
                                      </p:to>
                                    </p:set>
                                    <p:anim calcmode="lin" valueType="num">
                                      <p:cBhvr additive="base">
                                        <p:cTn id="11" dur="500" fill="hold"/>
                                        <p:tgtEl>
                                          <p:spTgt spid="60416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0416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04163">
                                            <p:txEl>
                                              <p:pRg st="5" end="5"/>
                                            </p:txEl>
                                          </p:spTgt>
                                        </p:tgtEl>
                                        <p:attrNameLst>
                                          <p:attrName>style.visibility</p:attrName>
                                        </p:attrNameLst>
                                      </p:cBhvr>
                                      <p:to>
                                        <p:strVal val="visible"/>
                                      </p:to>
                                    </p:set>
                                    <p:anim calcmode="lin" valueType="num">
                                      <p:cBhvr additive="base">
                                        <p:cTn id="15" dur="500" fill="hold"/>
                                        <p:tgtEl>
                                          <p:spTgt spid="60416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0416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7" name="Rectangle 3"/>
          <p:cNvSpPr>
            <a:spLocks noGrp="1" noChangeArrowheads="1"/>
          </p:cNvSpPr>
          <p:nvPr>
            <p:ph type="body" idx="1"/>
          </p:nvPr>
        </p:nvSpPr>
        <p:spPr>
          <a:xfrm>
            <a:off x="684213" y="2205038"/>
            <a:ext cx="8135937" cy="4114800"/>
          </a:xfrm>
        </p:spPr>
        <p:txBody>
          <a:bodyPr/>
          <a:lstStyle/>
          <a:p>
            <a:pPr eaLnBrk="1" hangingPunct="1">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2]  </a:t>
            </a:r>
            <a:r>
              <a:rPr lang="zh-CN" altLang="en-US" sz="2400" smtClean="0">
                <a:latin typeface="黑体" pitchFamily="49" charset="-122"/>
                <a:ea typeface="黑体" pitchFamily="49" charset="-122"/>
              </a:rPr>
              <a:t>插入一条选课记录</a:t>
            </a:r>
            <a:r>
              <a:rPr lang="en-US" altLang="zh-CN" sz="2400" smtClean="0">
                <a:latin typeface="黑体" pitchFamily="49" charset="-122"/>
                <a:ea typeface="黑体" pitchFamily="49" charset="-122"/>
              </a:rPr>
              <a:t>( </a:t>
            </a:r>
            <a:r>
              <a:rPr lang="en-US" altLang="zh-CN" sz="2400" smtClean="0">
                <a:ea typeface="黑体" pitchFamily="49" charset="-122"/>
              </a:rPr>
              <a:t>‘</a:t>
            </a:r>
            <a:r>
              <a:rPr lang="en-US" altLang="zh-CN" sz="2400" smtClean="0">
                <a:latin typeface="黑体" pitchFamily="49" charset="-122"/>
                <a:ea typeface="黑体" pitchFamily="49" charset="-122"/>
              </a:rPr>
              <a:t>04020'</a:t>
            </a:r>
            <a:r>
              <a:rPr lang="zh-CN" altLang="en-US" sz="2400" smtClean="0">
                <a:latin typeface="黑体" pitchFamily="49" charset="-122"/>
                <a:ea typeface="黑体" pitchFamily="49" charset="-122"/>
              </a:rPr>
              <a:t>，</a:t>
            </a:r>
            <a:r>
              <a:rPr lang="zh-CN" altLang="en-US" sz="2400" smtClean="0">
                <a:ea typeface="黑体" pitchFamily="49" charset="-122"/>
              </a:rPr>
              <a:t>‘</a:t>
            </a:r>
            <a:r>
              <a:rPr lang="en-US" altLang="zh-CN" sz="2400" smtClean="0">
                <a:latin typeface="黑体" pitchFamily="49" charset="-122"/>
                <a:ea typeface="黑体" pitchFamily="49" charset="-122"/>
              </a:rPr>
              <a:t>001')</a:t>
            </a:r>
            <a:r>
              <a:rPr lang="zh-CN" altLang="en-US" sz="2400" smtClean="0">
                <a:latin typeface="黑体" pitchFamily="49" charset="-122"/>
                <a:ea typeface="黑体" pitchFamily="49" charset="-122"/>
              </a:rPr>
              <a:t>。</a:t>
            </a:r>
          </a:p>
          <a:p>
            <a:pPr eaLnBrk="1" hangingPunct="1">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INSERT</a:t>
            </a:r>
          </a:p>
          <a:p>
            <a:pPr eaLnBrk="1" hangingPunct="1">
              <a:buFont typeface="Wingdings" pitchFamily="2" charset="2"/>
              <a:buNone/>
            </a:pPr>
            <a:r>
              <a:rPr lang="en-US" altLang="zh-CN" sz="2400" smtClean="0">
                <a:latin typeface="黑体" pitchFamily="49" charset="-122"/>
                <a:ea typeface="黑体" pitchFamily="49" charset="-122"/>
              </a:rPr>
              <a:t>       INTO SC(Sno</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Cno)</a:t>
            </a:r>
          </a:p>
          <a:p>
            <a:pPr eaLnBrk="1" hangingPunct="1">
              <a:buFont typeface="Wingdings" pitchFamily="2" charset="2"/>
              <a:buNone/>
            </a:pPr>
            <a:r>
              <a:rPr lang="en-US" altLang="zh-CN" sz="2400" smtClean="0">
                <a:latin typeface="黑体" pitchFamily="49" charset="-122"/>
                <a:ea typeface="黑体" pitchFamily="49" charset="-122"/>
              </a:rPr>
              <a:t>       VALUES (</a:t>
            </a:r>
            <a:r>
              <a:rPr lang="en-US" altLang="zh-CN" sz="2400" smtClean="0">
                <a:ea typeface="黑体" pitchFamily="49" charset="-122"/>
              </a:rPr>
              <a:t>‘</a:t>
            </a:r>
            <a:r>
              <a:rPr lang="en-US" altLang="zh-CN" sz="2400" smtClean="0">
                <a:latin typeface="黑体" pitchFamily="49" charset="-122"/>
                <a:ea typeface="黑体" pitchFamily="49" charset="-122"/>
              </a:rPr>
              <a:t>04020'</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'001')</a:t>
            </a:r>
            <a:r>
              <a:rPr lang="zh-CN" altLang="en-US" sz="2400" smtClean="0">
                <a:latin typeface="黑体" pitchFamily="49" charset="-122"/>
                <a:ea typeface="黑体" pitchFamily="49" charset="-122"/>
              </a:rPr>
              <a:t>；</a:t>
            </a:r>
          </a:p>
          <a:p>
            <a:pPr eaLnBrk="1" hangingPunct="1">
              <a:buFont typeface="Wingdings" pitchFamily="2" charset="2"/>
              <a:buNone/>
            </a:pPr>
            <a:endParaRPr lang="zh-CN" altLang="en-US" sz="2400" smtClean="0">
              <a:latin typeface="黑体" pitchFamily="49" charset="-122"/>
              <a:ea typeface="黑体" pitchFamily="49" charset="-122"/>
            </a:endParaRPr>
          </a:p>
          <a:p>
            <a:pPr eaLnBrk="1" hangingPunct="1">
              <a:buFont typeface="Wingdings" pitchFamily="2" charset="2"/>
              <a:buNone/>
            </a:pPr>
            <a:r>
              <a:rPr lang="zh-CN" altLang="en-US" sz="2400" smtClean="0">
                <a:latin typeface="黑体" pitchFamily="49" charset="-122"/>
                <a:ea typeface="黑体" pitchFamily="49" charset="-122"/>
              </a:rPr>
              <a:t>    新插入的记录在</a:t>
            </a:r>
            <a:r>
              <a:rPr lang="en-US" altLang="zh-CN" sz="2400" smtClean="0">
                <a:latin typeface="黑体" pitchFamily="49" charset="-122"/>
                <a:ea typeface="黑体" pitchFamily="49" charset="-122"/>
              </a:rPr>
              <a:t>Grade</a:t>
            </a:r>
            <a:r>
              <a:rPr lang="zh-CN" altLang="en-US" sz="2400" smtClean="0">
                <a:latin typeface="黑体" pitchFamily="49" charset="-122"/>
                <a:ea typeface="黑体" pitchFamily="49" charset="-122"/>
              </a:rPr>
              <a:t>列上取空值</a:t>
            </a:r>
          </a:p>
        </p:txBody>
      </p:sp>
      <p:sp>
        <p:nvSpPr>
          <p:cNvPr id="5" name="Rectangle 2"/>
          <p:cNvSpPr txBox="1">
            <a:spLocks noChangeArrowheads="1"/>
          </p:cNvSpPr>
          <p:nvPr/>
        </p:nvSpPr>
        <p:spPr bwMode="auto">
          <a:xfrm>
            <a:off x="468313" y="1052513"/>
            <a:ext cx="7793037"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sz="2800" b="0" kern="0" smtClean="0">
                <a:solidFill>
                  <a:schemeClr val="tx1"/>
                </a:solidFill>
              </a:rPr>
              <a:t>1. </a:t>
            </a:r>
            <a:r>
              <a:rPr lang="zh-CN" altLang="en-US" sz="2800" b="0" kern="0" smtClean="0">
                <a:solidFill>
                  <a:schemeClr val="tx1"/>
                </a:solidFill>
              </a:rPr>
              <a:t>插入单个元组</a:t>
            </a:r>
            <a:endParaRPr lang="zh-CN" altLang="en-US" sz="2800" b="0" kern="0" dirty="0" smtClean="0">
              <a:solidFill>
                <a:schemeClr val="tx1"/>
              </a:solidFill>
            </a:endParaRPr>
          </a:p>
        </p:txBody>
      </p:sp>
      <p:sp>
        <p:nvSpPr>
          <p:cNvPr id="6" name="Rectangle 2"/>
          <p:cNvSpPr txBox="1">
            <a:spLocks noChangeArrowheads="1"/>
          </p:cNvSpPr>
          <p:nvPr/>
        </p:nvSpPr>
        <p:spPr bwMode="auto">
          <a:xfrm>
            <a:off x="611188" y="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sz="3200" b="0" kern="0" dirty="0" smtClean="0">
                <a:latin typeface="黑体" pitchFamily="49" charset="-122"/>
              </a:rPr>
              <a:t>3.5.1  </a:t>
            </a:r>
            <a:r>
              <a:rPr lang="zh-CN" altLang="en-US" sz="3200" b="0" kern="0" dirty="0" smtClean="0">
                <a:latin typeface="黑体" pitchFamily="49" charset="-122"/>
              </a:rPr>
              <a:t>插入数据</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2" fill="hold" nodeType="clickEffect">
                                  <p:stCondLst>
                                    <p:cond delay="0"/>
                                  </p:stCondLst>
                                  <p:childTnLst>
                                    <p:set>
                                      <p:cBhvr>
                                        <p:cTn id="6" dur="1" fill="hold">
                                          <p:stCondLst>
                                            <p:cond delay="0"/>
                                          </p:stCondLst>
                                        </p:cTn>
                                        <p:tgtEl>
                                          <p:spTgt spid="605187">
                                            <p:txEl>
                                              <p:pRg st="0" end="0"/>
                                            </p:txEl>
                                          </p:spTgt>
                                        </p:tgtEl>
                                        <p:attrNameLst>
                                          <p:attrName>style.visibility</p:attrName>
                                        </p:attrNameLst>
                                      </p:cBhvr>
                                      <p:to>
                                        <p:strVal val="visible"/>
                                      </p:to>
                                    </p:set>
                                    <p:animEffect transition="in" filter="slide(fromRight)">
                                      <p:cBhvr>
                                        <p:cTn id="7" dur="500"/>
                                        <p:tgtEl>
                                          <p:spTgt spid="6051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2" fill="hold" nodeType="clickEffect">
                                  <p:stCondLst>
                                    <p:cond delay="0"/>
                                  </p:stCondLst>
                                  <p:childTnLst>
                                    <p:set>
                                      <p:cBhvr>
                                        <p:cTn id="11" dur="1" fill="hold">
                                          <p:stCondLst>
                                            <p:cond delay="0"/>
                                          </p:stCondLst>
                                        </p:cTn>
                                        <p:tgtEl>
                                          <p:spTgt spid="605187">
                                            <p:txEl>
                                              <p:pRg st="1" end="1"/>
                                            </p:txEl>
                                          </p:spTgt>
                                        </p:tgtEl>
                                        <p:attrNameLst>
                                          <p:attrName>style.visibility</p:attrName>
                                        </p:attrNameLst>
                                      </p:cBhvr>
                                      <p:to>
                                        <p:strVal val="visible"/>
                                      </p:to>
                                    </p:set>
                                    <p:animEffect transition="in" filter="slide(fromRight)">
                                      <p:cBhvr>
                                        <p:cTn id="12" dur="500"/>
                                        <p:tgtEl>
                                          <p:spTgt spid="605187">
                                            <p:txEl>
                                              <p:pRg st="1" end="1"/>
                                            </p:txEl>
                                          </p:spTgt>
                                        </p:tgtEl>
                                      </p:cBhvr>
                                    </p:animEffect>
                                  </p:childTnLst>
                                </p:cTn>
                              </p:par>
                              <p:par>
                                <p:cTn id="13" presetID="12" presetClass="entr" presetSubtype="2" fill="hold" nodeType="withEffect">
                                  <p:stCondLst>
                                    <p:cond delay="0"/>
                                  </p:stCondLst>
                                  <p:childTnLst>
                                    <p:set>
                                      <p:cBhvr>
                                        <p:cTn id="14" dur="1" fill="hold">
                                          <p:stCondLst>
                                            <p:cond delay="0"/>
                                          </p:stCondLst>
                                        </p:cTn>
                                        <p:tgtEl>
                                          <p:spTgt spid="605187">
                                            <p:txEl>
                                              <p:pRg st="2" end="2"/>
                                            </p:txEl>
                                          </p:spTgt>
                                        </p:tgtEl>
                                        <p:attrNameLst>
                                          <p:attrName>style.visibility</p:attrName>
                                        </p:attrNameLst>
                                      </p:cBhvr>
                                      <p:to>
                                        <p:strVal val="visible"/>
                                      </p:to>
                                    </p:set>
                                    <p:animEffect transition="in" filter="slide(fromRight)">
                                      <p:cBhvr>
                                        <p:cTn id="15" dur="500"/>
                                        <p:tgtEl>
                                          <p:spTgt spid="605187">
                                            <p:txEl>
                                              <p:pRg st="2" end="2"/>
                                            </p:txEl>
                                          </p:spTgt>
                                        </p:tgtEl>
                                      </p:cBhvr>
                                    </p:animEffect>
                                  </p:childTnLst>
                                </p:cTn>
                              </p:par>
                              <p:par>
                                <p:cTn id="16" presetID="12" presetClass="entr" presetSubtype="2" fill="hold" nodeType="withEffect">
                                  <p:stCondLst>
                                    <p:cond delay="0"/>
                                  </p:stCondLst>
                                  <p:childTnLst>
                                    <p:set>
                                      <p:cBhvr>
                                        <p:cTn id="17" dur="1" fill="hold">
                                          <p:stCondLst>
                                            <p:cond delay="0"/>
                                          </p:stCondLst>
                                        </p:cTn>
                                        <p:tgtEl>
                                          <p:spTgt spid="605187">
                                            <p:txEl>
                                              <p:pRg st="3" end="3"/>
                                            </p:txEl>
                                          </p:spTgt>
                                        </p:tgtEl>
                                        <p:attrNameLst>
                                          <p:attrName>style.visibility</p:attrName>
                                        </p:attrNameLst>
                                      </p:cBhvr>
                                      <p:to>
                                        <p:strVal val="visible"/>
                                      </p:to>
                                    </p:set>
                                    <p:animEffect transition="in" filter="slide(fromRight)">
                                      <p:cBhvr>
                                        <p:cTn id="18" dur="500"/>
                                        <p:tgtEl>
                                          <p:spTgt spid="605187">
                                            <p:txEl>
                                              <p:pRg st="3" end="3"/>
                                            </p:txEl>
                                          </p:spTgt>
                                        </p:tgtEl>
                                      </p:cBhvr>
                                    </p:animEffect>
                                  </p:childTnLst>
                                </p:cTn>
                              </p:par>
                              <p:par>
                                <p:cTn id="19" presetID="12" presetClass="entr" presetSubtype="2" fill="hold" nodeType="withEffect">
                                  <p:stCondLst>
                                    <p:cond delay="0"/>
                                  </p:stCondLst>
                                  <p:childTnLst>
                                    <p:set>
                                      <p:cBhvr>
                                        <p:cTn id="20" dur="1" fill="hold">
                                          <p:stCondLst>
                                            <p:cond delay="0"/>
                                          </p:stCondLst>
                                        </p:cTn>
                                        <p:tgtEl>
                                          <p:spTgt spid="605187">
                                            <p:txEl>
                                              <p:pRg st="5" end="5"/>
                                            </p:txEl>
                                          </p:spTgt>
                                        </p:tgtEl>
                                        <p:attrNameLst>
                                          <p:attrName>style.visibility</p:attrName>
                                        </p:attrNameLst>
                                      </p:cBhvr>
                                      <p:to>
                                        <p:strVal val="visible"/>
                                      </p:to>
                                    </p:set>
                                    <p:animEffect transition="in" filter="slide(fromRight)">
                                      <p:cBhvr>
                                        <p:cTn id="21" dur="500"/>
                                        <p:tgtEl>
                                          <p:spTgt spid="6051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xfrm>
            <a:off x="539750" y="908050"/>
            <a:ext cx="7793038" cy="1143000"/>
          </a:xfrm>
        </p:spPr>
        <p:txBody>
          <a:bodyPr/>
          <a:lstStyle/>
          <a:p>
            <a:pPr eaLnBrk="1" hangingPunct="1"/>
            <a:r>
              <a:rPr lang="en-US" altLang="zh-CN" sz="2800" smtClean="0">
                <a:solidFill>
                  <a:schemeClr val="tx1"/>
                </a:solidFill>
              </a:rPr>
              <a:t>2. </a:t>
            </a:r>
            <a:r>
              <a:rPr lang="zh-CN" altLang="en-US" sz="2800" smtClean="0">
                <a:solidFill>
                  <a:schemeClr val="tx1"/>
                </a:solidFill>
              </a:rPr>
              <a:t>插入子查询结果</a:t>
            </a:r>
          </a:p>
        </p:txBody>
      </p:sp>
      <p:sp>
        <p:nvSpPr>
          <p:cNvPr id="122883" name="Rectangle 3"/>
          <p:cNvSpPr>
            <a:spLocks noGrp="1" noChangeArrowheads="1"/>
          </p:cNvSpPr>
          <p:nvPr>
            <p:ph type="body" idx="1"/>
          </p:nvPr>
        </p:nvSpPr>
        <p:spPr>
          <a:xfrm>
            <a:off x="755650" y="2060575"/>
            <a:ext cx="7772400" cy="4114800"/>
          </a:xfrm>
        </p:spPr>
        <p:txBody>
          <a:bodyPr/>
          <a:lstStyle/>
          <a:p>
            <a:pPr eaLnBrk="1" hangingPunct="1"/>
            <a:r>
              <a:rPr lang="zh-CN" altLang="en-US" sz="2400" smtClean="0">
                <a:latin typeface="黑体" pitchFamily="49" charset="-122"/>
                <a:ea typeface="黑体" pitchFamily="49" charset="-122"/>
              </a:rPr>
              <a:t>语句格式</a:t>
            </a:r>
          </a:p>
          <a:p>
            <a:pPr eaLnBrk="1" hangingPunct="1">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INSERT </a:t>
            </a:r>
          </a:p>
          <a:p>
            <a:pPr eaLnBrk="1" hangingPunct="1">
              <a:buFont typeface="Wingdings" pitchFamily="2" charset="2"/>
              <a:buNone/>
            </a:pPr>
            <a:r>
              <a:rPr lang="en-US" altLang="zh-CN" sz="2400" smtClean="0">
                <a:latin typeface="黑体" pitchFamily="49" charset="-122"/>
                <a:ea typeface="黑体" pitchFamily="49" charset="-122"/>
              </a:rPr>
              <a:t>    INTO &lt;</a:t>
            </a:r>
            <a:r>
              <a:rPr lang="zh-CN" altLang="en-US" sz="2400" smtClean="0">
                <a:latin typeface="黑体" pitchFamily="49" charset="-122"/>
                <a:ea typeface="黑体" pitchFamily="49" charset="-122"/>
              </a:rPr>
              <a:t>表名</a:t>
            </a:r>
            <a:r>
              <a:rPr lang="en-US" altLang="zh-CN" sz="2400" smtClean="0">
                <a:latin typeface="黑体" pitchFamily="49" charset="-122"/>
                <a:ea typeface="黑体" pitchFamily="49" charset="-122"/>
              </a:rPr>
              <a:t>&gt;  [(&lt;</a:t>
            </a:r>
            <a:r>
              <a:rPr lang="zh-CN" altLang="en-US" sz="2400" smtClean="0">
                <a:latin typeface="黑体" pitchFamily="49" charset="-122"/>
                <a:ea typeface="黑体" pitchFamily="49" charset="-122"/>
              </a:rPr>
              <a:t>属性列</a:t>
            </a:r>
            <a:r>
              <a:rPr lang="en-US" altLang="zh-CN" sz="2400" smtClean="0">
                <a:latin typeface="黑体" pitchFamily="49" charset="-122"/>
                <a:ea typeface="黑体" pitchFamily="49" charset="-122"/>
              </a:rPr>
              <a:t>1&gt; [</a:t>
            </a:r>
            <a:r>
              <a:rPr lang="zh-CN" altLang="en-US" sz="2400" smtClean="0">
                <a:latin typeface="黑体" pitchFamily="49" charset="-122"/>
                <a:ea typeface="黑体" pitchFamily="49" charset="-122"/>
              </a:rPr>
              <a:t>，</a:t>
            </a:r>
            <a:r>
              <a:rPr lang="en-US" altLang="zh-CN" sz="2400" smtClean="0">
                <a:latin typeface="黑体" pitchFamily="49" charset="-122"/>
                <a:ea typeface="黑体" pitchFamily="49" charset="-122"/>
              </a:rPr>
              <a:t>&lt;</a:t>
            </a:r>
            <a:r>
              <a:rPr lang="zh-CN" altLang="en-US" sz="2400" smtClean="0">
                <a:latin typeface="黑体" pitchFamily="49" charset="-122"/>
                <a:ea typeface="黑体" pitchFamily="49" charset="-122"/>
              </a:rPr>
              <a:t>属性列</a:t>
            </a:r>
            <a:r>
              <a:rPr lang="en-US" altLang="zh-CN" sz="2400" smtClean="0">
                <a:latin typeface="黑体" pitchFamily="49" charset="-122"/>
                <a:ea typeface="黑体" pitchFamily="49" charset="-122"/>
              </a:rPr>
              <a:t>2&gt;</a:t>
            </a:r>
            <a:r>
              <a:rPr lang="en-US" altLang="zh-CN" sz="2400" smtClean="0">
                <a:ea typeface="黑体" pitchFamily="49" charset="-122"/>
              </a:rPr>
              <a:t>…</a:t>
            </a:r>
            <a:r>
              <a:rPr lang="en-US" altLang="zh-CN" sz="2400" smtClean="0">
                <a:latin typeface="黑体" pitchFamily="49" charset="-122"/>
                <a:ea typeface="黑体" pitchFamily="49" charset="-122"/>
              </a:rPr>
              <a:t>  )]</a:t>
            </a:r>
          </a:p>
          <a:p>
            <a:pPr eaLnBrk="1" hangingPunct="1">
              <a:buFont typeface="Wingdings" pitchFamily="2" charset="2"/>
              <a:buNone/>
            </a:pPr>
            <a:r>
              <a:rPr lang="en-US" altLang="zh-CN" sz="2400" smtClean="0">
                <a:latin typeface="黑体" pitchFamily="49" charset="-122"/>
                <a:ea typeface="黑体" pitchFamily="49" charset="-122"/>
              </a:rPr>
              <a:t>    </a:t>
            </a:r>
            <a:r>
              <a:rPr lang="zh-CN" altLang="en-US" sz="2400" smtClean="0">
                <a:solidFill>
                  <a:srgbClr val="FF0000"/>
                </a:solidFill>
                <a:latin typeface="黑体" pitchFamily="49" charset="-122"/>
                <a:ea typeface="黑体" pitchFamily="49" charset="-122"/>
              </a:rPr>
              <a:t>子查询</a:t>
            </a:r>
            <a:r>
              <a:rPr lang="zh-CN" altLang="en-US" sz="2400" smtClean="0">
                <a:latin typeface="黑体" pitchFamily="49" charset="-122"/>
                <a:ea typeface="黑体" pitchFamily="49" charset="-122"/>
              </a:rPr>
              <a:t>；</a:t>
            </a:r>
          </a:p>
          <a:p>
            <a:pPr eaLnBrk="1" hangingPunct="1"/>
            <a:r>
              <a:rPr lang="zh-CN" altLang="en-US" sz="2400" smtClean="0">
                <a:latin typeface="黑体" pitchFamily="49" charset="-122"/>
                <a:ea typeface="黑体" pitchFamily="49" charset="-122"/>
              </a:rPr>
              <a:t>功能</a:t>
            </a:r>
          </a:p>
          <a:p>
            <a:pPr eaLnBrk="1" hangingPunct="1">
              <a:buFont typeface="Wingdings" pitchFamily="2" charset="2"/>
              <a:buNone/>
            </a:pPr>
            <a:r>
              <a:rPr lang="zh-CN" altLang="en-US" sz="2400" smtClean="0">
                <a:latin typeface="黑体" pitchFamily="49" charset="-122"/>
                <a:ea typeface="黑体" pitchFamily="49" charset="-122"/>
              </a:rPr>
              <a:t>    将子查询结果插入指定表中</a:t>
            </a:r>
          </a:p>
        </p:txBody>
      </p:sp>
      <p:sp>
        <p:nvSpPr>
          <p:cNvPr id="5" name="Rectangle 2"/>
          <p:cNvSpPr txBox="1">
            <a:spLocks noChangeArrowheads="1"/>
          </p:cNvSpPr>
          <p:nvPr/>
        </p:nvSpPr>
        <p:spPr bwMode="auto">
          <a:xfrm>
            <a:off x="611188" y="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sz="3200" b="0" kern="0" dirty="0" smtClean="0">
                <a:latin typeface="黑体" pitchFamily="49" charset="-122"/>
              </a:rPr>
              <a:t>3.5.1  </a:t>
            </a:r>
            <a:r>
              <a:rPr lang="zh-CN" altLang="en-US" sz="3200" b="0" kern="0" dirty="0" smtClean="0">
                <a:latin typeface="黑体" pitchFamily="49" charset="-122"/>
              </a:rPr>
              <a:t>插入数据</a:t>
            </a:r>
          </a:p>
        </p:txBody>
      </p:sp>
    </p:spTree>
  </p:cSld>
  <p:clrMapOvr>
    <a:masterClrMapping/>
  </p:clrMapOvr>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9" name="Rectangle 3"/>
          <p:cNvSpPr>
            <a:spLocks noGrp="1" noChangeArrowheads="1"/>
          </p:cNvSpPr>
          <p:nvPr>
            <p:ph type="body" idx="1"/>
          </p:nvPr>
        </p:nvSpPr>
        <p:spPr>
          <a:xfrm>
            <a:off x="684213" y="2060575"/>
            <a:ext cx="7772400" cy="4114800"/>
          </a:xfrm>
        </p:spPr>
        <p:txBody>
          <a:bodyPr/>
          <a:lstStyle/>
          <a:p>
            <a:pPr eaLnBrk="1" hangingPunct="1">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3]  </a:t>
            </a:r>
            <a:r>
              <a:rPr lang="zh-CN" altLang="en-US" sz="2400" smtClean="0">
                <a:latin typeface="黑体" pitchFamily="49" charset="-122"/>
                <a:ea typeface="黑体" pitchFamily="49" charset="-122"/>
              </a:rPr>
              <a:t>对每一个学院，求学生的平均年龄，并把结果存入数据库。</a:t>
            </a:r>
          </a:p>
          <a:p>
            <a:pPr eaLnBrk="1" hangingPunct="1">
              <a:buFont typeface="Wingdings" pitchFamily="2" charset="2"/>
              <a:buNone/>
            </a:pPr>
            <a:r>
              <a:rPr lang="zh-CN" altLang="en-US" sz="2400" smtClean="0">
                <a:latin typeface="黑体" pitchFamily="49" charset="-122"/>
                <a:ea typeface="黑体" pitchFamily="49" charset="-122"/>
              </a:rPr>
              <a:t>第一步：建表</a:t>
            </a:r>
          </a:p>
          <a:p>
            <a:pPr eaLnBrk="1" hangingPunct="1">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CREATE  TABLE  College_avg_age</a:t>
            </a:r>
          </a:p>
          <a:p>
            <a:pPr eaLnBrk="1" hangingPunct="1">
              <a:buFont typeface="Wingdings" pitchFamily="2" charset="2"/>
              <a:buNone/>
            </a:pPr>
            <a:r>
              <a:rPr lang="en-US" altLang="zh-CN" sz="2400" smtClean="0">
                <a:latin typeface="黑体" pitchFamily="49" charset="-122"/>
                <a:ea typeface="黑体" pitchFamily="49" charset="-122"/>
              </a:rPr>
              <a:t>      (College  VARCHAR(40),       /* </a:t>
            </a:r>
            <a:r>
              <a:rPr lang="zh-CN" altLang="en-US" sz="2400" smtClean="0">
                <a:latin typeface="黑体" pitchFamily="49" charset="-122"/>
                <a:ea typeface="黑体" pitchFamily="49" charset="-122"/>
              </a:rPr>
              <a:t>学院名称*</a:t>
            </a:r>
            <a:r>
              <a:rPr lang="en-US" altLang="zh-CN" sz="2400" smtClean="0">
                <a:latin typeface="黑体" pitchFamily="49" charset="-122"/>
                <a:ea typeface="黑体" pitchFamily="49" charset="-122"/>
              </a:rPr>
              <a:t>/</a:t>
            </a:r>
          </a:p>
          <a:p>
            <a:pPr eaLnBrk="1" hangingPunct="1">
              <a:buFont typeface="Wingdings" pitchFamily="2" charset="2"/>
              <a:buNone/>
            </a:pPr>
            <a:r>
              <a:rPr lang="en-US" altLang="zh-CN" sz="2400" smtClean="0">
                <a:latin typeface="黑体" pitchFamily="49" charset="-122"/>
                <a:ea typeface="黑体" pitchFamily="49" charset="-122"/>
              </a:rPr>
              <a:t>      Avgage NUBMER(4))</a:t>
            </a: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学生平均年龄*</a:t>
            </a:r>
            <a:r>
              <a:rPr lang="en-US" altLang="zh-CN" sz="2400" smtClean="0">
                <a:latin typeface="黑体" pitchFamily="49" charset="-122"/>
                <a:ea typeface="黑体" pitchFamily="49" charset="-122"/>
              </a:rPr>
              <a:t>/</a:t>
            </a:r>
          </a:p>
          <a:p>
            <a:pPr eaLnBrk="1" hangingPunct="1">
              <a:buFont typeface="Wingdings" pitchFamily="2" charset="2"/>
              <a:buNone/>
            </a:pPr>
            <a:r>
              <a:rPr lang="en-US" altLang="zh-CN" sz="2400" smtClean="0">
                <a:latin typeface="黑体" pitchFamily="49" charset="-122"/>
                <a:ea typeface="黑体" pitchFamily="49" charset="-122"/>
              </a:rPr>
              <a:t>                                         </a:t>
            </a:r>
          </a:p>
        </p:txBody>
      </p:sp>
      <p:sp>
        <p:nvSpPr>
          <p:cNvPr id="123907" name="Rectangle 2"/>
          <p:cNvSpPr>
            <a:spLocks noGrp="1" noChangeArrowheads="1"/>
          </p:cNvSpPr>
          <p:nvPr>
            <p:ph type="title"/>
          </p:nvPr>
        </p:nvSpPr>
        <p:spPr>
          <a:xfrm>
            <a:off x="539750" y="908050"/>
            <a:ext cx="7793038" cy="1143000"/>
          </a:xfrm>
        </p:spPr>
        <p:txBody>
          <a:bodyPr/>
          <a:lstStyle/>
          <a:p>
            <a:pPr eaLnBrk="1" hangingPunct="1"/>
            <a:r>
              <a:rPr lang="en-US" altLang="zh-CN" sz="2800" smtClean="0">
                <a:solidFill>
                  <a:schemeClr val="tx1"/>
                </a:solidFill>
              </a:rPr>
              <a:t>2. </a:t>
            </a:r>
            <a:r>
              <a:rPr lang="zh-CN" altLang="en-US" sz="2800" smtClean="0">
                <a:solidFill>
                  <a:schemeClr val="tx1"/>
                </a:solidFill>
              </a:rPr>
              <a:t>插入子查询结果</a:t>
            </a:r>
          </a:p>
        </p:txBody>
      </p:sp>
      <p:sp>
        <p:nvSpPr>
          <p:cNvPr id="6" name="Rectangle 2"/>
          <p:cNvSpPr txBox="1">
            <a:spLocks noChangeArrowheads="1"/>
          </p:cNvSpPr>
          <p:nvPr/>
        </p:nvSpPr>
        <p:spPr bwMode="auto">
          <a:xfrm>
            <a:off x="611188" y="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sz="3200" b="0" kern="0" dirty="0" smtClean="0">
                <a:latin typeface="黑体" pitchFamily="49" charset="-122"/>
              </a:rPr>
              <a:t>3.5.1  </a:t>
            </a:r>
            <a:r>
              <a:rPr lang="zh-CN" altLang="en-US" sz="3200" b="0" kern="0" dirty="0" smtClean="0">
                <a:latin typeface="黑体" pitchFamily="49" charset="-122"/>
              </a:rPr>
              <a:t>插入数据</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2" fill="hold" nodeType="clickEffect">
                                  <p:stCondLst>
                                    <p:cond delay="0"/>
                                  </p:stCondLst>
                                  <p:childTnLst>
                                    <p:set>
                                      <p:cBhvr>
                                        <p:cTn id="6" dur="1" fill="hold">
                                          <p:stCondLst>
                                            <p:cond delay="0"/>
                                          </p:stCondLst>
                                        </p:cTn>
                                        <p:tgtEl>
                                          <p:spTgt spid="608259">
                                            <p:txEl>
                                              <p:pRg st="0" end="0"/>
                                            </p:txEl>
                                          </p:spTgt>
                                        </p:tgtEl>
                                        <p:attrNameLst>
                                          <p:attrName>style.visibility</p:attrName>
                                        </p:attrNameLst>
                                      </p:cBhvr>
                                      <p:to>
                                        <p:strVal val="visible"/>
                                      </p:to>
                                    </p:set>
                                    <p:animEffect transition="in" filter="slide(fromRight)">
                                      <p:cBhvr>
                                        <p:cTn id="7" dur="500"/>
                                        <p:tgtEl>
                                          <p:spTgt spid="6082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2" fill="hold" nodeType="clickEffect">
                                  <p:stCondLst>
                                    <p:cond delay="0"/>
                                  </p:stCondLst>
                                  <p:childTnLst>
                                    <p:set>
                                      <p:cBhvr>
                                        <p:cTn id="11" dur="1" fill="hold">
                                          <p:stCondLst>
                                            <p:cond delay="0"/>
                                          </p:stCondLst>
                                        </p:cTn>
                                        <p:tgtEl>
                                          <p:spTgt spid="608259">
                                            <p:txEl>
                                              <p:pRg st="1" end="1"/>
                                            </p:txEl>
                                          </p:spTgt>
                                        </p:tgtEl>
                                        <p:attrNameLst>
                                          <p:attrName>style.visibility</p:attrName>
                                        </p:attrNameLst>
                                      </p:cBhvr>
                                      <p:to>
                                        <p:strVal val="visible"/>
                                      </p:to>
                                    </p:set>
                                    <p:animEffect transition="in" filter="slide(fromRight)">
                                      <p:cBhvr>
                                        <p:cTn id="12" dur="500"/>
                                        <p:tgtEl>
                                          <p:spTgt spid="608259">
                                            <p:txEl>
                                              <p:pRg st="1" end="1"/>
                                            </p:txEl>
                                          </p:spTgt>
                                        </p:tgtEl>
                                      </p:cBhvr>
                                    </p:animEffect>
                                  </p:childTnLst>
                                </p:cTn>
                              </p:par>
                              <p:par>
                                <p:cTn id="13" presetID="12" presetClass="entr" presetSubtype="2" fill="hold" nodeType="withEffect">
                                  <p:stCondLst>
                                    <p:cond delay="0"/>
                                  </p:stCondLst>
                                  <p:childTnLst>
                                    <p:set>
                                      <p:cBhvr>
                                        <p:cTn id="14" dur="1" fill="hold">
                                          <p:stCondLst>
                                            <p:cond delay="0"/>
                                          </p:stCondLst>
                                        </p:cTn>
                                        <p:tgtEl>
                                          <p:spTgt spid="608259">
                                            <p:txEl>
                                              <p:pRg st="2" end="2"/>
                                            </p:txEl>
                                          </p:spTgt>
                                        </p:tgtEl>
                                        <p:attrNameLst>
                                          <p:attrName>style.visibility</p:attrName>
                                        </p:attrNameLst>
                                      </p:cBhvr>
                                      <p:to>
                                        <p:strVal val="visible"/>
                                      </p:to>
                                    </p:set>
                                    <p:animEffect transition="in" filter="slide(fromRight)">
                                      <p:cBhvr>
                                        <p:cTn id="15" dur="500"/>
                                        <p:tgtEl>
                                          <p:spTgt spid="608259">
                                            <p:txEl>
                                              <p:pRg st="2" end="2"/>
                                            </p:txEl>
                                          </p:spTgt>
                                        </p:tgtEl>
                                      </p:cBhvr>
                                    </p:animEffect>
                                  </p:childTnLst>
                                </p:cTn>
                              </p:par>
                              <p:par>
                                <p:cTn id="16" presetID="12" presetClass="entr" presetSubtype="2" fill="hold" nodeType="withEffect">
                                  <p:stCondLst>
                                    <p:cond delay="0"/>
                                  </p:stCondLst>
                                  <p:childTnLst>
                                    <p:set>
                                      <p:cBhvr>
                                        <p:cTn id="17" dur="1" fill="hold">
                                          <p:stCondLst>
                                            <p:cond delay="0"/>
                                          </p:stCondLst>
                                        </p:cTn>
                                        <p:tgtEl>
                                          <p:spTgt spid="608259">
                                            <p:txEl>
                                              <p:pRg st="3" end="3"/>
                                            </p:txEl>
                                          </p:spTgt>
                                        </p:tgtEl>
                                        <p:attrNameLst>
                                          <p:attrName>style.visibility</p:attrName>
                                        </p:attrNameLst>
                                      </p:cBhvr>
                                      <p:to>
                                        <p:strVal val="visible"/>
                                      </p:to>
                                    </p:set>
                                    <p:animEffect transition="in" filter="slide(fromRight)">
                                      <p:cBhvr>
                                        <p:cTn id="18" dur="500"/>
                                        <p:tgtEl>
                                          <p:spTgt spid="608259">
                                            <p:txEl>
                                              <p:pRg st="3" end="3"/>
                                            </p:txEl>
                                          </p:spTgt>
                                        </p:tgtEl>
                                      </p:cBhvr>
                                    </p:animEffect>
                                  </p:childTnLst>
                                </p:cTn>
                              </p:par>
                              <p:par>
                                <p:cTn id="19" presetID="12" presetClass="entr" presetSubtype="2" fill="hold" nodeType="withEffect">
                                  <p:stCondLst>
                                    <p:cond delay="0"/>
                                  </p:stCondLst>
                                  <p:childTnLst>
                                    <p:set>
                                      <p:cBhvr>
                                        <p:cTn id="20" dur="1" fill="hold">
                                          <p:stCondLst>
                                            <p:cond delay="0"/>
                                          </p:stCondLst>
                                        </p:cTn>
                                        <p:tgtEl>
                                          <p:spTgt spid="608259">
                                            <p:txEl>
                                              <p:pRg st="4" end="4"/>
                                            </p:txEl>
                                          </p:spTgt>
                                        </p:tgtEl>
                                        <p:attrNameLst>
                                          <p:attrName>style.visibility</p:attrName>
                                        </p:attrNameLst>
                                      </p:cBhvr>
                                      <p:to>
                                        <p:strVal val="visible"/>
                                      </p:to>
                                    </p:set>
                                    <p:animEffect transition="in" filter="slide(fromRight)">
                                      <p:cBhvr>
                                        <p:cTn id="21" dur="500"/>
                                        <p:tgtEl>
                                          <p:spTgt spid="6082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3"/>
          <p:cNvSpPr>
            <a:spLocks noGrp="1" noChangeArrowheads="1"/>
          </p:cNvSpPr>
          <p:nvPr>
            <p:ph type="body" idx="1"/>
          </p:nvPr>
        </p:nvSpPr>
        <p:spPr>
          <a:xfrm>
            <a:off x="684213" y="2276475"/>
            <a:ext cx="7920037" cy="4114800"/>
          </a:xfrm>
        </p:spPr>
        <p:txBody>
          <a:bodyPr/>
          <a:lstStyle/>
          <a:p>
            <a:pPr eaLnBrk="1" hangingPunct="1">
              <a:buFont typeface="Wingdings" pitchFamily="2" charset="2"/>
              <a:buNone/>
            </a:pPr>
            <a:r>
              <a:rPr lang="zh-CN" altLang="en-US" sz="2400" smtClean="0">
                <a:latin typeface="黑体" pitchFamily="49" charset="-122"/>
                <a:ea typeface="黑体" pitchFamily="49" charset="-122"/>
              </a:rPr>
              <a:t>第二步：插入数据</a:t>
            </a:r>
          </a:p>
          <a:p>
            <a:pPr eaLnBrk="1" hangingPunct="1">
              <a:buFont typeface="Wingdings" pitchFamily="2" charset="2"/>
              <a:buNone/>
            </a:pPr>
            <a:r>
              <a:rPr lang="zh-CN" altLang="en-US" sz="2400" smtClean="0">
                <a:latin typeface="黑体" pitchFamily="49" charset="-122"/>
                <a:ea typeface="黑体" pitchFamily="49" charset="-122"/>
              </a:rPr>
              <a:t>   </a:t>
            </a:r>
            <a:r>
              <a:rPr lang="en-US" altLang="zh-CN" sz="2000" smtClean="0">
                <a:latin typeface="黑体" pitchFamily="49" charset="-122"/>
                <a:ea typeface="黑体" pitchFamily="49" charset="-122"/>
              </a:rPr>
              <a:t>INSERT</a:t>
            </a:r>
          </a:p>
          <a:p>
            <a:pPr eaLnBrk="1" hangingPunct="1">
              <a:buFontTx/>
              <a:buNone/>
            </a:pPr>
            <a:r>
              <a:rPr lang="en-US" altLang="zh-CN" sz="2000" smtClean="0">
                <a:latin typeface="黑体" pitchFamily="49" charset="-122"/>
                <a:ea typeface="黑体" pitchFamily="49" charset="-122"/>
              </a:rPr>
              <a:t>    INTO  College_avg_age(College</a:t>
            </a:r>
            <a:r>
              <a:rPr lang="zh-CN" altLang="en-US" sz="2000" smtClean="0">
                <a:latin typeface="黑体" pitchFamily="49" charset="-122"/>
                <a:ea typeface="黑体" pitchFamily="49" charset="-122"/>
              </a:rPr>
              <a:t>，</a:t>
            </a:r>
            <a:r>
              <a:rPr lang="en-US" altLang="zh-CN" sz="2000" smtClean="0">
                <a:latin typeface="黑体" pitchFamily="49" charset="-122"/>
                <a:ea typeface="黑体" pitchFamily="49" charset="-122"/>
              </a:rPr>
              <a:t>Avgage)</a:t>
            </a:r>
          </a:p>
          <a:p>
            <a:pPr eaLnBrk="1" hangingPunct="1">
              <a:buFont typeface="Wingdings" pitchFamily="2" charset="2"/>
              <a:buNone/>
            </a:pPr>
            <a:r>
              <a:rPr lang="en-US" altLang="zh-CN" sz="2000" smtClean="0">
                <a:latin typeface="黑体" pitchFamily="49" charset="-122"/>
                <a:ea typeface="黑体" pitchFamily="49" charset="-122"/>
              </a:rPr>
              <a:t>          SELECT  College</a:t>
            </a:r>
            <a:r>
              <a:rPr lang="zh-CN" altLang="en-US" sz="2000" smtClean="0">
                <a:latin typeface="黑体" pitchFamily="49" charset="-122"/>
                <a:ea typeface="黑体" pitchFamily="49" charset="-122"/>
              </a:rPr>
              <a:t>，</a:t>
            </a:r>
            <a:r>
              <a:rPr lang="en-US" altLang="zh-CN" sz="2000" smtClean="0">
                <a:latin typeface="黑体" pitchFamily="49" charset="-122"/>
                <a:ea typeface="黑体" pitchFamily="49" charset="-122"/>
              </a:rPr>
              <a:t>AVG(trunc(sysdate-Sbirth)/365)</a:t>
            </a:r>
          </a:p>
          <a:p>
            <a:pPr eaLnBrk="1" hangingPunct="1">
              <a:buFont typeface="Wingdings" pitchFamily="2" charset="2"/>
              <a:buNone/>
            </a:pPr>
            <a:r>
              <a:rPr lang="en-US" altLang="zh-CN" sz="2000" smtClean="0">
                <a:latin typeface="黑体" pitchFamily="49" charset="-122"/>
                <a:ea typeface="黑体" pitchFamily="49" charset="-122"/>
              </a:rPr>
              <a:t>          FROM  S</a:t>
            </a:r>
          </a:p>
          <a:p>
            <a:pPr eaLnBrk="1" hangingPunct="1">
              <a:buFont typeface="Wingdings" pitchFamily="2" charset="2"/>
              <a:buNone/>
            </a:pPr>
            <a:r>
              <a:rPr lang="en-US" altLang="zh-CN" sz="2000" smtClean="0">
                <a:latin typeface="黑体" pitchFamily="49" charset="-122"/>
                <a:ea typeface="黑体" pitchFamily="49" charset="-122"/>
              </a:rPr>
              <a:t>          GROUP BY College;</a:t>
            </a:r>
          </a:p>
          <a:p>
            <a:pPr eaLnBrk="1" hangingPunct="1">
              <a:buFont typeface="Wingdings" pitchFamily="2" charset="2"/>
              <a:buNone/>
            </a:pPr>
            <a:r>
              <a:rPr lang="en-US" altLang="zh-CN" sz="2000" smtClean="0">
                <a:latin typeface="黑体" pitchFamily="49" charset="-122"/>
                <a:ea typeface="黑体" pitchFamily="49" charset="-122"/>
              </a:rPr>
              <a:t>    COMMIT;</a:t>
            </a:r>
            <a:endParaRPr lang="zh-CN" altLang="en-US" sz="2000" smtClean="0">
              <a:latin typeface="黑体" pitchFamily="49" charset="-122"/>
              <a:ea typeface="黑体" pitchFamily="49" charset="-122"/>
            </a:endParaRPr>
          </a:p>
        </p:txBody>
      </p:sp>
      <p:sp>
        <p:nvSpPr>
          <p:cNvPr id="124931" name="Rectangle 2"/>
          <p:cNvSpPr>
            <a:spLocks noGrp="1" noChangeArrowheads="1"/>
          </p:cNvSpPr>
          <p:nvPr>
            <p:ph type="title"/>
          </p:nvPr>
        </p:nvSpPr>
        <p:spPr>
          <a:xfrm>
            <a:off x="539750" y="908050"/>
            <a:ext cx="7793038" cy="1143000"/>
          </a:xfrm>
        </p:spPr>
        <p:txBody>
          <a:bodyPr/>
          <a:lstStyle/>
          <a:p>
            <a:pPr eaLnBrk="1" hangingPunct="1"/>
            <a:r>
              <a:rPr lang="en-US" altLang="zh-CN" sz="2800" smtClean="0">
                <a:solidFill>
                  <a:schemeClr val="tx1"/>
                </a:solidFill>
              </a:rPr>
              <a:t>2. </a:t>
            </a:r>
            <a:r>
              <a:rPr lang="zh-CN" altLang="en-US" sz="2800" smtClean="0">
                <a:solidFill>
                  <a:schemeClr val="tx1"/>
                </a:solidFill>
              </a:rPr>
              <a:t>插入子查询结果</a:t>
            </a:r>
          </a:p>
        </p:txBody>
      </p:sp>
      <p:sp>
        <p:nvSpPr>
          <p:cNvPr id="6" name="Rectangle 2"/>
          <p:cNvSpPr txBox="1">
            <a:spLocks noChangeArrowheads="1"/>
          </p:cNvSpPr>
          <p:nvPr/>
        </p:nvSpPr>
        <p:spPr bwMode="auto">
          <a:xfrm>
            <a:off x="611188" y="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sz="3200" b="0" kern="0" dirty="0" smtClean="0">
                <a:latin typeface="黑体" pitchFamily="49" charset="-122"/>
              </a:rPr>
              <a:t>3.5.1  </a:t>
            </a:r>
            <a:r>
              <a:rPr lang="zh-CN" altLang="en-US" sz="3200" b="0" kern="0" dirty="0" smtClean="0">
                <a:latin typeface="黑体" pitchFamily="49" charset="-122"/>
              </a:rPr>
              <a:t>插入数据</a:t>
            </a:r>
          </a:p>
        </p:txBody>
      </p:sp>
    </p:spTree>
  </p:cSld>
  <p:clrMapOvr>
    <a:masterClrMapping/>
  </p:clrMapOvr>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xfrm>
            <a:off x="827088" y="-6350"/>
            <a:ext cx="7793037" cy="1143000"/>
          </a:xfrm>
        </p:spPr>
        <p:txBody>
          <a:bodyPr/>
          <a:lstStyle/>
          <a:p>
            <a:pPr eaLnBrk="1" hangingPunct="1"/>
            <a:r>
              <a:rPr lang="en-US" altLang="zh-CN" smtClean="0"/>
              <a:t>3.5  </a:t>
            </a:r>
            <a:r>
              <a:rPr lang="zh-CN" altLang="en-US" smtClean="0"/>
              <a:t>数 据 更 新 </a:t>
            </a:r>
          </a:p>
        </p:txBody>
      </p:sp>
      <p:sp>
        <p:nvSpPr>
          <p:cNvPr id="125955" name="Rectangle 3"/>
          <p:cNvSpPr>
            <a:spLocks noGrp="1" noChangeArrowheads="1"/>
          </p:cNvSpPr>
          <p:nvPr>
            <p:ph type="body" idx="1"/>
          </p:nvPr>
        </p:nvSpPr>
        <p:spPr>
          <a:xfrm>
            <a:off x="1258888" y="1987550"/>
            <a:ext cx="6192837" cy="3529013"/>
          </a:xfrm>
        </p:spPr>
        <p:txBody>
          <a:bodyPr/>
          <a:lstStyle/>
          <a:p>
            <a:pPr algn="just" eaLnBrk="1" hangingPunct="1">
              <a:lnSpc>
                <a:spcPct val="130000"/>
              </a:lnSpc>
              <a:buFont typeface="Wingdings" pitchFamily="2" charset="2"/>
              <a:buNone/>
            </a:pPr>
            <a:r>
              <a:rPr lang="en-US" altLang="zh-CN" smtClean="0">
                <a:latin typeface="黑体" pitchFamily="49" charset="-122"/>
                <a:ea typeface="黑体" pitchFamily="49" charset="-122"/>
              </a:rPr>
              <a:t>3.5.1  </a:t>
            </a:r>
            <a:r>
              <a:rPr lang="zh-CN" altLang="en-US" smtClean="0">
                <a:latin typeface="黑体" pitchFamily="49" charset="-122"/>
                <a:ea typeface="黑体" pitchFamily="49" charset="-122"/>
              </a:rPr>
              <a:t>插入数据</a:t>
            </a:r>
          </a:p>
          <a:p>
            <a:pPr algn="just" eaLnBrk="1" hangingPunct="1">
              <a:lnSpc>
                <a:spcPct val="130000"/>
              </a:lnSpc>
              <a:buFont typeface="Wingdings" pitchFamily="2" charset="2"/>
              <a:buNone/>
            </a:pPr>
            <a:r>
              <a:rPr lang="en-US" altLang="zh-CN" smtClean="0">
                <a:solidFill>
                  <a:srgbClr val="FF0000"/>
                </a:solidFill>
                <a:latin typeface="黑体" pitchFamily="49" charset="-122"/>
                <a:ea typeface="黑体" pitchFamily="49" charset="-122"/>
              </a:rPr>
              <a:t>3.5.2  </a:t>
            </a:r>
            <a:r>
              <a:rPr lang="zh-CN" altLang="en-US" smtClean="0">
                <a:solidFill>
                  <a:srgbClr val="FF0000"/>
                </a:solidFill>
                <a:latin typeface="黑体" pitchFamily="49" charset="-122"/>
                <a:ea typeface="黑体" pitchFamily="49" charset="-122"/>
              </a:rPr>
              <a:t>修改数据</a:t>
            </a:r>
          </a:p>
          <a:p>
            <a:pPr eaLnBrk="1" hangingPunct="1">
              <a:lnSpc>
                <a:spcPct val="130000"/>
              </a:lnSpc>
              <a:buFont typeface="Wingdings" pitchFamily="2" charset="2"/>
              <a:buNone/>
            </a:pPr>
            <a:r>
              <a:rPr lang="en-US" altLang="zh-CN" smtClean="0">
                <a:latin typeface="黑体" pitchFamily="49" charset="-122"/>
                <a:ea typeface="黑体" pitchFamily="49" charset="-122"/>
              </a:rPr>
              <a:t>3.5.3  </a:t>
            </a:r>
            <a:r>
              <a:rPr lang="zh-CN" altLang="en-US" smtClean="0">
                <a:latin typeface="黑体" pitchFamily="49" charset="-122"/>
                <a:ea typeface="黑体" pitchFamily="49" charset="-122"/>
              </a:rPr>
              <a:t>删除数据 </a:t>
            </a:r>
          </a:p>
        </p:txBody>
      </p:sp>
    </p:spTree>
  </p:cSld>
  <p:clrMapOvr>
    <a:masterClrMapping/>
  </p:clrMapOvr>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827088" y="0"/>
            <a:ext cx="7793037" cy="1143000"/>
          </a:xfrm>
        </p:spPr>
        <p:txBody>
          <a:bodyPr/>
          <a:lstStyle/>
          <a:p>
            <a:pPr eaLnBrk="1" hangingPunct="1"/>
            <a:r>
              <a:rPr lang="en-US" altLang="zh-CN" smtClean="0"/>
              <a:t>3.5.2  </a:t>
            </a:r>
            <a:r>
              <a:rPr lang="zh-CN" altLang="en-US" smtClean="0"/>
              <a:t>修改数据</a:t>
            </a:r>
          </a:p>
        </p:txBody>
      </p:sp>
      <p:sp>
        <p:nvSpPr>
          <p:cNvPr id="126979" name="Rectangle 3"/>
          <p:cNvSpPr>
            <a:spLocks noGrp="1" noChangeArrowheads="1"/>
          </p:cNvSpPr>
          <p:nvPr>
            <p:ph type="body" idx="1"/>
          </p:nvPr>
        </p:nvSpPr>
        <p:spPr>
          <a:xfrm>
            <a:off x="739775" y="1557338"/>
            <a:ext cx="8153400" cy="4114800"/>
          </a:xfrm>
        </p:spPr>
        <p:txBody>
          <a:bodyPr/>
          <a:lstStyle/>
          <a:p>
            <a:pPr eaLnBrk="1" hangingPunct="1"/>
            <a:r>
              <a:rPr lang="zh-CN" altLang="en-US" smtClean="0">
                <a:latin typeface="黑体" pitchFamily="49" charset="-122"/>
                <a:ea typeface="黑体" pitchFamily="49" charset="-122"/>
              </a:rPr>
              <a:t>语句格式</a:t>
            </a:r>
          </a:p>
          <a:p>
            <a:pPr eaLnBrk="1" hangingPunct="1">
              <a:buFont typeface="Wingdings" pitchFamily="2" charset="2"/>
              <a:buNone/>
            </a:pPr>
            <a:r>
              <a:rPr lang="zh-CN" altLang="en-US" smtClean="0">
                <a:latin typeface="黑体" pitchFamily="49" charset="-122"/>
                <a:ea typeface="黑体" pitchFamily="49" charset="-122"/>
              </a:rPr>
              <a:t>  </a:t>
            </a:r>
            <a:r>
              <a:rPr lang="en-US" altLang="zh-CN" sz="2800" smtClean="0">
                <a:latin typeface="黑体" pitchFamily="49" charset="-122"/>
                <a:ea typeface="黑体" pitchFamily="49" charset="-122"/>
              </a:rPr>
              <a:t>UPDATE  &lt;</a:t>
            </a:r>
            <a:r>
              <a:rPr lang="zh-CN" altLang="en-US" sz="2800" smtClean="0">
                <a:latin typeface="黑体" pitchFamily="49" charset="-122"/>
                <a:ea typeface="黑体" pitchFamily="49" charset="-122"/>
              </a:rPr>
              <a:t>表名</a:t>
            </a:r>
            <a:r>
              <a:rPr lang="en-US" altLang="zh-CN" sz="2800" smtClean="0">
                <a:latin typeface="黑体" pitchFamily="49" charset="-122"/>
                <a:ea typeface="黑体" pitchFamily="49" charset="-122"/>
              </a:rPr>
              <a:t>&gt;</a:t>
            </a:r>
          </a:p>
          <a:p>
            <a:pPr eaLnBrk="1" hangingPunct="1">
              <a:buFont typeface="Wingdings" pitchFamily="2" charset="2"/>
              <a:buNone/>
            </a:pPr>
            <a:r>
              <a:rPr lang="en-US" altLang="zh-CN" sz="2800" smtClean="0">
                <a:latin typeface="黑体" pitchFamily="49" charset="-122"/>
                <a:ea typeface="黑体" pitchFamily="49" charset="-122"/>
              </a:rPr>
              <a:t>  SET  &lt;</a:t>
            </a:r>
            <a:r>
              <a:rPr lang="zh-CN" altLang="en-US" sz="2800" smtClean="0">
                <a:latin typeface="黑体" pitchFamily="49" charset="-122"/>
                <a:ea typeface="黑体" pitchFamily="49" charset="-122"/>
              </a:rPr>
              <a:t>列名</a:t>
            </a:r>
            <a:r>
              <a:rPr lang="en-US" altLang="zh-CN" sz="2800" smtClean="0">
                <a:latin typeface="黑体" pitchFamily="49" charset="-122"/>
                <a:ea typeface="黑体" pitchFamily="49" charset="-122"/>
              </a:rPr>
              <a:t>&gt;=&lt;</a:t>
            </a:r>
            <a:r>
              <a:rPr lang="zh-CN" altLang="en-US" sz="2800" smtClean="0">
                <a:latin typeface="黑体" pitchFamily="49" charset="-122"/>
                <a:ea typeface="黑体" pitchFamily="49" charset="-122"/>
              </a:rPr>
              <a:t>表达式</a:t>
            </a:r>
            <a:r>
              <a:rPr lang="en-US" altLang="zh-CN" sz="2800" smtClean="0">
                <a:latin typeface="黑体" pitchFamily="49" charset="-122"/>
                <a:ea typeface="黑体" pitchFamily="49" charset="-122"/>
              </a:rPr>
              <a:t>&gt;[</a:t>
            </a:r>
            <a:r>
              <a:rPr lang="zh-CN" altLang="en-US" sz="2800" smtClean="0">
                <a:latin typeface="黑体" pitchFamily="49" charset="-122"/>
                <a:ea typeface="黑体" pitchFamily="49" charset="-122"/>
              </a:rPr>
              <a:t>，</a:t>
            </a:r>
            <a:r>
              <a:rPr lang="en-US" altLang="zh-CN" sz="2800" smtClean="0">
                <a:latin typeface="黑体" pitchFamily="49" charset="-122"/>
                <a:ea typeface="黑体" pitchFamily="49" charset="-122"/>
              </a:rPr>
              <a:t>&lt;</a:t>
            </a:r>
            <a:r>
              <a:rPr lang="zh-CN" altLang="en-US" sz="2800" smtClean="0">
                <a:latin typeface="黑体" pitchFamily="49" charset="-122"/>
                <a:ea typeface="黑体" pitchFamily="49" charset="-122"/>
              </a:rPr>
              <a:t>列名</a:t>
            </a:r>
            <a:r>
              <a:rPr lang="en-US" altLang="zh-CN" sz="2800" smtClean="0">
                <a:latin typeface="黑体" pitchFamily="49" charset="-122"/>
                <a:ea typeface="黑体" pitchFamily="49" charset="-122"/>
              </a:rPr>
              <a:t>&gt;=&lt;</a:t>
            </a:r>
            <a:r>
              <a:rPr lang="zh-CN" altLang="en-US" sz="2800" smtClean="0">
                <a:latin typeface="黑体" pitchFamily="49" charset="-122"/>
                <a:ea typeface="黑体" pitchFamily="49" charset="-122"/>
              </a:rPr>
              <a:t>表达式</a:t>
            </a:r>
            <a:r>
              <a:rPr lang="en-US" altLang="zh-CN" sz="2800" smtClean="0">
                <a:latin typeface="黑体" pitchFamily="49" charset="-122"/>
                <a:ea typeface="黑体" pitchFamily="49" charset="-122"/>
              </a:rPr>
              <a:t>&gt;]</a:t>
            </a:r>
            <a:r>
              <a:rPr lang="en-US" altLang="zh-CN" sz="2800" smtClean="0">
                <a:ea typeface="黑体" pitchFamily="49" charset="-122"/>
              </a:rPr>
              <a:t>…</a:t>
            </a:r>
            <a:endParaRPr lang="en-US" altLang="zh-CN" sz="2800" smtClean="0">
              <a:latin typeface="黑体" pitchFamily="49" charset="-122"/>
              <a:ea typeface="黑体" pitchFamily="49" charset="-122"/>
            </a:endParaRPr>
          </a:p>
          <a:p>
            <a:pPr eaLnBrk="1" hangingPunct="1">
              <a:buFont typeface="Wingdings" pitchFamily="2" charset="2"/>
              <a:buNone/>
            </a:pPr>
            <a:r>
              <a:rPr lang="en-US" altLang="zh-CN" sz="2800" smtClean="0">
                <a:latin typeface="黑体" pitchFamily="49" charset="-122"/>
                <a:ea typeface="黑体" pitchFamily="49" charset="-122"/>
              </a:rPr>
              <a:t>  [WHERE &lt;</a:t>
            </a:r>
            <a:r>
              <a:rPr lang="zh-CN" altLang="en-US" sz="2800" smtClean="0">
                <a:latin typeface="黑体" pitchFamily="49" charset="-122"/>
                <a:ea typeface="黑体" pitchFamily="49" charset="-122"/>
              </a:rPr>
              <a:t>条件</a:t>
            </a:r>
            <a:r>
              <a:rPr lang="en-US" altLang="zh-CN" sz="2800" smtClean="0">
                <a:latin typeface="黑体" pitchFamily="49" charset="-122"/>
                <a:ea typeface="黑体" pitchFamily="49" charset="-122"/>
              </a:rPr>
              <a:t>&gt;]</a:t>
            </a:r>
            <a:r>
              <a:rPr lang="zh-CN" altLang="en-US" sz="2800" smtClean="0">
                <a:latin typeface="黑体" pitchFamily="49" charset="-122"/>
                <a:ea typeface="黑体" pitchFamily="49" charset="-122"/>
              </a:rPr>
              <a:t>；</a:t>
            </a:r>
          </a:p>
          <a:p>
            <a:pPr lvl="1" eaLnBrk="1" hangingPunct="1">
              <a:buFont typeface="Wingdings" pitchFamily="2" charset="2"/>
              <a:buNone/>
            </a:pPr>
            <a:endParaRPr lang="zh-CN" altLang="en-US" smtClean="0">
              <a:latin typeface="黑体" pitchFamily="49" charset="-122"/>
              <a:ea typeface="黑体" pitchFamily="49" charset="-122"/>
            </a:endParaRPr>
          </a:p>
          <a:p>
            <a:pPr eaLnBrk="1" hangingPunct="1"/>
            <a:r>
              <a:rPr lang="zh-CN" altLang="en-US" smtClean="0">
                <a:latin typeface="黑体" pitchFamily="49" charset="-122"/>
                <a:ea typeface="黑体" pitchFamily="49" charset="-122"/>
              </a:rPr>
              <a:t>功能</a:t>
            </a:r>
          </a:p>
          <a:p>
            <a:pPr eaLnBrk="1" hangingPunct="1">
              <a:lnSpc>
                <a:spcPct val="110000"/>
              </a:lnSpc>
              <a:buFont typeface="Wingdings" pitchFamily="2" charset="2"/>
              <a:buNone/>
            </a:pPr>
            <a:r>
              <a:rPr lang="zh-CN" altLang="en-US" smtClean="0">
                <a:latin typeface="黑体" pitchFamily="49" charset="-122"/>
                <a:ea typeface="黑体" pitchFamily="49" charset="-122"/>
              </a:rPr>
              <a:t>修改指定表中满足</a:t>
            </a:r>
            <a:r>
              <a:rPr lang="en-US" altLang="zh-CN" smtClean="0">
                <a:latin typeface="黑体" pitchFamily="49" charset="-122"/>
                <a:ea typeface="黑体" pitchFamily="49" charset="-122"/>
              </a:rPr>
              <a:t>WHERE</a:t>
            </a:r>
            <a:r>
              <a:rPr lang="zh-CN" altLang="en-US" smtClean="0">
                <a:latin typeface="黑体" pitchFamily="49" charset="-122"/>
                <a:ea typeface="黑体" pitchFamily="49" charset="-122"/>
              </a:rPr>
              <a:t>子句条件的元组</a:t>
            </a:r>
          </a:p>
        </p:txBody>
      </p:sp>
    </p:spTree>
  </p:cSld>
  <p:clrMapOvr>
    <a:masterClrMapping/>
  </p:clrMapOvr>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3"/>
          <p:cNvSpPr>
            <a:spLocks noGrp="1" noChangeArrowheads="1"/>
          </p:cNvSpPr>
          <p:nvPr>
            <p:ph type="body" idx="1"/>
          </p:nvPr>
        </p:nvSpPr>
        <p:spPr>
          <a:xfrm>
            <a:off x="900113" y="1412875"/>
            <a:ext cx="7772400" cy="4464050"/>
          </a:xfrm>
        </p:spPr>
        <p:txBody>
          <a:bodyPr/>
          <a:lstStyle/>
          <a:p>
            <a:pPr lvl="1" eaLnBrk="1" hangingPunct="1">
              <a:lnSpc>
                <a:spcPct val="120000"/>
              </a:lnSpc>
            </a:pPr>
            <a:r>
              <a:rPr lang="en-US" altLang="zh-CN" smtClean="0">
                <a:latin typeface="黑体" pitchFamily="49" charset="-122"/>
                <a:ea typeface="黑体" pitchFamily="49" charset="-122"/>
              </a:rPr>
              <a:t>SET</a:t>
            </a:r>
            <a:r>
              <a:rPr lang="zh-CN" altLang="en-US" smtClean="0">
                <a:latin typeface="黑体" pitchFamily="49" charset="-122"/>
                <a:ea typeface="黑体" pitchFamily="49" charset="-122"/>
              </a:rPr>
              <a:t>子句</a:t>
            </a:r>
          </a:p>
          <a:p>
            <a:pPr eaLnBrk="1" hangingPunct="1">
              <a:lnSpc>
                <a:spcPct val="120000"/>
              </a:lnSpc>
              <a:buFont typeface="Wingdings" pitchFamily="2" charset="2"/>
              <a:buNone/>
            </a:pPr>
            <a:r>
              <a:rPr lang="zh-CN" altLang="en-US" sz="2800" smtClean="0">
                <a:latin typeface="黑体" pitchFamily="49" charset="-122"/>
                <a:ea typeface="黑体" pitchFamily="49" charset="-122"/>
              </a:rPr>
              <a:t>     指定修改方式</a:t>
            </a:r>
          </a:p>
          <a:p>
            <a:pPr lvl="1" eaLnBrk="1" hangingPunct="1">
              <a:lnSpc>
                <a:spcPct val="120000"/>
              </a:lnSpc>
              <a:buFont typeface="Wingdings" pitchFamily="2" charset="2"/>
              <a:buNone/>
            </a:pPr>
            <a:r>
              <a:rPr lang="zh-CN" altLang="en-US" smtClean="0">
                <a:latin typeface="黑体" pitchFamily="49" charset="-122"/>
                <a:ea typeface="黑体" pitchFamily="49" charset="-122"/>
              </a:rPr>
              <a:t>  要修改的列</a:t>
            </a:r>
          </a:p>
          <a:p>
            <a:pPr lvl="1" eaLnBrk="1" hangingPunct="1">
              <a:lnSpc>
                <a:spcPct val="120000"/>
              </a:lnSpc>
              <a:buFont typeface="Wingdings" pitchFamily="2" charset="2"/>
              <a:buNone/>
            </a:pPr>
            <a:r>
              <a:rPr lang="zh-CN" altLang="en-US" smtClean="0">
                <a:latin typeface="黑体" pitchFamily="49" charset="-122"/>
                <a:ea typeface="黑体" pitchFamily="49" charset="-122"/>
              </a:rPr>
              <a:t>  修改后取值</a:t>
            </a:r>
            <a:endParaRPr lang="zh-CN" altLang="en-US" sz="3600" smtClean="0">
              <a:latin typeface="黑体" pitchFamily="49" charset="-122"/>
              <a:ea typeface="黑体" pitchFamily="49" charset="-122"/>
            </a:endParaRPr>
          </a:p>
          <a:p>
            <a:pPr lvl="1" eaLnBrk="1" hangingPunct="1">
              <a:lnSpc>
                <a:spcPct val="160000"/>
              </a:lnSpc>
            </a:pPr>
            <a:r>
              <a:rPr lang="en-US" altLang="zh-CN" smtClean="0">
                <a:latin typeface="黑体" pitchFamily="49" charset="-122"/>
                <a:ea typeface="黑体" pitchFamily="49" charset="-122"/>
              </a:rPr>
              <a:t>WHERE</a:t>
            </a:r>
            <a:r>
              <a:rPr lang="zh-CN" altLang="en-US" smtClean="0">
                <a:latin typeface="黑体" pitchFamily="49" charset="-122"/>
                <a:ea typeface="黑体" pitchFamily="49" charset="-122"/>
              </a:rPr>
              <a:t>子句</a:t>
            </a:r>
          </a:p>
          <a:p>
            <a:pPr lvl="2" eaLnBrk="1" hangingPunct="1">
              <a:lnSpc>
                <a:spcPct val="120000"/>
              </a:lnSpc>
              <a:buFont typeface="Wingdings" pitchFamily="2" charset="2"/>
              <a:buNone/>
            </a:pPr>
            <a:r>
              <a:rPr lang="zh-CN" altLang="en-US" sz="2800" smtClean="0">
                <a:latin typeface="黑体" pitchFamily="49" charset="-122"/>
                <a:ea typeface="黑体" pitchFamily="49" charset="-122"/>
              </a:rPr>
              <a:t>指定要修改的元组</a:t>
            </a:r>
          </a:p>
          <a:p>
            <a:pPr lvl="2" eaLnBrk="1" hangingPunct="1">
              <a:lnSpc>
                <a:spcPct val="120000"/>
              </a:lnSpc>
              <a:buFont typeface="Wingdings" pitchFamily="2" charset="2"/>
              <a:buNone/>
            </a:pPr>
            <a:r>
              <a:rPr lang="zh-CN" altLang="en-US" sz="2800" smtClean="0">
                <a:latin typeface="黑体" pitchFamily="49" charset="-122"/>
                <a:ea typeface="黑体" pitchFamily="49" charset="-122"/>
              </a:rPr>
              <a:t>缺省表示要修改表中的所有元组</a:t>
            </a:r>
          </a:p>
        </p:txBody>
      </p:sp>
      <p:sp>
        <p:nvSpPr>
          <p:cNvPr id="128003" name="Rectangle 2"/>
          <p:cNvSpPr>
            <a:spLocks noGrp="1" noChangeArrowheads="1"/>
          </p:cNvSpPr>
          <p:nvPr>
            <p:ph type="title"/>
          </p:nvPr>
        </p:nvSpPr>
        <p:spPr>
          <a:xfrm>
            <a:off x="827088" y="0"/>
            <a:ext cx="7793037" cy="1143000"/>
          </a:xfrm>
        </p:spPr>
        <p:txBody>
          <a:bodyPr/>
          <a:lstStyle/>
          <a:p>
            <a:pPr eaLnBrk="1" hangingPunct="1"/>
            <a:r>
              <a:rPr lang="en-US" altLang="zh-CN" smtClean="0"/>
              <a:t>3.5.2  </a:t>
            </a:r>
            <a:r>
              <a:rPr lang="zh-CN" altLang="en-US" smtClean="0"/>
              <a:t>修改数据</a:t>
            </a:r>
          </a:p>
        </p:txBody>
      </p:sp>
    </p:spTree>
  </p:cSld>
  <p:clrMapOvr>
    <a:masterClrMapping/>
  </p:clrMapOvr>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p:cNvSpPr>
            <a:spLocks noGrp="1" noChangeArrowheads="1"/>
          </p:cNvSpPr>
          <p:nvPr>
            <p:ph type="body" idx="1"/>
          </p:nvPr>
        </p:nvSpPr>
        <p:spPr>
          <a:xfrm>
            <a:off x="1331913" y="1701800"/>
            <a:ext cx="6911975" cy="4032250"/>
          </a:xfrm>
        </p:spPr>
        <p:txBody>
          <a:bodyPr/>
          <a:lstStyle/>
          <a:p>
            <a:pPr eaLnBrk="1" hangingPunct="1">
              <a:lnSpc>
                <a:spcPct val="120000"/>
              </a:lnSpc>
            </a:pPr>
            <a:r>
              <a:rPr lang="zh-CN" altLang="en-US" sz="3600" smtClean="0">
                <a:ea typeface="黑体" pitchFamily="49" charset="-122"/>
              </a:rPr>
              <a:t>三种修改方式</a:t>
            </a:r>
          </a:p>
          <a:p>
            <a:pPr lvl="1" eaLnBrk="1" hangingPunct="1">
              <a:lnSpc>
                <a:spcPct val="120000"/>
              </a:lnSpc>
            </a:pPr>
            <a:r>
              <a:rPr lang="zh-CN" altLang="en-US" sz="3200" smtClean="0">
                <a:ea typeface="黑体" pitchFamily="49" charset="-122"/>
              </a:rPr>
              <a:t>修改某一个元组的值</a:t>
            </a:r>
          </a:p>
          <a:p>
            <a:pPr lvl="1" eaLnBrk="1" hangingPunct="1">
              <a:lnSpc>
                <a:spcPct val="120000"/>
              </a:lnSpc>
            </a:pPr>
            <a:r>
              <a:rPr lang="zh-CN" altLang="en-US" sz="3200" smtClean="0">
                <a:ea typeface="黑体" pitchFamily="49" charset="-122"/>
              </a:rPr>
              <a:t>修改多个元组的值</a:t>
            </a:r>
          </a:p>
          <a:p>
            <a:pPr lvl="1" eaLnBrk="1" hangingPunct="1">
              <a:lnSpc>
                <a:spcPct val="120000"/>
              </a:lnSpc>
            </a:pPr>
            <a:r>
              <a:rPr lang="zh-CN" altLang="en-US" sz="3200" smtClean="0">
                <a:ea typeface="黑体" pitchFamily="49" charset="-122"/>
              </a:rPr>
              <a:t>带子查询的修改语句</a:t>
            </a:r>
          </a:p>
        </p:txBody>
      </p:sp>
      <p:sp>
        <p:nvSpPr>
          <p:cNvPr id="129027" name="Rectangle 2"/>
          <p:cNvSpPr>
            <a:spLocks noGrp="1" noChangeArrowheads="1"/>
          </p:cNvSpPr>
          <p:nvPr>
            <p:ph type="title"/>
          </p:nvPr>
        </p:nvSpPr>
        <p:spPr>
          <a:xfrm>
            <a:off x="827088" y="0"/>
            <a:ext cx="7793037" cy="1143000"/>
          </a:xfrm>
        </p:spPr>
        <p:txBody>
          <a:bodyPr/>
          <a:lstStyle/>
          <a:p>
            <a:pPr eaLnBrk="1" hangingPunct="1"/>
            <a:r>
              <a:rPr lang="en-US" altLang="zh-CN" smtClean="0"/>
              <a:t>3.5.2  </a:t>
            </a:r>
            <a:r>
              <a:rPr lang="zh-CN" altLang="en-US" smtClean="0"/>
              <a:t>修改数据</a:t>
            </a:r>
          </a:p>
        </p:txBody>
      </p:sp>
    </p:spTree>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xfrm>
            <a:off x="611188" y="836613"/>
            <a:ext cx="7793037" cy="1143000"/>
          </a:xfrm>
        </p:spPr>
        <p:txBody>
          <a:bodyPr/>
          <a:lstStyle/>
          <a:p>
            <a:pPr eaLnBrk="1" hangingPunct="1"/>
            <a:r>
              <a:rPr lang="en-US" altLang="zh-CN" sz="2800" smtClean="0">
                <a:solidFill>
                  <a:schemeClr val="tx1"/>
                </a:solidFill>
              </a:rPr>
              <a:t>1. </a:t>
            </a:r>
            <a:r>
              <a:rPr lang="zh-CN" altLang="en-US" sz="2800" smtClean="0">
                <a:solidFill>
                  <a:schemeClr val="tx1"/>
                </a:solidFill>
              </a:rPr>
              <a:t>修改某一个元组的值</a:t>
            </a:r>
          </a:p>
        </p:txBody>
      </p:sp>
      <p:sp>
        <p:nvSpPr>
          <p:cNvPr id="615427" name="Rectangle 3"/>
          <p:cNvSpPr>
            <a:spLocks noGrp="1" noChangeArrowheads="1"/>
          </p:cNvSpPr>
          <p:nvPr>
            <p:ph type="body" idx="1"/>
          </p:nvPr>
        </p:nvSpPr>
        <p:spPr>
          <a:xfrm>
            <a:off x="755650" y="2060575"/>
            <a:ext cx="7772400" cy="4114800"/>
          </a:xfrm>
        </p:spPr>
        <p:txBody>
          <a:bodyPr/>
          <a:lstStyle/>
          <a:p>
            <a:pPr eaLnBrk="1" hangingPunct="1">
              <a:lnSpc>
                <a:spcPct val="130000"/>
              </a:lnSpc>
              <a:spcAft>
                <a:spcPts val="850"/>
              </a:spcAft>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4]  </a:t>
            </a:r>
            <a:r>
              <a:rPr lang="zh-CN" altLang="en-US" sz="2400" smtClean="0">
                <a:latin typeface="黑体" pitchFamily="49" charset="-122"/>
                <a:ea typeface="黑体" pitchFamily="49" charset="-122"/>
              </a:rPr>
              <a:t>将学生</a:t>
            </a:r>
            <a:r>
              <a:rPr lang="en-US" altLang="zh-CN" sz="2400" smtClean="0">
                <a:latin typeface="黑体" pitchFamily="49" charset="-122"/>
                <a:ea typeface="黑体" pitchFamily="49" charset="-122"/>
              </a:rPr>
              <a:t>04001</a:t>
            </a:r>
            <a:r>
              <a:rPr lang="zh-CN" altLang="en-US" sz="2400" smtClean="0">
                <a:latin typeface="黑体" pitchFamily="49" charset="-122"/>
                <a:ea typeface="黑体" pitchFamily="49" charset="-122"/>
              </a:rPr>
              <a:t>的学院改为外语系。</a:t>
            </a:r>
          </a:p>
          <a:p>
            <a:pPr algn="just" eaLnBrk="1" hangingPunct="1">
              <a:lnSpc>
                <a:spcPct val="130000"/>
              </a:lnSpc>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UPDATE  S</a:t>
            </a:r>
          </a:p>
          <a:p>
            <a:pPr algn="just" eaLnBrk="1" hangingPunct="1">
              <a:lnSpc>
                <a:spcPct val="130000"/>
              </a:lnSpc>
              <a:buFont typeface="Wingdings" pitchFamily="2" charset="2"/>
              <a:buNone/>
            </a:pPr>
            <a:r>
              <a:rPr lang="en-US" altLang="zh-CN" sz="2400" smtClean="0">
                <a:latin typeface="黑体" pitchFamily="49" charset="-122"/>
                <a:ea typeface="黑体" pitchFamily="49" charset="-122"/>
              </a:rPr>
              <a:t>         SET College= '</a:t>
            </a:r>
            <a:r>
              <a:rPr lang="zh-CN" altLang="en-US" sz="2400" smtClean="0">
                <a:latin typeface="黑体" pitchFamily="49" charset="-122"/>
                <a:ea typeface="黑体" pitchFamily="49" charset="-122"/>
              </a:rPr>
              <a:t>外语系</a:t>
            </a:r>
            <a:r>
              <a:rPr lang="en-US" altLang="zh-CN" sz="2400" smtClean="0">
                <a:latin typeface="黑体" pitchFamily="49" charset="-122"/>
                <a:ea typeface="黑体" pitchFamily="49" charset="-122"/>
              </a:rPr>
              <a:t>'</a:t>
            </a:r>
          </a:p>
          <a:p>
            <a:pPr algn="just" eaLnBrk="1" hangingPunct="1">
              <a:lnSpc>
                <a:spcPct val="130000"/>
              </a:lnSpc>
              <a:buFont typeface="Wingdings" pitchFamily="2" charset="2"/>
              <a:buNone/>
            </a:pPr>
            <a:r>
              <a:rPr lang="en-US" altLang="zh-CN" sz="2400" smtClean="0">
                <a:latin typeface="黑体" pitchFamily="49" charset="-122"/>
                <a:ea typeface="黑体" pitchFamily="49" charset="-122"/>
              </a:rPr>
              <a:t>         WHERE  Sno=‘04001’;</a:t>
            </a:r>
          </a:p>
          <a:p>
            <a:pPr algn="just" eaLnBrk="1" hangingPunct="1">
              <a:lnSpc>
                <a:spcPct val="130000"/>
              </a:lnSpc>
              <a:buFont typeface="Wingdings" pitchFamily="2" charset="2"/>
              <a:buNone/>
            </a:pPr>
            <a:r>
              <a:rPr lang="en-US" altLang="zh-CN" sz="2400" smtClean="0">
                <a:latin typeface="黑体" pitchFamily="49" charset="-122"/>
                <a:ea typeface="黑体" pitchFamily="49" charset="-122"/>
              </a:rPr>
              <a:t>         COMMIT;</a:t>
            </a:r>
            <a:r>
              <a:rPr lang="zh-CN" altLang="en-US" sz="2400" smtClean="0">
                <a:latin typeface="黑体" pitchFamily="49" charset="-122"/>
                <a:ea typeface="黑体" pitchFamily="49" charset="-122"/>
              </a:rPr>
              <a:t> </a:t>
            </a:r>
          </a:p>
          <a:p>
            <a:pPr eaLnBrk="1" hangingPunct="1">
              <a:lnSpc>
                <a:spcPct val="130000"/>
              </a:lnSpc>
            </a:pPr>
            <a:endParaRPr lang="en-US" altLang="zh-CN" sz="2400" smtClean="0">
              <a:latin typeface="黑体" pitchFamily="49" charset="-122"/>
              <a:ea typeface="黑体" pitchFamily="49" charset="-122"/>
            </a:endParaRPr>
          </a:p>
        </p:txBody>
      </p:sp>
      <p:sp>
        <p:nvSpPr>
          <p:cNvPr id="4" name="Rectangle 2"/>
          <p:cNvSpPr txBox="1">
            <a:spLocks noChangeArrowheads="1"/>
          </p:cNvSpPr>
          <p:nvPr/>
        </p:nvSpPr>
        <p:spPr bwMode="auto">
          <a:xfrm>
            <a:off x="827088" y="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smtClean="0"/>
              <a:t>3.5.2  </a:t>
            </a:r>
            <a:r>
              <a:rPr lang="zh-CN" altLang="en-US" b="0" kern="0" smtClean="0"/>
              <a:t>修改数据</a:t>
            </a:r>
            <a:endParaRPr lang="zh-CN" altLang="en-US" b="0" kern="0"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2" fill="hold" nodeType="clickEffect">
                                  <p:stCondLst>
                                    <p:cond delay="0"/>
                                  </p:stCondLst>
                                  <p:childTnLst>
                                    <p:set>
                                      <p:cBhvr>
                                        <p:cTn id="6" dur="1" fill="hold">
                                          <p:stCondLst>
                                            <p:cond delay="0"/>
                                          </p:stCondLst>
                                        </p:cTn>
                                        <p:tgtEl>
                                          <p:spTgt spid="615427">
                                            <p:txEl>
                                              <p:pRg st="0" end="0"/>
                                            </p:txEl>
                                          </p:spTgt>
                                        </p:tgtEl>
                                        <p:attrNameLst>
                                          <p:attrName>style.visibility</p:attrName>
                                        </p:attrNameLst>
                                      </p:cBhvr>
                                      <p:to>
                                        <p:strVal val="visible"/>
                                      </p:to>
                                    </p:set>
                                    <p:animEffect transition="in" filter="slide(fromRight)">
                                      <p:cBhvr>
                                        <p:cTn id="7" dur="500"/>
                                        <p:tgtEl>
                                          <p:spTgt spid="6154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2" fill="hold" nodeType="clickEffect">
                                  <p:stCondLst>
                                    <p:cond delay="0"/>
                                  </p:stCondLst>
                                  <p:childTnLst>
                                    <p:set>
                                      <p:cBhvr>
                                        <p:cTn id="11" dur="1" fill="hold">
                                          <p:stCondLst>
                                            <p:cond delay="0"/>
                                          </p:stCondLst>
                                        </p:cTn>
                                        <p:tgtEl>
                                          <p:spTgt spid="615427">
                                            <p:txEl>
                                              <p:pRg st="1" end="1"/>
                                            </p:txEl>
                                          </p:spTgt>
                                        </p:tgtEl>
                                        <p:attrNameLst>
                                          <p:attrName>style.visibility</p:attrName>
                                        </p:attrNameLst>
                                      </p:cBhvr>
                                      <p:to>
                                        <p:strVal val="visible"/>
                                      </p:to>
                                    </p:set>
                                    <p:animEffect transition="in" filter="slide(fromRight)">
                                      <p:cBhvr>
                                        <p:cTn id="12" dur="500"/>
                                        <p:tgtEl>
                                          <p:spTgt spid="615427">
                                            <p:txEl>
                                              <p:pRg st="1" end="1"/>
                                            </p:txEl>
                                          </p:spTgt>
                                        </p:tgtEl>
                                      </p:cBhvr>
                                    </p:animEffect>
                                  </p:childTnLst>
                                </p:cTn>
                              </p:par>
                              <p:par>
                                <p:cTn id="13" presetID="12" presetClass="entr" presetSubtype="2" fill="hold" nodeType="withEffect">
                                  <p:stCondLst>
                                    <p:cond delay="0"/>
                                  </p:stCondLst>
                                  <p:childTnLst>
                                    <p:set>
                                      <p:cBhvr>
                                        <p:cTn id="14" dur="1" fill="hold">
                                          <p:stCondLst>
                                            <p:cond delay="0"/>
                                          </p:stCondLst>
                                        </p:cTn>
                                        <p:tgtEl>
                                          <p:spTgt spid="615427">
                                            <p:txEl>
                                              <p:pRg st="2" end="2"/>
                                            </p:txEl>
                                          </p:spTgt>
                                        </p:tgtEl>
                                        <p:attrNameLst>
                                          <p:attrName>style.visibility</p:attrName>
                                        </p:attrNameLst>
                                      </p:cBhvr>
                                      <p:to>
                                        <p:strVal val="visible"/>
                                      </p:to>
                                    </p:set>
                                    <p:animEffect transition="in" filter="slide(fromRight)">
                                      <p:cBhvr>
                                        <p:cTn id="15" dur="500"/>
                                        <p:tgtEl>
                                          <p:spTgt spid="615427">
                                            <p:txEl>
                                              <p:pRg st="2" end="2"/>
                                            </p:txEl>
                                          </p:spTgt>
                                        </p:tgtEl>
                                      </p:cBhvr>
                                    </p:animEffect>
                                  </p:childTnLst>
                                </p:cTn>
                              </p:par>
                              <p:par>
                                <p:cTn id="16" presetID="12" presetClass="entr" presetSubtype="2" fill="hold" nodeType="withEffect">
                                  <p:stCondLst>
                                    <p:cond delay="0"/>
                                  </p:stCondLst>
                                  <p:childTnLst>
                                    <p:set>
                                      <p:cBhvr>
                                        <p:cTn id="17" dur="1" fill="hold">
                                          <p:stCondLst>
                                            <p:cond delay="0"/>
                                          </p:stCondLst>
                                        </p:cTn>
                                        <p:tgtEl>
                                          <p:spTgt spid="615427">
                                            <p:txEl>
                                              <p:pRg st="3" end="3"/>
                                            </p:txEl>
                                          </p:spTgt>
                                        </p:tgtEl>
                                        <p:attrNameLst>
                                          <p:attrName>style.visibility</p:attrName>
                                        </p:attrNameLst>
                                      </p:cBhvr>
                                      <p:to>
                                        <p:strVal val="visible"/>
                                      </p:to>
                                    </p:set>
                                    <p:animEffect transition="in" filter="slide(fromRight)">
                                      <p:cBhvr>
                                        <p:cTn id="18" dur="500"/>
                                        <p:tgtEl>
                                          <p:spTgt spid="615427">
                                            <p:txEl>
                                              <p:pRg st="3" end="3"/>
                                            </p:txEl>
                                          </p:spTgt>
                                        </p:tgtEl>
                                      </p:cBhvr>
                                    </p:animEffect>
                                  </p:childTnLst>
                                </p:cTn>
                              </p:par>
                              <p:par>
                                <p:cTn id="19" presetID="12" presetClass="entr" presetSubtype="2" fill="hold" nodeType="withEffect">
                                  <p:stCondLst>
                                    <p:cond delay="0"/>
                                  </p:stCondLst>
                                  <p:childTnLst>
                                    <p:set>
                                      <p:cBhvr>
                                        <p:cTn id="20" dur="1" fill="hold">
                                          <p:stCondLst>
                                            <p:cond delay="0"/>
                                          </p:stCondLst>
                                        </p:cTn>
                                        <p:tgtEl>
                                          <p:spTgt spid="615427">
                                            <p:txEl>
                                              <p:pRg st="4" end="4"/>
                                            </p:txEl>
                                          </p:spTgt>
                                        </p:tgtEl>
                                        <p:attrNameLst>
                                          <p:attrName>style.visibility</p:attrName>
                                        </p:attrNameLst>
                                      </p:cBhvr>
                                      <p:to>
                                        <p:strVal val="visible"/>
                                      </p:to>
                                    </p:set>
                                    <p:animEffect transition="in" filter="slide(fromRight)">
                                      <p:cBhvr>
                                        <p:cTn id="21" dur="500"/>
                                        <p:tgtEl>
                                          <p:spTgt spid="6154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539750" y="836613"/>
            <a:ext cx="7793038" cy="1143000"/>
          </a:xfrm>
        </p:spPr>
        <p:txBody>
          <a:bodyPr/>
          <a:lstStyle/>
          <a:p>
            <a:pPr eaLnBrk="1" hangingPunct="1"/>
            <a:r>
              <a:rPr lang="en-US" altLang="zh-CN" sz="2800" smtClean="0">
                <a:solidFill>
                  <a:schemeClr val="tx1"/>
                </a:solidFill>
              </a:rPr>
              <a:t>2.</a:t>
            </a:r>
            <a:r>
              <a:rPr lang="zh-CN" altLang="en-US" sz="2800" smtClean="0">
                <a:solidFill>
                  <a:schemeClr val="tx1"/>
                </a:solidFill>
              </a:rPr>
              <a:t>修改多个元组的值</a:t>
            </a:r>
          </a:p>
        </p:txBody>
      </p:sp>
      <p:sp>
        <p:nvSpPr>
          <p:cNvPr id="617475" name="Rectangle 3"/>
          <p:cNvSpPr>
            <a:spLocks noGrp="1" noChangeArrowheads="1"/>
          </p:cNvSpPr>
          <p:nvPr>
            <p:ph type="body" idx="1"/>
          </p:nvPr>
        </p:nvSpPr>
        <p:spPr>
          <a:xfrm>
            <a:off x="684213" y="1557338"/>
            <a:ext cx="7561262" cy="4114800"/>
          </a:xfrm>
        </p:spPr>
        <p:txBody>
          <a:bodyPr/>
          <a:lstStyle/>
          <a:p>
            <a:pPr lvl="3" eaLnBrk="1" hangingPunct="1">
              <a:spcBef>
                <a:spcPts val="900"/>
              </a:spcBef>
              <a:spcAft>
                <a:spcPts val="850"/>
              </a:spcAft>
            </a:pPr>
            <a:endParaRPr lang="en-US" altLang="zh-CN" sz="2400" smtClean="0">
              <a:latin typeface="黑体" pitchFamily="49" charset="-122"/>
              <a:ea typeface="黑体" pitchFamily="49" charset="-122"/>
            </a:endParaRPr>
          </a:p>
          <a:p>
            <a:pPr algn="just" eaLnBrk="1" hangingPunct="1">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5]  </a:t>
            </a:r>
            <a:r>
              <a:rPr lang="zh-CN" altLang="en-US" sz="2400" smtClean="0">
                <a:latin typeface="黑体" pitchFamily="49" charset="-122"/>
                <a:ea typeface="黑体" pitchFamily="49" charset="-122"/>
              </a:rPr>
              <a:t>将信息学院所有学生的年龄增加</a:t>
            </a:r>
            <a:r>
              <a:rPr lang="en-US" altLang="zh-CN" sz="2400" smtClean="0">
                <a:latin typeface="黑体" pitchFamily="49" charset="-122"/>
                <a:ea typeface="黑体" pitchFamily="49" charset="-122"/>
              </a:rPr>
              <a:t>1</a:t>
            </a:r>
            <a:r>
              <a:rPr lang="zh-CN" altLang="en-US" sz="2400" smtClean="0">
                <a:latin typeface="黑体" pitchFamily="49" charset="-122"/>
                <a:ea typeface="黑体" pitchFamily="49" charset="-122"/>
              </a:rPr>
              <a:t>岁。</a:t>
            </a:r>
          </a:p>
          <a:p>
            <a:pPr algn="just" eaLnBrk="1" hangingPunct="1">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UPDATE S</a:t>
            </a:r>
          </a:p>
          <a:p>
            <a:pPr algn="just" eaLnBrk="1" hangingPunct="1">
              <a:buFont typeface="Wingdings" pitchFamily="2" charset="2"/>
              <a:buNone/>
            </a:pPr>
            <a:r>
              <a:rPr lang="en-US" altLang="zh-CN" sz="2400" smtClean="0">
                <a:latin typeface="黑体" pitchFamily="49" charset="-122"/>
                <a:ea typeface="黑体" pitchFamily="49" charset="-122"/>
              </a:rPr>
              <a:t>         SET Sbirth=Sbirht-365</a:t>
            </a:r>
          </a:p>
          <a:p>
            <a:pPr algn="just" eaLnBrk="1" hangingPunct="1">
              <a:buFont typeface="Wingdings" pitchFamily="2" charset="2"/>
              <a:buNone/>
            </a:pPr>
            <a:r>
              <a:rPr lang="en-US" altLang="zh-CN" sz="2400" smtClean="0">
                <a:latin typeface="黑体" pitchFamily="49" charset="-122"/>
                <a:ea typeface="黑体" pitchFamily="49" charset="-122"/>
              </a:rPr>
              <a:t>         WHERE College= </a:t>
            </a:r>
            <a:r>
              <a:rPr lang="en-US" altLang="zh-CN" sz="2400" smtClean="0">
                <a:ea typeface="黑体" pitchFamily="49" charset="-122"/>
              </a:rPr>
              <a:t>‘</a:t>
            </a:r>
            <a:r>
              <a:rPr lang="zh-CN" altLang="en-US" sz="2400" smtClean="0">
                <a:latin typeface="黑体" pitchFamily="49" charset="-122"/>
                <a:ea typeface="黑体" pitchFamily="49" charset="-122"/>
              </a:rPr>
              <a:t>信息</a:t>
            </a:r>
            <a:r>
              <a:rPr lang="zh-CN" altLang="en-US" sz="2400" smtClean="0">
                <a:ea typeface="黑体" pitchFamily="49" charset="-122"/>
              </a:rPr>
              <a:t>’</a:t>
            </a:r>
            <a:r>
              <a:rPr lang="en-US" altLang="zh-CN" sz="2400" smtClean="0">
                <a:latin typeface="黑体" pitchFamily="49" charset="-122"/>
                <a:ea typeface="黑体" pitchFamily="49" charset="-122"/>
              </a:rPr>
              <a:t>;</a:t>
            </a:r>
          </a:p>
          <a:p>
            <a:pPr algn="just" eaLnBrk="1" hangingPunct="1">
              <a:buFont typeface="Wingdings" pitchFamily="2" charset="2"/>
              <a:buNone/>
            </a:pPr>
            <a:r>
              <a:rPr lang="en-US" altLang="zh-CN" sz="2400" smtClean="0">
                <a:latin typeface="黑体" pitchFamily="49" charset="-122"/>
                <a:ea typeface="黑体" pitchFamily="49" charset="-122"/>
              </a:rPr>
              <a:t>         COMMIT;</a:t>
            </a:r>
            <a:endParaRPr lang="zh-CN" altLang="en-US" sz="2400" smtClean="0">
              <a:latin typeface="黑体" pitchFamily="49" charset="-122"/>
              <a:ea typeface="黑体" pitchFamily="49" charset="-122"/>
            </a:endParaRPr>
          </a:p>
        </p:txBody>
      </p:sp>
      <p:sp>
        <p:nvSpPr>
          <p:cNvPr id="4" name="Rectangle 2"/>
          <p:cNvSpPr txBox="1">
            <a:spLocks noChangeArrowheads="1"/>
          </p:cNvSpPr>
          <p:nvPr/>
        </p:nvSpPr>
        <p:spPr bwMode="auto">
          <a:xfrm>
            <a:off x="827088" y="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smtClean="0"/>
              <a:t>3.5.2  </a:t>
            </a:r>
            <a:r>
              <a:rPr lang="zh-CN" altLang="en-US" b="0" kern="0" smtClean="0"/>
              <a:t>修改数据</a:t>
            </a:r>
            <a:endParaRPr lang="zh-CN" altLang="en-US" b="0" kern="0"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2" fill="hold" nodeType="clickEffect">
                                  <p:stCondLst>
                                    <p:cond delay="0"/>
                                  </p:stCondLst>
                                  <p:childTnLst>
                                    <p:set>
                                      <p:cBhvr>
                                        <p:cTn id="6" dur="1" fill="hold">
                                          <p:stCondLst>
                                            <p:cond delay="0"/>
                                          </p:stCondLst>
                                        </p:cTn>
                                        <p:tgtEl>
                                          <p:spTgt spid="617475">
                                            <p:txEl>
                                              <p:pRg st="1" end="1"/>
                                            </p:txEl>
                                          </p:spTgt>
                                        </p:tgtEl>
                                        <p:attrNameLst>
                                          <p:attrName>style.visibility</p:attrName>
                                        </p:attrNameLst>
                                      </p:cBhvr>
                                      <p:to>
                                        <p:strVal val="visible"/>
                                      </p:to>
                                    </p:set>
                                    <p:animEffect transition="in" filter="slide(fromRight)">
                                      <p:cBhvr>
                                        <p:cTn id="7" dur="500"/>
                                        <p:tgtEl>
                                          <p:spTgt spid="61747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2" fill="hold" nodeType="clickEffect">
                                  <p:stCondLst>
                                    <p:cond delay="0"/>
                                  </p:stCondLst>
                                  <p:childTnLst>
                                    <p:set>
                                      <p:cBhvr>
                                        <p:cTn id="11" dur="1" fill="hold">
                                          <p:stCondLst>
                                            <p:cond delay="0"/>
                                          </p:stCondLst>
                                        </p:cTn>
                                        <p:tgtEl>
                                          <p:spTgt spid="617475">
                                            <p:txEl>
                                              <p:pRg st="2" end="2"/>
                                            </p:txEl>
                                          </p:spTgt>
                                        </p:tgtEl>
                                        <p:attrNameLst>
                                          <p:attrName>style.visibility</p:attrName>
                                        </p:attrNameLst>
                                      </p:cBhvr>
                                      <p:to>
                                        <p:strVal val="visible"/>
                                      </p:to>
                                    </p:set>
                                    <p:animEffect transition="in" filter="slide(fromRight)">
                                      <p:cBhvr>
                                        <p:cTn id="12" dur="500"/>
                                        <p:tgtEl>
                                          <p:spTgt spid="617475">
                                            <p:txEl>
                                              <p:pRg st="2" end="2"/>
                                            </p:txEl>
                                          </p:spTgt>
                                        </p:tgtEl>
                                      </p:cBhvr>
                                    </p:animEffect>
                                  </p:childTnLst>
                                </p:cTn>
                              </p:par>
                              <p:par>
                                <p:cTn id="13" presetID="12" presetClass="entr" presetSubtype="2" fill="hold" nodeType="withEffect">
                                  <p:stCondLst>
                                    <p:cond delay="0"/>
                                  </p:stCondLst>
                                  <p:childTnLst>
                                    <p:set>
                                      <p:cBhvr>
                                        <p:cTn id="14" dur="1" fill="hold">
                                          <p:stCondLst>
                                            <p:cond delay="0"/>
                                          </p:stCondLst>
                                        </p:cTn>
                                        <p:tgtEl>
                                          <p:spTgt spid="617475">
                                            <p:txEl>
                                              <p:pRg st="3" end="3"/>
                                            </p:txEl>
                                          </p:spTgt>
                                        </p:tgtEl>
                                        <p:attrNameLst>
                                          <p:attrName>style.visibility</p:attrName>
                                        </p:attrNameLst>
                                      </p:cBhvr>
                                      <p:to>
                                        <p:strVal val="visible"/>
                                      </p:to>
                                    </p:set>
                                    <p:animEffect transition="in" filter="slide(fromRight)">
                                      <p:cBhvr>
                                        <p:cTn id="15" dur="500"/>
                                        <p:tgtEl>
                                          <p:spTgt spid="617475">
                                            <p:txEl>
                                              <p:pRg st="3" end="3"/>
                                            </p:txEl>
                                          </p:spTgt>
                                        </p:tgtEl>
                                      </p:cBhvr>
                                    </p:animEffect>
                                  </p:childTnLst>
                                </p:cTn>
                              </p:par>
                              <p:par>
                                <p:cTn id="16" presetID="12" presetClass="entr" presetSubtype="2" fill="hold" nodeType="withEffect">
                                  <p:stCondLst>
                                    <p:cond delay="0"/>
                                  </p:stCondLst>
                                  <p:childTnLst>
                                    <p:set>
                                      <p:cBhvr>
                                        <p:cTn id="17" dur="1" fill="hold">
                                          <p:stCondLst>
                                            <p:cond delay="0"/>
                                          </p:stCondLst>
                                        </p:cTn>
                                        <p:tgtEl>
                                          <p:spTgt spid="617475">
                                            <p:txEl>
                                              <p:pRg st="4" end="4"/>
                                            </p:txEl>
                                          </p:spTgt>
                                        </p:tgtEl>
                                        <p:attrNameLst>
                                          <p:attrName>style.visibility</p:attrName>
                                        </p:attrNameLst>
                                      </p:cBhvr>
                                      <p:to>
                                        <p:strVal val="visible"/>
                                      </p:to>
                                    </p:set>
                                    <p:animEffect transition="in" filter="slide(fromRight)">
                                      <p:cBhvr>
                                        <p:cTn id="18" dur="500"/>
                                        <p:tgtEl>
                                          <p:spTgt spid="617475">
                                            <p:txEl>
                                              <p:pRg st="4" end="4"/>
                                            </p:txEl>
                                          </p:spTgt>
                                        </p:tgtEl>
                                      </p:cBhvr>
                                    </p:animEffect>
                                  </p:childTnLst>
                                </p:cTn>
                              </p:par>
                              <p:par>
                                <p:cTn id="19" presetID="12" presetClass="entr" presetSubtype="2" fill="hold" nodeType="withEffect">
                                  <p:stCondLst>
                                    <p:cond delay="0"/>
                                  </p:stCondLst>
                                  <p:childTnLst>
                                    <p:set>
                                      <p:cBhvr>
                                        <p:cTn id="20" dur="1" fill="hold">
                                          <p:stCondLst>
                                            <p:cond delay="0"/>
                                          </p:stCondLst>
                                        </p:cTn>
                                        <p:tgtEl>
                                          <p:spTgt spid="617475">
                                            <p:txEl>
                                              <p:pRg st="5" end="5"/>
                                            </p:txEl>
                                          </p:spTgt>
                                        </p:tgtEl>
                                        <p:attrNameLst>
                                          <p:attrName>style.visibility</p:attrName>
                                        </p:attrNameLst>
                                      </p:cBhvr>
                                      <p:to>
                                        <p:strVal val="visible"/>
                                      </p:to>
                                    </p:set>
                                    <p:animEffect transition="in" filter="slide(fromRight)">
                                      <p:cBhvr>
                                        <p:cTn id="21" dur="500"/>
                                        <p:tgtEl>
                                          <p:spTgt spid="6174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395288" y="981075"/>
            <a:ext cx="7793037" cy="1143000"/>
          </a:xfrm>
        </p:spPr>
        <p:txBody>
          <a:bodyPr/>
          <a:lstStyle/>
          <a:p>
            <a:pPr eaLnBrk="1" hangingPunct="1"/>
            <a:r>
              <a:rPr lang="en-US" altLang="zh-CN" sz="2800" smtClean="0">
                <a:solidFill>
                  <a:schemeClr val="tx1"/>
                </a:solidFill>
              </a:rPr>
              <a:t>3. </a:t>
            </a:r>
            <a:r>
              <a:rPr lang="zh-CN" altLang="en-US" sz="2800" smtClean="0">
                <a:solidFill>
                  <a:schemeClr val="tx1"/>
                </a:solidFill>
              </a:rPr>
              <a:t>带子查询的修改语句</a:t>
            </a:r>
          </a:p>
        </p:txBody>
      </p:sp>
      <p:sp>
        <p:nvSpPr>
          <p:cNvPr id="618499" name="Rectangle 3"/>
          <p:cNvSpPr>
            <a:spLocks noGrp="1" noChangeArrowheads="1"/>
          </p:cNvSpPr>
          <p:nvPr>
            <p:ph type="body" idx="1"/>
          </p:nvPr>
        </p:nvSpPr>
        <p:spPr>
          <a:xfrm>
            <a:off x="611188" y="2060575"/>
            <a:ext cx="7772400" cy="4114800"/>
          </a:xfrm>
        </p:spPr>
        <p:txBody>
          <a:bodyPr/>
          <a:lstStyle/>
          <a:p>
            <a:pPr eaLnBrk="1" hangingPunct="1">
              <a:lnSpc>
                <a:spcPct val="90000"/>
              </a:lnSpc>
              <a:spcBef>
                <a:spcPts val="900"/>
              </a:spcBef>
              <a:spcAft>
                <a:spcPts val="850"/>
              </a:spcAft>
              <a:buFont typeface="Wingdings" pitchFamily="2" charset="2"/>
              <a:buNone/>
            </a:pPr>
            <a:r>
              <a:rPr lang="en-US" altLang="zh-CN" sz="2400" smtClean="0"/>
              <a:t>[</a:t>
            </a:r>
            <a:r>
              <a:rPr lang="zh-CN" altLang="en-US" sz="2400" smtClean="0">
                <a:ea typeface="黑体" pitchFamily="49" charset="-122"/>
              </a:rPr>
              <a:t>例</a:t>
            </a:r>
            <a:r>
              <a:rPr lang="en-US" altLang="zh-CN" sz="2400" smtClean="0">
                <a:ea typeface="黑体" pitchFamily="49" charset="-122"/>
              </a:rPr>
              <a:t>6</a:t>
            </a:r>
            <a:r>
              <a:rPr lang="en-US" altLang="zh-CN" sz="2400" smtClean="0"/>
              <a:t>]  </a:t>
            </a:r>
            <a:r>
              <a:rPr lang="zh-CN" altLang="en-US" sz="2400" smtClean="0">
                <a:ea typeface="黑体" pitchFamily="49" charset="-122"/>
              </a:rPr>
              <a:t>将信息学院全体学生的成绩置</a:t>
            </a:r>
            <a:r>
              <a:rPr lang="en-US" altLang="zh-CN" sz="2400" smtClean="0">
                <a:ea typeface="黑体" pitchFamily="49" charset="-122"/>
              </a:rPr>
              <a:t>100</a:t>
            </a:r>
            <a:r>
              <a:rPr lang="zh-CN" altLang="en-US" sz="2400" smtClean="0">
                <a:ea typeface="黑体" pitchFamily="49" charset="-122"/>
              </a:rPr>
              <a:t>。</a:t>
            </a:r>
          </a:p>
          <a:p>
            <a:pPr eaLnBrk="1" hangingPunct="1">
              <a:lnSpc>
                <a:spcPct val="90000"/>
              </a:lnSpc>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Update sc</a:t>
            </a:r>
          </a:p>
          <a:p>
            <a:pPr eaLnBrk="1" hangingPunct="1">
              <a:lnSpc>
                <a:spcPct val="90000"/>
              </a:lnSpc>
              <a:buFont typeface="Wingdings" pitchFamily="2" charset="2"/>
              <a:buNone/>
            </a:pPr>
            <a:r>
              <a:rPr lang="en-US" altLang="zh-CN" sz="2400" smtClean="0">
                <a:latin typeface="黑体" pitchFamily="49" charset="-122"/>
                <a:ea typeface="黑体" pitchFamily="49" charset="-122"/>
              </a:rPr>
              <a:t>      set grade=100</a:t>
            </a:r>
          </a:p>
          <a:p>
            <a:pPr eaLnBrk="1" hangingPunct="1">
              <a:lnSpc>
                <a:spcPct val="90000"/>
              </a:lnSpc>
              <a:buFont typeface="Wingdings" pitchFamily="2" charset="2"/>
              <a:buNone/>
            </a:pPr>
            <a:r>
              <a:rPr lang="en-US" altLang="zh-CN" sz="2400" smtClean="0">
                <a:latin typeface="黑体" pitchFamily="49" charset="-122"/>
                <a:ea typeface="黑体" pitchFamily="49" charset="-122"/>
              </a:rPr>
              <a:t>      where sno in</a:t>
            </a:r>
          </a:p>
          <a:p>
            <a:pPr eaLnBrk="1" hangingPunct="1">
              <a:lnSpc>
                <a:spcPct val="90000"/>
              </a:lnSpc>
              <a:buFont typeface="Wingdings" pitchFamily="2" charset="2"/>
              <a:buNone/>
            </a:pPr>
            <a:r>
              <a:rPr lang="en-US" altLang="zh-CN" sz="2400" smtClean="0">
                <a:latin typeface="黑体" pitchFamily="49" charset="-122"/>
                <a:ea typeface="黑体" pitchFamily="49" charset="-122"/>
              </a:rPr>
              <a:t>           (select sno</a:t>
            </a:r>
          </a:p>
          <a:p>
            <a:pPr eaLnBrk="1" hangingPunct="1">
              <a:lnSpc>
                <a:spcPct val="90000"/>
              </a:lnSpc>
              <a:buFont typeface="Wingdings" pitchFamily="2" charset="2"/>
              <a:buNone/>
            </a:pPr>
            <a:r>
              <a:rPr lang="en-US" altLang="zh-CN" sz="2400" smtClean="0">
                <a:latin typeface="黑体" pitchFamily="49" charset="-122"/>
                <a:ea typeface="黑体" pitchFamily="49" charset="-122"/>
              </a:rPr>
              <a:t>            from s</a:t>
            </a:r>
          </a:p>
          <a:p>
            <a:pPr eaLnBrk="1" hangingPunct="1">
              <a:lnSpc>
                <a:spcPct val="90000"/>
              </a:lnSpc>
              <a:buFont typeface="Wingdings" pitchFamily="2" charset="2"/>
              <a:buNone/>
            </a:pPr>
            <a:r>
              <a:rPr lang="en-US" altLang="zh-CN" sz="2400" smtClean="0">
                <a:latin typeface="黑体" pitchFamily="49" charset="-122"/>
                <a:ea typeface="黑体" pitchFamily="49" charset="-122"/>
              </a:rPr>
              <a:t>            where College=</a:t>
            </a:r>
            <a:r>
              <a:rPr lang="en-US" altLang="zh-CN" sz="2400" smtClean="0">
                <a:ea typeface="黑体" pitchFamily="49" charset="-122"/>
              </a:rPr>
              <a:t>‘</a:t>
            </a:r>
            <a:r>
              <a:rPr lang="zh-CN" altLang="en-US" sz="2400" smtClean="0">
                <a:latin typeface="黑体" pitchFamily="49" charset="-122"/>
                <a:ea typeface="黑体" pitchFamily="49" charset="-122"/>
              </a:rPr>
              <a:t>信息</a:t>
            </a:r>
            <a:r>
              <a:rPr lang="zh-CN" altLang="en-US" sz="2400" smtClean="0">
                <a:ea typeface="黑体" pitchFamily="49" charset="-122"/>
              </a:rPr>
              <a:t>’</a:t>
            </a:r>
            <a:r>
              <a:rPr lang="en-US" altLang="zh-CN" sz="2400" smtClean="0">
                <a:latin typeface="黑体" pitchFamily="49" charset="-122"/>
                <a:ea typeface="黑体" pitchFamily="49" charset="-122"/>
              </a:rPr>
              <a:t>)</a:t>
            </a:r>
          </a:p>
          <a:p>
            <a:pPr eaLnBrk="1" hangingPunct="1">
              <a:lnSpc>
                <a:spcPct val="90000"/>
              </a:lnSpc>
              <a:buFont typeface="Wingdings" pitchFamily="2" charset="2"/>
              <a:buNone/>
            </a:pPr>
            <a:r>
              <a:rPr lang="en-US" altLang="zh-CN" sz="2400" smtClean="0">
                <a:latin typeface="黑体" pitchFamily="49" charset="-122"/>
                <a:ea typeface="黑体" pitchFamily="49" charset="-122"/>
              </a:rPr>
              <a:t>      COMMIT;</a:t>
            </a:r>
          </a:p>
        </p:txBody>
      </p:sp>
      <p:sp>
        <p:nvSpPr>
          <p:cNvPr id="4" name="Rectangle 2"/>
          <p:cNvSpPr txBox="1">
            <a:spLocks noChangeArrowheads="1"/>
          </p:cNvSpPr>
          <p:nvPr/>
        </p:nvSpPr>
        <p:spPr bwMode="auto">
          <a:xfrm>
            <a:off x="827088" y="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smtClean="0"/>
              <a:t>3.5.2  </a:t>
            </a:r>
            <a:r>
              <a:rPr lang="zh-CN" altLang="en-US" b="0" kern="0" smtClean="0"/>
              <a:t>修改数据</a:t>
            </a:r>
            <a:endParaRPr lang="zh-CN" altLang="en-US" b="0" kern="0"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18499">
                                            <p:txEl>
                                              <p:pRg st="4" end="4"/>
                                            </p:txEl>
                                          </p:spTgt>
                                        </p:tgtEl>
                                        <p:attrNameLst>
                                          <p:attrName>style.visibility</p:attrName>
                                        </p:attrNameLst>
                                      </p:cBhvr>
                                      <p:to>
                                        <p:strVal val="visible"/>
                                      </p:to>
                                    </p:set>
                                    <p:anim calcmode="lin" valueType="num">
                                      <p:cBhvr additive="base">
                                        <p:cTn id="7" dur="500" fill="hold"/>
                                        <p:tgtEl>
                                          <p:spTgt spid="618499">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8499">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18499">
                                            <p:txEl>
                                              <p:pRg st="5" end="5"/>
                                            </p:txEl>
                                          </p:spTgt>
                                        </p:tgtEl>
                                        <p:attrNameLst>
                                          <p:attrName>style.visibility</p:attrName>
                                        </p:attrNameLst>
                                      </p:cBhvr>
                                      <p:to>
                                        <p:strVal val="visible"/>
                                      </p:to>
                                    </p:set>
                                    <p:anim calcmode="lin" valueType="num">
                                      <p:cBhvr additive="base">
                                        <p:cTn id="11" dur="500" fill="hold"/>
                                        <p:tgtEl>
                                          <p:spTgt spid="618499">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18499">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18499">
                                            <p:txEl>
                                              <p:pRg st="6" end="6"/>
                                            </p:txEl>
                                          </p:spTgt>
                                        </p:tgtEl>
                                        <p:attrNameLst>
                                          <p:attrName>style.visibility</p:attrName>
                                        </p:attrNameLst>
                                      </p:cBhvr>
                                      <p:to>
                                        <p:strVal val="visible"/>
                                      </p:to>
                                    </p:set>
                                    <p:anim calcmode="lin" valueType="num">
                                      <p:cBhvr additive="base">
                                        <p:cTn id="15" dur="500" fill="hold"/>
                                        <p:tgtEl>
                                          <p:spTgt spid="618499">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18499">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18499">
                                            <p:txEl>
                                              <p:pRg st="7" end="7"/>
                                            </p:txEl>
                                          </p:spTgt>
                                        </p:tgtEl>
                                        <p:attrNameLst>
                                          <p:attrName>style.visibility</p:attrName>
                                        </p:attrNameLst>
                                      </p:cBhvr>
                                      <p:to>
                                        <p:strVal val="visible"/>
                                      </p:to>
                                    </p:set>
                                    <p:anim calcmode="lin" valueType="num">
                                      <p:cBhvr additive="base">
                                        <p:cTn id="19" dur="500" fill="hold"/>
                                        <p:tgtEl>
                                          <p:spTgt spid="618499">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849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18499">
                                            <p:txEl>
                                              <p:pRg st="1" end="1"/>
                                            </p:txEl>
                                          </p:spTgt>
                                        </p:tgtEl>
                                        <p:attrNameLst>
                                          <p:attrName>style.visibility</p:attrName>
                                        </p:attrNameLst>
                                      </p:cBhvr>
                                      <p:to>
                                        <p:strVal val="visible"/>
                                      </p:to>
                                    </p:set>
                                    <p:anim calcmode="lin" valueType="num">
                                      <p:cBhvr additive="base">
                                        <p:cTn id="25" dur="500" fill="hold"/>
                                        <p:tgtEl>
                                          <p:spTgt spid="618499">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18499">
                                            <p:txEl>
                                              <p:pRg st="1" end="1"/>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18499">
                                            <p:txEl>
                                              <p:pRg st="2" end="2"/>
                                            </p:txEl>
                                          </p:spTgt>
                                        </p:tgtEl>
                                        <p:attrNameLst>
                                          <p:attrName>style.visibility</p:attrName>
                                        </p:attrNameLst>
                                      </p:cBhvr>
                                      <p:to>
                                        <p:strVal val="visible"/>
                                      </p:to>
                                    </p:set>
                                    <p:anim calcmode="lin" valueType="num">
                                      <p:cBhvr additive="base">
                                        <p:cTn id="29" dur="500" fill="hold"/>
                                        <p:tgtEl>
                                          <p:spTgt spid="618499">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18499">
                                            <p:txEl>
                                              <p:pRg st="2" end="2"/>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18499">
                                            <p:txEl>
                                              <p:pRg st="3" end="3"/>
                                            </p:txEl>
                                          </p:spTgt>
                                        </p:tgtEl>
                                        <p:attrNameLst>
                                          <p:attrName>style.visibility</p:attrName>
                                        </p:attrNameLst>
                                      </p:cBhvr>
                                      <p:to>
                                        <p:strVal val="visible"/>
                                      </p:to>
                                    </p:set>
                                    <p:anim calcmode="lin" valueType="num">
                                      <p:cBhvr additive="base">
                                        <p:cTn id="33" dur="500" fill="hold"/>
                                        <p:tgtEl>
                                          <p:spTgt spid="618499">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1849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827088" y="0"/>
            <a:ext cx="7793037" cy="1143000"/>
          </a:xfrm>
        </p:spPr>
        <p:txBody>
          <a:bodyPr/>
          <a:lstStyle/>
          <a:p>
            <a:pPr eaLnBrk="1" hangingPunct="1"/>
            <a:r>
              <a:rPr lang="en-US" altLang="zh-CN" smtClean="0"/>
              <a:t>3.5  </a:t>
            </a:r>
            <a:r>
              <a:rPr lang="zh-CN" altLang="en-US" smtClean="0"/>
              <a:t>数 据 更 新 </a:t>
            </a:r>
          </a:p>
        </p:txBody>
      </p:sp>
      <p:sp>
        <p:nvSpPr>
          <p:cNvPr id="133123" name="Rectangle 3"/>
          <p:cNvSpPr>
            <a:spLocks noGrp="1" noChangeArrowheads="1"/>
          </p:cNvSpPr>
          <p:nvPr>
            <p:ph type="body" idx="1"/>
          </p:nvPr>
        </p:nvSpPr>
        <p:spPr>
          <a:xfrm>
            <a:off x="1258888" y="1916113"/>
            <a:ext cx="6121400" cy="3960812"/>
          </a:xfrm>
        </p:spPr>
        <p:txBody>
          <a:bodyPr/>
          <a:lstStyle/>
          <a:p>
            <a:pPr algn="just" eaLnBrk="1" hangingPunct="1">
              <a:lnSpc>
                <a:spcPct val="130000"/>
              </a:lnSpc>
              <a:buFont typeface="Wingdings" pitchFamily="2" charset="2"/>
              <a:buNone/>
            </a:pPr>
            <a:r>
              <a:rPr lang="en-US" altLang="zh-CN" smtClean="0">
                <a:latin typeface="黑体" pitchFamily="49" charset="-122"/>
                <a:ea typeface="黑体" pitchFamily="49" charset="-122"/>
              </a:rPr>
              <a:t>3.5.1  </a:t>
            </a:r>
            <a:r>
              <a:rPr lang="zh-CN" altLang="en-US" smtClean="0">
                <a:latin typeface="黑体" pitchFamily="49" charset="-122"/>
                <a:ea typeface="黑体" pitchFamily="49" charset="-122"/>
              </a:rPr>
              <a:t>插入数据</a:t>
            </a:r>
          </a:p>
          <a:p>
            <a:pPr algn="just" eaLnBrk="1" hangingPunct="1">
              <a:lnSpc>
                <a:spcPct val="130000"/>
              </a:lnSpc>
              <a:buFont typeface="Wingdings" pitchFamily="2" charset="2"/>
              <a:buNone/>
            </a:pPr>
            <a:r>
              <a:rPr lang="en-US" altLang="zh-CN" smtClean="0">
                <a:latin typeface="黑体" pitchFamily="49" charset="-122"/>
                <a:ea typeface="黑体" pitchFamily="49" charset="-122"/>
              </a:rPr>
              <a:t>3.5.2  </a:t>
            </a:r>
            <a:r>
              <a:rPr lang="zh-CN" altLang="en-US" smtClean="0">
                <a:latin typeface="黑体" pitchFamily="49" charset="-122"/>
                <a:ea typeface="黑体" pitchFamily="49" charset="-122"/>
              </a:rPr>
              <a:t>修改数据</a:t>
            </a:r>
          </a:p>
          <a:p>
            <a:pPr eaLnBrk="1" hangingPunct="1">
              <a:lnSpc>
                <a:spcPct val="130000"/>
              </a:lnSpc>
              <a:buFont typeface="Wingdings" pitchFamily="2" charset="2"/>
              <a:buNone/>
            </a:pPr>
            <a:r>
              <a:rPr lang="en-US" altLang="zh-CN" smtClean="0">
                <a:solidFill>
                  <a:srgbClr val="FF0000"/>
                </a:solidFill>
                <a:latin typeface="黑体" pitchFamily="49" charset="-122"/>
                <a:ea typeface="黑体" pitchFamily="49" charset="-122"/>
              </a:rPr>
              <a:t>3.5.3  </a:t>
            </a:r>
            <a:r>
              <a:rPr lang="zh-CN" altLang="en-US" smtClean="0">
                <a:solidFill>
                  <a:srgbClr val="FF0000"/>
                </a:solidFill>
                <a:latin typeface="黑体" pitchFamily="49" charset="-122"/>
                <a:ea typeface="黑体" pitchFamily="49" charset="-122"/>
              </a:rPr>
              <a:t>删除数据 </a:t>
            </a:r>
          </a:p>
        </p:txBody>
      </p:sp>
    </p:spTree>
  </p:cSld>
  <p:clrMapOvr>
    <a:masterClrMapping/>
  </p:clrMapOvr>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a:xfrm>
            <a:off x="755650" y="71438"/>
            <a:ext cx="7793038" cy="909637"/>
          </a:xfrm>
        </p:spPr>
        <p:txBody>
          <a:bodyPr/>
          <a:lstStyle/>
          <a:p>
            <a:pPr eaLnBrk="1" hangingPunct="1"/>
            <a:r>
              <a:rPr lang="en-US" altLang="zh-CN" smtClean="0"/>
              <a:t>3.5.3  </a:t>
            </a:r>
            <a:r>
              <a:rPr lang="zh-CN" altLang="en-US" smtClean="0"/>
              <a:t>删除数据</a:t>
            </a:r>
          </a:p>
        </p:txBody>
      </p:sp>
      <p:sp>
        <p:nvSpPr>
          <p:cNvPr id="134147" name="Rectangle 3"/>
          <p:cNvSpPr>
            <a:spLocks noGrp="1" noChangeArrowheads="1"/>
          </p:cNvSpPr>
          <p:nvPr>
            <p:ph type="body" idx="1"/>
          </p:nvPr>
        </p:nvSpPr>
        <p:spPr>
          <a:xfrm>
            <a:off x="755650" y="1557338"/>
            <a:ext cx="7772400" cy="4679950"/>
          </a:xfrm>
        </p:spPr>
        <p:txBody>
          <a:bodyPr/>
          <a:lstStyle/>
          <a:p>
            <a:pPr algn="just" eaLnBrk="1" hangingPunct="1">
              <a:buFont typeface="Wingdings" pitchFamily="2" charset="2"/>
              <a:buNone/>
            </a:pPr>
            <a:r>
              <a:rPr lang="en-US" altLang="zh-CN" sz="2800" smtClean="0">
                <a:latin typeface="黑体" pitchFamily="49" charset="-122"/>
                <a:ea typeface="黑体" pitchFamily="49" charset="-122"/>
              </a:rPr>
              <a:t>   DELETE</a:t>
            </a:r>
          </a:p>
          <a:p>
            <a:pPr algn="just" eaLnBrk="1" hangingPunct="1">
              <a:buFont typeface="Wingdings" pitchFamily="2" charset="2"/>
              <a:buNone/>
            </a:pPr>
            <a:r>
              <a:rPr lang="en-US" altLang="zh-CN" sz="2800" smtClean="0">
                <a:latin typeface="黑体" pitchFamily="49" charset="-122"/>
                <a:ea typeface="黑体" pitchFamily="49" charset="-122"/>
              </a:rPr>
              <a:t>   FROM &lt;</a:t>
            </a:r>
            <a:r>
              <a:rPr lang="zh-CN" altLang="en-US" sz="2800" smtClean="0">
                <a:latin typeface="黑体" pitchFamily="49" charset="-122"/>
                <a:ea typeface="黑体" pitchFamily="49" charset="-122"/>
              </a:rPr>
              <a:t>表名</a:t>
            </a:r>
            <a:r>
              <a:rPr lang="en-US" altLang="zh-CN" sz="2800" smtClean="0">
                <a:latin typeface="黑体" pitchFamily="49" charset="-122"/>
                <a:ea typeface="黑体" pitchFamily="49" charset="-122"/>
              </a:rPr>
              <a:t>&gt;</a:t>
            </a:r>
          </a:p>
          <a:p>
            <a:pPr algn="just" eaLnBrk="1" hangingPunct="1">
              <a:buFont typeface="Wingdings" pitchFamily="2" charset="2"/>
              <a:buNone/>
            </a:pPr>
            <a:r>
              <a:rPr lang="en-US" altLang="zh-CN" sz="2800" smtClean="0">
                <a:latin typeface="黑体" pitchFamily="49" charset="-122"/>
                <a:ea typeface="黑体" pitchFamily="49" charset="-122"/>
              </a:rPr>
              <a:t>   [WHERE &lt;</a:t>
            </a:r>
            <a:r>
              <a:rPr lang="zh-CN" altLang="en-US" sz="2800" smtClean="0">
                <a:latin typeface="黑体" pitchFamily="49" charset="-122"/>
                <a:ea typeface="黑体" pitchFamily="49" charset="-122"/>
              </a:rPr>
              <a:t>条件</a:t>
            </a:r>
            <a:r>
              <a:rPr lang="en-US" altLang="zh-CN" sz="2800" smtClean="0">
                <a:latin typeface="黑体" pitchFamily="49" charset="-122"/>
                <a:ea typeface="黑体" pitchFamily="49" charset="-122"/>
              </a:rPr>
              <a:t>&gt;]</a:t>
            </a:r>
            <a:r>
              <a:rPr lang="zh-CN" altLang="en-US" sz="2800" smtClean="0">
                <a:latin typeface="黑体" pitchFamily="49" charset="-122"/>
                <a:ea typeface="黑体" pitchFamily="49" charset="-122"/>
              </a:rPr>
              <a:t>；</a:t>
            </a:r>
          </a:p>
          <a:p>
            <a:pPr algn="just" eaLnBrk="1" hangingPunct="1">
              <a:buFontTx/>
              <a:buChar char="–"/>
            </a:pPr>
            <a:r>
              <a:rPr lang="zh-CN" altLang="en-US" sz="2800" smtClean="0">
                <a:latin typeface="黑体" pitchFamily="49" charset="-122"/>
                <a:ea typeface="黑体" pitchFamily="49" charset="-122"/>
              </a:rPr>
              <a:t>功能</a:t>
            </a:r>
          </a:p>
          <a:p>
            <a:pPr lvl="1" algn="just" eaLnBrk="1" hangingPunct="1">
              <a:buFont typeface="Wingdings" pitchFamily="2" charset="2"/>
              <a:buChar char="w"/>
            </a:pPr>
            <a:r>
              <a:rPr lang="zh-CN" altLang="en-US" smtClean="0">
                <a:latin typeface="黑体" pitchFamily="49" charset="-122"/>
                <a:ea typeface="黑体" pitchFamily="49" charset="-122"/>
              </a:rPr>
              <a:t>删除指定表中满足</a:t>
            </a:r>
            <a:r>
              <a:rPr lang="en-US" altLang="zh-CN" smtClean="0">
                <a:latin typeface="黑体" pitchFamily="49" charset="-122"/>
                <a:ea typeface="黑体" pitchFamily="49" charset="-122"/>
              </a:rPr>
              <a:t>WHERE</a:t>
            </a:r>
            <a:r>
              <a:rPr lang="zh-CN" altLang="en-US" smtClean="0">
                <a:latin typeface="黑体" pitchFamily="49" charset="-122"/>
                <a:ea typeface="黑体" pitchFamily="49" charset="-122"/>
              </a:rPr>
              <a:t>子句条件的</a:t>
            </a:r>
            <a:r>
              <a:rPr lang="zh-CN" altLang="en-US" smtClean="0">
                <a:solidFill>
                  <a:srgbClr val="FF0000"/>
                </a:solidFill>
                <a:latin typeface="黑体" pitchFamily="49" charset="-122"/>
                <a:ea typeface="黑体" pitchFamily="49" charset="-122"/>
              </a:rPr>
              <a:t>元组</a:t>
            </a:r>
          </a:p>
          <a:p>
            <a:pPr algn="just" eaLnBrk="1" hangingPunct="1">
              <a:buFontTx/>
              <a:buChar char="–"/>
            </a:pPr>
            <a:r>
              <a:rPr lang="en-US" altLang="zh-CN" sz="2800" smtClean="0">
                <a:latin typeface="黑体" pitchFamily="49" charset="-122"/>
                <a:ea typeface="黑体" pitchFamily="49" charset="-122"/>
              </a:rPr>
              <a:t>WHERE</a:t>
            </a:r>
            <a:r>
              <a:rPr lang="zh-CN" altLang="en-US" sz="2800" smtClean="0">
                <a:latin typeface="黑体" pitchFamily="49" charset="-122"/>
                <a:ea typeface="黑体" pitchFamily="49" charset="-122"/>
              </a:rPr>
              <a:t>子句</a:t>
            </a:r>
          </a:p>
          <a:p>
            <a:pPr lvl="1" algn="just" eaLnBrk="1" hangingPunct="1">
              <a:buFont typeface="Wingdings" pitchFamily="2" charset="2"/>
              <a:buChar char="w"/>
            </a:pPr>
            <a:r>
              <a:rPr lang="zh-CN" altLang="en-US" smtClean="0">
                <a:latin typeface="黑体" pitchFamily="49" charset="-122"/>
                <a:ea typeface="黑体" pitchFamily="49" charset="-122"/>
              </a:rPr>
              <a:t>指定要删除的元组</a:t>
            </a:r>
          </a:p>
          <a:p>
            <a:pPr lvl="1" algn="just" eaLnBrk="1" hangingPunct="1">
              <a:buFont typeface="Wingdings" pitchFamily="2" charset="2"/>
              <a:buChar char="w"/>
            </a:pPr>
            <a:r>
              <a:rPr lang="zh-CN" altLang="en-US" smtClean="0">
                <a:latin typeface="黑体" pitchFamily="49" charset="-122"/>
                <a:ea typeface="黑体" pitchFamily="49" charset="-122"/>
              </a:rPr>
              <a:t>缺省表示要删除表中的所有元组</a:t>
            </a:r>
          </a:p>
        </p:txBody>
      </p:sp>
    </p:spTree>
  </p:cSld>
  <p:clrMapOvr>
    <a:masterClrMapping/>
  </p:clrMapOvr>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p:cNvSpPr>
            <a:spLocks noGrp="1" noChangeArrowheads="1"/>
          </p:cNvSpPr>
          <p:nvPr>
            <p:ph type="body" idx="1"/>
          </p:nvPr>
        </p:nvSpPr>
        <p:spPr>
          <a:xfrm>
            <a:off x="1187450" y="1628775"/>
            <a:ext cx="6553200" cy="4321175"/>
          </a:xfrm>
        </p:spPr>
        <p:txBody>
          <a:bodyPr/>
          <a:lstStyle/>
          <a:p>
            <a:pPr eaLnBrk="1" hangingPunct="1">
              <a:lnSpc>
                <a:spcPct val="120000"/>
              </a:lnSpc>
            </a:pPr>
            <a:r>
              <a:rPr lang="zh-CN" altLang="en-US" sz="3600" smtClean="0">
                <a:ea typeface="黑体" pitchFamily="49" charset="-122"/>
              </a:rPr>
              <a:t>三种删除方式</a:t>
            </a:r>
          </a:p>
          <a:p>
            <a:pPr lvl="1" eaLnBrk="1" hangingPunct="1">
              <a:lnSpc>
                <a:spcPct val="120000"/>
              </a:lnSpc>
            </a:pPr>
            <a:r>
              <a:rPr lang="zh-CN" altLang="en-US" sz="3200" smtClean="0">
                <a:ea typeface="黑体" pitchFamily="49" charset="-122"/>
              </a:rPr>
              <a:t>删除某一个元组的值</a:t>
            </a:r>
          </a:p>
          <a:p>
            <a:pPr lvl="1" eaLnBrk="1" hangingPunct="1">
              <a:lnSpc>
                <a:spcPct val="120000"/>
              </a:lnSpc>
            </a:pPr>
            <a:r>
              <a:rPr lang="zh-CN" altLang="en-US" sz="3200" smtClean="0">
                <a:ea typeface="黑体" pitchFamily="49" charset="-122"/>
              </a:rPr>
              <a:t>删除多个元组的值</a:t>
            </a:r>
          </a:p>
          <a:p>
            <a:pPr lvl="1" eaLnBrk="1" hangingPunct="1">
              <a:lnSpc>
                <a:spcPct val="120000"/>
              </a:lnSpc>
            </a:pPr>
            <a:r>
              <a:rPr lang="zh-CN" altLang="en-US" sz="3200" smtClean="0">
                <a:ea typeface="黑体" pitchFamily="49" charset="-122"/>
              </a:rPr>
              <a:t>带子查询的删除语句</a:t>
            </a:r>
          </a:p>
        </p:txBody>
      </p:sp>
      <p:sp>
        <p:nvSpPr>
          <p:cNvPr id="135171" name="Rectangle 2"/>
          <p:cNvSpPr>
            <a:spLocks noGrp="1" noChangeArrowheads="1"/>
          </p:cNvSpPr>
          <p:nvPr>
            <p:ph type="title"/>
          </p:nvPr>
        </p:nvSpPr>
        <p:spPr>
          <a:xfrm>
            <a:off x="755650" y="71438"/>
            <a:ext cx="7793038" cy="909637"/>
          </a:xfrm>
        </p:spPr>
        <p:txBody>
          <a:bodyPr/>
          <a:lstStyle/>
          <a:p>
            <a:pPr eaLnBrk="1" hangingPunct="1"/>
            <a:r>
              <a:rPr lang="en-US" altLang="zh-CN" smtClean="0"/>
              <a:t>3.5.3  </a:t>
            </a:r>
            <a:r>
              <a:rPr lang="zh-CN" altLang="en-US" smtClean="0"/>
              <a:t>删除数据</a:t>
            </a:r>
          </a:p>
        </p:txBody>
      </p:sp>
    </p:spTree>
  </p:cSld>
  <p:clrMapOvr>
    <a:masterClrMapping/>
  </p:clrMapOvr>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468313" y="1052513"/>
            <a:ext cx="7793037" cy="1143000"/>
          </a:xfrm>
        </p:spPr>
        <p:txBody>
          <a:bodyPr/>
          <a:lstStyle/>
          <a:p>
            <a:pPr eaLnBrk="1" hangingPunct="1"/>
            <a:r>
              <a:rPr lang="en-US" altLang="zh-CN" sz="2800" smtClean="0">
                <a:solidFill>
                  <a:schemeClr val="tx1"/>
                </a:solidFill>
              </a:rPr>
              <a:t>1. </a:t>
            </a:r>
            <a:r>
              <a:rPr lang="zh-CN" altLang="en-US" sz="2800" smtClean="0">
                <a:solidFill>
                  <a:schemeClr val="tx1"/>
                </a:solidFill>
              </a:rPr>
              <a:t>删除某一个元组的值</a:t>
            </a:r>
          </a:p>
        </p:txBody>
      </p:sp>
      <p:sp>
        <p:nvSpPr>
          <p:cNvPr id="624643" name="Rectangle 3"/>
          <p:cNvSpPr>
            <a:spLocks noGrp="1" noChangeArrowheads="1"/>
          </p:cNvSpPr>
          <p:nvPr>
            <p:ph type="body" idx="1"/>
          </p:nvPr>
        </p:nvSpPr>
        <p:spPr>
          <a:xfrm>
            <a:off x="971550" y="2133600"/>
            <a:ext cx="7772400" cy="4114800"/>
          </a:xfrm>
        </p:spPr>
        <p:txBody>
          <a:bodyPr/>
          <a:lstStyle/>
          <a:p>
            <a:pPr eaLnBrk="1" hangingPunct="1">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7]  </a:t>
            </a:r>
            <a:r>
              <a:rPr lang="zh-CN" altLang="en-US" sz="2400" smtClean="0">
                <a:latin typeface="黑体" pitchFamily="49" charset="-122"/>
                <a:ea typeface="黑体" pitchFamily="49" charset="-122"/>
              </a:rPr>
              <a:t>删除学号为</a:t>
            </a:r>
            <a:r>
              <a:rPr lang="en-US" altLang="zh-CN" sz="2400" smtClean="0">
                <a:latin typeface="黑体" pitchFamily="49" charset="-122"/>
                <a:ea typeface="黑体" pitchFamily="49" charset="-122"/>
              </a:rPr>
              <a:t>04009</a:t>
            </a:r>
            <a:r>
              <a:rPr lang="zh-CN" altLang="en-US" sz="2400" smtClean="0">
                <a:latin typeface="黑体" pitchFamily="49" charset="-122"/>
                <a:ea typeface="黑体" pitchFamily="49" charset="-122"/>
              </a:rPr>
              <a:t>的学生记录。</a:t>
            </a:r>
          </a:p>
          <a:p>
            <a:pPr eaLnBrk="1" hangingPunct="1">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DELETE</a:t>
            </a:r>
          </a:p>
          <a:p>
            <a:pPr eaLnBrk="1" hangingPunct="1">
              <a:buFont typeface="Wingdings" pitchFamily="2" charset="2"/>
              <a:buNone/>
            </a:pPr>
            <a:r>
              <a:rPr lang="en-US" altLang="zh-CN" sz="2400" smtClean="0">
                <a:latin typeface="黑体" pitchFamily="49" charset="-122"/>
                <a:ea typeface="黑体" pitchFamily="49" charset="-122"/>
              </a:rPr>
              <a:t>        FROM S</a:t>
            </a:r>
          </a:p>
          <a:p>
            <a:pPr eaLnBrk="1" hangingPunct="1">
              <a:buFont typeface="Wingdings" pitchFamily="2" charset="2"/>
              <a:buNone/>
            </a:pPr>
            <a:r>
              <a:rPr lang="en-US" altLang="zh-CN" sz="2400" smtClean="0">
                <a:latin typeface="黑体" pitchFamily="49" charset="-122"/>
                <a:ea typeface="黑体" pitchFamily="49" charset="-122"/>
              </a:rPr>
              <a:t>        WHERE Sno=’04009’;</a:t>
            </a:r>
          </a:p>
          <a:p>
            <a:pPr eaLnBrk="1" hangingPunct="1">
              <a:buFont typeface="Wingdings" pitchFamily="2" charset="2"/>
              <a:buNone/>
            </a:pPr>
            <a:r>
              <a:rPr lang="en-US" altLang="zh-CN" sz="2400" smtClean="0">
                <a:latin typeface="黑体" pitchFamily="49" charset="-122"/>
                <a:ea typeface="黑体" pitchFamily="49" charset="-122"/>
              </a:rPr>
              <a:t>        COMMIT;</a:t>
            </a:r>
            <a:endParaRPr lang="zh-CN" altLang="en-US" sz="2400" smtClean="0">
              <a:latin typeface="黑体" pitchFamily="49" charset="-122"/>
              <a:ea typeface="黑体" pitchFamily="49" charset="-122"/>
            </a:endParaRPr>
          </a:p>
          <a:p>
            <a:pPr eaLnBrk="1" hangingPunct="1">
              <a:buFont typeface="Wingdings" pitchFamily="2" charset="2"/>
              <a:buNone/>
            </a:pPr>
            <a:endParaRPr lang="en-US" altLang="zh-CN" sz="2400" smtClean="0">
              <a:latin typeface="黑体" pitchFamily="49" charset="-122"/>
              <a:ea typeface="黑体" pitchFamily="49" charset="-122"/>
            </a:endParaRPr>
          </a:p>
        </p:txBody>
      </p:sp>
      <p:sp>
        <p:nvSpPr>
          <p:cNvPr id="4" name="Rectangle 2"/>
          <p:cNvSpPr txBox="1">
            <a:spLocks noChangeArrowheads="1"/>
          </p:cNvSpPr>
          <p:nvPr/>
        </p:nvSpPr>
        <p:spPr bwMode="auto">
          <a:xfrm>
            <a:off x="755650" y="71438"/>
            <a:ext cx="7793038" cy="90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smtClean="0"/>
              <a:t>3.5.3  </a:t>
            </a:r>
            <a:r>
              <a:rPr lang="zh-CN" altLang="en-US" b="0" kern="0" smtClean="0"/>
              <a:t>删除数据</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nodeType="clickEffect">
                                  <p:stCondLst>
                                    <p:cond delay="0"/>
                                  </p:stCondLst>
                                  <p:childTnLst>
                                    <p:set>
                                      <p:cBhvr>
                                        <p:cTn id="6" dur="1" fill="hold">
                                          <p:stCondLst>
                                            <p:cond delay="0"/>
                                          </p:stCondLst>
                                        </p:cTn>
                                        <p:tgtEl>
                                          <p:spTgt spid="624643">
                                            <p:txEl>
                                              <p:pRg st="0" end="0"/>
                                            </p:txEl>
                                          </p:spTgt>
                                        </p:tgtEl>
                                        <p:attrNameLst>
                                          <p:attrName>style.visibility</p:attrName>
                                        </p:attrNameLst>
                                      </p:cBhvr>
                                      <p:to>
                                        <p:strVal val="visible"/>
                                      </p:to>
                                    </p:set>
                                    <p:animEffect transition="in" filter="fade">
                                      <p:cBhvr>
                                        <p:cTn id="7" dur="1000"/>
                                        <p:tgtEl>
                                          <p:spTgt spid="624643">
                                            <p:txEl>
                                              <p:pRg st="0" end="0"/>
                                            </p:txEl>
                                          </p:spTgt>
                                        </p:tgtEl>
                                      </p:cBhvr>
                                    </p:animEffect>
                                    <p:anim calcmode="lin" valueType="num">
                                      <p:cBhvr>
                                        <p:cTn id="8" dur="1000" fill="hold"/>
                                        <p:tgtEl>
                                          <p:spTgt spid="624643">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624643">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624643">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7" presetClass="entr" presetSubtype="0" fill="hold" nodeType="clickEffect">
                                  <p:stCondLst>
                                    <p:cond delay="0"/>
                                  </p:stCondLst>
                                  <p:childTnLst>
                                    <p:set>
                                      <p:cBhvr>
                                        <p:cTn id="14" dur="1" fill="hold">
                                          <p:stCondLst>
                                            <p:cond delay="0"/>
                                          </p:stCondLst>
                                        </p:cTn>
                                        <p:tgtEl>
                                          <p:spTgt spid="624643">
                                            <p:txEl>
                                              <p:pRg st="1" end="1"/>
                                            </p:txEl>
                                          </p:spTgt>
                                        </p:tgtEl>
                                        <p:attrNameLst>
                                          <p:attrName>style.visibility</p:attrName>
                                        </p:attrNameLst>
                                      </p:cBhvr>
                                      <p:to>
                                        <p:strVal val="visible"/>
                                      </p:to>
                                    </p:set>
                                    <p:animEffect transition="in" filter="fade">
                                      <p:cBhvr>
                                        <p:cTn id="15" dur="1000"/>
                                        <p:tgtEl>
                                          <p:spTgt spid="624643">
                                            <p:txEl>
                                              <p:pRg st="1" end="1"/>
                                            </p:txEl>
                                          </p:spTgt>
                                        </p:tgtEl>
                                      </p:cBhvr>
                                    </p:animEffect>
                                    <p:anim calcmode="lin" valueType="num">
                                      <p:cBhvr>
                                        <p:cTn id="16" dur="1000" fill="hold"/>
                                        <p:tgtEl>
                                          <p:spTgt spid="624643">
                                            <p:txEl>
                                              <p:pRg st="1" end="1"/>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624643">
                                            <p:txEl>
                                              <p:pRg st="1" end="1"/>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624643">
                                            <p:txEl>
                                              <p:pRg st="1" end="1"/>
                                            </p:txEl>
                                          </p:spTgt>
                                        </p:tgtEl>
                                        <p:attrNameLst>
                                          <p:attrName>ppt_y</p:attrName>
                                        </p:attrNameLst>
                                      </p:cBhvr>
                                      <p:tavLst>
                                        <p:tav tm="0">
                                          <p:val>
                                            <p:strVal val="#ppt_y-.03"/>
                                          </p:val>
                                        </p:tav>
                                        <p:tav tm="100000">
                                          <p:val>
                                            <p:strVal val="#ppt_y"/>
                                          </p:val>
                                        </p:tav>
                                      </p:tavLst>
                                    </p:anim>
                                  </p:childTnLst>
                                </p:cTn>
                              </p:par>
                              <p:par>
                                <p:cTn id="19" presetID="37" presetClass="entr" presetSubtype="0" fill="hold" nodeType="withEffect">
                                  <p:stCondLst>
                                    <p:cond delay="0"/>
                                  </p:stCondLst>
                                  <p:childTnLst>
                                    <p:set>
                                      <p:cBhvr>
                                        <p:cTn id="20" dur="1" fill="hold">
                                          <p:stCondLst>
                                            <p:cond delay="0"/>
                                          </p:stCondLst>
                                        </p:cTn>
                                        <p:tgtEl>
                                          <p:spTgt spid="624643">
                                            <p:txEl>
                                              <p:pRg st="2" end="2"/>
                                            </p:txEl>
                                          </p:spTgt>
                                        </p:tgtEl>
                                        <p:attrNameLst>
                                          <p:attrName>style.visibility</p:attrName>
                                        </p:attrNameLst>
                                      </p:cBhvr>
                                      <p:to>
                                        <p:strVal val="visible"/>
                                      </p:to>
                                    </p:set>
                                    <p:animEffect transition="in" filter="fade">
                                      <p:cBhvr>
                                        <p:cTn id="21" dur="1000"/>
                                        <p:tgtEl>
                                          <p:spTgt spid="624643">
                                            <p:txEl>
                                              <p:pRg st="2" end="2"/>
                                            </p:txEl>
                                          </p:spTgt>
                                        </p:tgtEl>
                                      </p:cBhvr>
                                    </p:animEffect>
                                    <p:anim calcmode="lin" valueType="num">
                                      <p:cBhvr>
                                        <p:cTn id="22" dur="1000" fill="hold"/>
                                        <p:tgtEl>
                                          <p:spTgt spid="624643">
                                            <p:txEl>
                                              <p:pRg st="2" end="2"/>
                                            </p:txEl>
                                          </p:spTgt>
                                        </p:tgtEl>
                                        <p:attrNameLst>
                                          <p:attrName>ppt_x</p:attrName>
                                        </p:attrNameLst>
                                      </p:cBhvr>
                                      <p:tavLst>
                                        <p:tav tm="0">
                                          <p:val>
                                            <p:strVal val="#ppt_x"/>
                                          </p:val>
                                        </p:tav>
                                        <p:tav tm="100000">
                                          <p:val>
                                            <p:strVal val="#ppt_x"/>
                                          </p:val>
                                        </p:tav>
                                      </p:tavLst>
                                    </p:anim>
                                    <p:anim calcmode="lin" valueType="num">
                                      <p:cBhvr>
                                        <p:cTn id="23" dur="900" decel="100000" fill="hold"/>
                                        <p:tgtEl>
                                          <p:spTgt spid="624643">
                                            <p:txEl>
                                              <p:pRg st="2" end="2"/>
                                            </p:txEl>
                                          </p:spTgt>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624643">
                                            <p:txEl>
                                              <p:pRg st="2" end="2"/>
                                            </p:txEl>
                                          </p:spTgt>
                                        </p:tgtEl>
                                        <p:attrNameLst>
                                          <p:attrName>ppt_y</p:attrName>
                                        </p:attrNameLst>
                                      </p:cBhvr>
                                      <p:tavLst>
                                        <p:tav tm="0">
                                          <p:val>
                                            <p:strVal val="#ppt_y-.03"/>
                                          </p:val>
                                        </p:tav>
                                        <p:tav tm="100000">
                                          <p:val>
                                            <p:strVal val="#ppt_y"/>
                                          </p:val>
                                        </p:tav>
                                      </p:tavLst>
                                    </p:anim>
                                  </p:childTnLst>
                                </p:cTn>
                              </p:par>
                              <p:par>
                                <p:cTn id="25" presetID="37" presetClass="entr" presetSubtype="0" fill="hold" nodeType="withEffect">
                                  <p:stCondLst>
                                    <p:cond delay="0"/>
                                  </p:stCondLst>
                                  <p:childTnLst>
                                    <p:set>
                                      <p:cBhvr>
                                        <p:cTn id="26" dur="1" fill="hold">
                                          <p:stCondLst>
                                            <p:cond delay="0"/>
                                          </p:stCondLst>
                                        </p:cTn>
                                        <p:tgtEl>
                                          <p:spTgt spid="624643">
                                            <p:txEl>
                                              <p:pRg st="3" end="3"/>
                                            </p:txEl>
                                          </p:spTgt>
                                        </p:tgtEl>
                                        <p:attrNameLst>
                                          <p:attrName>style.visibility</p:attrName>
                                        </p:attrNameLst>
                                      </p:cBhvr>
                                      <p:to>
                                        <p:strVal val="visible"/>
                                      </p:to>
                                    </p:set>
                                    <p:animEffect transition="in" filter="fade">
                                      <p:cBhvr>
                                        <p:cTn id="27" dur="1000"/>
                                        <p:tgtEl>
                                          <p:spTgt spid="624643">
                                            <p:txEl>
                                              <p:pRg st="3" end="3"/>
                                            </p:txEl>
                                          </p:spTgt>
                                        </p:tgtEl>
                                      </p:cBhvr>
                                    </p:animEffect>
                                    <p:anim calcmode="lin" valueType="num">
                                      <p:cBhvr>
                                        <p:cTn id="28" dur="1000" fill="hold"/>
                                        <p:tgtEl>
                                          <p:spTgt spid="624643">
                                            <p:txEl>
                                              <p:pRg st="3" end="3"/>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624643">
                                            <p:txEl>
                                              <p:pRg st="3" end="3"/>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624643">
                                            <p:txEl>
                                              <p:pRg st="3" end="3"/>
                                            </p:txEl>
                                          </p:spTgt>
                                        </p:tgtEl>
                                        <p:attrNameLst>
                                          <p:attrName>ppt_y</p:attrName>
                                        </p:attrNameLst>
                                      </p:cBhvr>
                                      <p:tavLst>
                                        <p:tav tm="0">
                                          <p:val>
                                            <p:strVal val="#ppt_y-.03"/>
                                          </p:val>
                                        </p:tav>
                                        <p:tav tm="100000">
                                          <p:val>
                                            <p:strVal val="#ppt_y"/>
                                          </p:val>
                                        </p:tav>
                                      </p:tavLst>
                                    </p:anim>
                                  </p:childTnLst>
                                </p:cTn>
                              </p:par>
                              <p:par>
                                <p:cTn id="31" presetID="37" presetClass="entr" presetSubtype="0" fill="hold" nodeType="withEffect">
                                  <p:stCondLst>
                                    <p:cond delay="0"/>
                                  </p:stCondLst>
                                  <p:childTnLst>
                                    <p:set>
                                      <p:cBhvr>
                                        <p:cTn id="32" dur="1" fill="hold">
                                          <p:stCondLst>
                                            <p:cond delay="0"/>
                                          </p:stCondLst>
                                        </p:cTn>
                                        <p:tgtEl>
                                          <p:spTgt spid="624643">
                                            <p:txEl>
                                              <p:pRg st="4" end="4"/>
                                            </p:txEl>
                                          </p:spTgt>
                                        </p:tgtEl>
                                        <p:attrNameLst>
                                          <p:attrName>style.visibility</p:attrName>
                                        </p:attrNameLst>
                                      </p:cBhvr>
                                      <p:to>
                                        <p:strVal val="visible"/>
                                      </p:to>
                                    </p:set>
                                    <p:animEffect transition="in" filter="fade">
                                      <p:cBhvr>
                                        <p:cTn id="33" dur="1000"/>
                                        <p:tgtEl>
                                          <p:spTgt spid="624643">
                                            <p:txEl>
                                              <p:pRg st="4" end="4"/>
                                            </p:txEl>
                                          </p:spTgt>
                                        </p:tgtEl>
                                      </p:cBhvr>
                                    </p:animEffect>
                                    <p:anim calcmode="lin" valueType="num">
                                      <p:cBhvr>
                                        <p:cTn id="34" dur="1000" fill="hold"/>
                                        <p:tgtEl>
                                          <p:spTgt spid="624643">
                                            <p:txEl>
                                              <p:pRg st="4" end="4"/>
                                            </p:txEl>
                                          </p:spTgt>
                                        </p:tgtEl>
                                        <p:attrNameLst>
                                          <p:attrName>ppt_x</p:attrName>
                                        </p:attrNameLst>
                                      </p:cBhvr>
                                      <p:tavLst>
                                        <p:tav tm="0">
                                          <p:val>
                                            <p:strVal val="#ppt_x"/>
                                          </p:val>
                                        </p:tav>
                                        <p:tav tm="100000">
                                          <p:val>
                                            <p:strVal val="#ppt_x"/>
                                          </p:val>
                                        </p:tav>
                                      </p:tavLst>
                                    </p:anim>
                                    <p:anim calcmode="lin" valueType="num">
                                      <p:cBhvr>
                                        <p:cTn id="35" dur="900" decel="100000" fill="hold"/>
                                        <p:tgtEl>
                                          <p:spTgt spid="624643">
                                            <p:txEl>
                                              <p:pRg st="4" end="4"/>
                                            </p:txEl>
                                          </p:spTgt>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624643">
                                            <p:txEl>
                                              <p:pRg st="4" end="4"/>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a:xfrm>
            <a:off x="468313" y="908050"/>
            <a:ext cx="7793037" cy="1143000"/>
          </a:xfrm>
        </p:spPr>
        <p:txBody>
          <a:bodyPr/>
          <a:lstStyle/>
          <a:p>
            <a:pPr eaLnBrk="1" hangingPunct="1"/>
            <a:r>
              <a:rPr lang="en-US" altLang="zh-CN" sz="2800" smtClean="0">
                <a:solidFill>
                  <a:schemeClr val="tx1"/>
                </a:solidFill>
              </a:rPr>
              <a:t>2. </a:t>
            </a:r>
            <a:r>
              <a:rPr lang="zh-CN" altLang="en-US" sz="2800" smtClean="0">
                <a:solidFill>
                  <a:schemeClr val="tx1"/>
                </a:solidFill>
              </a:rPr>
              <a:t>删除多个元组的值</a:t>
            </a:r>
          </a:p>
        </p:txBody>
      </p:sp>
      <p:sp>
        <p:nvSpPr>
          <p:cNvPr id="625667" name="Rectangle 3"/>
          <p:cNvSpPr>
            <a:spLocks noGrp="1" noChangeArrowheads="1"/>
          </p:cNvSpPr>
          <p:nvPr>
            <p:ph type="body" idx="1"/>
          </p:nvPr>
        </p:nvSpPr>
        <p:spPr>
          <a:xfrm>
            <a:off x="971550" y="2193925"/>
            <a:ext cx="7772400" cy="4114800"/>
          </a:xfrm>
        </p:spPr>
        <p:txBody>
          <a:bodyPr/>
          <a:lstStyle/>
          <a:p>
            <a:pPr eaLnBrk="1" hangingPunct="1">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8]  </a:t>
            </a:r>
            <a:r>
              <a:rPr lang="zh-CN" altLang="en-US" sz="2400" smtClean="0">
                <a:latin typeface="黑体" pitchFamily="49" charset="-122"/>
                <a:ea typeface="黑体" pitchFamily="49" charset="-122"/>
              </a:rPr>
              <a:t>删除</a:t>
            </a:r>
            <a:r>
              <a:rPr lang="en-US" altLang="zh-CN" sz="2400" smtClean="0">
                <a:latin typeface="黑体" pitchFamily="49" charset="-122"/>
                <a:ea typeface="黑体" pitchFamily="49" charset="-122"/>
              </a:rPr>
              <a:t>002</a:t>
            </a:r>
            <a:r>
              <a:rPr lang="zh-CN" altLang="en-US" sz="2400" smtClean="0">
                <a:latin typeface="黑体" pitchFamily="49" charset="-122"/>
                <a:ea typeface="黑体" pitchFamily="49" charset="-122"/>
              </a:rPr>
              <a:t>号课程的所有选课记录。</a:t>
            </a:r>
          </a:p>
          <a:p>
            <a:pPr eaLnBrk="1" hangingPunct="1">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DELETE</a:t>
            </a:r>
          </a:p>
          <a:p>
            <a:pPr eaLnBrk="1" hangingPunct="1">
              <a:buFont typeface="Wingdings" pitchFamily="2" charset="2"/>
              <a:buNone/>
            </a:pPr>
            <a:r>
              <a:rPr lang="en-US" altLang="zh-CN" sz="2400" smtClean="0">
                <a:latin typeface="黑体" pitchFamily="49" charset="-122"/>
                <a:ea typeface="黑体" pitchFamily="49" charset="-122"/>
              </a:rPr>
              <a:t>        FROM SC</a:t>
            </a:r>
          </a:p>
          <a:p>
            <a:pPr eaLnBrk="1" hangingPunct="1">
              <a:buFont typeface="Wingdings" pitchFamily="2" charset="2"/>
              <a:buNone/>
            </a:pPr>
            <a:r>
              <a:rPr lang="en-US" altLang="zh-CN" sz="2400" smtClean="0">
                <a:latin typeface="黑体" pitchFamily="49" charset="-122"/>
                <a:ea typeface="黑体" pitchFamily="49" charset="-122"/>
              </a:rPr>
              <a:t>        WHERE Cno=’002’;</a:t>
            </a:r>
          </a:p>
          <a:p>
            <a:pPr eaLnBrk="1" hangingPunct="1">
              <a:buFont typeface="Wingdings" pitchFamily="2" charset="2"/>
              <a:buNone/>
            </a:pPr>
            <a:r>
              <a:rPr lang="en-US" altLang="zh-CN" sz="2400" smtClean="0">
                <a:latin typeface="黑体" pitchFamily="49" charset="-122"/>
                <a:ea typeface="黑体" pitchFamily="49" charset="-122"/>
              </a:rPr>
              <a:t>        COMMIT;</a:t>
            </a:r>
            <a:endParaRPr lang="zh-CN" altLang="en-US" sz="2400" smtClean="0">
              <a:latin typeface="黑体" pitchFamily="49" charset="-122"/>
              <a:ea typeface="黑体" pitchFamily="49" charset="-122"/>
            </a:endParaRPr>
          </a:p>
        </p:txBody>
      </p:sp>
      <p:sp>
        <p:nvSpPr>
          <p:cNvPr id="4" name="Rectangle 2"/>
          <p:cNvSpPr txBox="1">
            <a:spLocks noChangeArrowheads="1"/>
          </p:cNvSpPr>
          <p:nvPr/>
        </p:nvSpPr>
        <p:spPr bwMode="auto">
          <a:xfrm>
            <a:off x="755650" y="71438"/>
            <a:ext cx="7793038" cy="90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smtClean="0"/>
              <a:t>3.5.3  </a:t>
            </a:r>
            <a:r>
              <a:rPr lang="zh-CN" altLang="en-US" b="0" kern="0" smtClean="0"/>
              <a:t>删除数据</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nodeType="clickEffect">
                                  <p:stCondLst>
                                    <p:cond delay="0"/>
                                  </p:stCondLst>
                                  <p:childTnLst>
                                    <p:set>
                                      <p:cBhvr>
                                        <p:cTn id="6" dur="1" fill="hold">
                                          <p:stCondLst>
                                            <p:cond delay="0"/>
                                          </p:stCondLst>
                                        </p:cTn>
                                        <p:tgtEl>
                                          <p:spTgt spid="625667">
                                            <p:txEl>
                                              <p:pRg st="0" end="0"/>
                                            </p:txEl>
                                          </p:spTgt>
                                        </p:tgtEl>
                                        <p:attrNameLst>
                                          <p:attrName>style.visibility</p:attrName>
                                        </p:attrNameLst>
                                      </p:cBhvr>
                                      <p:to>
                                        <p:strVal val="visible"/>
                                      </p:to>
                                    </p:set>
                                    <p:animEffect transition="in" filter="fade">
                                      <p:cBhvr>
                                        <p:cTn id="7" dur="1000"/>
                                        <p:tgtEl>
                                          <p:spTgt spid="625667">
                                            <p:txEl>
                                              <p:pRg st="0" end="0"/>
                                            </p:txEl>
                                          </p:spTgt>
                                        </p:tgtEl>
                                      </p:cBhvr>
                                    </p:animEffect>
                                    <p:anim calcmode="lin" valueType="num">
                                      <p:cBhvr>
                                        <p:cTn id="8" dur="1000" fill="hold"/>
                                        <p:tgtEl>
                                          <p:spTgt spid="625667">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625667">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625667">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7" presetClass="entr" presetSubtype="0" fill="hold" nodeType="clickEffect">
                                  <p:stCondLst>
                                    <p:cond delay="0"/>
                                  </p:stCondLst>
                                  <p:childTnLst>
                                    <p:set>
                                      <p:cBhvr>
                                        <p:cTn id="14" dur="1" fill="hold">
                                          <p:stCondLst>
                                            <p:cond delay="0"/>
                                          </p:stCondLst>
                                        </p:cTn>
                                        <p:tgtEl>
                                          <p:spTgt spid="625667">
                                            <p:txEl>
                                              <p:pRg st="1" end="1"/>
                                            </p:txEl>
                                          </p:spTgt>
                                        </p:tgtEl>
                                        <p:attrNameLst>
                                          <p:attrName>style.visibility</p:attrName>
                                        </p:attrNameLst>
                                      </p:cBhvr>
                                      <p:to>
                                        <p:strVal val="visible"/>
                                      </p:to>
                                    </p:set>
                                    <p:animEffect transition="in" filter="fade">
                                      <p:cBhvr>
                                        <p:cTn id="15" dur="1000"/>
                                        <p:tgtEl>
                                          <p:spTgt spid="625667">
                                            <p:txEl>
                                              <p:pRg st="1" end="1"/>
                                            </p:txEl>
                                          </p:spTgt>
                                        </p:tgtEl>
                                      </p:cBhvr>
                                    </p:animEffect>
                                    <p:anim calcmode="lin" valueType="num">
                                      <p:cBhvr>
                                        <p:cTn id="16" dur="1000" fill="hold"/>
                                        <p:tgtEl>
                                          <p:spTgt spid="625667">
                                            <p:txEl>
                                              <p:pRg st="1" end="1"/>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625667">
                                            <p:txEl>
                                              <p:pRg st="1" end="1"/>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625667">
                                            <p:txEl>
                                              <p:pRg st="1" end="1"/>
                                            </p:txEl>
                                          </p:spTgt>
                                        </p:tgtEl>
                                        <p:attrNameLst>
                                          <p:attrName>ppt_y</p:attrName>
                                        </p:attrNameLst>
                                      </p:cBhvr>
                                      <p:tavLst>
                                        <p:tav tm="0">
                                          <p:val>
                                            <p:strVal val="#ppt_y-.03"/>
                                          </p:val>
                                        </p:tav>
                                        <p:tav tm="100000">
                                          <p:val>
                                            <p:strVal val="#ppt_y"/>
                                          </p:val>
                                        </p:tav>
                                      </p:tavLst>
                                    </p:anim>
                                  </p:childTnLst>
                                </p:cTn>
                              </p:par>
                              <p:par>
                                <p:cTn id="19" presetID="37" presetClass="entr" presetSubtype="0" fill="hold" nodeType="withEffect">
                                  <p:stCondLst>
                                    <p:cond delay="0"/>
                                  </p:stCondLst>
                                  <p:childTnLst>
                                    <p:set>
                                      <p:cBhvr>
                                        <p:cTn id="20" dur="1" fill="hold">
                                          <p:stCondLst>
                                            <p:cond delay="0"/>
                                          </p:stCondLst>
                                        </p:cTn>
                                        <p:tgtEl>
                                          <p:spTgt spid="625667">
                                            <p:txEl>
                                              <p:pRg st="2" end="2"/>
                                            </p:txEl>
                                          </p:spTgt>
                                        </p:tgtEl>
                                        <p:attrNameLst>
                                          <p:attrName>style.visibility</p:attrName>
                                        </p:attrNameLst>
                                      </p:cBhvr>
                                      <p:to>
                                        <p:strVal val="visible"/>
                                      </p:to>
                                    </p:set>
                                    <p:animEffect transition="in" filter="fade">
                                      <p:cBhvr>
                                        <p:cTn id="21" dur="1000"/>
                                        <p:tgtEl>
                                          <p:spTgt spid="625667">
                                            <p:txEl>
                                              <p:pRg st="2" end="2"/>
                                            </p:txEl>
                                          </p:spTgt>
                                        </p:tgtEl>
                                      </p:cBhvr>
                                    </p:animEffect>
                                    <p:anim calcmode="lin" valueType="num">
                                      <p:cBhvr>
                                        <p:cTn id="22" dur="1000" fill="hold"/>
                                        <p:tgtEl>
                                          <p:spTgt spid="625667">
                                            <p:txEl>
                                              <p:pRg st="2" end="2"/>
                                            </p:txEl>
                                          </p:spTgt>
                                        </p:tgtEl>
                                        <p:attrNameLst>
                                          <p:attrName>ppt_x</p:attrName>
                                        </p:attrNameLst>
                                      </p:cBhvr>
                                      <p:tavLst>
                                        <p:tav tm="0">
                                          <p:val>
                                            <p:strVal val="#ppt_x"/>
                                          </p:val>
                                        </p:tav>
                                        <p:tav tm="100000">
                                          <p:val>
                                            <p:strVal val="#ppt_x"/>
                                          </p:val>
                                        </p:tav>
                                      </p:tavLst>
                                    </p:anim>
                                    <p:anim calcmode="lin" valueType="num">
                                      <p:cBhvr>
                                        <p:cTn id="23" dur="900" decel="100000" fill="hold"/>
                                        <p:tgtEl>
                                          <p:spTgt spid="625667">
                                            <p:txEl>
                                              <p:pRg st="2" end="2"/>
                                            </p:txEl>
                                          </p:spTgt>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625667">
                                            <p:txEl>
                                              <p:pRg st="2" end="2"/>
                                            </p:txEl>
                                          </p:spTgt>
                                        </p:tgtEl>
                                        <p:attrNameLst>
                                          <p:attrName>ppt_y</p:attrName>
                                        </p:attrNameLst>
                                      </p:cBhvr>
                                      <p:tavLst>
                                        <p:tav tm="0">
                                          <p:val>
                                            <p:strVal val="#ppt_y-.03"/>
                                          </p:val>
                                        </p:tav>
                                        <p:tav tm="100000">
                                          <p:val>
                                            <p:strVal val="#ppt_y"/>
                                          </p:val>
                                        </p:tav>
                                      </p:tavLst>
                                    </p:anim>
                                  </p:childTnLst>
                                </p:cTn>
                              </p:par>
                              <p:par>
                                <p:cTn id="25" presetID="37" presetClass="entr" presetSubtype="0" fill="hold" nodeType="withEffect">
                                  <p:stCondLst>
                                    <p:cond delay="0"/>
                                  </p:stCondLst>
                                  <p:childTnLst>
                                    <p:set>
                                      <p:cBhvr>
                                        <p:cTn id="26" dur="1" fill="hold">
                                          <p:stCondLst>
                                            <p:cond delay="0"/>
                                          </p:stCondLst>
                                        </p:cTn>
                                        <p:tgtEl>
                                          <p:spTgt spid="625667">
                                            <p:txEl>
                                              <p:pRg st="3" end="3"/>
                                            </p:txEl>
                                          </p:spTgt>
                                        </p:tgtEl>
                                        <p:attrNameLst>
                                          <p:attrName>style.visibility</p:attrName>
                                        </p:attrNameLst>
                                      </p:cBhvr>
                                      <p:to>
                                        <p:strVal val="visible"/>
                                      </p:to>
                                    </p:set>
                                    <p:animEffect transition="in" filter="fade">
                                      <p:cBhvr>
                                        <p:cTn id="27" dur="1000"/>
                                        <p:tgtEl>
                                          <p:spTgt spid="625667">
                                            <p:txEl>
                                              <p:pRg st="3" end="3"/>
                                            </p:txEl>
                                          </p:spTgt>
                                        </p:tgtEl>
                                      </p:cBhvr>
                                    </p:animEffect>
                                    <p:anim calcmode="lin" valueType="num">
                                      <p:cBhvr>
                                        <p:cTn id="28" dur="1000" fill="hold"/>
                                        <p:tgtEl>
                                          <p:spTgt spid="625667">
                                            <p:txEl>
                                              <p:pRg st="3" end="3"/>
                                            </p:txEl>
                                          </p:spTgt>
                                        </p:tgtEl>
                                        <p:attrNameLst>
                                          <p:attrName>ppt_x</p:attrName>
                                        </p:attrNameLst>
                                      </p:cBhvr>
                                      <p:tavLst>
                                        <p:tav tm="0">
                                          <p:val>
                                            <p:strVal val="#ppt_x"/>
                                          </p:val>
                                        </p:tav>
                                        <p:tav tm="100000">
                                          <p:val>
                                            <p:strVal val="#ppt_x"/>
                                          </p:val>
                                        </p:tav>
                                      </p:tavLst>
                                    </p:anim>
                                    <p:anim calcmode="lin" valueType="num">
                                      <p:cBhvr>
                                        <p:cTn id="29" dur="900" decel="100000" fill="hold"/>
                                        <p:tgtEl>
                                          <p:spTgt spid="625667">
                                            <p:txEl>
                                              <p:pRg st="3" end="3"/>
                                            </p:txEl>
                                          </p:spTgt>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625667">
                                            <p:txEl>
                                              <p:pRg st="3" end="3"/>
                                            </p:txEl>
                                          </p:spTgt>
                                        </p:tgtEl>
                                        <p:attrNameLst>
                                          <p:attrName>ppt_y</p:attrName>
                                        </p:attrNameLst>
                                      </p:cBhvr>
                                      <p:tavLst>
                                        <p:tav tm="0">
                                          <p:val>
                                            <p:strVal val="#ppt_y-.03"/>
                                          </p:val>
                                        </p:tav>
                                        <p:tav tm="100000">
                                          <p:val>
                                            <p:strVal val="#ppt_y"/>
                                          </p:val>
                                        </p:tav>
                                      </p:tavLst>
                                    </p:anim>
                                  </p:childTnLst>
                                </p:cTn>
                              </p:par>
                              <p:par>
                                <p:cTn id="31" presetID="37" presetClass="entr" presetSubtype="0" fill="hold" nodeType="withEffect">
                                  <p:stCondLst>
                                    <p:cond delay="0"/>
                                  </p:stCondLst>
                                  <p:childTnLst>
                                    <p:set>
                                      <p:cBhvr>
                                        <p:cTn id="32" dur="1" fill="hold">
                                          <p:stCondLst>
                                            <p:cond delay="0"/>
                                          </p:stCondLst>
                                        </p:cTn>
                                        <p:tgtEl>
                                          <p:spTgt spid="625667">
                                            <p:txEl>
                                              <p:pRg st="4" end="4"/>
                                            </p:txEl>
                                          </p:spTgt>
                                        </p:tgtEl>
                                        <p:attrNameLst>
                                          <p:attrName>style.visibility</p:attrName>
                                        </p:attrNameLst>
                                      </p:cBhvr>
                                      <p:to>
                                        <p:strVal val="visible"/>
                                      </p:to>
                                    </p:set>
                                    <p:animEffect transition="in" filter="fade">
                                      <p:cBhvr>
                                        <p:cTn id="33" dur="1000"/>
                                        <p:tgtEl>
                                          <p:spTgt spid="625667">
                                            <p:txEl>
                                              <p:pRg st="4" end="4"/>
                                            </p:txEl>
                                          </p:spTgt>
                                        </p:tgtEl>
                                      </p:cBhvr>
                                    </p:animEffect>
                                    <p:anim calcmode="lin" valueType="num">
                                      <p:cBhvr>
                                        <p:cTn id="34" dur="1000" fill="hold"/>
                                        <p:tgtEl>
                                          <p:spTgt spid="625667">
                                            <p:txEl>
                                              <p:pRg st="4" end="4"/>
                                            </p:txEl>
                                          </p:spTgt>
                                        </p:tgtEl>
                                        <p:attrNameLst>
                                          <p:attrName>ppt_x</p:attrName>
                                        </p:attrNameLst>
                                      </p:cBhvr>
                                      <p:tavLst>
                                        <p:tav tm="0">
                                          <p:val>
                                            <p:strVal val="#ppt_x"/>
                                          </p:val>
                                        </p:tav>
                                        <p:tav tm="100000">
                                          <p:val>
                                            <p:strVal val="#ppt_x"/>
                                          </p:val>
                                        </p:tav>
                                      </p:tavLst>
                                    </p:anim>
                                    <p:anim calcmode="lin" valueType="num">
                                      <p:cBhvr>
                                        <p:cTn id="35" dur="900" decel="100000" fill="hold"/>
                                        <p:tgtEl>
                                          <p:spTgt spid="625667">
                                            <p:txEl>
                                              <p:pRg st="4" end="4"/>
                                            </p:txEl>
                                          </p:spTgt>
                                        </p:tgtEl>
                                        <p:attrNameLst>
                                          <p:attrName>ppt_y</p:attrName>
                                        </p:attrNameLst>
                                      </p:cBhvr>
                                      <p:tavLst>
                                        <p:tav tm="0">
                                          <p:val>
                                            <p:strVal val="#ppt_y+1"/>
                                          </p:val>
                                        </p:tav>
                                        <p:tav tm="100000">
                                          <p:val>
                                            <p:strVal val="#ppt_y-.03"/>
                                          </p:val>
                                        </p:tav>
                                      </p:tavLst>
                                    </p:anim>
                                    <p:anim calcmode="lin" valueType="num">
                                      <p:cBhvr>
                                        <p:cTn id="36" dur="100" accel="100000" fill="hold">
                                          <p:stCondLst>
                                            <p:cond delay="900"/>
                                          </p:stCondLst>
                                        </p:cTn>
                                        <p:tgtEl>
                                          <p:spTgt spid="625667">
                                            <p:txEl>
                                              <p:pRg st="4" end="4"/>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468313" y="908050"/>
            <a:ext cx="7793037" cy="1143000"/>
          </a:xfrm>
        </p:spPr>
        <p:txBody>
          <a:bodyPr/>
          <a:lstStyle/>
          <a:p>
            <a:pPr eaLnBrk="1" hangingPunct="1"/>
            <a:r>
              <a:rPr lang="en-US" altLang="zh-CN" sz="2800" smtClean="0">
                <a:solidFill>
                  <a:schemeClr val="tx1"/>
                </a:solidFill>
              </a:rPr>
              <a:t>3. </a:t>
            </a:r>
            <a:r>
              <a:rPr lang="zh-CN" altLang="en-US" sz="2800" smtClean="0">
                <a:solidFill>
                  <a:schemeClr val="tx1"/>
                </a:solidFill>
              </a:rPr>
              <a:t>带子查询的删除语句</a:t>
            </a:r>
          </a:p>
        </p:txBody>
      </p:sp>
      <p:sp>
        <p:nvSpPr>
          <p:cNvPr id="626691" name="Rectangle 3"/>
          <p:cNvSpPr>
            <a:spLocks noGrp="1" noChangeArrowheads="1"/>
          </p:cNvSpPr>
          <p:nvPr>
            <p:ph type="body" idx="1"/>
          </p:nvPr>
        </p:nvSpPr>
        <p:spPr>
          <a:xfrm>
            <a:off x="684213" y="1989138"/>
            <a:ext cx="7772400" cy="4114800"/>
          </a:xfrm>
        </p:spPr>
        <p:txBody>
          <a:bodyPr/>
          <a:lstStyle/>
          <a:p>
            <a:pPr eaLnBrk="1" hangingPunct="1">
              <a:buFont typeface="Wingdings" pitchFamily="2" charset="2"/>
              <a:buNone/>
            </a:pPr>
            <a:r>
              <a:rPr lang="en-US" altLang="zh-CN" sz="2400" smtClean="0">
                <a:latin typeface="黑体" pitchFamily="49" charset="-122"/>
                <a:ea typeface="黑体" pitchFamily="49" charset="-122"/>
              </a:rPr>
              <a:t>[</a:t>
            </a:r>
            <a:r>
              <a:rPr lang="zh-CN" altLang="en-US" sz="2400" smtClean="0">
                <a:latin typeface="黑体" pitchFamily="49" charset="-122"/>
                <a:ea typeface="黑体" pitchFamily="49" charset="-122"/>
              </a:rPr>
              <a:t>例</a:t>
            </a:r>
            <a:r>
              <a:rPr lang="en-US" altLang="zh-CN" sz="2400" smtClean="0">
                <a:latin typeface="黑体" pitchFamily="49" charset="-122"/>
                <a:ea typeface="黑体" pitchFamily="49" charset="-122"/>
              </a:rPr>
              <a:t>9]  </a:t>
            </a:r>
            <a:r>
              <a:rPr lang="zh-CN" altLang="en-US" sz="2400" smtClean="0">
                <a:latin typeface="黑体" pitchFamily="49" charset="-122"/>
                <a:ea typeface="黑体" pitchFamily="49" charset="-122"/>
              </a:rPr>
              <a:t>删除信息学院所有学生的选课记录。</a:t>
            </a:r>
          </a:p>
          <a:p>
            <a:pPr eaLnBrk="1" hangingPunct="1">
              <a:buFont typeface="Wingdings" pitchFamily="2" charset="2"/>
              <a:buNone/>
            </a:pPr>
            <a:r>
              <a:rPr lang="zh-CN" altLang="en-US" sz="2400" smtClean="0">
                <a:latin typeface="黑体" pitchFamily="49" charset="-122"/>
                <a:ea typeface="黑体" pitchFamily="49" charset="-122"/>
              </a:rPr>
              <a:t>       </a:t>
            </a:r>
            <a:r>
              <a:rPr lang="en-US" altLang="zh-CN" sz="2400" smtClean="0">
                <a:latin typeface="黑体" pitchFamily="49" charset="-122"/>
                <a:ea typeface="黑体" pitchFamily="49" charset="-122"/>
              </a:rPr>
              <a:t>Delete</a:t>
            </a:r>
          </a:p>
          <a:p>
            <a:pPr eaLnBrk="1" hangingPunct="1">
              <a:buFont typeface="Wingdings" pitchFamily="2" charset="2"/>
              <a:buNone/>
            </a:pPr>
            <a:r>
              <a:rPr lang="en-US" altLang="zh-CN" sz="2400" smtClean="0">
                <a:latin typeface="黑体" pitchFamily="49" charset="-122"/>
                <a:ea typeface="黑体" pitchFamily="49" charset="-122"/>
              </a:rPr>
              <a:t>       From sc</a:t>
            </a:r>
          </a:p>
          <a:p>
            <a:pPr eaLnBrk="1" hangingPunct="1">
              <a:buFont typeface="Wingdings" pitchFamily="2" charset="2"/>
              <a:buNone/>
            </a:pPr>
            <a:r>
              <a:rPr lang="en-US" altLang="zh-CN" sz="2400" smtClean="0">
                <a:latin typeface="黑体" pitchFamily="49" charset="-122"/>
                <a:ea typeface="黑体" pitchFamily="49" charset="-122"/>
              </a:rPr>
              <a:t>       Where sno in</a:t>
            </a:r>
          </a:p>
          <a:p>
            <a:pPr eaLnBrk="1" hangingPunct="1">
              <a:buFont typeface="Wingdings" pitchFamily="2" charset="2"/>
              <a:buNone/>
            </a:pPr>
            <a:r>
              <a:rPr lang="en-US" altLang="zh-CN" sz="2400" smtClean="0">
                <a:latin typeface="黑体" pitchFamily="49" charset="-122"/>
                <a:ea typeface="黑体" pitchFamily="49" charset="-122"/>
              </a:rPr>
              <a:t>           (Select sno</a:t>
            </a:r>
          </a:p>
          <a:p>
            <a:pPr eaLnBrk="1" hangingPunct="1">
              <a:buFont typeface="Wingdings" pitchFamily="2" charset="2"/>
              <a:buNone/>
            </a:pPr>
            <a:r>
              <a:rPr lang="en-US" altLang="zh-CN" sz="2400" smtClean="0">
                <a:latin typeface="黑体" pitchFamily="49" charset="-122"/>
                <a:ea typeface="黑体" pitchFamily="49" charset="-122"/>
              </a:rPr>
              <a:t>            From s</a:t>
            </a:r>
          </a:p>
          <a:p>
            <a:pPr eaLnBrk="1" hangingPunct="1">
              <a:buFont typeface="Wingdings" pitchFamily="2" charset="2"/>
              <a:buNone/>
            </a:pPr>
            <a:r>
              <a:rPr lang="en-US" altLang="zh-CN" sz="2400" smtClean="0">
                <a:latin typeface="黑体" pitchFamily="49" charset="-122"/>
                <a:ea typeface="黑体" pitchFamily="49" charset="-122"/>
              </a:rPr>
              <a:t>            Where College=</a:t>
            </a:r>
            <a:r>
              <a:rPr lang="en-US" altLang="zh-CN" sz="2400" smtClean="0">
                <a:ea typeface="黑体" pitchFamily="49" charset="-122"/>
              </a:rPr>
              <a:t>‘</a:t>
            </a:r>
            <a:r>
              <a:rPr lang="zh-CN" altLang="en-US" sz="2400" smtClean="0">
                <a:latin typeface="黑体" pitchFamily="49" charset="-122"/>
                <a:ea typeface="黑体" pitchFamily="49" charset="-122"/>
              </a:rPr>
              <a:t>信息</a:t>
            </a:r>
            <a:r>
              <a:rPr lang="zh-CN" altLang="en-US" sz="2400" smtClean="0">
                <a:ea typeface="黑体" pitchFamily="49" charset="-122"/>
              </a:rPr>
              <a:t>’</a:t>
            </a:r>
            <a:r>
              <a:rPr lang="en-US" altLang="zh-CN" sz="2400" smtClean="0">
                <a:latin typeface="黑体" pitchFamily="49" charset="-122"/>
                <a:ea typeface="黑体" pitchFamily="49" charset="-122"/>
              </a:rPr>
              <a:t>)</a:t>
            </a:r>
          </a:p>
          <a:p>
            <a:pPr eaLnBrk="1" hangingPunct="1">
              <a:buFont typeface="Wingdings" pitchFamily="2" charset="2"/>
              <a:buNone/>
            </a:pPr>
            <a:r>
              <a:rPr lang="en-US" altLang="zh-CN" sz="2400" smtClean="0">
                <a:latin typeface="黑体" pitchFamily="49" charset="-122"/>
                <a:ea typeface="黑体" pitchFamily="49" charset="-122"/>
              </a:rPr>
              <a:t>       COMMIT;</a:t>
            </a:r>
          </a:p>
        </p:txBody>
      </p:sp>
      <p:sp>
        <p:nvSpPr>
          <p:cNvPr id="4" name="Rectangle 2"/>
          <p:cNvSpPr txBox="1">
            <a:spLocks noChangeArrowheads="1"/>
          </p:cNvSpPr>
          <p:nvPr/>
        </p:nvSpPr>
        <p:spPr bwMode="auto">
          <a:xfrm>
            <a:off x="755650" y="71438"/>
            <a:ext cx="7793038" cy="90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smtClean="0"/>
              <a:t>3.5.3  </a:t>
            </a:r>
            <a:r>
              <a:rPr lang="zh-CN" altLang="en-US" b="0" kern="0" smtClean="0"/>
              <a:t>删除数据</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26691">
                                            <p:txEl>
                                              <p:pRg st="4" end="4"/>
                                            </p:txEl>
                                          </p:spTgt>
                                        </p:tgtEl>
                                        <p:attrNameLst>
                                          <p:attrName>style.visibility</p:attrName>
                                        </p:attrNameLst>
                                      </p:cBhvr>
                                      <p:to>
                                        <p:strVal val="visible"/>
                                      </p:to>
                                    </p:set>
                                    <p:anim calcmode="lin" valueType="num">
                                      <p:cBhvr additive="base">
                                        <p:cTn id="7" dur="500" fill="hold"/>
                                        <p:tgtEl>
                                          <p:spTgt spid="626691">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6691">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26691">
                                            <p:txEl>
                                              <p:pRg st="5" end="5"/>
                                            </p:txEl>
                                          </p:spTgt>
                                        </p:tgtEl>
                                        <p:attrNameLst>
                                          <p:attrName>style.visibility</p:attrName>
                                        </p:attrNameLst>
                                      </p:cBhvr>
                                      <p:to>
                                        <p:strVal val="visible"/>
                                      </p:to>
                                    </p:set>
                                    <p:anim calcmode="lin" valueType="num">
                                      <p:cBhvr additive="base">
                                        <p:cTn id="11" dur="500" fill="hold"/>
                                        <p:tgtEl>
                                          <p:spTgt spid="626691">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26691">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26691">
                                            <p:txEl>
                                              <p:pRg st="6" end="6"/>
                                            </p:txEl>
                                          </p:spTgt>
                                        </p:tgtEl>
                                        <p:attrNameLst>
                                          <p:attrName>style.visibility</p:attrName>
                                        </p:attrNameLst>
                                      </p:cBhvr>
                                      <p:to>
                                        <p:strVal val="visible"/>
                                      </p:to>
                                    </p:set>
                                    <p:anim calcmode="lin" valueType="num">
                                      <p:cBhvr additive="base">
                                        <p:cTn id="15" dur="500" fill="hold"/>
                                        <p:tgtEl>
                                          <p:spTgt spid="626691">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26691">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26691">
                                            <p:txEl>
                                              <p:pRg st="7" end="7"/>
                                            </p:txEl>
                                          </p:spTgt>
                                        </p:tgtEl>
                                        <p:attrNameLst>
                                          <p:attrName>style.visibility</p:attrName>
                                        </p:attrNameLst>
                                      </p:cBhvr>
                                      <p:to>
                                        <p:strVal val="visible"/>
                                      </p:to>
                                    </p:set>
                                    <p:anim calcmode="lin" valueType="num">
                                      <p:cBhvr additive="base">
                                        <p:cTn id="19" dur="500" fill="hold"/>
                                        <p:tgtEl>
                                          <p:spTgt spid="626691">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669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26691">
                                            <p:txEl>
                                              <p:pRg st="1" end="1"/>
                                            </p:txEl>
                                          </p:spTgt>
                                        </p:tgtEl>
                                        <p:attrNameLst>
                                          <p:attrName>style.visibility</p:attrName>
                                        </p:attrNameLst>
                                      </p:cBhvr>
                                      <p:to>
                                        <p:strVal val="visible"/>
                                      </p:to>
                                    </p:set>
                                    <p:anim calcmode="lin" valueType="num">
                                      <p:cBhvr additive="base">
                                        <p:cTn id="25" dur="500" fill="hold"/>
                                        <p:tgtEl>
                                          <p:spTgt spid="626691">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26691">
                                            <p:txEl>
                                              <p:pRg st="1" end="1"/>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26691">
                                            <p:txEl>
                                              <p:pRg st="2" end="2"/>
                                            </p:txEl>
                                          </p:spTgt>
                                        </p:tgtEl>
                                        <p:attrNameLst>
                                          <p:attrName>style.visibility</p:attrName>
                                        </p:attrNameLst>
                                      </p:cBhvr>
                                      <p:to>
                                        <p:strVal val="visible"/>
                                      </p:to>
                                    </p:set>
                                    <p:anim calcmode="lin" valueType="num">
                                      <p:cBhvr additive="base">
                                        <p:cTn id="29" dur="500" fill="hold"/>
                                        <p:tgtEl>
                                          <p:spTgt spid="626691">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26691">
                                            <p:txEl>
                                              <p:pRg st="2" end="2"/>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26691">
                                            <p:txEl>
                                              <p:pRg st="3" end="3"/>
                                            </p:txEl>
                                          </p:spTgt>
                                        </p:tgtEl>
                                        <p:attrNameLst>
                                          <p:attrName>style.visibility</p:attrName>
                                        </p:attrNameLst>
                                      </p:cBhvr>
                                      <p:to>
                                        <p:strVal val="visible"/>
                                      </p:to>
                                    </p:set>
                                    <p:anim calcmode="lin" valueType="num">
                                      <p:cBhvr additive="base">
                                        <p:cTn id="33" dur="500" fill="hold"/>
                                        <p:tgtEl>
                                          <p:spTgt spid="626691">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266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755650" y="0"/>
            <a:ext cx="7653338" cy="1125538"/>
          </a:xfrm>
        </p:spPr>
        <p:txBody>
          <a:bodyPr/>
          <a:lstStyle/>
          <a:p>
            <a:pPr eaLnBrk="1" hangingPunct="1"/>
            <a:r>
              <a:rPr lang="en-US" altLang="zh-CN" sz="3200" smtClean="0"/>
              <a:t>3.6  </a:t>
            </a:r>
            <a:r>
              <a:rPr lang="zh-CN" altLang="en-US" sz="3200" smtClean="0"/>
              <a:t>视 图</a:t>
            </a:r>
            <a:endParaRPr lang="zh-CN" altLang="en-US" smtClean="0"/>
          </a:p>
        </p:txBody>
      </p:sp>
      <p:sp>
        <p:nvSpPr>
          <p:cNvPr id="133123" name="Rectangle 3"/>
          <p:cNvSpPr>
            <a:spLocks noGrp="1" noChangeArrowheads="1"/>
          </p:cNvSpPr>
          <p:nvPr>
            <p:ph type="body" idx="1"/>
          </p:nvPr>
        </p:nvSpPr>
        <p:spPr>
          <a:xfrm>
            <a:off x="539750" y="1773238"/>
            <a:ext cx="8135938" cy="4608512"/>
          </a:xfrm>
        </p:spPr>
        <p:txBody>
          <a:bodyPr/>
          <a:lstStyle/>
          <a:p>
            <a:pPr eaLnBrk="1" hangingPunct="1">
              <a:lnSpc>
                <a:spcPct val="120000"/>
              </a:lnSpc>
              <a:buFont typeface="Wingdings" pitchFamily="2" charset="2"/>
              <a:buNone/>
              <a:defRPr/>
            </a:pPr>
            <a:r>
              <a:rPr lang="zh-CN" altLang="en-US" sz="2400" dirty="0" smtClean="0">
                <a:latin typeface="+mj-ea"/>
                <a:ea typeface="+mj-ea"/>
              </a:rPr>
              <a:t>视图的概念</a:t>
            </a:r>
          </a:p>
          <a:p>
            <a:pPr eaLnBrk="1" hangingPunct="1">
              <a:lnSpc>
                <a:spcPct val="120000"/>
              </a:lnSpc>
              <a:defRPr/>
            </a:pPr>
            <a:r>
              <a:rPr lang="zh-CN" altLang="en-US" sz="2400" dirty="0" smtClean="0">
                <a:latin typeface="+mj-ea"/>
                <a:ea typeface="+mj-ea"/>
              </a:rPr>
              <a:t>视图是从一个或几个基本表（或视图）导出的表，它与基本表不同，是一个虚表</a:t>
            </a:r>
          </a:p>
          <a:p>
            <a:pPr eaLnBrk="1" hangingPunct="1">
              <a:lnSpc>
                <a:spcPct val="120000"/>
              </a:lnSpc>
              <a:defRPr/>
            </a:pPr>
            <a:r>
              <a:rPr lang="zh-CN" altLang="en-US" sz="2400" dirty="0" smtClean="0">
                <a:latin typeface="+mj-ea"/>
                <a:ea typeface="+mj-ea"/>
              </a:rPr>
              <a:t>数据库中只存放视图的定义，而不存放视图对应的数据，这些数据仍存放在原来的基本表中，不会出现数据冗余</a:t>
            </a:r>
          </a:p>
          <a:p>
            <a:pPr eaLnBrk="1" hangingPunct="1">
              <a:lnSpc>
                <a:spcPct val="120000"/>
              </a:lnSpc>
              <a:defRPr/>
            </a:pPr>
            <a:r>
              <a:rPr lang="zh-CN" altLang="en-US" sz="2400" dirty="0" smtClean="0">
                <a:latin typeface="+mj-ea"/>
                <a:ea typeface="+mj-ea"/>
              </a:rPr>
              <a:t>基表中的数据发生变化，从视图中查询出的数据也随之改变</a:t>
            </a:r>
          </a:p>
        </p:txBody>
      </p:sp>
    </p:spTree>
  </p:cSld>
  <p:clrMapOvr>
    <a:masterClrMapping/>
  </p:clrMapOvr>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900113" y="0"/>
            <a:ext cx="7508875" cy="1125538"/>
          </a:xfrm>
        </p:spPr>
        <p:txBody>
          <a:bodyPr/>
          <a:lstStyle/>
          <a:p>
            <a:pPr eaLnBrk="1" hangingPunct="1"/>
            <a:r>
              <a:rPr lang="en-US" altLang="zh-CN" sz="3200" smtClean="0"/>
              <a:t>3. 6  </a:t>
            </a:r>
            <a:r>
              <a:rPr lang="zh-CN" altLang="en-US" sz="3200" smtClean="0"/>
              <a:t>视 图</a:t>
            </a:r>
          </a:p>
        </p:txBody>
      </p:sp>
      <p:sp>
        <p:nvSpPr>
          <p:cNvPr id="134147" name="Rectangle 3"/>
          <p:cNvSpPr>
            <a:spLocks noGrp="1" noChangeArrowheads="1"/>
          </p:cNvSpPr>
          <p:nvPr>
            <p:ph type="body" idx="1"/>
          </p:nvPr>
        </p:nvSpPr>
        <p:spPr>
          <a:xfrm>
            <a:off x="1403350" y="1844675"/>
            <a:ext cx="4902200" cy="4114800"/>
          </a:xfrm>
        </p:spPr>
        <p:txBody>
          <a:bodyPr/>
          <a:lstStyle/>
          <a:p>
            <a:pPr eaLnBrk="1" hangingPunct="1">
              <a:lnSpc>
                <a:spcPct val="110000"/>
              </a:lnSpc>
              <a:buFont typeface="Wingdings" pitchFamily="2" charset="2"/>
              <a:buNone/>
              <a:defRPr/>
            </a:pPr>
            <a:r>
              <a:rPr lang="en-US" altLang="zh-CN" dirty="0" smtClean="0">
                <a:solidFill>
                  <a:srgbClr val="FF0000"/>
                </a:solidFill>
                <a:latin typeface="+mj-ea"/>
                <a:ea typeface="+mj-ea"/>
              </a:rPr>
              <a:t>3.6.1  </a:t>
            </a:r>
            <a:r>
              <a:rPr lang="zh-CN" altLang="en-US" dirty="0" smtClean="0">
                <a:solidFill>
                  <a:srgbClr val="FF0000"/>
                </a:solidFill>
                <a:latin typeface="+mj-ea"/>
                <a:ea typeface="+mj-ea"/>
              </a:rPr>
              <a:t>定义视图</a:t>
            </a:r>
          </a:p>
          <a:p>
            <a:pPr eaLnBrk="1" hangingPunct="1">
              <a:lnSpc>
                <a:spcPct val="110000"/>
              </a:lnSpc>
              <a:buFont typeface="Wingdings" pitchFamily="2" charset="2"/>
              <a:buNone/>
              <a:defRPr/>
            </a:pPr>
            <a:r>
              <a:rPr lang="en-US" altLang="zh-CN" dirty="0" smtClean="0">
                <a:latin typeface="+mj-ea"/>
                <a:ea typeface="+mj-ea"/>
              </a:rPr>
              <a:t>3.6.2  </a:t>
            </a:r>
            <a:r>
              <a:rPr lang="zh-CN" altLang="en-US" dirty="0" smtClean="0">
                <a:latin typeface="+mj-ea"/>
                <a:ea typeface="+mj-ea"/>
              </a:rPr>
              <a:t>查询视图</a:t>
            </a:r>
          </a:p>
          <a:p>
            <a:pPr eaLnBrk="1" hangingPunct="1">
              <a:lnSpc>
                <a:spcPct val="110000"/>
              </a:lnSpc>
              <a:buFont typeface="Wingdings" pitchFamily="2" charset="2"/>
              <a:buNone/>
              <a:defRPr/>
            </a:pPr>
            <a:r>
              <a:rPr lang="en-US" altLang="zh-CN" dirty="0" smtClean="0">
                <a:latin typeface="+mj-ea"/>
                <a:ea typeface="+mj-ea"/>
              </a:rPr>
              <a:t>3.6.3  </a:t>
            </a:r>
            <a:r>
              <a:rPr lang="zh-CN" altLang="en-US" dirty="0" smtClean="0">
                <a:latin typeface="+mj-ea"/>
                <a:ea typeface="+mj-ea"/>
              </a:rPr>
              <a:t>更新视图</a:t>
            </a:r>
          </a:p>
          <a:p>
            <a:pPr eaLnBrk="1" hangingPunct="1">
              <a:lnSpc>
                <a:spcPct val="110000"/>
              </a:lnSpc>
              <a:buFont typeface="Wingdings" pitchFamily="2" charset="2"/>
              <a:buNone/>
              <a:defRPr/>
            </a:pPr>
            <a:r>
              <a:rPr lang="en-US" altLang="zh-CN" dirty="0" smtClean="0">
                <a:latin typeface="+mj-ea"/>
                <a:ea typeface="+mj-ea"/>
              </a:rPr>
              <a:t>3.6.4  </a:t>
            </a:r>
            <a:r>
              <a:rPr lang="zh-CN" altLang="en-US" dirty="0" smtClean="0">
                <a:latin typeface="+mj-ea"/>
                <a:ea typeface="+mj-ea"/>
              </a:rPr>
              <a:t>视图的作用</a:t>
            </a:r>
          </a:p>
          <a:p>
            <a:pPr eaLnBrk="1" hangingPunct="1">
              <a:lnSpc>
                <a:spcPct val="110000"/>
              </a:lnSpc>
              <a:buFont typeface="Wingdings" pitchFamily="2" charset="2"/>
              <a:buNone/>
              <a:defRPr/>
            </a:pPr>
            <a:endParaRPr lang="en-US" altLang="zh-CN" dirty="0" smtClean="0">
              <a:latin typeface="+mj-ea"/>
              <a:ea typeface="+mj-ea"/>
            </a:endParaRPr>
          </a:p>
        </p:txBody>
      </p:sp>
    </p:spTree>
  </p:cSld>
  <p:clrMapOvr>
    <a:masterClrMapping/>
  </p:clrMapOvr>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pPr eaLnBrk="1" hangingPunct="1">
              <a:lnSpc>
                <a:spcPct val="110000"/>
              </a:lnSpc>
              <a:defRPr/>
            </a:pPr>
            <a:r>
              <a:rPr lang="en-US" altLang="zh-CN" sz="3200" dirty="0" smtClean="0">
                <a:latin typeface="+mj-ea"/>
              </a:rPr>
              <a:t>3.6.1  </a:t>
            </a:r>
            <a:r>
              <a:rPr lang="zh-CN" altLang="en-US" sz="3200" dirty="0" smtClean="0">
                <a:latin typeface="+mj-ea"/>
              </a:rPr>
              <a:t>定义视图</a:t>
            </a:r>
          </a:p>
        </p:txBody>
      </p:sp>
      <p:sp>
        <p:nvSpPr>
          <p:cNvPr id="135171" name="Rectangle 3"/>
          <p:cNvSpPr>
            <a:spLocks noGrp="1" noChangeArrowheads="1"/>
          </p:cNvSpPr>
          <p:nvPr>
            <p:ph type="body" idx="1"/>
          </p:nvPr>
        </p:nvSpPr>
        <p:spPr>
          <a:xfrm>
            <a:off x="539750" y="1341438"/>
            <a:ext cx="7772400" cy="4824412"/>
          </a:xfrm>
        </p:spPr>
        <p:txBody>
          <a:bodyPr/>
          <a:lstStyle/>
          <a:p>
            <a:pPr eaLnBrk="1" hangingPunct="1">
              <a:lnSpc>
                <a:spcPct val="90000"/>
              </a:lnSpc>
              <a:spcBef>
                <a:spcPct val="0"/>
              </a:spcBef>
              <a:defRPr/>
            </a:pPr>
            <a:r>
              <a:rPr lang="zh-CN" altLang="en-US" sz="2400" dirty="0" smtClean="0">
                <a:latin typeface="+mj-ea"/>
                <a:ea typeface="+mj-ea"/>
              </a:rPr>
              <a:t>语句格式</a:t>
            </a:r>
          </a:p>
          <a:p>
            <a:pPr eaLnBrk="1" hangingPunct="1">
              <a:lnSpc>
                <a:spcPct val="90000"/>
              </a:lnSpc>
              <a:spcBef>
                <a:spcPct val="0"/>
              </a:spcBef>
              <a:defRPr/>
            </a:pPr>
            <a:endParaRPr lang="zh-CN" altLang="en-US" sz="2400" dirty="0" smtClean="0">
              <a:latin typeface="+mj-ea"/>
              <a:ea typeface="+mj-ea"/>
            </a:endParaRPr>
          </a:p>
          <a:p>
            <a:pPr algn="ctr" eaLnBrk="1" hangingPunct="1">
              <a:lnSpc>
                <a:spcPct val="90000"/>
              </a:lnSpc>
              <a:spcBef>
                <a:spcPct val="0"/>
              </a:spcBef>
              <a:buFont typeface="Wingdings" pitchFamily="2" charset="2"/>
              <a:buNone/>
              <a:defRPr/>
            </a:pPr>
            <a:r>
              <a:rPr lang="zh-CN" altLang="en-US" sz="2400" dirty="0" smtClean="0">
                <a:solidFill>
                  <a:srgbClr val="FF3399"/>
                </a:solidFill>
                <a:latin typeface="+mj-ea"/>
                <a:ea typeface="+mj-ea"/>
              </a:rPr>
              <a:t> </a:t>
            </a:r>
            <a:r>
              <a:rPr lang="en-US" altLang="zh-CN" sz="2400" dirty="0" smtClean="0">
                <a:solidFill>
                  <a:srgbClr val="FF0000"/>
                </a:solidFill>
                <a:latin typeface="+mj-ea"/>
                <a:ea typeface="+mj-ea"/>
              </a:rPr>
              <a:t>CREATE VIEW </a:t>
            </a:r>
            <a:r>
              <a:rPr lang="en-US" altLang="zh-CN" sz="2400" dirty="0" smtClean="0">
                <a:latin typeface="+mj-ea"/>
                <a:ea typeface="+mj-ea"/>
              </a:rPr>
              <a:t>&lt;</a:t>
            </a:r>
            <a:r>
              <a:rPr lang="zh-CN" altLang="en-US" sz="2400" dirty="0" smtClean="0">
                <a:latin typeface="+mj-ea"/>
                <a:ea typeface="+mj-ea"/>
              </a:rPr>
              <a:t>视图名</a:t>
            </a:r>
            <a:r>
              <a:rPr lang="en-US" altLang="zh-CN" sz="2400" dirty="0" smtClean="0">
                <a:latin typeface="+mj-ea"/>
                <a:ea typeface="+mj-ea"/>
              </a:rPr>
              <a:t>&gt; [(&lt;</a:t>
            </a:r>
            <a:r>
              <a:rPr lang="zh-CN" altLang="en-US" sz="2400" dirty="0" smtClean="0">
                <a:latin typeface="+mj-ea"/>
                <a:ea typeface="+mj-ea"/>
              </a:rPr>
              <a:t>列名</a:t>
            </a:r>
            <a:r>
              <a:rPr lang="en-US" altLang="zh-CN" sz="2400" dirty="0" smtClean="0">
                <a:latin typeface="+mj-ea"/>
                <a:ea typeface="+mj-ea"/>
              </a:rPr>
              <a:t>&gt; [</a:t>
            </a:r>
            <a:r>
              <a:rPr lang="zh-CN" altLang="en-US" sz="2400" dirty="0" smtClean="0">
                <a:latin typeface="+mj-ea"/>
                <a:ea typeface="+mj-ea"/>
              </a:rPr>
              <a:t>，</a:t>
            </a:r>
            <a:r>
              <a:rPr lang="en-US" altLang="zh-CN" sz="2400" dirty="0" smtClean="0">
                <a:latin typeface="+mj-ea"/>
                <a:ea typeface="+mj-ea"/>
              </a:rPr>
              <a:t>&lt;</a:t>
            </a:r>
            <a:r>
              <a:rPr lang="zh-CN" altLang="en-US" sz="2400" dirty="0" smtClean="0">
                <a:latin typeface="+mj-ea"/>
                <a:ea typeface="+mj-ea"/>
              </a:rPr>
              <a:t>列名</a:t>
            </a:r>
            <a:r>
              <a:rPr lang="en-US" altLang="zh-CN" sz="2400" dirty="0" smtClean="0">
                <a:latin typeface="+mj-ea"/>
                <a:ea typeface="+mj-ea"/>
              </a:rPr>
              <a:t>&gt;]…)]</a:t>
            </a:r>
          </a:p>
          <a:p>
            <a:pPr eaLnBrk="1" hangingPunct="1">
              <a:lnSpc>
                <a:spcPct val="90000"/>
              </a:lnSpc>
              <a:spcBef>
                <a:spcPct val="0"/>
              </a:spcBef>
              <a:buFont typeface="Wingdings" pitchFamily="2" charset="2"/>
              <a:buNone/>
              <a:defRPr/>
            </a:pPr>
            <a:r>
              <a:rPr lang="en-US" altLang="zh-CN" sz="2400" dirty="0" smtClean="0">
                <a:solidFill>
                  <a:srgbClr val="FF3399"/>
                </a:solidFill>
                <a:latin typeface="+mj-ea"/>
                <a:ea typeface="+mj-ea"/>
              </a:rPr>
              <a:t>     </a:t>
            </a:r>
            <a:r>
              <a:rPr lang="en-US" altLang="zh-CN" sz="2400" dirty="0" smtClean="0">
                <a:solidFill>
                  <a:srgbClr val="FF0000"/>
                </a:solidFill>
                <a:latin typeface="+mj-ea"/>
                <a:ea typeface="+mj-ea"/>
              </a:rPr>
              <a:t>AS</a:t>
            </a:r>
            <a:r>
              <a:rPr lang="en-US" altLang="zh-CN" sz="2400" dirty="0" smtClean="0">
                <a:latin typeface="+mj-ea"/>
                <a:ea typeface="+mj-ea"/>
              </a:rPr>
              <a:t> &lt;</a:t>
            </a:r>
            <a:r>
              <a:rPr lang="zh-CN" altLang="en-US" sz="2400" dirty="0" smtClean="0">
                <a:latin typeface="+mj-ea"/>
                <a:ea typeface="+mj-ea"/>
              </a:rPr>
              <a:t>子查询</a:t>
            </a:r>
            <a:r>
              <a:rPr lang="en-US" altLang="zh-CN" sz="2400" dirty="0" smtClean="0">
                <a:latin typeface="+mj-ea"/>
                <a:ea typeface="+mj-ea"/>
              </a:rPr>
              <a:t>&gt;</a:t>
            </a:r>
          </a:p>
          <a:p>
            <a:pPr eaLnBrk="1" hangingPunct="1">
              <a:lnSpc>
                <a:spcPct val="90000"/>
              </a:lnSpc>
              <a:spcBef>
                <a:spcPct val="0"/>
              </a:spcBef>
              <a:buFont typeface="Wingdings" pitchFamily="2" charset="2"/>
              <a:buNone/>
              <a:defRPr/>
            </a:pPr>
            <a:r>
              <a:rPr lang="en-US" altLang="zh-CN" sz="2400" dirty="0" smtClean="0">
                <a:latin typeface="+mj-ea"/>
                <a:ea typeface="+mj-ea"/>
              </a:rPr>
              <a:t>   [</a:t>
            </a:r>
            <a:r>
              <a:rPr lang="en-US" altLang="zh-CN" sz="2400" dirty="0" smtClean="0">
                <a:solidFill>
                  <a:srgbClr val="FF0000"/>
                </a:solidFill>
                <a:latin typeface="+mj-ea"/>
                <a:ea typeface="+mj-ea"/>
              </a:rPr>
              <a:t>WITH  CHECK  OPTION</a:t>
            </a:r>
            <a:r>
              <a:rPr lang="en-US" altLang="zh-CN" sz="2400" dirty="0" smtClean="0">
                <a:latin typeface="+mj-ea"/>
                <a:ea typeface="+mj-ea"/>
              </a:rPr>
              <a:t>]</a:t>
            </a:r>
            <a:r>
              <a:rPr lang="zh-CN" altLang="en-US" sz="2400" dirty="0" smtClean="0">
                <a:latin typeface="+mj-ea"/>
                <a:ea typeface="+mj-ea"/>
              </a:rPr>
              <a:t>；</a:t>
            </a:r>
          </a:p>
          <a:p>
            <a:pPr eaLnBrk="1" hangingPunct="1">
              <a:lnSpc>
                <a:spcPct val="90000"/>
              </a:lnSpc>
              <a:spcBef>
                <a:spcPct val="0"/>
              </a:spcBef>
              <a:buFont typeface="Wingdings" pitchFamily="2" charset="2"/>
              <a:buNone/>
              <a:defRPr/>
            </a:pPr>
            <a:endParaRPr lang="zh-CN" altLang="en-US" sz="2600" dirty="0" smtClean="0">
              <a:latin typeface="+mj-ea"/>
              <a:ea typeface="+mj-ea"/>
            </a:endParaRPr>
          </a:p>
          <a:p>
            <a:pPr eaLnBrk="1" hangingPunct="1">
              <a:lnSpc>
                <a:spcPct val="120000"/>
              </a:lnSpc>
              <a:spcBef>
                <a:spcPct val="0"/>
              </a:spcBef>
              <a:defRPr/>
            </a:pPr>
            <a:r>
              <a:rPr lang="en-US" altLang="zh-CN" sz="2200" dirty="0" smtClean="0">
                <a:latin typeface="+mj-ea"/>
                <a:ea typeface="+mj-ea"/>
              </a:rPr>
              <a:t>DBMS</a:t>
            </a:r>
            <a:r>
              <a:rPr lang="zh-CN" altLang="en-US" sz="2200" dirty="0" smtClean="0">
                <a:latin typeface="+mj-ea"/>
                <a:ea typeface="+mj-ea"/>
              </a:rPr>
              <a:t>执行</a:t>
            </a:r>
            <a:r>
              <a:rPr lang="en-US" altLang="zh-CN" sz="2200" dirty="0" smtClean="0">
                <a:latin typeface="+mj-ea"/>
                <a:ea typeface="+mj-ea"/>
              </a:rPr>
              <a:t>CREATE VIEW</a:t>
            </a:r>
            <a:r>
              <a:rPr lang="zh-CN" altLang="en-US" sz="2200" dirty="0" smtClean="0">
                <a:latin typeface="+mj-ea"/>
                <a:ea typeface="+mj-ea"/>
              </a:rPr>
              <a:t>语句时只是把视图的定义存入数据字典，并不执行其中的</a:t>
            </a:r>
            <a:r>
              <a:rPr lang="en-US" altLang="zh-CN" sz="2200" dirty="0" smtClean="0">
                <a:latin typeface="+mj-ea"/>
                <a:ea typeface="+mj-ea"/>
              </a:rPr>
              <a:t>SELECT</a:t>
            </a:r>
            <a:r>
              <a:rPr lang="zh-CN" altLang="en-US" sz="2200" dirty="0" smtClean="0">
                <a:latin typeface="+mj-ea"/>
                <a:ea typeface="+mj-ea"/>
              </a:rPr>
              <a:t>语句。</a:t>
            </a:r>
          </a:p>
          <a:p>
            <a:pPr eaLnBrk="1" hangingPunct="1">
              <a:lnSpc>
                <a:spcPct val="120000"/>
              </a:lnSpc>
              <a:spcBef>
                <a:spcPct val="0"/>
              </a:spcBef>
              <a:defRPr/>
            </a:pPr>
            <a:r>
              <a:rPr lang="zh-CN" altLang="en-US" sz="2200" dirty="0" smtClean="0">
                <a:latin typeface="+mj-ea"/>
                <a:ea typeface="+mj-ea"/>
              </a:rPr>
              <a:t>在对视图查询时，按视图的定义从基本表中将数据查出。</a:t>
            </a:r>
          </a:p>
          <a:p>
            <a:pPr eaLnBrk="1" hangingPunct="1">
              <a:lnSpc>
                <a:spcPct val="120000"/>
              </a:lnSpc>
              <a:spcBef>
                <a:spcPct val="0"/>
              </a:spcBef>
              <a:defRPr/>
            </a:pPr>
            <a:r>
              <a:rPr lang="en-US" altLang="zh-CN" sz="2200" dirty="0" smtClean="0">
                <a:latin typeface="+mj-ea"/>
                <a:ea typeface="+mj-ea"/>
              </a:rPr>
              <a:t>With Check Option</a:t>
            </a:r>
            <a:r>
              <a:rPr lang="zh-CN" altLang="en-US" sz="2200" dirty="0" smtClean="0">
                <a:latin typeface="+mj-ea"/>
                <a:ea typeface="+mj-ea"/>
              </a:rPr>
              <a:t>表示对视图进行</a:t>
            </a:r>
            <a:r>
              <a:rPr lang="en-US" altLang="zh-CN" sz="2200" dirty="0" smtClean="0">
                <a:latin typeface="+mj-ea"/>
                <a:ea typeface="+mj-ea"/>
              </a:rPr>
              <a:t>Update</a:t>
            </a:r>
            <a:r>
              <a:rPr lang="zh-CN" altLang="en-US" sz="2200" dirty="0" smtClean="0">
                <a:latin typeface="+mj-ea"/>
                <a:ea typeface="+mj-ea"/>
              </a:rPr>
              <a:t>、</a:t>
            </a:r>
            <a:r>
              <a:rPr lang="en-US" altLang="zh-CN" sz="2200" dirty="0" smtClean="0">
                <a:latin typeface="+mj-ea"/>
                <a:ea typeface="+mj-ea"/>
              </a:rPr>
              <a:t>Insert</a:t>
            </a:r>
            <a:r>
              <a:rPr lang="zh-CN" altLang="en-US" sz="2200" dirty="0" smtClean="0">
                <a:latin typeface="+mj-ea"/>
                <a:ea typeface="+mj-ea"/>
              </a:rPr>
              <a:t>和</a:t>
            </a:r>
            <a:r>
              <a:rPr lang="en-US" altLang="zh-CN" sz="2200" dirty="0" smtClean="0">
                <a:latin typeface="+mj-ea"/>
                <a:ea typeface="+mj-ea"/>
              </a:rPr>
              <a:t>Delete</a:t>
            </a:r>
            <a:r>
              <a:rPr lang="zh-CN" altLang="en-US" sz="2200" dirty="0" smtClean="0">
                <a:latin typeface="+mj-ea"/>
                <a:ea typeface="+mj-ea"/>
              </a:rPr>
              <a:t>操作时要保证更新、插入或删除的行满足视图定义中的谓词条件（即子查询中的条件表达式）</a:t>
            </a:r>
          </a:p>
        </p:txBody>
      </p:sp>
    </p:spTree>
  </p:cSld>
  <p:clrMapOvr>
    <a:masterClrMapping/>
  </p:clrMapOvr>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755650" y="908050"/>
            <a:ext cx="8229600" cy="1125538"/>
          </a:xfrm>
        </p:spPr>
        <p:txBody>
          <a:bodyPr/>
          <a:lstStyle/>
          <a:p>
            <a:pPr eaLnBrk="1" hangingPunct="1"/>
            <a:r>
              <a:rPr lang="zh-CN" altLang="en-US" sz="2800" smtClean="0">
                <a:solidFill>
                  <a:schemeClr val="tx1"/>
                </a:solidFill>
              </a:rPr>
              <a:t>常见的视图类型</a:t>
            </a:r>
          </a:p>
        </p:txBody>
      </p:sp>
      <p:sp>
        <p:nvSpPr>
          <p:cNvPr id="136195" name="Rectangle 3"/>
          <p:cNvSpPr>
            <a:spLocks noGrp="1" noChangeArrowheads="1"/>
          </p:cNvSpPr>
          <p:nvPr>
            <p:ph type="body" idx="1"/>
          </p:nvPr>
        </p:nvSpPr>
        <p:spPr>
          <a:xfrm>
            <a:off x="1116013" y="1916113"/>
            <a:ext cx="5953125" cy="4114800"/>
          </a:xfrm>
        </p:spPr>
        <p:txBody>
          <a:bodyPr/>
          <a:lstStyle/>
          <a:p>
            <a:pPr lvl="1" eaLnBrk="1" hangingPunct="1">
              <a:lnSpc>
                <a:spcPct val="110000"/>
              </a:lnSpc>
              <a:defRPr/>
            </a:pPr>
            <a:r>
              <a:rPr lang="zh-CN" altLang="en-US" sz="2400" dirty="0" smtClean="0">
                <a:latin typeface="+mj-ea"/>
                <a:ea typeface="+mj-ea"/>
              </a:rPr>
              <a:t>行列子集视图</a:t>
            </a:r>
          </a:p>
          <a:p>
            <a:pPr lvl="1" eaLnBrk="1" hangingPunct="1">
              <a:lnSpc>
                <a:spcPct val="110000"/>
              </a:lnSpc>
              <a:defRPr/>
            </a:pPr>
            <a:r>
              <a:rPr lang="en-US" altLang="zh-CN" sz="2400" dirty="0" smtClean="0">
                <a:latin typeface="+mj-ea"/>
                <a:ea typeface="+mj-ea"/>
              </a:rPr>
              <a:t>WITH CHECK OPTION</a:t>
            </a:r>
            <a:r>
              <a:rPr lang="zh-CN" altLang="en-US" sz="2400" dirty="0" smtClean="0">
                <a:latin typeface="+mj-ea"/>
                <a:ea typeface="+mj-ea"/>
              </a:rPr>
              <a:t>的视图</a:t>
            </a:r>
          </a:p>
          <a:p>
            <a:pPr lvl="1" eaLnBrk="1" hangingPunct="1">
              <a:lnSpc>
                <a:spcPct val="110000"/>
              </a:lnSpc>
              <a:defRPr/>
            </a:pPr>
            <a:r>
              <a:rPr lang="zh-CN" altLang="en-US" sz="2400" dirty="0" smtClean="0">
                <a:latin typeface="+mj-ea"/>
                <a:ea typeface="+mj-ea"/>
              </a:rPr>
              <a:t>基于多个基表的视图</a:t>
            </a:r>
          </a:p>
          <a:p>
            <a:pPr lvl="1" eaLnBrk="1" hangingPunct="1">
              <a:lnSpc>
                <a:spcPct val="110000"/>
              </a:lnSpc>
              <a:defRPr/>
            </a:pPr>
            <a:r>
              <a:rPr lang="zh-CN" altLang="en-US" sz="2400" dirty="0" smtClean="0">
                <a:latin typeface="+mj-ea"/>
                <a:ea typeface="+mj-ea"/>
              </a:rPr>
              <a:t>基于视图的视图</a:t>
            </a:r>
          </a:p>
          <a:p>
            <a:pPr lvl="1" eaLnBrk="1" hangingPunct="1">
              <a:lnSpc>
                <a:spcPct val="110000"/>
              </a:lnSpc>
              <a:defRPr/>
            </a:pPr>
            <a:r>
              <a:rPr lang="zh-CN" altLang="en-US" sz="2400" dirty="0" smtClean="0">
                <a:latin typeface="+mj-ea"/>
                <a:ea typeface="+mj-ea"/>
              </a:rPr>
              <a:t>带表达式的视图</a:t>
            </a:r>
          </a:p>
          <a:p>
            <a:pPr lvl="1" eaLnBrk="1" hangingPunct="1">
              <a:lnSpc>
                <a:spcPct val="110000"/>
              </a:lnSpc>
              <a:defRPr/>
            </a:pPr>
            <a:r>
              <a:rPr lang="zh-CN" altLang="en-US" sz="2400" dirty="0" smtClean="0">
                <a:latin typeface="+mj-ea"/>
                <a:ea typeface="+mj-ea"/>
              </a:rPr>
              <a:t>分组视图</a:t>
            </a:r>
          </a:p>
        </p:txBody>
      </p:sp>
      <p:sp>
        <p:nvSpPr>
          <p:cNvPr id="4" name="Rectangle 2"/>
          <p:cNvSpPr txBox="1">
            <a:spLocks noChangeArrowheads="1"/>
          </p:cNvSpPr>
          <p:nvPr/>
        </p:nvSpPr>
        <p:spPr bwMode="auto">
          <a:xfrm>
            <a:off x="179388" y="0"/>
            <a:ext cx="82296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lnSpc>
                <a:spcPct val="110000"/>
              </a:lnSpc>
              <a:defRPr/>
            </a:pPr>
            <a:r>
              <a:rPr lang="en-US" altLang="zh-CN" sz="3200" b="0" kern="0" smtClean="0">
                <a:latin typeface="+mj-ea"/>
              </a:rPr>
              <a:t>3.6.1  </a:t>
            </a:r>
            <a:r>
              <a:rPr lang="zh-CN" altLang="en-US" sz="3200" b="0" kern="0" smtClean="0">
                <a:latin typeface="+mj-ea"/>
              </a:rPr>
              <a:t>定义视图</a:t>
            </a:r>
            <a:endParaRPr lang="zh-CN" altLang="en-US" sz="3200" b="0" kern="0" dirty="0" smtClean="0">
              <a:latin typeface="+mj-ea"/>
            </a:endParaRPr>
          </a:p>
        </p:txBody>
      </p:sp>
    </p:spTree>
  </p:cSld>
  <p:clrMapOvr>
    <a:masterClrMapping/>
  </p:clrMapOvr>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468313" y="1125538"/>
            <a:ext cx="8229600" cy="790575"/>
          </a:xfrm>
        </p:spPr>
        <p:txBody>
          <a:bodyPr/>
          <a:lstStyle/>
          <a:p>
            <a:pPr eaLnBrk="1" hangingPunct="1"/>
            <a:r>
              <a:rPr lang="zh-CN" altLang="en-US" sz="2800" smtClean="0">
                <a:solidFill>
                  <a:srgbClr val="FF0000"/>
                </a:solidFill>
              </a:rPr>
              <a:t>行列子集视图</a:t>
            </a:r>
          </a:p>
        </p:txBody>
      </p:sp>
      <p:sp>
        <p:nvSpPr>
          <p:cNvPr id="636931" name="Rectangle 3"/>
          <p:cNvSpPr>
            <a:spLocks noGrp="1" noChangeArrowheads="1"/>
          </p:cNvSpPr>
          <p:nvPr>
            <p:ph type="body" idx="1"/>
          </p:nvPr>
        </p:nvSpPr>
        <p:spPr>
          <a:xfrm>
            <a:off x="611188" y="1989138"/>
            <a:ext cx="7772400" cy="4608512"/>
          </a:xfrm>
        </p:spPr>
        <p:txBody>
          <a:bodyPr/>
          <a:lstStyle/>
          <a:p>
            <a:pPr eaLnBrk="1" hangingPunct="1">
              <a:lnSpc>
                <a:spcPct val="90000"/>
              </a:lnSpc>
              <a:buFont typeface="Wingdings" pitchFamily="2" charset="2"/>
              <a:buNone/>
              <a:defRPr/>
            </a:pPr>
            <a:r>
              <a:rPr lang="en-US" altLang="zh-CN" sz="2400" dirty="0" smtClean="0">
                <a:latin typeface="+mj-ea"/>
                <a:ea typeface="+mj-ea"/>
              </a:rPr>
              <a:t> [</a:t>
            </a:r>
            <a:r>
              <a:rPr lang="zh-CN" altLang="en-US" sz="2400" dirty="0" smtClean="0">
                <a:latin typeface="+mj-ea"/>
                <a:ea typeface="+mj-ea"/>
              </a:rPr>
              <a:t>例</a:t>
            </a:r>
            <a:r>
              <a:rPr lang="en-US" altLang="zh-CN" sz="2400" dirty="0" smtClean="0">
                <a:latin typeface="+mj-ea"/>
                <a:ea typeface="+mj-ea"/>
              </a:rPr>
              <a:t>1]  </a:t>
            </a:r>
            <a:r>
              <a:rPr lang="zh-CN" altLang="en-US" sz="2400" dirty="0" smtClean="0">
                <a:latin typeface="+mj-ea"/>
                <a:ea typeface="+mj-ea"/>
              </a:rPr>
              <a:t>建立植保学院学生的视图</a:t>
            </a:r>
            <a:r>
              <a:rPr lang="en-US" altLang="zh-CN" sz="2400" dirty="0" smtClean="0">
                <a:latin typeface="+mj-ea"/>
                <a:ea typeface="+mj-ea"/>
              </a:rPr>
              <a:t>,</a:t>
            </a:r>
            <a:r>
              <a:rPr lang="zh-CN" altLang="en-US" sz="2400" dirty="0" smtClean="0">
                <a:latin typeface="+mj-ea"/>
                <a:ea typeface="+mj-ea"/>
              </a:rPr>
              <a:t>视图中包括学号、姓名、出生日期、学院属性。</a:t>
            </a:r>
          </a:p>
          <a:p>
            <a:pPr eaLnBrk="1" hangingPunct="1">
              <a:lnSpc>
                <a:spcPct val="90000"/>
              </a:lnSpc>
              <a:buFont typeface="Wingdings" pitchFamily="2" charset="2"/>
              <a:buNone/>
              <a:defRPr/>
            </a:pPr>
            <a:r>
              <a:rPr lang="zh-CN" altLang="en-US" sz="2400" dirty="0" smtClean="0">
                <a:latin typeface="+mj-ea"/>
                <a:ea typeface="+mj-ea"/>
              </a:rPr>
              <a:t>        </a:t>
            </a:r>
            <a:r>
              <a:rPr lang="en-US" altLang="zh-CN" sz="2400" dirty="0" smtClean="0">
                <a:latin typeface="+mj-ea"/>
                <a:ea typeface="+mj-ea"/>
              </a:rPr>
              <a:t>CREATE VIEW ZB_S</a:t>
            </a:r>
          </a:p>
          <a:p>
            <a:pPr eaLnBrk="1" hangingPunct="1">
              <a:lnSpc>
                <a:spcPct val="90000"/>
              </a:lnSpc>
              <a:buFont typeface="Wingdings" pitchFamily="2" charset="2"/>
              <a:buNone/>
              <a:defRPr/>
            </a:pPr>
            <a:r>
              <a:rPr lang="en-US" altLang="zh-CN" sz="2400" dirty="0" smtClean="0">
                <a:latin typeface="+mj-ea"/>
                <a:ea typeface="+mj-ea"/>
              </a:rPr>
              <a:t>               AS </a:t>
            </a:r>
          </a:p>
          <a:p>
            <a:pPr eaLnBrk="1" hangingPunct="1">
              <a:lnSpc>
                <a:spcPct val="90000"/>
              </a:lnSpc>
              <a:buFont typeface="Wingdings" pitchFamily="2" charset="2"/>
              <a:buNone/>
              <a:defRPr/>
            </a:pPr>
            <a:r>
              <a:rPr lang="en-US" altLang="zh-CN" sz="2400" dirty="0" smtClean="0">
                <a:latin typeface="+mj-ea"/>
                <a:ea typeface="+mj-ea"/>
              </a:rPr>
              <a:t>               </a:t>
            </a:r>
            <a:r>
              <a:rPr lang="en-US" altLang="zh-CN" sz="2400" dirty="0" smtClean="0">
                <a:solidFill>
                  <a:srgbClr val="FF0000"/>
                </a:solidFill>
                <a:latin typeface="+mj-ea"/>
                <a:ea typeface="+mj-ea"/>
              </a:rPr>
              <a:t>SELECT </a:t>
            </a:r>
            <a:r>
              <a:rPr lang="en-US" altLang="zh-CN" sz="2400" dirty="0" err="1" smtClean="0">
                <a:solidFill>
                  <a:srgbClr val="FF0000"/>
                </a:solidFill>
                <a:latin typeface="+mj-ea"/>
                <a:ea typeface="+mj-ea"/>
              </a:rPr>
              <a:t>Sno</a:t>
            </a:r>
            <a:r>
              <a:rPr lang="zh-CN" altLang="en-US" sz="2400" dirty="0" smtClean="0">
                <a:solidFill>
                  <a:srgbClr val="FF0000"/>
                </a:solidFill>
                <a:latin typeface="+mj-ea"/>
                <a:ea typeface="+mj-ea"/>
              </a:rPr>
              <a:t>，</a:t>
            </a:r>
            <a:r>
              <a:rPr lang="en-US" altLang="zh-CN" sz="2400" dirty="0" err="1" smtClean="0">
                <a:solidFill>
                  <a:srgbClr val="FF0000"/>
                </a:solidFill>
                <a:latin typeface="+mj-ea"/>
                <a:ea typeface="+mj-ea"/>
              </a:rPr>
              <a:t>Sname</a:t>
            </a:r>
            <a:r>
              <a:rPr lang="zh-CN" altLang="en-US" sz="2400" dirty="0" smtClean="0">
                <a:solidFill>
                  <a:srgbClr val="FF0000"/>
                </a:solidFill>
                <a:latin typeface="+mj-ea"/>
                <a:ea typeface="+mj-ea"/>
              </a:rPr>
              <a:t>，</a:t>
            </a:r>
            <a:r>
              <a:rPr lang="en-US" altLang="zh-CN" sz="2400" dirty="0" err="1" smtClean="0">
                <a:solidFill>
                  <a:srgbClr val="FF0000"/>
                </a:solidFill>
                <a:latin typeface="+mj-ea"/>
                <a:ea typeface="+mj-ea"/>
              </a:rPr>
              <a:t>Sbirth</a:t>
            </a:r>
            <a:r>
              <a:rPr lang="zh-CN" altLang="en-US" sz="2400" dirty="0" smtClean="0">
                <a:solidFill>
                  <a:srgbClr val="FF0000"/>
                </a:solidFill>
                <a:latin typeface="+mj-ea"/>
                <a:ea typeface="+mj-ea"/>
              </a:rPr>
              <a:t>，</a:t>
            </a:r>
            <a:r>
              <a:rPr lang="en-US" altLang="zh-CN" sz="2400" dirty="0" smtClean="0">
                <a:solidFill>
                  <a:srgbClr val="FF0000"/>
                </a:solidFill>
                <a:latin typeface="+mj-ea"/>
                <a:ea typeface="+mj-ea"/>
              </a:rPr>
              <a:t>College</a:t>
            </a:r>
          </a:p>
          <a:p>
            <a:pPr eaLnBrk="1" hangingPunct="1">
              <a:lnSpc>
                <a:spcPct val="90000"/>
              </a:lnSpc>
              <a:buFont typeface="Wingdings" pitchFamily="2" charset="2"/>
              <a:buNone/>
              <a:defRPr/>
            </a:pPr>
            <a:r>
              <a:rPr lang="en-US" altLang="zh-CN" sz="2400" dirty="0" smtClean="0">
                <a:solidFill>
                  <a:srgbClr val="FF0000"/>
                </a:solidFill>
                <a:latin typeface="+mj-ea"/>
                <a:ea typeface="+mj-ea"/>
              </a:rPr>
              <a:t>               FROM    S</a:t>
            </a:r>
          </a:p>
          <a:p>
            <a:pPr eaLnBrk="1" hangingPunct="1">
              <a:lnSpc>
                <a:spcPct val="90000"/>
              </a:lnSpc>
              <a:buFont typeface="Wingdings" pitchFamily="2" charset="2"/>
              <a:buNone/>
              <a:defRPr/>
            </a:pPr>
            <a:r>
              <a:rPr lang="en-US" altLang="zh-CN" sz="2400" dirty="0" smtClean="0">
                <a:solidFill>
                  <a:srgbClr val="FF0000"/>
                </a:solidFill>
                <a:latin typeface="+mj-ea"/>
                <a:ea typeface="+mj-ea"/>
              </a:rPr>
              <a:t>               WHERE  College= ‘</a:t>
            </a:r>
            <a:r>
              <a:rPr lang="zh-CN" altLang="en-US" sz="2400" dirty="0" smtClean="0">
                <a:solidFill>
                  <a:srgbClr val="FF0000"/>
                </a:solidFill>
                <a:latin typeface="+mj-ea"/>
                <a:ea typeface="+mj-ea"/>
              </a:rPr>
              <a:t>植保</a:t>
            </a:r>
            <a:r>
              <a:rPr lang="en-US" altLang="zh-CN" sz="2400" dirty="0" smtClean="0">
                <a:solidFill>
                  <a:srgbClr val="FF0000"/>
                </a:solidFill>
                <a:latin typeface="+mj-ea"/>
                <a:ea typeface="+mj-ea"/>
              </a:rPr>
              <a:t>'</a:t>
            </a:r>
            <a:r>
              <a:rPr lang="zh-CN" altLang="en-US" sz="2400" dirty="0" smtClean="0">
                <a:solidFill>
                  <a:srgbClr val="FF0000"/>
                </a:solidFill>
                <a:latin typeface="+mj-ea"/>
                <a:ea typeface="+mj-ea"/>
              </a:rPr>
              <a:t>；</a:t>
            </a:r>
          </a:p>
          <a:p>
            <a:pPr lvl="1" eaLnBrk="1" hangingPunct="1">
              <a:lnSpc>
                <a:spcPct val="110000"/>
              </a:lnSpc>
              <a:defRPr/>
            </a:pPr>
            <a:r>
              <a:rPr lang="zh-CN" altLang="en-US" sz="2400" dirty="0" smtClean="0">
                <a:latin typeface="+mj-ea"/>
                <a:ea typeface="+mj-ea"/>
              </a:rPr>
              <a:t>从单个基本表导出</a:t>
            </a:r>
          </a:p>
          <a:p>
            <a:pPr lvl="1" eaLnBrk="1" hangingPunct="1">
              <a:lnSpc>
                <a:spcPct val="110000"/>
              </a:lnSpc>
              <a:defRPr/>
            </a:pPr>
            <a:r>
              <a:rPr lang="zh-CN" altLang="en-US" sz="2400" dirty="0" smtClean="0">
                <a:latin typeface="+mj-ea"/>
                <a:ea typeface="+mj-ea"/>
              </a:rPr>
              <a:t>只是去掉了基本表的某些行和某些列</a:t>
            </a:r>
          </a:p>
          <a:p>
            <a:pPr lvl="1" eaLnBrk="1" hangingPunct="1">
              <a:lnSpc>
                <a:spcPct val="110000"/>
              </a:lnSpc>
              <a:defRPr/>
            </a:pPr>
            <a:r>
              <a:rPr lang="zh-CN" altLang="en-US" sz="2400" dirty="0" smtClean="0">
                <a:latin typeface="+mj-ea"/>
                <a:ea typeface="+mj-ea"/>
              </a:rPr>
              <a:t>保留了码</a:t>
            </a:r>
          </a:p>
        </p:txBody>
      </p:sp>
      <p:sp>
        <p:nvSpPr>
          <p:cNvPr id="4" name="Rectangle 2"/>
          <p:cNvSpPr txBox="1">
            <a:spLocks noChangeArrowheads="1"/>
          </p:cNvSpPr>
          <p:nvPr/>
        </p:nvSpPr>
        <p:spPr bwMode="auto">
          <a:xfrm>
            <a:off x="179388" y="0"/>
            <a:ext cx="82296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lnSpc>
                <a:spcPct val="110000"/>
              </a:lnSpc>
              <a:defRPr/>
            </a:pPr>
            <a:r>
              <a:rPr lang="en-US" altLang="zh-CN" sz="3200" b="0" kern="0" smtClean="0">
                <a:latin typeface="+mj-ea"/>
              </a:rPr>
              <a:t>3.6.1  </a:t>
            </a:r>
            <a:r>
              <a:rPr lang="zh-CN" altLang="en-US" sz="3200" b="0" kern="0" smtClean="0">
                <a:latin typeface="+mj-ea"/>
              </a:rPr>
              <a:t>定义视图</a:t>
            </a:r>
            <a:endParaRPr lang="zh-CN" altLang="en-US" sz="3200" b="0" kern="0" dirty="0" smtClean="0">
              <a:latin typeface="+mj-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36931">
                                            <p:txEl>
                                              <p:pRg st="0" end="0"/>
                                            </p:txEl>
                                          </p:spTgt>
                                        </p:tgtEl>
                                        <p:attrNameLst>
                                          <p:attrName>style.visibility</p:attrName>
                                        </p:attrNameLst>
                                      </p:cBhvr>
                                      <p:to>
                                        <p:strVal val="visible"/>
                                      </p:to>
                                    </p:set>
                                    <p:anim calcmode="lin" valueType="num">
                                      <p:cBhvr additive="base">
                                        <p:cTn id="7" dur="500" fill="hold"/>
                                        <p:tgtEl>
                                          <p:spTgt spid="6369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69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36931">
                                            <p:txEl>
                                              <p:pRg st="3" end="3"/>
                                            </p:txEl>
                                          </p:spTgt>
                                        </p:tgtEl>
                                        <p:attrNameLst>
                                          <p:attrName>style.visibility</p:attrName>
                                        </p:attrNameLst>
                                      </p:cBhvr>
                                      <p:to>
                                        <p:strVal val="visible"/>
                                      </p:to>
                                    </p:set>
                                    <p:anim calcmode="lin" valueType="num">
                                      <p:cBhvr additive="base">
                                        <p:cTn id="13" dur="500" fill="hold"/>
                                        <p:tgtEl>
                                          <p:spTgt spid="63693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36931">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36931">
                                            <p:txEl>
                                              <p:pRg st="4" end="4"/>
                                            </p:txEl>
                                          </p:spTgt>
                                        </p:tgtEl>
                                        <p:attrNameLst>
                                          <p:attrName>style.visibility</p:attrName>
                                        </p:attrNameLst>
                                      </p:cBhvr>
                                      <p:to>
                                        <p:strVal val="visible"/>
                                      </p:to>
                                    </p:set>
                                    <p:anim calcmode="lin" valueType="num">
                                      <p:cBhvr additive="base">
                                        <p:cTn id="17" dur="500" fill="hold"/>
                                        <p:tgtEl>
                                          <p:spTgt spid="636931">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36931">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36931">
                                            <p:txEl>
                                              <p:pRg st="5" end="5"/>
                                            </p:txEl>
                                          </p:spTgt>
                                        </p:tgtEl>
                                        <p:attrNameLst>
                                          <p:attrName>style.visibility</p:attrName>
                                        </p:attrNameLst>
                                      </p:cBhvr>
                                      <p:to>
                                        <p:strVal val="visible"/>
                                      </p:to>
                                    </p:set>
                                    <p:anim calcmode="lin" valueType="num">
                                      <p:cBhvr additive="base">
                                        <p:cTn id="21" dur="500" fill="hold"/>
                                        <p:tgtEl>
                                          <p:spTgt spid="636931">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3693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636931">
                                            <p:txEl>
                                              <p:pRg st="1" end="1"/>
                                            </p:txEl>
                                          </p:spTgt>
                                        </p:tgtEl>
                                        <p:attrNameLst>
                                          <p:attrName>style.visibility</p:attrName>
                                        </p:attrNameLst>
                                      </p:cBhvr>
                                      <p:to>
                                        <p:strVal val="visible"/>
                                      </p:to>
                                    </p:set>
                                    <p:anim calcmode="lin" valueType="num">
                                      <p:cBhvr additive="base">
                                        <p:cTn id="27" dur="500" fill="hold"/>
                                        <p:tgtEl>
                                          <p:spTgt spid="636931">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36931">
                                            <p:txEl>
                                              <p:pRg st="1" end="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36931">
                                            <p:txEl>
                                              <p:pRg st="2" end="2"/>
                                            </p:txEl>
                                          </p:spTgt>
                                        </p:tgtEl>
                                        <p:attrNameLst>
                                          <p:attrName>style.visibility</p:attrName>
                                        </p:attrNameLst>
                                      </p:cBhvr>
                                      <p:to>
                                        <p:strVal val="visible"/>
                                      </p:to>
                                    </p:set>
                                    <p:anim calcmode="lin" valueType="num">
                                      <p:cBhvr additive="base">
                                        <p:cTn id="31" dur="500" fill="hold"/>
                                        <p:tgtEl>
                                          <p:spTgt spid="636931">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369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636931">
                                            <p:txEl>
                                              <p:pRg st="6" end="6"/>
                                            </p:txEl>
                                          </p:spTgt>
                                        </p:tgtEl>
                                        <p:attrNameLst>
                                          <p:attrName>style.visibility</p:attrName>
                                        </p:attrNameLst>
                                      </p:cBhvr>
                                      <p:to>
                                        <p:strVal val="visible"/>
                                      </p:to>
                                    </p:set>
                                    <p:anim calcmode="lin" valueType="num">
                                      <p:cBhvr additive="base">
                                        <p:cTn id="37" dur="500" fill="hold"/>
                                        <p:tgtEl>
                                          <p:spTgt spid="636931">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36931">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636931">
                                            <p:txEl>
                                              <p:pRg st="7" end="7"/>
                                            </p:txEl>
                                          </p:spTgt>
                                        </p:tgtEl>
                                        <p:attrNameLst>
                                          <p:attrName>style.visibility</p:attrName>
                                        </p:attrNameLst>
                                      </p:cBhvr>
                                      <p:to>
                                        <p:strVal val="visible"/>
                                      </p:to>
                                    </p:set>
                                    <p:anim calcmode="lin" valueType="num">
                                      <p:cBhvr additive="base">
                                        <p:cTn id="41" dur="500" fill="hold"/>
                                        <p:tgtEl>
                                          <p:spTgt spid="636931">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36931">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636931">
                                            <p:txEl>
                                              <p:pRg st="8" end="8"/>
                                            </p:txEl>
                                          </p:spTgt>
                                        </p:tgtEl>
                                        <p:attrNameLst>
                                          <p:attrName>style.visibility</p:attrName>
                                        </p:attrNameLst>
                                      </p:cBhvr>
                                      <p:to>
                                        <p:strVal val="visible"/>
                                      </p:to>
                                    </p:set>
                                    <p:anim calcmode="lin" valueType="num">
                                      <p:cBhvr additive="base">
                                        <p:cTn id="45" dur="500" fill="hold"/>
                                        <p:tgtEl>
                                          <p:spTgt spid="636931">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3693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xfrm>
            <a:off x="250825" y="981075"/>
            <a:ext cx="8229600" cy="1125538"/>
          </a:xfrm>
        </p:spPr>
        <p:txBody>
          <a:bodyPr/>
          <a:lstStyle/>
          <a:p>
            <a:pPr eaLnBrk="1" hangingPunct="1">
              <a:defRPr/>
            </a:pPr>
            <a:r>
              <a:rPr lang="en-US" altLang="zh-CN" sz="2800" dirty="0" smtClean="0">
                <a:solidFill>
                  <a:srgbClr val="FF0000"/>
                </a:solidFill>
                <a:latin typeface="+mj-ea"/>
              </a:rPr>
              <a:t> WITH CHECK OPTION</a:t>
            </a:r>
            <a:r>
              <a:rPr lang="zh-CN" altLang="en-US" sz="2800" dirty="0" smtClean="0">
                <a:solidFill>
                  <a:srgbClr val="FF0000"/>
                </a:solidFill>
                <a:latin typeface="+mj-ea"/>
              </a:rPr>
              <a:t>的视图</a:t>
            </a:r>
          </a:p>
        </p:txBody>
      </p:sp>
      <p:sp>
        <p:nvSpPr>
          <p:cNvPr id="638979" name="Rectangle 3"/>
          <p:cNvSpPr>
            <a:spLocks noGrp="1" noChangeArrowheads="1"/>
          </p:cNvSpPr>
          <p:nvPr>
            <p:ph type="body" idx="1"/>
          </p:nvPr>
        </p:nvSpPr>
        <p:spPr>
          <a:xfrm>
            <a:off x="755650" y="1989138"/>
            <a:ext cx="7777163" cy="4537075"/>
          </a:xfrm>
        </p:spPr>
        <p:txBody>
          <a:bodyPr/>
          <a:lstStyle/>
          <a:p>
            <a:pPr eaLnBrk="1" hangingPunct="1">
              <a:lnSpc>
                <a:spcPct val="130000"/>
              </a:lnSpc>
              <a:buFont typeface="Wingdings" pitchFamily="2" charset="2"/>
              <a:buNone/>
              <a:defRPr/>
            </a:pPr>
            <a:r>
              <a:rPr lang="en-US" altLang="zh-CN" sz="2400" dirty="0" smtClean="0">
                <a:latin typeface="+mj-ea"/>
                <a:ea typeface="+mj-ea"/>
              </a:rPr>
              <a:t>[</a:t>
            </a:r>
            <a:r>
              <a:rPr lang="zh-CN" altLang="en-US" sz="2400" dirty="0" smtClean="0">
                <a:latin typeface="+mj-ea"/>
                <a:ea typeface="+mj-ea"/>
              </a:rPr>
              <a:t>例</a:t>
            </a:r>
            <a:r>
              <a:rPr lang="en-US" altLang="zh-CN" sz="2400" dirty="0" smtClean="0">
                <a:latin typeface="+mj-ea"/>
                <a:ea typeface="+mj-ea"/>
              </a:rPr>
              <a:t>2]  </a:t>
            </a:r>
            <a:r>
              <a:rPr lang="zh-CN" altLang="en-US" sz="2400" dirty="0" smtClean="0">
                <a:latin typeface="+mj-ea"/>
                <a:ea typeface="+mj-ea"/>
              </a:rPr>
              <a:t>建立信息学院学生的视图，并要求透过该视图进行的更新操作只涉及信息学院学生。</a:t>
            </a:r>
          </a:p>
          <a:p>
            <a:pPr eaLnBrk="1" hangingPunct="1">
              <a:lnSpc>
                <a:spcPct val="130000"/>
              </a:lnSpc>
              <a:buFont typeface="Wingdings" pitchFamily="2" charset="2"/>
              <a:buNone/>
              <a:defRPr/>
            </a:pPr>
            <a:r>
              <a:rPr lang="zh-CN" altLang="en-US" sz="2400" dirty="0" smtClean="0">
                <a:latin typeface="+mj-ea"/>
                <a:ea typeface="+mj-ea"/>
              </a:rPr>
              <a:t>        </a:t>
            </a:r>
            <a:r>
              <a:rPr lang="en-US" altLang="zh-CN" sz="2400" dirty="0" smtClean="0">
                <a:latin typeface="+mj-ea"/>
                <a:ea typeface="+mj-ea"/>
              </a:rPr>
              <a:t>CREATE VIEW XX_S</a:t>
            </a:r>
          </a:p>
          <a:p>
            <a:pPr eaLnBrk="1" hangingPunct="1">
              <a:lnSpc>
                <a:spcPct val="130000"/>
              </a:lnSpc>
              <a:buFont typeface="Wingdings" pitchFamily="2" charset="2"/>
              <a:buNone/>
              <a:defRPr/>
            </a:pPr>
            <a:r>
              <a:rPr lang="en-US" altLang="zh-CN" sz="2400" dirty="0" smtClean="0">
                <a:latin typeface="+mj-ea"/>
                <a:ea typeface="+mj-ea"/>
              </a:rPr>
              <a:t>               AS </a:t>
            </a:r>
          </a:p>
          <a:p>
            <a:pPr eaLnBrk="1" hangingPunct="1">
              <a:lnSpc>
                <a:spcPct val="130000"/>
              </a:lnSpc>
              <a:buFont typeface="Wingdings" pitchFamily="2" charset="2"/>
              <a:buNone/>
              <a:defRPr/>
            </a:pPr>
            <a:r>
              <a:rPr lang="en-US" altLang="zh-CN" sz="2400" dirty="0" smtClean="0">
                <a:latin typeface="+mj-ea"/>
                <a:ea typeface="+mj-ea"/>
              </a:rPr>
              <a:t>               SELECT </a:t>
            </a:r>
            <a:r>
              <a:rPr lang="en-US" altLang="zh-CN" sz="2400" dirty="0" err="1" smtClean="0">
                <a:latin typeface="+mj-ea"/>
                <a:ea typeface="+mj-ea"/>
              </a:rPr>
              <a:t>Sno,Sname,Sbirth,College</a:t>
            </a:r>
            <a:endParaRPr lang="en-US" altLang="zh-CN" sz="2400" dirty="0" smtClean="0">
              <a:latin typeface="+mj-ea"/>
              <a:ea typeface="+mj-ea"/>
            </a:endParaRPr>
          </a:p>
          <a:p>
            <a:pPr eaLnBrk="1" hangingPunct="1">
              <a:lnSpc>
                <a:spcPct val="130000"/>
              </a:lnSpc>
              <a:buFont typeface="Wingdings" pitchFamily="2" charset="2"/>
              <a:buNone/>
              <a:defRPr/>
            </a:pPr>
            <a:r>
              <a:rPr lang="en-US" altLang="zh-CN" sz="2400" dirty="0" smtClean="0">
                <a:latin typeface="+mj-ea"/>
                <a:ea typeface="+mj-ea"/>
              </a:rPr>
              <a:t>               FROM  S</a:t>
            </a:r>
          </a:p>
          <a:p>
            <a:pPr eaLnBrk="1" hangingPunct="1">
              <a:lnSpc>
                <a:spcPct val="130000"/>
              </a:lnSpc>
              <a:buFont typeface="Wingdings" pitchFamily="2" charset="2"/>
              <a:buNone/>
              <a:defRPr/>
            </a:pPr>
            <a:r>
              <a:rPr lang="en-US" altLang="zh-CN" sz="2400" dirty="0" smtClean="0">
                <a:latin typeface="+mj-ea"/>
                <a:ea typeface="+mj-ea"/>
              </a:rPr>
              <a:t>               WHERE  College= ‘</a:t>
            </a:r>
            <a:r>
              <a:rPr lang="zh-CN" altLang="en-US" sz="2400" dirty="0" smtClean="0">
                <a:latin typeface="+mj-ea"/>
                <a:ea typeface="+mj-ea"/>
              </a:rPr>
              <a:t>信息</a:t>
            </a:r>
            <a:r>
              <a:rPr lang="en-US" altLang="zh-CN" sz="2400" dirty="0" smtClean="0">
                <a:latin typeface="+mj-ea"/>
                <a:ea typeface="+mj-ea"/>
              </a:rPr>
              <a:t>'</a:t>
            </a:r>
          </a:p>
          <a:p>
            <a:pPr eaLnBrk="1" hangingPunct="1">
              <a:lnSpc>
                <a:spcPct val="130000"/>
              </a:lnSpc>
              <a:buFont typeface="Wingdings" pitchFamily="2" charset="2"/>
              <a:buNone/>
              <a:defRPr/>
            </a:pPr>
            <a:r>
              <a:rPr lang="en-US" altLang="zh-CN" sz="2400" dirty="0" smtClean="0">
                <a:latin typeface="+mj-ea"/>
                <a:ea typeface="+mj-ea"/>
              </a:rPr>
              <a:t>               WITH CHECK OPTION</a:t>
            </a:r>
            <a:r>
              <a:rPr lang="zh-CN" altLang="en-US" sz="2400" dirty="0" smtClean="0">
                <a:latin typeface="+mj-ea"/>
                <a:ea typeface="+mj-ea"/>
              </a:rPr>
              <a:t>；</a:t>
            </a:r>
          </a:p>
        </p:txBody>
      </p:sp>
      <p:sp>
        <p:nvSpPr>
          <p:cNvPr id="4" name="Rectangle 2"/>
          <p:cNvSpPr txBox="1">
            <a:spLocks noChangeArrowheads="1"/>
          </p:cNvSpPr>
          <p:nvPr/>
        </p:nvSpPr>
        <p:spPr bwMode="auto">
          <a:xfrm>
            <a:off x="519113" y="0"/>
            <a:ext cx="82296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lnSpc>
                <a:spcPct val="110000"/>
              </a:lnSpc>
              <a:defRPr/>
            </a:pPr>
            <a:r>
              <a:rPr lang="en-US" altLang="zh-CN" sz="3200" b="0" kern="0" smtClean="0">
                <a:latin typeface="+mj-ea"/>
              </a:rPr>
              <a:t>3.6.1  </a:t>
            </a:r>
            <a:r>
              <a:rPr lang="zh-CN" altLang="en-US" sz="3200" b="0" kern="0" smtClean="0">
                <a:latin typeface="+mj-ea"/>
              </a:rPr>
              <a:t>定义视图</a:t>
            </a:r>
            <a:endParaRPr lang="zh-CN" altLang="en-US" sz="3200" b="0" kern="0" dirty="0" smtClean="0">
              <a:latin typeface="+mj-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38979">
                                            <p:txEl>
                                              <p:pRg st="0" end="0"/>
                                            </p:txEl>
                                          </p:spTgt>
                                        </p:tgtEl>
                                        <p:attrNameLst>
                                          <p:attrName>style.visibility</p:attrName>
                                        </p:attrNameLst>
                                      </p:cBhvr>
                                      <p:to>
                                        <p:strVal val="visible"/>
                                      </p:to>
                                    </p:set>
                                    <p:anim calcmode="lin" valueType="num">
                                      <p:cBhvr additive="base">
                                        <p:cTn id="7" dur="500" fill="hold"/>
                                        <p:tgtEl>
                                          <p:spTgt spid="6389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89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38979">
                                            <p:txEl>
                                              <p:pRg st="1" end="1"/>
                                            </p:txEl>
                                          </p:spTgt>
                                        </p:tgtEl>
                                        <p:attrNameLst>
                                          <p:attrName>style.visibility</p:attrName>
                                        </p:attrNameLst>
                                      </p:cBhvr>
                                      <p:to>
                                        <p:strVal val="visible"/>
                                      </p:to>
                                    </p:set>
                                    <p:anim calcmode="lin" valueType="num">
                                      <p:cBhvr additive="base">
                                        <p:cTn id="13" dur="500" fill="hold"/>
                                        <p:tgtEl>
                                          <p:spTgt spid="6389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3897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38979">
                                            <p:txEl>
                                              <p:pRg st="2" end="2"/>
                                            </p:txEl>
                                          </p:spTgt>
                                        </p:tgtEl>
                                        <p:attrNameLst>
                                          <p:attrName>style.visibility</p:attrName>
                                        </p:attrNameLst>
                                      </p:cBhvr>
                                      <p:to>
                                        <p:strVal val="visible"/>
                                      </p:to>
                                    </p:set>
                                    <p:anim calcmode="lin" valueType="num">
                                      <p:cBhvr additive="base">
                                        <p:cTn id="17" dur="500" fill="hold"/>
                                        <p:tgtEl>
                                          <p:spTgt spid="63897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38979">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38979">
                                            <p:txEl>
                                              <p:pRg st="3" end="3"/>
                                            </p:txEl>
                                          </p:spTgt>
                                        </p:tgtEl>
                                        <p:attrNameLst>
                                          <p:attrName>style.visibility</p:attrName>
                                        </p:attrNameLst>
                                      </p:cBhvr>
                                      <p:to>
                                        <p:strVal val="visible"/>
                                      </p:to>
                                    </p:set>
                                    <p:anim calcmode="lin" valueType="num">
                                      <p:cBhvr additive="base">
                                        <p:cTn id="21" dur="500" fill="hold"/>
                                        <p:tgtEl>
                                          <p:spTgt spid="638979">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38979">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38979">
                                            <p:txEl>
                                              <p:pRg st="4" end="4"/>
                                            </p:txEl>
                                          </p:spTgt>
                                        </p:tgtEl>
                                        <p:attrNameLst>
                                          <p:attrName>style.visibility</p:attrName>
                                        </p:attrNameLst>
                                      </p:cBhvr>
                                      <p:to>
                                        <p:strVal val="visible"/>
                                      </p:to>
                                    </p:set>
                                    <p:anim calcmode="lin" valueType="num">
                                      <p:cBhvr additive="base">
                                        <p:cTn id="25" dur="500" fill="hold"/>
                                        <p:tgtEl>
                                          <p:spTgt spid="63897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38979">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38979">
                                            <p:txEl>
                                              <p:pRg st="5" end="5"/>
                                            </p:txEl>
                                          </p:spTgt>
                                        </p:tgtEl>
                                        <p:attrNameLst>
                                          <p:attrName>style.visibility</p:attrName>
                                        </p:attrNameLst>
                                      </p:cBhvr>
                                      <p:to>
                                        <p:strVal val="visible"/>
                                      </p:to>
                                    </p:set>
                                    <p:anim calcmode="lin" valueType="num">
                                      <p:cBhvr additive="base">
                                        <p:cTn id="29" dur="500" fill="hold"/>
                                        <p:tgtEl>
                                          <p:spTgt spid="638979">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3897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638979">
                                            <p:txEl>
                                              <p:pRg st="6" end="6"/>
                                            </p:txEl>
                                          </p:spTgt>
                                        </p:tgtEl>
                                        <p:attrNameLst>
                                          <p:attrName>style.visibility</p:attrName>
                                        </p:attrNameLst>
                                      </p:cBhvr>
                                      <p:to>
                                        <p:strVal val="visible"/>
                                      </p:to>
                                    </p:set>
                                    <p:anim calcmode="lin" valueType="num">
                                      <p:cBhvr additive="base">
                                        <p:cTn id="35" dur="500" fill="hold"/>
                                        <p:tgtEl>
                                          <p:spTgt spid="638979">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3897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395288" y="1125538"/>
            <a:ext cx="8229600" cy="1125537"/>
          </a:xfrm>
        </p:spPr>
        <p:txBody>
          <a:bodyPr/>
          <a:lstStyle/>
          <a:p>
            <a:pPr eaLnBrk="1" hangingPunct="1"/>
            <a:r>
              <a:rPr lang="zh-CN" altLang="en-US" sz="2800" smtClean="0">
                <a:solidFill>
                  <a:schemeClr val="tx1"/>
                </a:solidFill>
              </a:rPr>
              <a:t>对</a:t>
            </a:r>
            <a:r>
              <a:rPr lang="en-US" altLang="zh-CN" sz="2800" smtClean="0">
                <a:solidFill>
                  <a:schemeClr val="tx1"/>
                </a:solidFill>
              </a:rPr>
              <a:t>XX_S</a:t>
            </a:r>
            <a:r>
              <a:rPr lang="zh-CN" altLang="en-US" sz="2800" smtClean="0">
                <a:solidFill>
                  <a:schemeClr val="tx1"/>
                </a:solidFill>
              </a:rPr>
              <a:t>视图的更新操作</a:t>
            </a:r>
          </a:p>
        </p:txBody>
      </p:sp>
      <p:sp>
        <p:nvSpPr>
          <p:cNvPr id="139267" name="Rectangle 3"/>
          <p:cNvSpPr>
            <a:spLocks noGrp="1" noChangeArrowheads="1"/>
          </p:cNvSpPr>
          <p:nvPr>
            <p:ph type="body" idx="1"/>
          </p:nvPr>
        </p:nvSpPr>
        <p:spPr>
          <a:xfrm>
            <a:off x="611188" y="2060575"/>
            <a:ext cx="8208962" cy="4537075"/>
          </a:xfrm>
        </p:spPr>
        <p:txBody>
          <a:bodyPr/>
          <a:lstStyle/>
          <a:p>
            <a:pPr eaLnBrk="1" hangingPunct="1">
              <a:lnSpc>
                <a:spcPct val="120000"/>
              </a:lnSpc>
              <a:defRPr/>
            </a:pPr>
            <a:r>
              <a:rPr lang="zh-CN" altLang="en-US" sz="2400" dirty="0" smtClean="0">
                <a:latin typeface="+mj-ea"/>
                <a:ea typeface="+mj-ea"/>
              </a:rPr>
              <a:t>修改操作：系统自动检查用户所修改的是否是视图中的数据，即是否是信息学院的学生信息。是则允许修改，不是则不允许修改。</a:t>
            </a:r>
          </a:p>
          <a:p>
            <a:pPr eaLnBrk="1" hangingPunct="1">
              <a:lnSpc>
                <a:spcPct val="120000"/>
              </a:lnSpc>
              <a:defRPr/>
            </a:pPr>
            <a:r>
              <a:rPr lang="zh-CN" altLang="en-US" sz="2400" dirty="0" smtClean="0">
                <a:latin typeface="+mj-ea"/>
                <a:ea typeface="+mj-ea"/>
              </a:rPr>
              <a:t>删除操作：系统自动检查用户所删除的是否是视图中的数据，即是否是信息学院的学生信息。是则允许删除，不是则不允许删除。</a:t>
            </a:r>
          </a:p>
          <a:p>
            <a:pPr eaLnBrk="1" hangingPunct="1">
              <a:lnSpc>
                <a:spcPct val="120000"/>
              </a:lnSpc>
              <a:defRPr/>
            </a:pPr>
            <a:r>
              <a:rPr lang="zh-CN" altLang="en-US" sz="2400" dirty="0" smtClean="0">
                <a:latin typeface="+mj-ea"/>
                <a:ea typeface="+mj-ea"/>
              </a:rPr>
              <a:t>插入操作：</a:t>
            </a:r>
            <a:r>
              <a:rPr lang="en-US" altLang="zh-CN" sz="2400" dirty="0" smtClean="0">
                <a:latin typeface="+mj-ea"/>
                <a:ea typeface="+mj-ea"/>
              </a:rPr>
              <a:t>DBMS</a:t>
            </a:r>
            <a:r>
              <a:rPr lang="zh-CN" altLang="en-US" sz="2400" dirty="0" smtClean="0">
                <a:latin typeface="+mj-ea"/>
                <a:ea typeface="+mj-ea"/>
              </a:rPr>
              <a:t>自动检查</a:t>
            </a:r>
            <a:r>
              <a:rPr lang="en-US" altLang="zh-CN" sz="2400" dirty="0" smtClean="0">
                <a:latin typeface="+mj-ea"/>
                <a:ea typeface="+mj-ea"/>
              </a:rPr>
              <a:t>College</a:t>
            </a:r>
            <a:r>
              <a:rPr lang="zh-CN" altLang="en-US" sz="2400" dirty="0" smtClean="0">
                <a:latin typeface="+mj-ea"/>
                <a:ea typeface="+mj-ea"/>
              </a:rPr>
              <a:t>属性值是否为</a:t>
            </a:r>
            <a:r>
              <a:rPr lang="en-US" altLang="zh-CN" sz="2400" dirty="0" smtClean="0">
                <a:latin typeface="+mj-ea"/>
                <a:ea typeface="+mj-ea"/>
              </a:rPr>
              <a:t>‘</a:t>
            </a:r>
            <a:r>
              <a:rPr lang="zh-CN" altLang="en-US" sz="2400" dirty="0" smtClean="0">
                <a:latin typeface="+mj-ea"/>
                <a:ea typeface="+mj-ea"/>
              </a:rPr>
              <a:t>信息</a:t>
            </a:r>
            <a:r>
              <a:rPr lang="en-US" altLang="zh-CN" sz="2400" dirty="0" smtClean="0">
                <a:latin typeface="+mj-ea"/>
                <a:ea typeface="+mj-ea"/>
              </a:rPr>
              <a:t>’</a:t>
            </a:r>
            <a:r>
              <a:rPr lang="zh-CN" altLang="en-US" sz="2400" dirty="0" smtClean="0">
                <a:latin typeface="+mj-ea"/>
                <a:ea typeface="+mj-ea"/>
              </a:rPr>
              <a:t>，如果不是，则拒绝该插入操作。</a:t>
            </a:r>
          </a:p>
        </p:txBody>
      </p:sp>
      <p:sp>
        <p:nvSpPr>
          <p:cNvPr id="4" name="Rectangle 2"/>
          <p:cNvSpPr txBox="1">
            <a:spLocks noChangeArrowheads="1"/>
          </p:cNvSpPr>
          <p:nvPr/>
        </p:nvSpPr>
        <p:spPr bwMode="auto">
          <a:xfrm>
            <a:off x="179388" y="0"/>
            <a:ext cx="82296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lnSpc>
                <a:spcPct val="110000"/>
              </a:lnSpc>
              <a:defRPr/>
            </a:pPr>
            <a:r>
              <a:rPr lang="en-US" altLang="zh-CN" sz="3200" b="0" kern="0" smtClean="0">
                <a:latin typeface="+mj-ea"/>
              </a:rPr>
              <a:t>3.6.1  </a:t>
            </a:r>
            <a:r>
              <a:rPr lang="zh-CN" altLang="en-US" sz="3200" b="0" kern="0" smtClean="0">
                <a:latin typeface="+mj-ea"/>
              </a:rPr>
              <a:t>定义视图</a:t>
            </a:r>
            <a:endParaRPr lang="zh-CN" altLang="en-US" sz="3200" b="0" kern="0" dirty="0" smtClean="0">
              <a:latin typeface="+mj-ea"/>
            </a:endParaRPr>
          </a:p>
        </p:txBody>
      </p:sp>
    </p:spTree>
  </p:cSld>
  <p:clrMapOvr>
    <a:masterClrMapping/>
  </p:clrMapOvr>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250825" y="981075"/>
            <a:ext cx="8229600" cy="792163"/>
          </a:xfrm>
        </p:spPr>
        <p:txBody>
          <a:bodyPr/>
          <a:lstStyle/>
          <a:p>
            <a:pPr eaLnBrk="1" hangingPunct="1"/>
            <a:r>
              <a:rPr lang="zh-CN" altLang="en-US" sz="2800" smtClean="0">
                <a:solidFill>
                  <a:srgbClr val="FF0000"/>
                </a:solidFill>
              </a:rPr>
              <a:t>基于多个基本表的视图</a:t>
            </a:r>
          </a:p>
        </p:txBody>
      </p:sp>
      <p:sp>
        <p:nvSpPr>
          <p:cNvPr id="641027" name="Rectangle 3"/>
          <p:cNvSpPr>
            <a:spLocks noGrp="1" noChangeArrowheads="1"/>
          </p:cNvSpPr>
          <p:nvPr>
            <p:ph type="body" idx="1"/>
          </p:nvPr>
        </p:nvSpPr>
        <p:spPr>
          <a:xfrm>
            <a:off x="755650" y="1916113"/>
            <a:ext cx="7772400" cy="4114800"/>
          </a:xfrm>
        </p:spPr>
        <p:txBody>
          <a:bodyPr/>
          <a:lstStyle/>
          <a:p>
            <a:pPr eaLnBrk="1" hangingPunct="1">
              <a:lnSpc>
                <a:spcPct val="110000"/>
              </a:lnSpc>
              <a:buFont typeface="Wingdings" pitchFamily="2" charset="2"/>
              <a:buNone/>
              <a:defRPr/>
            </a:pPr>
            <a:r>
              <a:rPr lang="en-US" altLang="zh-CN" sz="2400" dirty="0" smtClean="0">
                <a:latin typeface="+mj-ea"/>
                <a:ea typeface="+mj-ea"/>
              </a:rPr>
              <a:t>[</a:t>
            </a:r>
            <a:r>
              <a:rPr lang="zh-CN" altLang="en-US" sz="2400" dirty="0" smtClean="0">
                <a:latin typeface="+mj-ea"/>
                <a:ea typeface="+mj-ea"/>
              </a:rPr>
              <a:t>例</a:t>
            </a:r>
            <a:r>
              <a:rPr lang="en-US" altLang="zh-CN" sz="2400" dirty="0" smtClean="0">
                <a:latin typeface="+mj-ea"/>
                <a:ea typeface="+mj-ea"/>
              </a:rPr>
              <a:t>3]  </a:t>
            </a:r>
            <a:r>
              <a:rPr lang="zh-CN" altLang="en-US" sz="2400" dirty="0" smtClean="0">
                <a:latin typeface="+mj-ea"/>
                <a:ea typeface="+mj-ea"/>
              </a:rPr>
              <a:t>建立水建学院选修了</a:t>
            </a:r>
            <a:r>
              <a:rPr lang="en-US" altLang="zh-CN" sz="2400" dirty="0" smtClean="0">
                <a:latin typeface="+mj-ea"/>
                <a:ea typeface="+mj-ea"/>
              </a:rPr>
              <a:t>001</a:t>
            </a:r>
            <a:r>
              <a:rPr lang="zh-CN" altLang="en-US" sz="2400" dirty="0" smtClean="0">
                <a:latin typeface="+mj-ea"/>
                <a:ea typeface="+mj-ea"/>
              </a:rPr>
              <a:t>号课程的学生视图。</a:t>
            </a:r>
          </a:p>
          <a:p>
            <a:pPr eaLnBrk="1" hangingPunct="1">
              <a:lnSpc>
                <a:spcPct val="110000"/>
              </a:lnSpc>
              <a:buFont typeface="Wingdings" pitchFamily="2" charset="2"/>
              <a:buNone/>
              <a:defRPr/>
            </a:pPr>
            <a:r>
              <a:rPr lang="zh-CN" altLang="en-US" sz="2400" dirty="0" smtClean="0">
                <a:latin typeface="+mj-ea"/>
                <a:ea typeface="+mj-ea"/>
              </a:rPr>
              <a:t>        </a:t>
            </a:r>
            <a:r>
              <a:rPr lang="en-US" altLang="zh-CN" sz="2400" dirty="0" smtClean="0">
                <a:latin typeface="+mj-ea"/>
                <a:ea typeface="+mj-ea"/>
              </a:rPr>
              <a:t>CREATE VIEW SJ_SC(</a:t>
            </a:r>
            <a:r>
              <a:rPr lang="en-US" altLang="zh-CN" sz="2400" dirty="0" err="1" smtClean="0">
                <a:latin typeface="+mj-ea"/>
                <a:ea typeface="+mj-ea"/>
              </a:rPr>
              <a:t>Sno</a:t>
            </a:r>
            <a:r>
              <a:rPr lang="zh-CN" altLang="en-US" sz="2400" dirty="0" smtClean="0">
                <a:latin typeface="+mj-ea"/>
                <a:ea typeface="+mj-ea"/>
              </a:rPr>
              <a:t>，</a:t>
            </a:r>
            <a:r>
              <a:rPr lang="en-US" altLang="zh-CN" sz="2400" dirty="0" err="1" smtClean="0">
                <a:latin typeface="+mj-ea"/>
                <a:ea typeface="+mj-ea"/>
              </a:rPr>
              <a:t>Sname</a:t>
            </a:r>
            <a:r>
              <a:rPr lang="zh-CN" altLang="en-US" sz="2400" dirty="0" smtClean="0">
                <a:latin typeface="+mj-ea"/>
                <a:ea typeface="+mj-ea"/>
              </a:rPr>
              <a:t>，</a:t>
            </a:r>
            <a:r>
              <a:rPr lang="en-US" altLang="zh-CN" sz="2400" dirty="0" smtClean="0">
                <a:latin typeface="+mj-ea"/>
                <a:ea typeface="+mj-ea"/>
              </a:rPr>
              <a:t>Grade)</a:t>
            </a:r>
          </a:p>
          <a:p>
            <a:pPr eaLnBrk="1" hangingPunct="1">
              <a:lnSpc>
                <a:spcPct val="110000"/>
              </a:lnSpc>
              <a:buFont typeface="Wingdings" pitchFamily="2" charset="2"/>
              <a:buNone/>
              <a:defRPr/>
            </a:pPr>
            <a:r>
              <a:rPr lang="en-US" altLang="zh-CN" sz="2400" dirty="0" smtClean="0">
                <a:latin typeface="+mj-ea"/>
                <a:ea typeface="+mj-ea"/>
              </a:rPr>
              <a:t>               AS </a:t>
            </a:r>
          </a:p>
          <a:p>
            <a:pPr eaLnBrk="1" hangingPunct="1">
              <a:lnSpc>
                <a:spcPct val="110000"/>
              </a:lnSpc>
              <a:buFont typeface="Wingdings" pitchFamily="2" charset="2"/>
              <a:buNone/>
              <a:defRPr/>
            </a:pPr>
            <a:r>
              <a:rPr lang="en-US" altLang="zh-CN" sz="2400" dirty="0" smtClean="0">
                <a:latin typeface="+mj-ea"/>
                <a:ea typeface="+mj-ea"/>
              </a:rPr>
              <a:t>               SELECT </a:t>
            </a:r>
            <a:r>
              <a:rPr lang="en-US" altLang="zh-CN" sz="2400" dirty="0" err="1" smtClean="0">
                <a:latin typeface="+mj-ea"/>
                <a:ea typeface="+mj-ea"/>
              </a:rPr>
              <a:t>S.Sno,Sname,Grade</a:t>
            </a:r>
            <a:endParaRPr lang="en-US" altLang="zh-CN" sz="2400" dirty="0" smtClean="0">
              <a:latin typeface="+mj-ea"/>
              <a:ea typeface="+mj-ea"/>
            </a:endParaRPr>
          </a:p>
          <a:p>
            <a:pPr eaLnBrk="1" hangingPunct="1">
              <a:lnSpc>
                <a:spcPct val="110000"/>
              </a:lnSpc>
              <a:buFont typeface="Wingdings" pitchFamily="2" charset="2"/>
              <a:buNone/>
              <a:defRPr/>
            </a:pPr>
            <a:r>
              <a:rPr lang="en-US" altLang="zh-CN" sz="2400" dirty="0" smtClean="0">
                <a:latin typeface="+mj-ea"/>
                <a:ea typeface="+mj-ea"/>
              </a:rPr>
              <a:t>               FROM  S,SC</a:t>
            </a:r>
          </a:p>
          <a:p>
            <a:pPr eaLnBrk="1" hangingPunct="1">
              <a:lnSpc>
                <a:spcPct val="110000"/>
              </a:lnSpc>
              <a:buFont typeface="Wingdings" pitchFamily="2" charset="2"/>
              <a:buNone/>
              <a:defRPr/>
            </a:pPr>
            <a:r>
              <a:rPr lang="en-US" altLang="zh-CN" sz="2400" dirty="0" smtClean="0">
                <a:latin typeface="+mj-ea"/>
                <a:ea typeface="+mj-ea"/>
              </a:rPr>
              <a:t>               WHERE  College= ‘</a:t>
            </a:r>
            <a:r>
              <a:rPr lang="zh-CN" altLang="en-US" sz="2400" dirty="0" smtClean="0">
                <a:latin typeface="+mj-ea"/>
                <a:ea typeface="+mj-ea"/>
              </a:rPr>
              <a:t>水建</a:t>
            </a:r>
            <a:r>
              <a:rPr lang="en-US" altLang="zh-CN" sz="2400" dirty="0" smtClean="0">
                <a:latin typeface="+mj-ea"/>
                <a:ea typeface="+mj-ea"/>
              </a:rPr>
              <a:t>' AND</a:t>
            </a:r>
          </a:p>
          <a:p>
            <a:pPr eaLnBrk="1" hangingPunct="1">
              <a:lnSpc>
                <a:spcPct val="110000"/>
              </a:lnSpc>
              <a:buFont typeface="Wingdings" pitchFamily="2" charset="2"/>
              <a:buNone/>
              <a:defRPr/>
            </a:pPr>
            <a:r>
              <a:rPr lang="en-US" altLang="zh-CN" sz="2400" dirty="0" smtClean="0">
                <a:latin typeface="+mj-ea"/>
                <a:ea typeface="+mj-ea"/>
              </a:rPr>
              <a:t>                      </a:t>
            </a:r>
            <a:r>
              <a:rPr lang="en-US" altLang="zh-CN" sz="2400" dirty="0" err="1" smtClean="0">
                <a:latin typeface="+mj-ea"/>
                <a:ea typeface="+mj-ea"/>
              </a:rPr>
              <a:t>S.Sno</a:t>
            </a:r>
            <a:r>
              <a:rPr lang="en-US" altLang="zh-CN" sz="2400" dirty="0" smtClean="0">
                <a:latin typeface="+mj-ea"/>
                <a:ea typeface="+mj-ea"/>
              </a:rPr>
              <a:t>=</a:t>
            </a:r>
            <a:r>
              <a:rPr lang="en-US" altLang="zh-CN" sz="2400" dirty="0" err="1" smtClean="0">
                <a:latin typeface="+mj-ea"/>
                <a:ea typeface="+mj-ea"/>
              </a:rPr>
              <a:t>SC.Sno</a:t>
            </a:r>
            <a:r>
              <a:rPr lang="en-US" altLang="zh-CN" sz="2400" dirty="0" smtClean="0">
                <a:latin typeface="+mj-ea"/>
                <a:ea typeface="+mj-ea"/>
              </a:rPr>
              <a:t> AND</a:t>
            </a:r>
          </a:p>
          <a:p>
            <a:pPr eaLnBrk="1" hangingPunct="1">
              <a:lnSpc>
                <a:spcPct val="110000"/>
              </a:lnSpc>
              <a:buFont typeface="Wingdings" pitchFamily="2" charset="2"/>
              <a:buNone/>
              <a:defRPr/>
            </a:pPr>
            <a:r>
              <a:rPr lang="en-US" altLang="zh-CN" sz="2400" dirty="0" smtClean="0">
                <a:latin typeface="+mj-ea"/>
                <a:ea typeface="+mj-ea"/>
              </a:rPr>
              <a:t>                      </a:t>
            </a:r>
            <a:r>
              <a:rPr lang="en-US" altLang="zh-CN" sz="2400" dirty="0" err="1" smtClean="0">
                <a:latin typeface="+mj-ea"/>
                <a:ea typeface="+mj-ea"/>
              </a:rPr>
              <a:t>SC.Cno</a:t>
            </a:r>
            <a:r>
              <a:rPr lang="en-US" altLang="zh-CN" sz="2400" dirty="0" smtClean="0">
                <a:latin typeface="+mj-ea"/>
                <a:ea typeface="+mj-ea"/>
              </a:rPr>
              <a:t>= '001'</a:t>
            </a:r>
            <a:r>
              <a:rPr lang="zh-CN" altLang="en-US" sz="2400" dirty="0" smtClean="0">
                <a:latin typeface="+mj-ea"/>
                <a:ea typeface="+mj-ea"/>
              </a:rPr>
              <a:t>；</a:t>
            </a:r>
          </a:p>
        </p:txBody>
      </p:sp>
      <p:sp>
        <p:nvSpPr>
          <p:cNvPr id="4" name="Rectangle 2"/>
          <p:cNvSpPr txBox="1">
            <a:spLocks noChangeArrowheads="1"/>
          </p:cNvSpPr>
          <p:nvPr/>
        </p:nvSpPr>
        <p:spPr bwMode="auto">
          <a:xfrm>
            <a:off x="179388" y="0"/>
            <a:ext cx="82296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lnSpc>
                <a:spcPct val="110000"/>
              </a:lnSpc>
              <a:defRPr/>
            </a:pPr>
            <a:r>
              <a:rPr lang="en-US" altLang="zh-CN" sz="3200" b="0" kern="0" smtClean="0">
                <a:latin typeface="+mj-ea"/>
              </a:rPr>
              <a:t>3.6.1  </a:t>
            </a:r>
            <a:r>
              <a:rPr lang="zh-CN" altLang="en-US" sz="3200" b="0" kern="0" smtClean="0">
                <a:latin typeface="+mj-ea"/>
              </a:rPr>
              <a:t>定义视图</a:t>
            </a:r>
            <a:endParaRPr lang="zh-CN" altLang="en-US" sz="3200" b="0" kern="0" dirty="0" smtClean="0">
              <a:latin typeface="+mj-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41027">
                                            <p:txEl>
                                              <p:pRg st="0" end="0"/>
                                            </p:txEl>
                                          </p:spTgt>
                                        </p:tgtEl>
                                        <p:attrNameLst>
                                          <p:attrName>style.visibility</p:attrName>
                                        </p:attrNameLst>
                                      </p:cBhvr>
                                      <p:to>
                                        <p:strVal val="visible"/>
                                      </p:to>
                                    </p:set>
                                    <p:anim calcmode="lin" valueType="num">
                                      <p:cBhvr additive="base">
                                        <p:cTn id="7" dur="500" fill="hold"/>
                                        <p:tgtEl>
                                          <p:spTgt spid="6410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10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41027">
                                            <p:txEl>
                                              <p:pRg st="3" end="3"/>
                                            </p:txEl>
                                          </p:spTgt>
                                        </p:tgtEl>
                                        <p:attrNameLst>
                                          <p:attrName>style.visibility</p:attrName>
                                        </p:attrNameLst>
                                      </p:cBhvr>
                                      <p:to>
                                        <p:strVal val="visible"/>
                                      </p:to>
                                    </p:set>
                                    <p:anim calcmode="lin" valueType="num">
                                      <p:cBhvr additive="base">
                                        <p:cTn id="13" dur="500" fill="hold"/>
                                        <p:tgtEl>
                                          <p:spTgt spid="64102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41027">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41027">
                                            <p:txEl>
                                              <p:pRg st="4" end="4"/>
                                            </p:txEl>
                                          </p:spTgt>
                                        </p:tgtEl>
                                        <p:attrNameLst>
                                          <p:attrName>style.visibility</p:attrName>
                                        </p:attrNameLst>
                                      </p:cBhvr>
                                      <p:to>
                                        <p:strVal val="visible"/>
                                      </p:to>
                                    </p:set>
                                    <p:anim calcmode="lin" valueType="num">
                                      <p:cBhvr additive="base">
                                        <p:cTn id="17" dur="500" fill="hold"/>
                                        <p:tgtEl>
                                          <p:spTgt spid="641027">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41027">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41027">
                                            <p:txEl>
                                              <p:pRg st="5" end="5"/>
                                            </p:txEl>
                                          </p:spTgt>
                                        </p:tgtEl>
                                        <p:attrNameLst>
                                          <p:attrName>style.visibility</p:attrName>
                                        </p:attrNameLst>
                                      </p:cBhvr>
                                      <p:to>
                                        <p:strVal val="visible"/>
                                      </p:to>
                                    </p:set>
                                    <p:anim calcmode="lin" valueType="num">
                                      <p:cBhvr additive="base">
                                        <p:cTn id="21" dur="500" fill="hold"/>
                                        <p:tgtEl>
                                          <p:spTgt spid="641027">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41027">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41027">
                                            <p:txEl>
                                              <p:pRg st="6" end="6"/>
                                            </p:txEl>
                                          </p:spTgt>
                                        </p:tgtEl>
                                        <p:attrNameLst>
                                          <p:attrName>style.visibility</p:attrName>
                                        </p:attrNameLst>
                                      </p:cBhvr>
                                      <p:to>
                                        <p:strVal val="visible"/>
                                      </p:to>
                                    </p:set>
                                    <p:anim calcmode="lin" valueType="num">
                                      <p:cBhvr additive="base">
                                        <p:cTn id="25" dur="500" fill="hold"/>
                                        <p:tgtEl>
                                          <p:spTgt spid="641027">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41027">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41027">
                                            <p:txEl>
                                              <p:pRg st="7" end="7"/>
                                            </p:txEl>
                                          </p:spTgt>
                                        </p:tgtEl>
                                        <p:attrNameLst>
                                          <p:attrName>style.visibility</p:attrName>
                                        </p:attrNameLst>
                                      </p:cBhvr>
                                      <p:to>
                                        <p:strVal val="visible"/>
                                      </p:to>
                                    </p:set>
                                    <p:anim calcmode="lin" valueType="num">
                                      <p:cBhvr additive="base">
                                        <p:cTn id="29" dur="500" fill="hold"/>
                                        <p:tgtEl>
                                          <p:spTgt spid="641027">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4102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641027">
                                            <p:txEl>
                                              <p:pRg st="1" end="1"/>
                                            </p:txEl>
                                          </p:spTgt>
                                        </p:tgtEl>
                                        <p:attrNameLst>
                                          <p:attrName>style.visibility</p:attrName>
                                        </p:attrNameLst>
                                      </p:cBhvr>
                                      <p:to>
                                        <p:strVal val="visible"/>
                                      </p:to>
                                    </p:set>
                                    <p:anim calcmode="lin" valueType="num">
                                      <p:cBhvr additive="base">
                                        <p:cTn id="35" dur="500" fill="hold"/>
                                        <p:tgtEl>
                                          <p:spTgt spid="641027">
                                            <p:txEl>
                                              <p:pRg st="1" end="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41027">
                                            <p:txEl>
                                              <p:pRg st="1" end="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41027">
                                            <p:txEl>
                                              <p:pRg st="2" end="2"/>
                                            </p:txEl>
                                          </p:spTgt>
                                        </p:tgtEl>
                                        <p:attrNameLst>
                                          <p:attrName>style.visibility</p:attrName>
                                        </p:attrNameLst>
                                      </p:cBhvr>
                                      <p:to>
                                        <p:strVal val="visible"/>
                                      </p:to>
                                    </p:set>
                                    <p:anim calcmode="lin" valueType="num">
                                      <p:cBhvr additive="base">
                                        <p:cTn id="39" dur="500" fill="hold"/>
                                        <p:tgtEl>
                                          <p:spTgt spid="641027">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4102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395288" y="908050"/>
            <a:ext cx="8229600" cy="1125538"/>
          </a:xfrm>
        </p:spPr>
        <p:txBody>
          <a:bodyPr/>
          <a:lstStyle/>
          <a:p>
            <a:pPr eaLnBrk="1" hangingPunct="1"/>
            <a:r>
              <a:rPr lang="zh-CN" altLang="en-US" sz="2800" smtClean="0">
                <a:solidFill>
                  <a:srgbClr val="FF0000"/>
                </a:solidFill>
              </a:rPr>
              <a:t>基于视图的视图</a:t>
            </a:r>
          </a:p>
        </p:txBody>
      </p:sp>
      <p:sp>
        <p:nvSpPr>
          <p:cNvPr id="642051" name="Rectangle 3"/>
          <p:cNvSpPr>
            <a:spLocks noGrp="1" noChangeArrowheads="1"/>
          </p:cNvSpPr>
          <p:nvPr>
            <p:ph type="body" idx="1"/>
          </p:nvPr>
        </p:nvSpPr>
        <p:spPr>
          <a:xfrm>
            <a:off x="684213" y="1989138"/>
            <a:ext cx="7772400" cy="4535487"/>
          </a:xfrm>
        </p:spPr>
        <p:txBody>
          <a:bodyPr/>
          <a:lstStyle/>
          <a:p>
            <a:pPr eaLnBrk="1" hangingPunct="1">
              <a:lnSpc>
                <a:spcPct val="130000"/>
              </a:lnSpc>
              <a:buFont typeface="Wingdings" pitchFamily="2" charset="2"/>
              <a:buNone/>
              <a:defRPr/>
            </a:pPr>
            <a:r>
              <a:rPr lang="en-US" altLang="zh-CN" sz="2400" dirty="0" smtClean="0">
                <a:latin typeface="+mj-ea"/>
                <a:ea typeface="+mj-ea"/>
              </a:rPr>
              <a:t>[</a:t>
            </a:r>
            <a:r>
              <a:rPr lang="zh-CN" altLang="en-US" sz="2400" dirty="0" smtClean="0">
                <a:latin typeface="+mj-ea"/>
                <a:ea typeface="+mj-ea"/>
              </a:rPr>
              <a:t>例</a:t>
            </a:r>
            <a:r>
              <a:rPr lang="en-US" altLang="zh-CN" sz="2400" dirty="0" smtClean="0">
                <a:latin typeface="+mj-ea"/>
                <a:ea typeface="+mj-ea"/>
              </a:rPr>
              <a:t>4]  </a:t>
            </a:r>
            <a:r>
              <a:rPr lang="zh-CN" altLang="en-US" sz="2400" dirty="0" smtClean="0">
                <a:latin typeface="+mj-ea"/>
                <a:ea typeface="+mj-ea"/>
              </a:rPr>
              <a:t>建立水建学院选修了</a:t>
            </a:r>
            <a:r>
              <a:rPr lang="en-US" altLang="zh-CN" sz="2400" dirty="0" smtClean="0">
                <a:latin typeface="+mj-ea"/>
                <a:ea typeface="+mj-ea"/>
              </a:rPr>
              <a:t>001</a:t>
            </a:r>
            <a:r>
              <a:rPr lang="zh-CN" altLang="en-US" sz="2400" dirty="0" smtClean="0">
                <a:latin typeface="+mj-ea"/>
                <a:ea typeface="+mj-ea"/>
              </a:rPr>
              <a:t>号课程且成绩在</a:t>
            </a:r>
            <a:r>
              <a:rPr lang="en-US" altLang="zh-CN" sz="2400" dirty="0" smtClean="0">
                <a:latin typeface="+mj-ea"/>
                <a:ea typeface="+mj-ea"/>
              </a:rPr>
              <a:t>90</a:t>
            </a:r>
            <a:r>
              <a:rPr lang="zh-CN" altLang="en-US" sz="2400" dirty="0" smtClean="0">
                <a:latin typeface="+mj-ea"/>
                <a:ea typeface="+mj-ea"/>
              </a:rPr>
              <a:t>分以上的学生的视图。</a:t>
            </a:r>
          </a:p>
          <a:p>
            <a:pPr eaLnBrk="1" hangingPunct="1">
              <a:lnSpc>
                <a:spcPct val="130000"/>
              </a:lnSpc>
              <a:buFont typeface="Wingdings" pitchFamily="2" charset="2"/>
              <a:buNone/>
              <a:defRPr/>
            </a:pPr>
            <a:r>
              <a:rPr lang="zh-CN" altLang="en-US" sz="2400" dirty="0" smtClean="0">
                <a:latin typeface="+mj-ea"/>
                <a:ea typeface="+mj-ea"/>
              </a:rPr>
              <a:t>        </a:t>
            </a:r>
            <a:r>
              <a:rPr lang="en-US" altLang="zh-CN" sz="2400" dirty="0" smtClean="0">
                <a:latin typeface="+mj-ea"/>
                <a:ea typeface="+mj-ea"/>
              </a:rPr>
              <a:t>CREATE VIEW SJ_SC2</a:t>
            </a:r>
          </a:p>
          <a:p>
            <a:pPr eaLnBrk="1" hangingPunct="1">
              <a:lnSpc>
                <a:spcPct val="130000"/>
              </a:lnSpc>
              <a:buFont typeface="Wingdings" pitchFamily="2" charset="2"/>
              <a:buNone/>
              <a:defRPr/>
            </a:pPr>
            <a:r>
              <a:rPr lang="en-US" altLang="zh-CN" sz="2400" dirty="0" smtClean="0">
                <a:latin typeface="+mj-ea"/>
                <a:ea typeface="+mj-ea"/>
              </a:rPr>
              <a:t>               AS</a:t>
            </a:r>
          </a:p>
          <a:p>
            <a:pPr eaLnBrk="1" hangingPunct="1">
              <a:lnSpc>
                <a:spcPct val="130000"/>
              </a:lnSpc>
              <a:buFont typeface="Wingdings" pitchFamily="2" charset="2"/>
              <a:buNone/>
              <a:defRPr/>
            </a:pPr>
            <a:r>
              <a:rPr lang="en-US" altLang="zh-CN" sz="2400" dirty="0" smtClean="0">
                <a:latin typeface="+mj-ea"/>
                <a:ea typeface="+mj-ea"/>
              </a:rPr>
              <a:t>               SELECT </a:t>
            </a:r>
            <a:r>
              <a:rPr lang="en-US" altLang="zh-CN" sz="2400" dirty="0" err="1" smtClean="0">
                <a:latin typeface="+mj-ea"/>
                <a:ea typeface="+mj-ea"/>
              </a:rPr>
              <a:t>Sno,Sname,Grade</a:t>
            </a:r>
            <a:endParaRPr lang="en-US" altLang="zh-CN" sz="2400" dirty="0" smtClean="0">
              <a:latin typeface="+mj-ea"/>
              <a:ea typeface="+mj-ea"/>
            </a:endParaRPr>
          </a:p>
          <a:p>
            <a:pPr eaLnBrk="1" hangingPunct="1">
              <a:lnSpc>
                <a:spcPct val="130000"/>
              </a:lnSpc>
              <a:buFont typeface="Wingdings" pitchFamily="2" charset="2"/>
              <a:buNone/>
              <a:defRPr/>
            </a:pPr>
            <a:r>
              <a:rPr lang="en-US" altLang="zh-CN" sz="2400" dirty="0" smtClean="0">
                <a:latin typeface="+mj-ea"/>
                <a:ea typeface="+mj-ea"/>
              </a:rPr>
              <a:t>               FROM  </a:t>
            </a:r>
            <a:r>
              <a:rPr lang="en-US" altLang="zh-CN" sz="2400" dirty="0" smtClean="0">
                <a:solidFill>
                  <a:srgbClr val="FF0000"/>
                </a:solidFill>
                <a:latin typeface="+mj-ea"/>
                <a:ea typeface="+mj-ea"/>
              </a:rPr>
              <a:t>SJ_SC</a:t>
            </a:r>
          </a:p>
          <a:p>
            <a:pPr eaLnBrk="1" hangingPunct="1">
              <a:lnSpc>
                <a:spcPct val="130000"/>
              </a:lnSpc>
              <a:buFont typeface="Wingdings" pitchFamily="2" charset="2"/>
              <a:buNone/>
              <a:defRPr/>
            </a:pPr>
            <a:r>
              <a:rPr lang="en-US" altLang="zh-CN" sz="2400" dirty="0" smtClean="0">
                <a:latin typeface="+mj-ea"/>
                <a:ea typeface="+mj-ea"/>
              </a:rPr>
              <a:t>               WHERE  Grade&gt;=90</a:t>
            </a:r>
          </a:p>
        </p:txBody>
      </p:sp>
      <p:sp>
        <p:nvSpPr>
          <p:cNvPr id="4" name="Rectangle 2"/>
          <p:cNvSpPr txBox="1">
            <a:spLocks noChangeArrowheads="1"/>
          </p:cNvSpPr>
          <p:nvPr/>
        </p:nvSpPr>
        <p:spPr bwMode="auto">
          <a:xfrm>
            <a:off x="179388" y="0"/>
            <a:ext cx="82296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lnSpc>
                <a:spcPct val="110000"/>
              </a:lnSpc>
              <a:defRPr/>
            </a:pPr>
            <a:r>
              <a:rPr lang="en-US" altLang="zh-CN" sz="3200" b="0" kern="0" smtClean="0">
                <a:latin typeface="+mj-ea"/>
              </a:rPr>
              <a:t>3.6.1  </a:t>
            </a:r>
            <a:r>
              <a:rPr lang="zh-CN" altLang="en-US" sz="3200" b="0" kern="0" smtClean="0">
                <a:latin typeface="+mj-ea"/>
              </a:rPr>
              <a:t>定义视图</a:t>
            </a:r>
            <a:endParaRPr lang="zh-CN" altLang="en-US" sz="3200" b="0" kern="0" dirty="0" smtClean="0">
              <a:latin typeface="+mj-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42051">
                                            <p:txEl>
                                              <p:pRg st="3" end="3"/>
                                            </p:txEl>
                                          </p:spTgt>
                                        </p:tgtEl>
                                        <p:attrNameLst>
                                          <p:attrName>style.visibility</p:attrName>
                                        </p:attrNameLst>
                                      </p:cBhvr>
                                      <p:to>
                                        <p:strVal val="visible"/>
                                      </p:to>
                                    </p:set>
                                    <p:anim calcmode="lin" valueType="num">
                                      <p:cBhvr additive="base">
                                        <p:cTn id="7" dur="500" fill="hold"/>
                                        <p:tgtEl>
                                          <p:spTgt spid="642051">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2051">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42051">
                                            <p:txEl>
                                              <p:pRg st="4" end="4"/>
                                            </p:txEl>
                                          </p:spTgt>
                                        </p:tgtEl>
                                        <p:attrNameLst>
                                          <p:attrName>style.visibility</p:attrName>
                                        </p:attrNameLst>
                                      </p:cBhvr>
                                      <p:to>
                                        <p:strVal val="visible"/>
                                      </p:to>
                                    </p:set>
                                    <p:anim calcmode="lin" valueType="num">
                                      <p:cBhvr additive="base">
                                        <p:cTn id="11" dur="500" fill="hold"/>
                                        <p:tgtEl>
                                          <p:spTgt spid="642051">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42051">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42051">
                                            <p:txEl>
                                              <p:pRg st="5" end="5"/>
                                            </p:txEl>
                                          </p:spTgt>
                                        </p:tgtEl>
                                        <p:attrNameLst>
                                          <p:attrName>style.visibility</p:attrName>
                                        </p:attrNameLst>
                                      </p:cBhvr>
                                      <p:to>
                                        <p:strVal val="visible"/>
                                      </p:to>
                                    </p:set>
                                    <p:anim calcmode="lin" valueType="num">
                                      <p:cBhvr additive="base">
                                        <p:cTn id="15" dur="500" fill="hold"/>
                                        <p:tgtEl>
                                          <p:spTgt spid="642051">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4205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642051">
                                            <p:txEl>
                                              <p:pRg st="1" end="1"/>
                                            </p:txEl>
                                          </p:spTgt>
                                        </p:tgtEl>
                                        <p:attrNameLst>
                                          <p:attrName>style.visibility</p:attrName>
                                        </p:attrNameLst>
                                      </p:cBhvr>
                                      <p:to>
                                        <p:strVal val="visible"/>
                                      </p:to>
                                    </p:set>
                                    <p:anim calcmode="lin" valueType="num">
                                      <p:cBhvr additive="base">
                                        <p:cTn id="21" dur="500" fill="hold"/>
                                        <p:tgtEl>
                                          <p:spTgt spid="642051">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42051">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42051">
                                            <p:txEl>
                                              <p:pRg st="2" end="2"/>
                                            </p:txEl>
                                          </p:spTgt>
                                        </p:tgtEl>
                                        <p:attrNameLst>
                                          <p:attrName>style.visibility</p:attrName>
                                        </p:attrNameLst>
                                      </p:cBhvr>
                                      <p:to>
                                        <p:strVal val="visible"/>
                                      </p:to>
                                    </p:set>
                                    <p:anim calcmode="lin" valueType="num">
                                      <p:cBhvr additive="base">
                                        <p:cTn id="25" dur="500" fill="hold"/>
                                        <p:tgtEl>
                                          <p:spTgt spid="642051">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4205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a:xfrm>
            <a:off x="323850" y="981075"/>
            <a:ext cx="8229600" cy="1125538"/>
          </a:xfrm>
        </p:spPr>
        <p:txBody>
          <a:bodyPr/>
          <a:lstStyle/>
          <a:p>
            <a:pPr eaLnBrk="1" hangingPunct="1"/>
            <a:r>
              <a:rPr lang="zh-CN" altLang="en-US" sz="2800" smtClean="0">
                <a:solidFill>
                  <a:srgbClr val="FF0000"/>
                </a:solidFill>
              </a:rPr>
              <a:t>带表达式的视图</a:t>
            </a:r>
          </a:p>
        </p:txBody>
      </p:sp>
      <p:sp>
        <p:nvSpPr>
          <p:cNvPr id="643075" name="Rectangle 3"/>
          <p:cNvSpPr>
            <a:spLocks noGrp="1" noChangeArrowheads="1"/>
          </p:cNvSpPr>
          <p:nvPr>
            <p:ph type="body" idx="1"/>
          </p:nvPr>
        </p:nvSpPr>
        <p:spPr>
          <a:xfrm>
            <a:off x="755650" y="2392363"/>
            <a:ext cx="7991475" cy="4465637"/>
          </a:xfrm>
        </p:spPr>
        <p:txBody>
          <a:bodyPr/>
          <a:lstStyle/>
          <a:p>
            <a:pPr eaLnBrk="1" hangingPunct="1">
              <a:buFont typeface="Wingdings" pitchFamily="2" charset="2"/>
              <a:buNone/>
              <a:defRPr/>
            </a:pPr>
            <a:r>
              <a:rPr lang="en-US" altLang="zh-CN" sz="2400" dirty="0" smtClean="0">
                <a:latin typeface="+mj-ea"/>
                <a:ea typeface="+mj-ea"/>
              </a:rPr>
              <a:t>[</a:t>
            </a:r>
            <a:r>
              <a:rPr lang="zh-CN" altLang="en-US" sz="2400" dirty="0" smtClean="0">
                <a:latin typeface="+mj-ea"/>
                <a:ea typeface="+mj-ea"/>
              </a:rPr>
              <a:t>例</a:t>
            </a:r>
            <a:r>
              <a:rPr lang="en-US" altLang="zh-CN" sz="2400" dirty="0" smtClean="0">
                <a:latin typeface="+mj-ea"/>
                <a:ea typeface="+mj-ea"/>
              </a:rPr>
              <a:t>5]  </a:t>
            </a:r>
            <a:r>
              <a:rPr lang="zh-CN" altLang="en-US" sz="2400" dirty="0" smtClean="0">
                <a:latin typeface="+mj-ea"/>
                <a:ea typeface="+mj-ea"/>
              </a:rPr>
              <a:t>定义一个反映学生年龄的视图。</a:t>
            </a:r>
          </a:p>
          <a:p>
            <a:pPr lvl="1" eaLnBrk="1" hangingPunct="1">
              <a:lnSpc>
                <a:spcPct val="130000"/>
              </a:lnSpc>
              <a:buFont typeface="Wingdings" pitchFamily="2" charset="2"/>
              <a:buNone/>
              <a:defRPr/>
            </a:pPr>
            <a:r>
              <a:rPr lang="zh-CN" altLang="en-US" sz="2400" dirty="0" smtClean="0">
                <a:latin typeface="+mj-ea"/>
                <a:ea typeface="+mj-ea"/>
              </a:rPr>
              <a:t>  </a:t>
            </a:r>
            <a:r>
              <a:rPr lang="en-US" altLang="zh-CN" sz="2400" dirty="0" smtClean="0">
                <a:latin typeface="+mj-ea"/>
                <a:ea typeface="+mj-ea"/>
              </a:rPr>
              <a:t>CREATE  VIEW  </a:t>
            </a:r>
            <a:r>
              <a:rPr lang="en-US" altLang="zh-CN" sz="2400" dirty="0" err="1" smtClean="0">
                <a:latin typeface="+mj-ea"/>
                <a:ea typeface="+mj-ea"/>
              </a:rPr>
              <a:t>V_age</a:t>
            </a:r>
            <a:r>
              <a:rPr lang="en-US" altLang="zh-CN" sz="2400" dirty="0" smtClean="0">
                <a:latin typeface="+mj-ea"/>
                <a:ea typeface="+mj-ea"/>
              </a:rPr>
              <a:t>(</a:t>
            </a:r>
            <a:r>
              <a:rPr lang="en-US" altLang="zh-CN" sz="2400" dirty="0" err="1" smtClean="0">
                <a:latin typeface="+mj-ea"/>
                <a:ea typeface="+mj-ea"/>
              </a:rPr>
              <a:t>Sno,Sname,</a:t>
            </a:r>
            <a:r>
              <a:rPr lang="en-US" altLang="zh-CN" sz="2400" dirty="0" err="1" smtClean="0">
                <a:solidFill>
                  <a:schemeClr val="hlink"/>
                </a:solidFill>
                <a:latin typeface="+mj-ea"/>
                <a:ea typeface="+mj-ea"/>
              </a:rPr>
              <a:t>Sbirth</a:t>
            </a:r>
            <a:r>
              <a:rPr lang="en-US" altLang="zh-CN" sz="2400" dirty="0" smtClean="0">
                <a:latin typeface="+mj-ea"/>
                <a:ea typeface="+mj-ea"/>
              </a:rPr>
              <a:t>)</a:t>
            </a:r>
          </a:p>
          <a:p>
            <a:pPr lvl="1" eaLnBrk="1" hangingPunct="1">
              <a:lnSpc>
                <a:spcPct val="130000"/>
              </a:lnSpc>
              <a:buFont typeface="Wingdings" pitchFamily="2" charset="2"/>
              <a:buNone/>
              <a:defRPr/>
            </a:pPr>
            <a:r>
              <a:rPr lang="en-US" altLang="zh-CN" sz="2400" dirty="0" smtClean="0">
                <a:latin typeface="+mj-ea"/>
                <a:ea typeface="+mj-ea"/>
              </a:rPr>
              <a:t>    AS </a:t>
            </a:r>
          </a:p>
          <a:p>
            <a:pPr lvl="1" eaLnBrk="1" hangingPunct="1">
              <a:lnSpc>
                <a:spcPct val="130000"/>
              </a:lnSpc>
              <a:buFont typeface="Wingdings" pitchFamily="2" charset="2"/>
              <a:buNone/>
              <a:defRPr/>
            </a:pPr>
            <a:r>
              <a:rPr lang="en-US" altLang="zh-CN" sz="2400" dirty="0" smtClean="0">
                <a:latin typeface="+mj-ea"/>
                <a:ea typeface="+mj-ea"/>
              </a:rPr>
              <a:t>    SELECT </a:t>
            </a:r>
            <a:r>
              <a:rPr lang="en-US" altLang="zh-CN" sz="2400" dirty="0" err="1" smtClean="0">
                <a:latin typeface="+mj-ea"/>
                <a:ea typeface="+mj-ea"/>
              </a:rPr>
              <a:t>Sno,Sname</a:t>
            </a:r>
            <a:r>
              <a:rPr lang="en-US" altLang="zh-CN" sz="2400" dirty="0" smtClean="0">
                <a:latin typeface="+mj-ea"/>
                <a:ea typeface="+mj-ea"/>
              </a:rPr>
              <a:t>, </a:t>
            </a:r>
            <a:r>
              <a:rPr lang="en-US" altLang="zh-CN" sz="2400" dirty="0" err="1" smtClean="0">
                <a:latin typeface="+mj-ea"/>
                <a:ea typeface="+mj-ea"/>
              </a:rPr>
              <a:t>trunc</a:t>
            </a:r>
            <a:r>
              <a:rPr lang="en-US" altLang="zh-CN" sz="2400" dirty="0" smtClean="0">
                <a:latin typeface="+mj-ea"/>
                <a:ea typeface="+mj-ea"/>
              </a:rPr>
              <a:t>((</a:t>
            </a:r>
            <a:r>
              <a:rPr lang="en-US" altLang="zh-CN" sz="2400" dirty="0" err="1" smtClean="0">
                <a:latin typeface="+mj-ea"/>
                <a:ea typeface="+mj-ea"/>
              </a:rPr>
              <a:t>sysdate-Sbirth</a:t>
            </a:r>
            <a:r>
              <a:rPr lang="en-US" altLang="zh-CN" sz="2400" dirty="0" smtClean="0">
                <a:latin typeface="+mj-ea"/>
                <a:ea typeface="+mj-ea"/>
              </a:rPr>
              <a:t>)/365)</a:t>
            </a:r>
            <a:endParaRPr lang="en-US" altLang="zh-CN" sz="2400" dirty="0" smtClean="0">
              <a:solidFill>
                <a:schemeClr val="hlink"/>
              </a:solidFill>
              <a:latin typeface="+mj-ea"/>
              <a:ea typeface="+mj-ea"/>
            </a:endParaRPr>
          </a:p>
          <a:p>
            <a:pPr lvl="1" eaLnBrk="1" hangingPunct="1">
              <a:lnSpc>
                <a:spcPct val="130000"/>
              </a:lnSpc>
              <a:buFont typeface="Wingdings" pitchFamily="2" charset="2"/>
              <a:buNone/>
              <a:defRPr/>
            </a:pPr>
            <a:r>
              <a:rPr lang="en-US" altLang="zh-CN" sz="2400" dirty="0" smtClean="0">
                <a:latin typeface="+mj-ea"/>
                <a:ea typeface="+mj-ea"/>
              </a:rPr>
              <a:t>    FROM  S</a:t>
            </a:r>
          </a:p>
          <a:p>
            <a:pPr eaLnBrk="1" hangingPunct="1">
              <a:lnSpc>
                <a:spcPct val="150000"/>
              </a:lnSpc>
              <a:buFont typeface="Wingdings" pitchFamily="2" charset="2"/>
              <a:buNone/>
              <a:defRPr/>
            </a:pPr>
            <a:r>
              <a:rPr lang="en-US" altLang="zh-CN" sz="2400" dirty="0" smtClean="0">
                <a:latin typeface="+mj-ea"/>
                <a:ea typeface="+mj-ea"/>
              </a:rPr>
              <a:t>   </a:t>
            </a:r>
            <a:endParaRPr lang="zh-CN" altLang="en-US" sz="2400" dirty="0" smtClean="0">
              <a:latin typeface="+mj-ea"/>
              <a:ea typeface="+mj-ea"/>
            </a:endParaRPr>
          </a:p>
        </p:txBody>
      </p:sp>
      <p:sp>
        <p:nvSpPr>
          <p:cNvPr id="4" name="Rectangle 2"/>
          <p:cNvSpPr txBox="1">
            <a:spLocks noChangeArrowheads="1"/>
          </p:cNvSpPr>
          <p:nvPr/>
        </p:nvSpPr>
        <p:spPr bwMode="auto">
          <a:xfrm>
            <a:off x="179388" y="0"/>
            <a:ext cx="82296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lnSpc>
                <a:spcPct val="110000"/>
              </a:lnSpc>
              <a:defRPr/>
            </a:pPr>
            <a:r>
              <a:rPr lang="en-US" altLang="zh-CN" sz="3200" b="0" kern="0" smtClean="0">
                <a:latin typeface="+mj-ea"/>
              </a:rPr>
              <a:t>3.6.1  </a:t>
            </a:r>
            <a:r>
              <a:rPr lang="zh-CN" altLang="en-US" sz="3200" b="0" kern="0" smtClean="0">
                <a:latin typeface="+mj-ea"/>
              </a:rPr>
              <a:t>定义视图</a:t>
            </a:r>
            <a:endParaRPr lang="zh-CN" altLang="en-US" sz="3200" b="0" kern="0" dirty="0" smtClean="0">
              <a:latin typeface="+mj-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43075">
                                            <p:txEl>
                                              <p:pRg st="3" end="3"/>
                                            </p:txEl>
                                          </p:spTgt>
                                        </p:tgtEl>
                                        <p:attrNameLst>
                                          <p:attrName>style.visibility</p:attrName>
                                        </p:attrNameLst>
                                      </p:cBhvr>
                                      <p:to>
                                        <p:strVal val="visible"/>
                                      </p:to>
                                    </p:set>
                                    <p:anim calcmode="lin" valueType="num">
                                      <p:cBhvr additive="base">
                                        <p:cTn id="7" dur="500" fill="hold"/>
                                        <p:tgtEl>
                                          <p:spTgt spid="643075">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3075">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43075">
                                            <p:txEl>
                                              <p:pRg st="4" end="4"/>
                                            </p:txEl>
                                          </p:spTgt>
                                        </p:tgtEl>
                                        <p:attrNameLst>
                                          <p:attrName>style.visibility</p:attrName>
                                        </p:attrNameLst>
                                      </p:cBhvr>
                                      <p:to>
                                        <p:strVal val="visible"/>
                                      </p:to>
                                    </p:set>
                                    <p:anim calcmode="lin" valueType="num">
                                      <p:cBhvr additive="base">
                                        <p:cTn id="11" dur="500" fill="hold"/>
                                        <p:tgtEl>
                                          <p:spTgt spid="643075">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430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643075">
                                            <p:txEl>
                                              <p:pRg st="1" end="1"/>
                                            </p:txEl>
                                          </p:spTgt>
                                        </p:tgtEl>
                                        <p:attrNameLst>
                                          <p:attrName>style.visibility</p:attrName>
                                        </p:attrNameLst>
                                      </p:cBhvr>
                                      <p:to>
                                        <p:strVal val="visible"/>
                                      </p:to>
                                    </p:set>
                                    <p:anim calcmode="lin" valueType="num">
                                      <p:cBhvr additive="base">
                                        <p:cTn id="17" dur="500" fill="hold"/>
                                        <p:tgtEl>
                                          <p:spTgt spid="643075">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43075">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43075">
                                            <p:txEl>
                                              <p:pRg st="2" end="2"/>
                                            </p:txEl>
                                          </p:spTgt>
                                        </p:tgtEl>
                                        <p:attrNameLst>
                                          <p:attrName>style.visibility</p:attrName>
                                        </p:attrNameLst>
                                      </p:cBhvr>
                                      <p:to>
                                        <p:strVal val="visible"/>
                                      </p:to>
                                    </p:set>
                                    <p:anim calcmode="lin" valueType="num">
                                      <p:cBhvr additive="base">
                                        <p:cTn id="21" dur="500" fill="hold"/>
                                        <p:tgtEl>
                                          <p:spTgt spid="643075">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430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643075">
                                            <p:txEl>
                                              <p:pRg st="5" end="5"/>
                                            </p:txEl>
                                          </p:spTgt>
                                        </p:tgtEl>
                                        <p:attrNameLst>
                                          <p:attrName>style.visibility</p:attrName>
                                        </p:attrNameLst>
                                      </p:cBhvr>
                                      <p:to>
                                        <p:strVal val="visible"/>
                                      </p:to>
                                    </p:set>
                                    <p:anim calcmode="lin" valueType="num">
                                      <p:cBhvr additive="base">
                                        <p:cTn id="27" dur="500" fill="hold"/>
                                        <p:tgtEl>
                                          <p:spTgt spid="64307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4307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323850" y="981075"/>
            <a:ext cx="8229600" cy="1125538"/>
          </a:xfrm>
        </p:spPr>
        <p:txBody>
          <a:bodyPr/>
          <a:lstStyle/>
          <a:p>
            <a:pPr eaLnBrk="1" hangingPunct="1"/>
            <a:r>
              <a:rPr lang="en-US" altLang="zh-CN" sz="2800" smtClean="0">
                <a:solidFill>
                  <a:srgbClr val="FF0000"/>
                </a:solidFill>
              </a:rPr>
              <a:t> </a:t>
            </a:r>
            <a:r>
              <a:rPr lang="zh-CN" altLang="en-US" sz="2800" smtClean="0">
                <a:solidFill>
                  <a:srgbClr val="FF0000"/>
                </a:solidFill>
              </a:rPr>
              <a:t>建立分组视图</a:t>
            </a:r>
          </a:p>
        </p:txBody>
      </p:sp>
      <p:sp>
        <p:nvSpPr>
          <p:cNvPr id="644099" name="Rectangle 3"/>
          <p:cNvSpPr>
            <a:spLocks noGrp="1" noChangeArrowheads="1"/>
          </p:cNvSpPr>
          <p:nvPr>
            <p:ph type="body" idx="1"/>
          </p:nvPr>
        </p:nvSpPr>
        <p:spPr>
          <a:xfrm>
            <a:off x="755650" y="1989138"/>
            <a:ext cx="7772400" cy="4114800"/>
          </a:xfrm>
        </p:spPr>
        <p:txBody>
          <a:bodyPr/>
          <a:lstStyle/>
          <a:p>
            <a:pPr eaLnBrk="1" hangingPunct="1">
              <a:lnSpc>
                <a:spcPct val="110000"/>
              </a:lnSpc>
              <a:buFont typeface="Wingdings" pitchFamily="2" charset="2"/>
              <a:buNone/>
              <a:defRPr/>
            </a:pPr>
            <a:r>
              <a:rPr lang="en-US" altLang="zh-CN" sz="2400" dirty="0" smtClean="0">
                <a:latin typeface="+mj-ea"/>
                <a:ea typeface="+mj-ea"/>
              </a:rPr>
              <a:t>[</a:t>
            </a:r>
            <a:r>
              <a:rPr lang="zh-CN" altLang="en-US" sz="2400" dirty="0" smtClean="0">
                <a:latin typeface="+mj-ea"/>
                <a:ea typeface="+mj-ea"/>
              </a:rPr>
              <a:t>例</a:t>
            </a:r>
            <a:r>
              <a:rPr lang="en-US" altLang="zh-CN" sz="2400" dirty="0" smtClean="0">
                <a:latin typeface="+mj-ea"/>
                <a:ea typeface="+mj-ea"/>
              </a:rPr>
              <a:t>6]  </a:t>
            </a:r>
            <a:r>
              <a:rPr lang="zh-CN" altLang="en-US" sz="2400" dirty="0" smtClean="0">
                <a:latin typeface="+mj-ea"/>
                <a:ea typeface="+mj-ea"/>
              </a:rPr>
              <a:t>将学生的学号及他的平均成绩定义为一个视图。</a:t>
            </a:r>
          </a:p>
          <a:p>
            <a:pPr eaLnBrk="1" hangingPunct="1">
              <a:lnSpc>
                <a:spcPct val="120000"/>
              </a:lnSpc>
              <a:buFont typeface="Wingdings" pitchFamily="2" charset="2"/>
              <a:buNone/>
              <a:defRPr/>
            </a:pPr>
            <a:r>
              <a:rPr lang="zh-CN" altLang="en-US" sz="2400" dirty="0" smtClean="0">
                <a:latin typeface="+mj-ea"/>
                <a:ea typeface="+mj-ea"/>
              </a:rPr>
              <a:t>	 </a:t>
            </a:r>
          </a:p>
          <a:p>
            <a:pPr eaLnBrk="1" hangingPunct="1">
              <a:lnSpc>
                <a:spcPct val="120000"/>
              </a:lnSpc>
              <a:buFont typeface="Wingdings" pitchFamily="2" charset="2"/>
              <a:buNone/>
              <a:defRPr/>
            </a:pPr>
            <a:r>
              <a:rPr lang="zh-CN" altLang="en-US" sz="2400" dirty="0" smtClean="0">
                <a:latin typeface="+mj-ea"/>
                <a:ea typeface="+mj-ea"/>
              </a:rPr>
              <a:t>     </a:t>
            </a:r>
            <a:r>
              <a:rPr lang="en-US" altLang="zh-CN" sz="2400" dirty="0" smtClean="0">
                <a:latin typeface="+mj-ea"/>
                <a:ea typeface="+mj-ea"/>
              </a:rPr>
              <a:t>CREATE  VIEW S_G(</a:t>
            </a:r>
            <a:r>
              <a:rPr lang="en-US" altLang="zh-CN" sz="2400" dirty="0" err="1" smtClean="0">
                <a:latin typeface="+mj-ea"/>
                <a:ea typeface="+mj-ea"/>
              </a:rPr>
              <a:t>Sno</a:t>
            </a:r>
            <a:r>
              <a:rPr lang="zh-CN" altLang="en-US" sz="2400" dirty="0" smtClean="0">
                <a:latin typeface="+mj-ea"/>
                <a:ea typeface="+mj-ea"/>
              </a:rPr>
              <a:t>，</a:t>
            </a:r>
            <a:r>
              <a:rPr lang="en-US" altLang="zh-CN" sz="2400" dirty="0" err="1" smtClean="0">
                <a:solidFill>
                  <a:srgbClr val="FF0000"/>
                </a:solidFill>
                <a:latin typeface="+mj-ea"/>
                <a:ea typeface="+mj-ea"/>
              </a:rPr>
              <a:t>Gavg</a:t>
            </a:r>
            <a:r>
              <a:rPr lang="en-US" altLang="zh-CN" sz="2400" dirty="0" smtClean="0">
                <a:latin typeface="+mj-ea"/>
                <a:ea typeface="+mj-ea"/>
              </a:rPr>
              <a:t>)</a:t>
            </a:r>
          </a:p>
          <a:p>
            <a:pPr eaLnBrk="1" hangingPunct="1">
              <a:lnSpc>
                <a:spcPct val="120000"/>
              </a:lnSpc>
              <a:buFont typeface="Wingdings" pitchFamily="2" charset="2"/>
              <a:buNone/>
              <a:defRPr/>
            </a:pPr>
            <a:r>
              <a:rPr lang="en-US" altLang="zh-CN" sz="2400" dirty="0" smtClean="0">
                <a:latin typeface="+mj-ea"/>
                <a:ea typeface="+mj-ea"/>
              </a:rPr>
              <a:t>         AS  </a:t>
            </a:r>
          </a:p>
          <a:p>
            <a:pPr eaLnBrk="1" hangingPunct="1">
              <a:lnSpc>
                <a:spcPct val="120000"/>
              </a:lnSpc>
              <a:buFont typeface="Wingdings" pitchFamily="2" charset="2"/>
              <a:buNone/>
              <a:defRPr/>
            </a:pPr>
            <a:r>
              <a:rPr lang="en-US" altLang="zh-CN" sz="2400" dirty="0" smtClean="0">
                <a:latin typeface="+mj-ea"/>
                <a:ea typeface="+mj-ea"/>
              </a:rPr>
              <a:t>         SELECT </a:t>
            </a:r>
            <a:r>
              <a:rPr lang="en-US" altLang="zh-CN" sz="2400" dirty="0" err="1" smtClean="0">
                <a:latin typeface="+mj-ea"/>
                <a:ea typeface="+mj-ea"/>
              </a:rPr>
              <a:t>Sno</a:t>
            </a:r>
            <a:r>
              <a:rPr lang="zh-CN" altLang="en-US" sz="2400" dirty="0" smtClean="0">
                <a:latin typeface="+mj-ea"/>
                <a:ea typeface="+mj-ea"/>
              </a:rPr>
              <a:t>，</a:t>
            </a:r>
            <a:r>
              <a:rPr lang="en-US" altLang="zh-CN" sz="2400" dirty="0" smtClean="0">
                <a:solidFill>
                  <a:srgbClr val="FF0000"/>
                </a:solidFill>
                <a:latin typeface="+mj-ea"/>
                <a:ea typeface="+mj-ea"/>
              </a:rPr>
              <a:t>AVG(Grade)</a:t>
            </a:r>
          </a:p>
          <a:p>
            <a:pPr eaLnBrk="1" hangingPunct="1">
              <a:lnSpc>
                <a:spcPct val="120000"/>
              </a:lnSpc>
              <a:buFont typeface="Wingdings" pitchFamily="2" charset="2"/>
              <a:buNone/>
              <a:defRPr/>
            </a:pPr>
            <a:r>
              <a:rPr lang="en-US" altLang="zh-CN" sz="2400" dirty="0" smtClean="0">
                <a:latin typeface="+mj-ea"/>
                <a:ea typeface="+mj-ea"/>
              </a:rPr>
              <a:t>         FROM  SC</a:t>
            </a:r>
          </a:p>
          <a:p>
            <a:pPr eaLnBrk="1" hangingPunct="1">
              <a:lnSpc>
                <a:spcPct val="120000"/>
              </a:lnSpc>
              <a:buFont typeface="Wingdings" pitchFamily="2" charset="2"/>
              <a:buNone/>
              <a:defRPr/>
            </a:pPr>
            <a:r>
              <a:rPr lang="en-US" altLang="zh-CN" sz="2400" dirty="0" smtClean="0">
                <a:solidFill>
                  <a:srgbClr val="FF3399"/>
                </a:solidFill>
                <a:latin typeface="+mj-ea"/>
                <a:ea typeface="+mj-ea"/>
              </a:rPr>
              <a:t>         </a:t>
            </a:r>
            <a:r>
              <a:rPr lang="en-US" altLang="zh-CN" sz="2400" dirty="0" smtClean="0">
                <a:solidFill>
                  <a:srgbClr val="FF0000"/>
                </a:solidFill>
                <a:latin typeface="+mj-ea"/>
                <a:ea typeface="+mj-ea"/>
              </a:rPr>
              <a:t>GROUP BY </a:t>
            </a:r>
            <a:r>
              <a:rPr lang="en-US" altLang="zh-CN" sz="2400" dirty="0" err="1" smtClean="0">
                <a:solidFill>
                  <a:srgbClr val="FF0000"/>
                </a:solidFill>
                <a:latin typeface="+mj-ea"/>
                <a:ea typeface="+mj-ea"/>
              </a:rPr>
              <a:t>Sno</a:t>
            </a:r>
            <a:r>
              <a:rPr lang="zh-CN" altLang="en-US" sz="2400" dirty="0" smtClean="0">
                <a:solidFill>
                  <a:srgbClr val="FF0000"/>
                </a:solidFill>
                <a:latin typeface="+mj-ea"/>
                <a:ea typeface="+mj-ea"/>
              </a:rPr>
              <a:t>；</a:t>
            </a:r>
          </a:p>
        </p:txBody>
      </p:sp>
      <p:sp>
        <p:nvSpPr>
          <p:cNvPr id="4" name="Rectangle 2"/>
          <p:cNvSpPr txBox="1">
            <a:spLocks noChangeArrowheads="1"/>
          </p:cNvSpPr>
          <p:nvPr/>
        </p:nvSpPr>
        <p:spPr bwMode="auto">
          <a:xfrm>
            <a:off x="179388" y="0"/>
            <a:ext cx="82296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lnSpc>
                <a:spcPct val="110000"/>
              </a:lnSpc>
              <a:defRPr/>
            </a:pPr>
            <a:r>
              <a:rPr lang="en-US" altLang="zh-CN" sz="3200" b="0" kern="0" dirty="0" smtClean="0">
                <a:latin typeface="+mj-ea"/>
              </a:rPr>
              <a:t>3.6.1  </a:t>
            </a:r>
            <a:r>
              <a:rPr lang="zh-CN" altLang="en-US" sz="3200" b="0" kern="0" dirty="0" smtClean="0">
                <a:latin typeface="+mj-ea"/>
              </a:rPr>
              <a:t>定义视图</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44099">
                                            <p:txEl>
                                              <p:pRg st="4" end="4"/>
                                            </p:txEl>
                                          </p:spTgt>
                                        </p:tgtEl>
                                        <p:attrNameLst>
                                          <p:attrName>style.visibility</p:attrName>
                                        </p:attrNameLst>
                                      </p:cBhvr>
                                      <p:to>
                                        <p:strVal val="visible"/>
                                      </p:to>
                                    </p:set>
                                    <p:anim calcmode="lin" valueType="num">
                                      <p:cBhvr additive="base">
                                        <p:cTn id="7" dur="500" fill="hold"/>
                                        <p:tgtEl>
                                          <p:spTgt spid="644099">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4099">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44099">
                                            <p:txEl>
                                              <p:pRg st="5" end="5"/>
                                            </p:txEl>
                                          </p:spTgt>
                                        </p:tgtEl>
                                        <p:attrNameLst>
                                          <p:attrName>style.visibility</p:attrName>
                                        </p:attrNameLst>
                                      </p:cBhvr>
                                      <p:to>
                                        <p:strVal val="visible"/>
                                      </p:to>
                                    </p:set>
                                    <p:anim calcmode="lin" valueType="num">
                                      <p:cBhvr additive="base">
                                        <p:cTn id="11" dur="500" fill="hold"/>
                                        <p:tgtEl>
                                          <p:spTgt spid="644099">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44099">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44099">
                                            <p:txEl>
                                              <p:pRg st="6" end="6"/>
                                            </p:txEl>
                                          </p:spTgt>
                                        </p:tgtEl>
                                        <p:attrNameLst>
                                          <p:attrName>style.visibility</p:attrName>
                                        </p:attrNameLst>
                                      </p:cBhvr>
                                      <p:to>
                                        <p:strVal val="visible"/>
                                      </p:to>
                                    </p:set>
                                    <p:anim calcmode="lin" valueType="num">
                                      <p:cBhvr additive="base">
                                        <p:cTn id="15" dur="500" fill="hold"/>
                                        <p:tgtEl>
                                          <p:spTgt spid="644099">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4409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644099">
                                            <p:txEl>
                                              <p:pRg st="2" end="2"/>
                                            </p:txEl>
                                          </p:spTgt>
                                        </p:tgtEl>
                                        <p:attrNameLst>
                                          <p:attrName>style.visibility</p:attrName>
                                        </p:attrNameLst>
                                      </p:cBhvr>
                                      <p:to>
                                        <p:strVal val="visible"/>
                                      </p:to>
                                    </p:set>
                                    <p:anim calcmode="lin" valueType="num">
                                      <p:cBhvr additive="base">
                                        <p:cTn id="21" dur="500" fill="hold"/>
                                        <p:tgtEl>
                                          <p:spTgt spid="644099">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44099">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44099">
                                            <p:txEl>
                                              <p:pRg st="3" end="3"/>
                                            </p:txEl>
                                          </p:spTgt>
                                        </p:tgtEl>
                                        <p:attrNameLst>
                                          <p:attrName>style.visibility</p:attrName>
                                        </p:attrNameLst>
                                      </p:cBhvr>
                                      <p:to>
                                        <p:strVal val="visible"/>
                                      </p:to>
                                    </p:set>
                                    <p:anim calcmode="lin" valueType="num">
                                      <p:cBhvr additive="base">
                                        <p:cTn id="25" dur="500" fill="hold"/>
                                        <p:tgtEl>
                                          <p:spTgt spid="64409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4409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7" name="Rectangle 3"/>
          <p:cNvSpPr>
            <a:spLocks noGrp="1" noChangeArrowheads="1"/>
          </p:cNvSpPr>
          <p:nvPr>
            <p:ph type="body" idx="1"/>
          </p:nvPr>
        </p:nvSpPr>
        <p:spPr>
          <a:xfrm>
            <a:off x="611188" y="1557338"/>
            <a:ext cx="8064500" cy="4752975"/>
          </a:xfrm>
        </p:spPr>
        <p:txBody>
          <a:bodyPr/>
          <a:lstStyle/>
          <a:p>
            <a:pPr eaLnBrk="1" hangingPunct="1">
              <a:buFont typeface="Wingdings" pitchFamily="2" charset="2"/>
              <a:buNone/>
              <a:defRPr/>
            </a:pPr>
            <a:r>
              <a:rPr lang="zh-CN" altLang="en-US" sz="2400" dirty="0" smtClean="0">
                <a:latin typeface="+mj-ea"/>
                <a:ea typeface="+mj-ea"/>
              </a:rPr>
              <a:t>删除视图语句格式：</a:t>
            </a:r>
            <a:endParaRPr lang="en-US" altLang="zh-CN" sz="2400" dirty="0" smtClean="0">
              <a:latin typeface="+mj-ea"/>
              <a:ea typeface="+mj-ea"/>
            </a:endParaRPr>
          </a:p>
          <a:p>
            <a:pPr eaLnBrk="1" hangingPunct="1">
              <a:buFont typeface="Wingdings" pitchFamily="2" charset="2"/>
              <a:buNone/>
              <a:defRPr/>
            </a:pPr>
            <a:endParaRPr lang="zh-CN" altLang="en-US" sz="2400" dirty="0" smtClean="0">
              <a:latin typeface="+mj-ea"/>
              <a:ea typeface="+mj-ea"/>
            </a:endParaRPr>
          </a:p>
          <a:p>
            <a:pPr eaLnBrk="1" hangingPunct="1">
              <a:buFont typeface="Wingdings" pitchFamily="2" charset="2"/>
              <a:buNone/>
              <a:defRPr/>
            </a:pPr>
            <a:r>
              <a:rPr lang="zh-CN" altLang="en-US" sz="2400" dirty="0" smtClean="0">
                <a:latin typeface="+mj-ea"/>
                <a:ea typeface="+mj-ea"/>
              </a:rPr>
              <a:t>          </a:t>
            </a:r>
            <a:r>
              <a:rPr lang="en-US" altLang="zh-CN" sz="2400" dirty="0" smtClean="0">
                <a:latin typeface="+mj-ea"/>
                <a:ea typeface="+mj-ea"/>
              </a:rPr>
              <a:t>DROP  VIEW  &lt;</a:t>
            </a:r>
            <a:r>
              <a:rPr lang="zh-CN" altLang="en-US" sz="2400" dirty="0" smtClean="0">
                <a:latin typeface="+mj-ea"/>
                <a:ea typeface="+mj-ea"/>
              </a:rPr>
              <a:t>视图名</a:t>
            </a:r>
            <a:r>
              <a:rPr lang="en-US" altLang="zh-CN" sz="2400" dirty="0" smtClean="0">
                <a:latin typeface="+mj-ea"/>
                <a:ea typeface="+mj-ea"/>
              </a:rPr>
              <a:t>&gt;</a:t>
            </a:r>
            <a:r>
              <a:rPr lang="zh-CN" altLang="en-US" sz="2400" dirty="0" smtClean="0">
                <a:latin typeface="+mj-ea"/>
                <a:ea typeface="+mj-ea"/>
              </a:rPr>
              <a:t>；</a:t>
            </a:r>
          </a:p>
          <a:p>
            <a:pPr eaLnBrk="1" hangingPunct="1">
              <a:buFont typeface="Wingdings" pitchFamily="2" charset="2"/>
              <a:buNone/>
              <a:defRPr/>
            </a:pPr>
            <a:endParaRPr lang="zh-CN" altLang="en-US" sz="2400" dirty="0" smtClean="0">
              <a:latin typeface="+mj-ea"/>
              <a:ea typeface="+mj-ea"/>
            </a:endParaRPr>
          </a:p>
          <a:p>
            <a:pPr lvl="1" eaLnBrk="1" hangingPunct="1">
              <a:lnSpc>
                <a:spcPct val="130000"/>
              </a:lnSpc>
              <a:defRPr/>
            </a:pPr>
            <a:r>
              <a:rPr lang="zh-CN" altLang="en-US" sz="2400" dirty="0" smtClean="0">
                <a:latin typeface="+mj-ea"/>
                <a:ea typeface="+mj-ea"/>
              </a:rPr>
              <a:t>该语句从数据字典中删除指定的视图定义</a:t>
            </a:r>
          </a:p>
          <a:p>
            <a:pPr lvl="1" eaLnBrk="1" hangingPunct="1">
              <a:lnSpc>
                <a:spcPct val="130000"/>
              </a:lnSpc>
              <a:defRPr/>
            </a:pPr>
            <a:r>
              <a:rPr lang="zh-CN" altLang="en-US" sz="2400" dirty="0" smtClean="0">
                <a:latin typeface="+mj-ea"/>
                <a:ea typeface="+mj-ea"/>
              </a:rPr>
              <a:t>由该视图导出的其他视图定义仍在数据字典中，但已不能使用，必须显式删除</a:t>
            </a:r>
          </a:p>
          <a:p>
            <a:pPr lvl="1" eaLnBrk="1" hangingPunct="1">
              <a:lnSpc>
                <a:spcPct val="130000"/>
              </a:lnSpc>
              <a:defRPr/>
            </a:pPr>
            <a:r>
              <a:rPr lang="zh-CN" altLang="en-US" sz="2400" dirty="0" smtClean="0">
                <a:latin typeface="+mj-ea"/>
                <a:ea typeface="+mj-ea"/>
              </a:rPr>
              <a:t>删除基表时，由该基表导出的所有视图定义都必须显式删除</a:t>
            </a:r>
          </a:p>
        </p:txBody>
      </p:sp>
      <p:sp>
        <p:nvSpPr>
          <p:cNvPr id="6" name="Rectangle 2"/>
          <p:cNvSpPr txBox="1">
            <a:spLocks noChangeArrowheads="1"/>
          </p:cNvSpPr>
          <p:nvPr/>
        </p:nvSpPr>
        <p:spPr bwMode="auto">
          <a:xfrm>
            <a:off x="179388" y="0"/>
            <a:ext cx="82296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lnSpc>
                <a:spcPct val="110000"/>
              </a:lnSpc>
              <a:defRPr/>
            </a:pPr>
            <a:r>
              <a:rPr lang="en-US" altLang="zh-CN" sz="3200" b="0" kern="0" dirty="0" smtClean="0">
                <a:latin typeface="+mj-ea"/>
              </a:rPr>
              <a:t>3.6.1  </a:t>
            </a:r>
            <a:r>
              <a:rPr lang="zh-CN" altLang="en-US" sz="3200" b="0" kern="0" dirty="0" smtClean="0">
                <a:latin typeface="+mj-ea"/>
              </a:rPr>
              <a:t>定义视图</a:t>
            </a:r>
          </a:p>
        </p:txBody>
      </p:sp>
    </p:spTree>
  </p:cSld>
  <p:clrMapOvr>
    <a:masterClrMapping/>
  </p:clrMapOvr>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1" name="Rectangle 3"/>
          <p:cNvSpPr>
            <a:spLocks noGrp="1" noChangeArrowheads="1"/>
          </p:cNvSpPr>
          <p:nvPr>
            <p:ph type="body" idx="1"/>
          </p:nvPr>
        </p:nvSpPr>
        <p:spPr>
          <a:xfrm>
            <a:off x="660400" y="1320800"/>
            <a:ext cx="8088313" cy="4629150"/>
          </a:xfrm>
        </p:spPr>
        <p:txBody>
          <a:bodyPr/>
          <a:lstStyle/>
          <a:p>
            <a:pPr lvl="4" algn="just" eaLnBrk="1" hangingPunct="1">
              <a:buFont typeface="Wingdings" pitchFamily="2" charset="2"/>
              <a:buNone/>
              <a:defRPr/>
            </a:pPr>
            <a:r>
              <a:rPr lang="en-US" altLang="zh-CN" sz="1800" dirty="0" smtClean="0">
                <a:latin typeface="+mj-ea"/>
                <a:ea typeface="+mj-ea"/>
              </a:rPr>
              <a:t>  		</a:t>
            </a:r>
          </a:p>
          <a:p>
            <a:pPr algn="just" eaLnBrk="1" hangingPunct="1">
              <a:buFont typeface="Wingdings" pitchFamily="2" charset="2"/>
              <a:buNone/>
              <a:defRPr/>
            </a:pPr>
            <a:r>
              <a:rPr lang="en-US" altLang="zh-CN" sz="2800" dirty="0" smtClean="0">
                <a:latin typeface="+mj-ea"/>
                <a:ea typeface="+mj-ea"/>
              </a:rPr>
              <a:t>  </a:t>
            </a:r>
            <a:r>
              <a:rPr lang="en-US" altLang="zh-CN" dirty="0" smtClean="0">
                <a:latin typeface="+mj-ea"/>
                <a:ea typeface="+mj-ea"/>
              </a:rPr>
              <a:t>[</a:t>
            </a:r>
            <a:r>
              <a:rPr lang="zh-CN" altLang="en-US" dirty="0" smtClean="0">
                <a:latin typeface="+mj-ea"/>
                <a:ea typeface="+mj-ea"/>
              </a:rPr>
              <a:t>例</a:t>
            </a:r>
            <a:r>
              <a:rPr lang="en-US" altLang="zh-CN" dirty="0" smtClean="0">
                <a:latin typeface="+mj-ea"/>
                <a:ea typeface="+mj-ea"/>
              </a:rPr>
              <a:t>7]  </a:t>
            </a:r>
            <a:r>
              <a:rPr lang="zh-CN" altLang="en-US" dirty="0" smtClean="0">
                <a:latin typeface="+mj-ea"/>
                <a:ea typeface="+mj-ea"/>
              </a:rPr>
              <a:t>删除视图</a:t>
            </a:r>
            <a:r>
              <a:rPr lang="en-US" altLang="zh-CN" dirty="0" smtClean="0">
                <a:latin typeface="+mj-ea"/>
                <a:ea typeface="+mj-ea"/>
              </a:rPr>
              <a:t>XX_S</a:t>
            </a:r>
          </a:p>
          <a:p>
            <a:pPr algn="just" eaLnBrk="1" hangingPunct="1">
              <a:buFont typeface="Wingdings" pitchFamily="2" charset="2"/>
              <a:buNone/>
              <a:defRPr/>
            </a:pPr>
            <a:r>
              <a:rPr lang="en-US" altLang="zh-CN" sz="2800" dirty="0" smtClean="0">
                <a:latin typeface="+mj-ea"/>
                <a:ea typeface="+mj-ea"/>
              </a:rPr>
              <a:t>     </a:t>
            </a:r>
          </a:p>
          <a:p>
            <a:pPr algn="just" eaLnBrk="1" hangingPunct="1">
              <a:buFont typeface="Wingdings" pitchFamily="2" charset="2"/>
              <a:buNone/>
              <a:defRPr/>
            </a:pPr>
            <a:r>
              <a:rPr lang="en-US" altLang="zh-CN" sz="2800" dirty="0" smtClean="0">
                <a:latin typeface="+mj-ea"/>
                <a:ea typeface="+mj-ea"/>
              </a:rPr>
              <a:t>            DROP VIEW </a:t>
            </a:r>
            <a:r>
              <a:rPr lang="en-US" altLang="zh-CN" dirty="0" smtClean="0">
                <a:latin typeface="+mj-ea"/>
                <a:ea typeface="+mj-ea"/>
              </a:rPr>
              <a:t>XX_S</a:t>
            </a:r>
            <a:r>
              <a:rPr lang="zh-CN" altLang="en-US" sz="2800" dirty="0" smtClean="0">
                <a:latin typeface="+mj-ea"/>
                <a:ea typeface="+mj-ea"/>
              </a:rPr>
              <a:t>；</a:t>
            </a:r>
          </a:p>
          <a:p>
            <a:pPr algn="just" eaLnBrk="1" hangingPunct="1">
              <a:defRPr/>
            </a:pPr>
            <a:endParaRPr lang="zh-CN" altLang="en-US" dirty="0" smtClean="0">
              <a:latin typeface="+mj-ea"/>
              <a:ea typeface="+mj-ea"/>
            </a:endParaRPr>
          </a:p>
          <a:p>
            <a:pPr algn="just" eaLnBrk="1" hangingPunct="1">
              <a:buFont typeface="Wingdings" pitchFamily="2" charset="2"/>
              <a:buNone/>
              <a:defRPr/>
            </a:pPr>
            <a:r>
              <a:rPr lang="zh-CN" altLang="en-US" dirty="0" smtClean="0">
                <a:latin typeface="+mj-ea"/>
                <a:ea typeface="+mj-ea"/>
              </a:rPr>
              <a:t>  </a:t>
            </a:r>
          </a:p>
          <a:p>
            <a:pPr eaLnBrk="1" hangingPunct="1">
              <a:defRPr/>
            </a:pPr>
            <a:endParaRPr lang="en-US" altLang="zh-CN" dirty="0" smtClean="0">
              <a:latin typeface="+mj-ea"/>
              <a:ea typeface="+mj-ea"/>
            </a:endParaRPr>
          </a:p>
        </p:txBody>
      </p:sp>
      <p:sp>
        <p:nvSpPr>
          <p:cNvPr id="5" name="Rectangle 2"/>
          <p:cNvSpPr txBox="1">
            <a:spLocks noChangeArrowheads="1"/>
          </p:cNvSpPr>
          <p:nvPr/>
        </p:nvSpPr>
        <p:spPr bwMode="auto">
          <a:xfrm>
            <a:off x="179388" y="0"/>
            <a:ext cx="82296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lnSpc>
                <a:spcPct val="110000"/>
              </a:lnSpc>
              <a:defRPr/>
            </a:pPr>
            <a:r>
              <a:rPr lang="en-US" altLang="zh-CN" sz="3200" b="0" kern="0" dirty="0" smtClean="0">
                <a:latin typeface="+mj-ea"/>
              </a:rPr>
              <a:t>3.6.1  </a:t>
            </a:r>
            <a:r>
              <a:rPr lang="zh-CN" altLang="en-US" sz="3200" b="0" kern="0" dirty="0" smtClean="0">
                <a:latin typeface="+mj-ea"/>
              </a:rPr>
              <a:t>定义视图</a:t>
            </a:r>
          </a:p>
        </p:txBody>
      </p:sp>
    </p:spTree>
  </p:cSld>
  <p:clrMapOvr>
    <a:masterClrMapping/>
  </p:clrMapOvr>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755650" y="0"/>
            <a:ext cx="8229600" cy="1125538"/>
          </a:xfrm>
        </p:spPr>
        <p:txBody>
          <a:bodyPr/>
          <a:lstStyle/>
          <a:p>
            <a:pPr eaLnBrk="1" hangingPunct="1"/>
            <a:r>
              <a:rPr lang="en-US" altLang="zh-CN" sz="3200" smtClean="0"/>
              <a:t>3.6  </a:t>
            </a:r>
            <a:r>
              <a:rPr lang="zh-CN" altLang="en-US" sz="3200" smtClean="0"/>
              <a:t>视 图</a:t>
            </a:r>
          </a:p>
        </p:txBody>
      </p:sp>
      <p:sp>
        <p:nvSpPr>
          <p:cNvPr id="146435" name="Rectangle 3"/>
          <p:cNvSpPr>
            <a:spLocks noGrp="1" noChangeArrowheads="1"/>
          </p:cNvSpPr>
          <p:nvPr>
            <p:ph type="body" idx="1"/>
          </p:nvPr>
        </p:nvSpPr>
        <p:spPr>
          <a:xfrm>
            <a:off x="1547813" y="1844675"/>
            <a:ext cx="6408737" cy="4321175"/>
          </a:xfrm>
        </p:spPr>
        <p:txBody>
          <a:bodyPr/>
          <a:lstStyle/>
          <a:p>
            <a:pPr eaLnBrk="1" hangingPunct="1">
              <a:lnSpc>
                <a:spcPct val="110000"/>
              </a:lnSpc>
              <a:buFont typeface="Wingdings" pitchFamily="2" charset="2"/>
              <a:buNone/>
              <a:defRPr/>
            </a:pPr>
            <a:r>
              <a:rPr lang="en-US" altLang="zh-CN" dirty="0" smtClean="0">
                <a:latin typeface="+mj-ea"/>
                <a:ea typeface="+mj-ea"/>
              </a:rPr>
              <a:t>3.6.1  </a:t>
            </a:r>
            <a:r>
              <a:rPr lang="zh-CN" altLang="en-US" dirty="0" smtClean="0">
                <a:latin typeface="+mj-ea"/>
                <a:ea typeface="+mj-ea"/>
              </a:rPr>
              <a:t>定义视图</a:t>
            </a:r>
          </a:p>
          <a:p>
            <a:pPr eaLnBrk="1" hangingPunct="1">
              <a:lnSpc>
                <a:spcPct val="110000"/>
              </a:lnSpc>
              <a:buFont typeface="Wingdings" pitchFamily="2" charset="2"/>
              <a:buNone/>
              <a:defRPr/>
            </a:pPr>
            <a:r>
              <a:rPr lang="en-US" altLang="zh-CN" dirty="0" smtClean="0">
                <a:solidFill>
                  <a:srgbClr val="FF0000"/>
                </a:solidFill>
                <a:latin typeface="+mj-ea"/>
                <a:ea typeface="+mj-ea"/>
              </a:rPr>
              <a:t>3.6.2  </a:t>
            </a:r>
            <a:r>
              <a:rPr lang="zh-CN" altLang="en-US" dirty="0" smtClean="0">
                <a:solidFill>
                  <a:srgbClr val="FF0000"/>
                </a:solidFill>
                <a:latin typeface="+mj-ea"/>
                <a:ea typeface="+mj-ea"/>
              </a:rPr>
              <a:t>查询视图</a:t>
            </a:r>
          </a:p>
          <a:p>
            <a:pPr eaLnBrk="1" hangingPunct="1">
              <a:lnSpc>
                <a:spcPct val="110000"/>
              </a:lnSpc>
              <a:buFont typeface="Wingdings" pitchFamily="2" charset="2"/>
              <a:buNone/>
              <a:defRPr/>
            </a:pPr>
            <a:r>
              <a:rPr lang="en-US" altLang="zh-CN" dirty="0" smtClean="0">
                <a:latin typeface="+mj-ea"/>
                <a:ea typeface="+mj-ea"/>
              </a:rPr>
              <a:t>3.6.3  </a:t>
            </a:r>
            <a:r>
              <a:rPr lang="zh-CN" altLang="en-US" dirty="0" smtClean="0">
                <a:latin typeface="+mj-ea"/>
                <a:ea typeface="+mj-ea"/>
              </a:rPr>
              <a:t>更新视图</a:t>
            </a:r>
          </a:p>
          <a:p>
            <a:pPr eaLnBrk="1" hangingPunct="1">
              <a:lnSpc>
                <a:spcPct val="110000"/>
              </a:lnSpc>
              <a:buFont typeface="Wingdings" pitchFamily="2" charset="2"/>
              <a:buNone/>
              <a:defRPr/>
            </a:pPr>
            <a:r>
              <a:rPr lang="en-US" altLang="zh-CN" dirty="0" smtClean="0">
                <a:latin typeface="+mj-ea"/>
                <a:ea typeface="+mj-ea"/>
              </a:rPr>
              <a:t>3.6.4  </a:t>
            </a:r>
            <a:r>
              <a:rPr lang="zh-CN" altLang="en-US" dirty="0" smtClean="0">
                <a:latin typeface="+mj-ea"/>
                <a:ea typeface="+mj-ea"/>
              </a:rPr>
              <a:t>视图的作用</a:t>
            </a:r>
          </a:p>
          <a:p>
            <a:pPr eaLnBrk="1" hangingPunct="1">
              <a:buFont typeface="Wingdings" pitchFamily="2" charset="2"/>
              <a:buNone/>
              <a:defRPr/>
            </a:pPr>
            <a:endParaRPr lang="en-US" altLang="zh-CN" dirty="0" smtClean="0">
              <a:latin typeface="+mj-ea"/>
              <a:ea typeface="+mj-ea"/>
            </a:endParaRPr>
          </a:p>
        </p:txBody>
      </p:sp>
    </p:spTree>
  </p:cSld>
  <p:clrMapOvr>
    <a:masterClrMapping/>
  </p:clrMapOvr>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pPr eaLnBrk="1" hangingPunct="1"/>
            <a:r>
              <a:rPr lang="en-US" altLang="zh-CN" smtClean="0"/>
              <a:t>3.6.2  </a:t>
            </a:r>
            <a:r>
              <a:rPr lang="zh-CN" altLang="en-US" smtClean="0"/>
              <a:t>查询视图</a:t>
            </a:r>
          </a:p>
        </p:txBody>
      </p:sp>
      <p:sp>
        <p:nvSpPr>
          <p:cNvPr id="147459" name="Rectangle 3"/>
          <p:cNvSpPr>
            <a:spLocks noGrp="1" noChangeArrowheads="1"/>
          </p:cNvSpPr>
          <p:nvPr>
            <p:ph type="body" idx="1"/>
          </p:nvPr>
        </p:nvSpPr>
        <p:spPr>
          <a:xfrm>
            <a:off x="468313" y="1557338"/>
            <a:ext cx="8424862" cy="4691062"/>
          </a:xfrm>
        </p:spPr>
        <p:txBody>
          <a:bodyPr/>
          <a:lstStyle/>
          <a:p>
            <a:pPr eaLnBrk="1" hangingPunct="1">
              <a:lnSpc>
                <a:spcPct val="120000"/>
              </a:lnSpc>
              <a:spcBef>
                <a:spcPct val="0"/>
              </a:spcBef>
              <a:spcAft>
                <a:spcPct val="30000"/>
              </a:spcAft>
              <a:defRPr/>
            </a:pPr>
            <a:r>
              <a:rPr lang="zh-CN" altLang="en-US" sz="2800" dirty="0" smtClean="0">
                <a:latin typeface="+mj-ea"/>
                <a:ea typeface="+mj-ea"/>
              </a:rPr>
              <a:t>从用户角度：查询视图与查询基本表相同</a:t>
            </a:r>
          </a:p>
          <a:p>
            <a:pPr eaLnBrk="1" hangingPunct="1">
              <a:lnSpc>
                <a:spcPct val="120000"/>
              </a:lnSpc>
              <a:spcBef>
                <a:spcPct val="0"/>
              </a:spcBef>
              <a:defRPr/>
            </a:pPr>
            <a:r>
              <a:rPr lang="en-US" altLang="zh-CN" sz="2800" dirty="0" smtClean="0">
                <a:latin typeface="+mj-ea"/>
                <a:ea typeface="+mj-ea"/>
              </a:rPr>
              <a:t>DBMS</a:t>
            </a:r>
            <a:r>
              <a:rPr lang="zh-CN" altLang="en-US" sz="2800" dirty="0" smtClean="0">
                <a:solidFill>
                  <a:srgbClr val="FF0000"/>
                </a:solidFill>
                <a:latin typeface="+mj-ea"/>
                <a:ea typeface="+mj-ea"/>
              </a:rPr>
              <a:t>实现</a:t>
            </a:r>
            <a:r>
              <a:rPr lang="zh-CN" altLang="en-US" sz="2800" dirty="0" smtClean="0">
                <a:latin typeface="+mj-ea"/>
                <a:ea typeface="+mj-ea"/>
              </a:rPr>
              <a:t>视图查询的方法</a:t>
            </a:r>
          </a:p>
          <a:p>
            <a:pPr lvl="1" eaLnBrk="1" hangingPunct="1">
              <a:lnSpc>
                <a:spcPct val="120000"/>
              </a:lnSpc>
              <a:spcBef>
                <a:spcPct val="0"/>
              </a:spcBef>
              <a:buFont typeface="Wingdings" pitchFamily="2" charset="2"/>
              <a:buNone/>
              <a:defRPr/>
            </a:pPr>
            <a:r>
              <a:rPr lang="zh-CN" altLang="en-US" dirty="0" smtClean="0">
                <a:latin typeface="+mj-ea"/>
                <a:ea typeface="+mj-ea"/>
              </a:rPr>
              <a:t>    视图消解法（</a:t>
            </a:r>
            <a:r>
              <a:rPr lang="en-US" altLang="zh-CN" dirty="0" smtClean="0">
                <a:latin typeface="+mj-ea"/>
                <a:ea typeface="+mj-ea"/>
              </a:rPr>
              <a:t>View Resolution</a:t>
            </a:r>
            <a:r>
              <a:rPr lang="zh-CN" altLang="en-US" dirty="0" smtClean="0">
                <a:latin typeface="+mj-ea"/>
                <a:ea typeface="+mj-ea"/>
              </a:rPr>
              <a:t>）</a:t>
            </a:r>
          </a:p>
          <a:p>
            <a:pPr lvl="2" eaLnBrk="1" hangingPunct="1">
              <a:lnSpc>
                <a:spcPct val="120000"/>
              </a:lnSpc>
              <a:spcBef>
                <a:spcPct val="0"/>
              </a:spcBef>
              <a:defRPr/>
            </a:pPr>
            <a:r>
              <a:rPr lang="zh-CN" altLang="en-US" dirty="0" smtClean="0">
                <a:latin typeface="+mj-ea"/>
                <a:ea typeface="+mj-ea"/>
              </a:rPr>
              <a:t>进行有效性检查，检查查询的表、视图等是否存在。如果存在，则从数据字典中取出视图的定义</a:t>
            </a:r>
          </a:p>
          <a:p>
            <a:pPr lvl="2" eaLnBrk="1" hangingPunct="1">
              <a:lnSpc>
                <a:spcPct val="120000"/>
              </a:lnSpc>
              <a:spcBef>
                <a:spcPct val="0"/>
              </a:spcBef>
              <a:defRPr/>
            </a:pPr>
            <a:r>
              <a:rPr lang="zh-CN" altLang="en-US" dirty="0" smtClean="0">
                <a:latin typeface="+mj-ea"/>
                <a:ea typeface="+mj-ea"/>
              </a:rPr>
              <a:t>把视图定义中的子查询与用户的查询结合起来，转换成等价的对基本表的查询</a:t>
            </a:r>
          </a:p>
          <a:p>
            <a:pPr lvl="2" eaLnBrk="1" hangingPunct="1">
              <a:lnSpc>
                <a:spcPct val="120000"/>
              </a:lnSpc>
              <a:spcBef>
                <a:spcPct val="0"/>
              </a:spcBef>
              <a:defRPr/>
            </a:pPr>
            <a:r>
              <a:rPr lang="zh-CN" altLang="en-US" dirty="0" smtClean="0">
                <a:latin typeface="+mj-ea"/>
                <a:ea typeface="+mj-ea"/>
              </a:rPr>
              <a:t>执行</a:t>
            </a:r>
            <a:r>
              <a:rPr lang="zh-CN" altLang="en-US" dirty="0" smtClean="0">
                <a:solidFill>
                  <a:srgbClr val="FF0000"/>
                </a:solidFill>
                <a:latin typeface="+mj-ea"/>
                <a:ea typeface="+mj-ea"/>
              </a:rPr>
              <a:t>修正</a:t>
            </a:r>
            <a:r>
              <a:rPr lang="zh-CN" altLang="en-US" dirty="0" smtClean="0">
                <a:latin typeface="+mj-ea"/>
                <a:ea typeface="+mj-ea"/>
              </a:rPr>
              <a:t>后的查询</a:t>
            </a:r>
          </a:p>
        </p:txBody>
      </p:sp>
    </p:spTree>
  </p:cSld>
  <p:clrMapOvr>
    <a:masterClrMapping/>
  </p:clrMapOvr>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pPr eaLnBrk="1" hangingPunct="1"/>
            <a:r>
              <a:rPr lang="en-US" altLang="zh-CN" smtClean="0"/>
              <a:t>3.6.2 </a:t>
            </a:r>
            <a:r>
              <a:rPr lang="zh-CN" altLang="en-US" smtClean="0"/>
              <a:t>查询视图</a:t>
            </a:r>
          </a:p>
        </p:txBody>
      </p:sp>
      <p:sp>
        <p:nvSpPr>
          <p:cNvPr id="654339" name="Rectangle 3"/>
          <p:cNvSpPr>
            <a:spLocks noGrp="1" noChangeArrowheads="1"/>
          </p:cNvSpPr>
          <p:nvPr>
            <p:ph type="body" idx="1"/>
          </p:nvPr>
        </p:nvSpPr>
        <p:spPr>
          <a:xfrm>
            <a:off x="323850" y="1484313"/>
            <a:ext cx="8064500" cy="4679950"/>
          </a:xfrm>
        </p:spPr>
        <p:txBody>
          <a:bodyPr/>
          <a:lstStyle/>
          <a:p>
            <a:pPr eaLnBrk="1" hangingPunct="1">
              <a:buFont typeface="Wingdings" pitchFamily="2" charset="2"/>
              <a:buNone/>
              <a:defRPr/>
            </a:pPr>
            <a:r>
              <a:rPr lang="en-US" altLang="zh-CN" sz="2000" dirty="0" smtClean="0">
                <a:latin typeface="+mj-ea"/>
                <a:ea typeface="+mj-ea"/>
              </a:rPr>
              <a:t>[</a:t>
            </a:r>
            <a:r>
              <a:rPr lang="zh-CN" altLang="en-US" sz="2000" dirty="0" smtClean="0">
                <a:latin typeface="+mj-ea"/>
                <a:ea typeface="+mj-ea"/>
              </a:rPr>
              <a:t>例</a:t>
            </a:r>
            <a:r>
              <a:rPr lang="en-US" altLang="zh-CN" sz="2000" dirty="0" smtClean="0">
                <a:latin typeface="+mj-ea"/>
                <a:ea typeface="+mj-ea"/>
              </a:rPr>
              <a:t>1]</a:t>
            </a:r>
            <a:r>
              <a:rPr lang="zh-CN" altLang="en-US" sz="2000" dirty="0" smtClean="0">
                <a:latin typeface="+mj-ea"/>
                <a:ea typeface="+mj-ea"/>
              </a:rPr>
              <a:t>在植保学院学生的视图中找出</a:t>
            </a:r>
            <a:r>
              <a:rPr lang="en-US" altLang="zh-CN" sz="2000" dirty="0" smtClean="0">
                <a:latin typeface="+mj-ea"/>
                <a:ea typeface="+mj-ea"/>
              </a:rPr>
              <a:t>1994</a:t>
            </a:r>
            <a:r>
              <a:rPr lang="zh-CN" altLang="en-US" sz="2000" dirty="0" smtClean="0">
                <a:latin typeface="+mj-ea"/>
                <a:ea typeface="+mj-ea"/>
              </a:rPr>
              <a:t>年</a:t>
            </a:r>
            <a:r>
              <a:rPr lang="en-US" altLang="zh-CN" sz="2000" dirty="0" smtClean="0">
                <a:latin typeface="+mj-ea"/>
                <a:ea typeface="+mj-ea"/>
              </a:rPr>
              <a:t>1</a:t>
            </a:r>
            <a:r>
              <a:rPr lang="zh-CN" altLang="en-US" sz="2000" dirty="0" smtClean="0">
                <a:latin typeface="+mj-ea"/>
                <a:ea typeface="+mj-ea"/>
              </a:rPr>
              <a:t>月</a:t>
            </a:r>
            <a:r>
              <a:rPr lang="en-US" altLang="zh-CN" sz="2000" dirty="0" smtClean="0">
                <a:latin typeface="+mj-ea"/>
                <a:ea typeface="+mj-ea"/>
              </a:rPr>
              <a:t>1</a:t>
            </a:r>
            <a:r>
              <a:rPr lang="zh-CN" altLang="en-US" sz="2000" dirty="0" smtClean="0">
                <a:latin typeface="+mj-ea"/>
                <a:ea typeface="+mj-ea"/>
              </a:rPr>
              <a:t>号以后出生的学生。</a:t>
            </a:r>
            <a:endParaRPr lang="en-US" altLang="zh-CN" sz="2000" dirty="0" smtClean="0">
              <a:latin typeface="+mj-ea"/>
              <a:ea typeface="+mj-ea"/>
            </a:endParaRPr>
          </a:p>
          <a:p>
            <a:pPr eaLnBrk="1" hangingPunct="1">
              <a:buFont typeface="Wingdings" pitchFamily="2" charset="2"/>
              <a:buNone/>
              <a:defRPr/>
            </a:pPr>
            <a:endParaRPr lang="zh-CN" altLang="en-US" sz="2000" dirty="0" smtClean="0">
              <a:latin typeface="+mj-ea"/>
              <a:ea typeface="+mj-ea"/>
            </a:endParaRPr>
          </a:p>
          <a:p>
            <a:pPr lvl="1" eaLnBrk="1" hangingPunct="1">
              <a:buFont typeface="Wingdings" pitchFamily="2" charset="2"/>
              <a:buNone/>
              <a:defRPr/>
            </a:pPr>
            <a:r>
              <a:rPr lang="zh-CN" altLang="en-US" sz="2000" dirty="0" smtClean="0">
                <a:latin typeface="+mj-ea"/>
                <a:ea typeface="+mj-ea"/>
              </a:rPr>
              <a:t>   </a:t>
            </a:r>
            <a:r>
              <a:rPr lang="en-US" altLang="zh-CN" sz="2000" dirty="0" smtClean="0">
                <a:latin typeface="+mj-ea"/>
                <a:ea typeface="+mj-ea"/>
              </a:rPr>
              <a:t>SELECT   </a:t>
            </a:r>
            <a:r>
              <a:rPr lang="en-US" altLang="zh-CN" sz="2000" dirty="0" err="1" smtClean="0">
                <a:latin typeface="+mj-ea"/>
                <a:ea typeface="+mj-ea"/>
              </a:rPr>
              <a:t>Sno</a:t>
            </a:r>
            <a:r>
              <a:rPr lang="zh-CN" altLang="en-US" sz="2000" dirty="0" smtClean="0">
                <a:latin typeface="+mj-ea"/>
                <a:ea typeface="+mj-ea"/>
              </a:rPr>
              <a:t>，</a:t>
            </a:r>
            <a:r>
              <a:rPr lang="en-US" altLang="zh-CN" sz="2000" dirty="0" err="1" smtClean="0">
                <a:latin typeface="+mj-ea"/>
                <a:ea typeface="+mj-ea"/>
              </a:rPr>
              <a:t>Sbirth</a:t>
            </a:r>
            <a:endParaRPr lang="en-US" altLang="zh-CN" sz="2000" dirty="0" smtClean="0">
              <a:latin typeface="+mj-ea"/>
              <a:ea typeface="+mj-ea"/>
            </a:endParaRPr>
          </a:p>
          <a:p>
            <a:pPr lvl="1" eaLnBrk="1" hangingPunct="1">
              <a:buFont typeface="Wingdings" pitchFamily="2" charset="2"/>
              <a:buNone/>
              <a:defRPr/>
            </a:pPr>
            <a:r>
              <a:rPr lang="en-US" altLang="zh-CN" sz="2000" dirty="0" smtClean="0">
                <a:latin typeface="+mj-ea"/>
                <a:ea typeface="+mj-ea"/>
              </a:rPr>
              <a:t>   FROM      ZB_S</a:t>
            </a:r>
          </a:p>
          <a:p>
            <a:pPr lvl="1" eaLnBrk="1" hangingPunct="1">
              <a:buFont typeface="Wingdings" pitchFamily="2" charset="2"/>
              <a:buNone/>
              <a:defRPr/>
            </a:pPr>
            <a:r>
              <a:rPr lang="en-US" altLang="zh-CN" sz="2000" dirty="0" smtClean="0">
                <a:latin typeface="+mj-ea"/>
                <a:ea typeface="+mj-ea"/>
              </a:rPr>
              <a:t>   WHERE   </a:t>
            </a:r>
            <a:r>
              <a:rPr lang="en-US" altLang="zh-CN" sz="2000" dirty="0" err="1" smtClean="0">
                <a:latin typeface="+mj-ea"/>
                <a:ea typeface="+mj-ea"/>
              </a:rPr>
              <a:t>Sbirth</a:t>
            </a:r>
            <a:r>
              <a:rPr lang="en-US" altLang="zh-CN" sz="2000" dirty="0" smtClean="0">
                <a:latin typeface="+mj-ea"/>
                <a:ea typeface="+mj-ea"/>
              </a:rPr>
              <a:t>&gt;</a:t>
            </a:r>
            <a:r>
              <a:rPr lang="en-US" altLang="zh-CN" sz="2000" dirty="0" err="1" smtClean="0">
                <a:latin typeface="+mj-ea"/>
                <a:ea typeface="+mj-ea"/>
              </a:rPr>
              <a:t>to_date</a:t>
            </a:r>
            <a:r>
              <a:rPr lang="en-US" altLang="zh-CN" sz="2000" dirty="0" smtClean="0">
                <a:latin typeface="+mj-ea"/>
                <a:ea typeface="+mj-ea"/>
              </a:rPr>
              <a:t>(‘1994/01/01’,’yyyy/mm/</a:t>
            </a:r>
            <a:r>
              <a:rPr lang="en-US" altLang="zh-CN" sz="2000" dirty="0" err="1" smtClean="0">
                <a:latin typeface="+mj-ea"/>
                <a:ea typeface="+mj-ea"/>
              </a:rPr>
              <a:t>dd</a:t>
            </a:r>
            <a:r>
              <a:rPr lang="en-US" altLang="zh-CN" sz="2000" dirty="0" smtClean="0">
                <a:latin typeface="+mj-ea"/>
                <a:ea typeface="+mj-ea"/>
              </a:rPr>
              <a:t>’)</a:t>
            </a:r>
            <a:r>
              <a:rPr lang="zh-CN" altLang="en-US" sz="2000" dirty="0" smtClean="0">
                <a:latin typeface="+mj-ea"/>
                <a:ea typeface="+mj-ea"/>
              </a:rPr>
              <a:t>；</a:t>
            </a:r>
            <a:endParaRPr lang="en-US" altLang="zh-CN" sz="2000" dirty="0" smtClean="0">
              <a:latin typeface="+mj-ea"/>
              <a:ea typeface="+mj-ea"/>
            </a:endParaRPr>
          </a:p>
          <a:p>
            <a:pPr lvl="1" eaLnBrk="1" hangingPunct="1">
              <a:buFont typeface="Wingdings" pitchFamily="2" charset="2"/>
              <a:buNone/>
              <a:defRPr/>
            </a:pPr>
            <a:endParaRPr lang="zh-CN" altLang="en-US" sz="2000" dirty="0" smtClean="0">
              <a:latin typeface="+mj-ea"/>
              <a:ea typeface="+mj-ea"/>
            </a:endParaRPr>
          </a:p>
          <a:p>
            <a:pPr lvl="1" eaLnBrk="1" hangingPunct="1">
              <a:buFont typeface="Wingdings" pitchFamily="2" charset="2"/>
              <a:buNone/>
              <a:defRPr/>
            </a:pPr>
            <a:r>
              <a:rPr lang="en-US" altLang="zh-CN" sz="2000" dirty="0" smtClean="0">
                <a:latin typeface="+mj-ea"/>
                <a:ea typeface="+mj-ea"/>
              </a:rPr>
              <a:t>ZB_S</a:t>
            </a:r>
            <a:r>
              <a:rPr lang="zh-CN" altLang="en-US" sz="2000" dirty="0" smtClean="0">
                <a:latin typeface="+mj-ea"/>
                <a:ea typeface="+mj-ea"/>
              </a:rPr>
              <a:t>视图的定义：</a:t>
            </a:r>
          </a:p>
          <a:p>
            <a:pPr lvl="1" eaLnBrk="1" hangingPunct="1">
              <a:buFont typeface="Wingdings" pitchFamily="2" charset="2"/>
              <a:buNone/>
              <a:defRPr/>
            </a:pPr>
            <a:r>
              <a:rPr lang="zh-CN" altLang="en-US" sz="2000" dirty="0" smtClean="0">
                <a:latin typeface="+mj-ea"/>
                <a:ea typeface="+mj-ea"/>
              </a:rPr>
              <a:t>        </a:t>
            </a:r>
            <a:r>
              <a:rPr lang="en-US" altLang="zh-CN" sz="2000" dirty="0" smtClean="0">
                <a:latin typeface="+mj-ea"/>
                <a:ea typeface="+mj-ea"/>
              </a:rPr>
              <a:t>CREATE VIEW ZB_S</a:t>
            </a:r>
          </a:p>
          <a:p>
            <a:pPr lvl="1" eaLnBrk="1" hangingPunct="1">
              <a:buFont typeface="Wingdings" pitchFamily="2" charset="2"/>
              <a:buNone/>
              <a:defRPr/>
            </a:pPr>
            <a:r>
              <a:rPr lang="en-US" altLang="zh-CN" sz="2000" dirty="0" smtClean="0">
                <a:latin typeface="+mj-ea"/>
                <a:ea typeface="+mj-ea"/>
              </a:rPr>
              <a:t>               AS </a:t>
            </a:r>
          </a:p>
          <a:p>
            <a:pPr lvl="1" eaLnBrk="1" hangingPunct="1">
              <a:buFont typeface="Wingdings" pitchFamily="2" charset="2"/>
              <a:buNone/>
              <a:defRPr/>
            </a:pPr>
            <a:r>
              <a:rPr lang="en-US" altLang="zh-CN" sz="2000" dirty="0" smtClean="0">
                <a:latin typeface="+mj-ea"/>
                <a:ea typeface="+mj-ea"/>
              </a:rPr>
              <a:t>               SELECT </a:t>
            </a:r>
            <a:r>
              <a:rPr lang="en-US" altLang="zh-CN" sz="2000" dirty="0" err="1" smtClean="0">
                <a:latin typeface="+mj-ea"/>
                <a:ea typeface="+mj-ea"/>
              </a:rPr>
              <a:t>Sno,Sname,Sbirth,College</a:t>
            </a:r>
            <a:endParaRPr lang="en-US" altLang="zh-CN" sz="2000" dirty="0" smtClean="0">
              <a:latin typeface="+mj-ea"/>
              <a:ea typeface="+mj-ea"/>
            </a:endParaRPr>
          </a:p>
          <a:p>
            <a:pPr lvl="1" eaLnBrk="1" hangingPunct="1">
              <a:buFont typeface="Wingdings" pitchFamily="2" charset="2"/>
              <a:buNone/>
              <a:defRPr/>
            </a:pPr>
            <a:r>
              <a:rPr lang="en-US" altLang="zh-CN" sz="2000" dirty="0" smtClean="0">
                <a:latin typeface="+mj-ea"/>
                <a:ea typeface="+mj-ea"/>
              </a:rPr>
              <a:t>               FROM  S</a:t>
            </a:r>
          </a:p>
          <a:p>
            <a:pPr lvl="1" eaLnBrk="1" hangingPunct="1">
              <a:buFont typeface="Wingdings" pitchFamily="2" charset="2"/>
              <a:buNone/>
              <a:defRPr/>
            </a:pPr>
            <a:r>
              <a:rPr lang="en-US" altLang="zh-CN" sz="2000" dirty="0" smtClean="0">
                <a:latin typeface="+mj-ea"/>
                <a:ea typeface="+mj-ea"/>
              </a:rPr>
              <a:t>               WHERE  College= ‘</a:t>
            </a:r>
            <a:r>
              <a:rPr lang="zh-CN" altLang="en-US" sz="2000" dirty="0" smtClean="0">
                <a:latin typeface="+mj-ea"/>
                <a:ea typeface="+mj-ea"/>
              </a:rPr>
              <a:t>植保</a:t>
            </a:r>
            <a:r>
              <a:rPr lang="en-US" altLang="zh-CN" sz="2000" dirty="0" smtClean="0">
                <a:latin typeface="+mj-ea"/>
                <a:ea typeface="+mj-ea"/>
              </a:rPr>
              <a:t>'</a:t>
            </a:r>
            <a:r>
              <a:rPr lang="zh-CN" altLang="en-US" sz="2000" dirty="0" smtClean="0">
                <a:latin typeface="+mj-ea"/>
                <a:ea typeface="+mj-ea"/>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54339">
                                            <p:txEl>
                                              <p:pRg st="2" end="2"/>
                                            </p:txEl>
                                          </p:spTgt>
                                        </p:tgtEl>
                                        <p:attrNameLst>
                                          <p:attrName>style.visibility</p:attrName>
                                        </p:attrNameLst>
                                      </p:cBhvr>
                                      <p:to>
                                        <p:strVal val="visible"/>
                                      </p:to>
                                    </p:set>
                                    <p:anim calcmode="lin" valueType="num">
                                      <p:cBhvr additive="base">
                                        <p:cTn id="7" dur="500" fill="hold"/>
                                        <p:tgtEl>
                                          <p:spTgt spid="65433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54339">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54339">
                                            <p:txEl>
                                              <p:pRg st="3" end="3"/>
                                            </p:txEl>
                                          </p:spTgt>
                                        </p:tgtEl>
                                        <p:attrNameLst>
                                          <p:attrName>style.visibility</p:attrName>
                                        </p:attrNameLst>
                                      </p:cBhvr>
                                      <p:to>
                                        <p:strVal val="visible"/>
                                      </p:to>
                                    </p:set>
                                    <p:anim calcmode="lin" valueType="num">
                                      <p:cBhvr additive="base">
                                        <p:cTn id="11" dur="500" fill="hold"/>
                                        <p:tgtEl>
                                          <p:spTgt spid="654339">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54339">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54339">
                                            <p:txEl>
                                              <p:pRg st="4" end="4"/>
                                            </p:txEl>
                                          </p:spTgt>
                                        </p:tgtEl>
                                        <p:attrNameLst>
                                          <p:attrName>style.visibility</p:attrName>
                                        </p:attrNameLst>
                                      </p:cBhvr>
                                      <p:to>
                                        <p:strVal val="visible"/>
                                      </p:to>
                                    </p:set>
                                    <p:anim calcmode="lin" valueType="num">
                                      <p:cBhvr additive="base">
                                        <p:cTn id="15" dur="500" fill="hold"/>
                                        <p:tgtEl>
                                          <p:spTgt spid="654339">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543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654339">
                                            <p:txEl>
                                              <p:pRg st="6" end="6"/>
                                            </p:txEl>
                                          </p:spTgt>
                                        </p:tgtEl>
                                        <p:attrNameLst>
                                          <p:attrName>style.visibility</p:attrName>
                                        </p:attrNameLst>
                                      </p:cBhvr>
                                      <p:to>
                                        <p:strVal val="visible"/>
                                      </p:to>
                                    </p:set>
                                    <p:anim calcmode="lin" valueType="num">
                                      <p:cBhvr additive="base">
                                        <p:cTn id="21" dur="500" fill="hold"/>
                                        <p:tgtEl>
                                          <p:spTgt spid="654339">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54339">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54339">
                                            <p:txEl>
                                              <p:pRg st="7" end="7"/>
                                            </p:txEl>
                                          </p:spTgt>
                                        </p:tgtEl>
                                        <p:attrNameLst>
                                          <p:attrName>style.visibility</p:attrName>
                                        </p:attrNameLst>
                                      </p:cBhvr>
                                      <p:to>
                                        <p:strVal val="visible"/>
                                      </p:to>
                                    </p:set>
                                    <p:anim calcmode="lin" valueType="num">
                                      <p:cBhvr additive="base">
                                        <p:cTn id="25" dur="500" fill="hold"/>
                                        <p:tgtEl>
                                          <p:spTgt spid="654339">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54339">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54339">
                                            <p:txEl>
                                              <p:pRg st="8" end="8"/>
                                            </p:txEl>
                                          </p:spTgt>
                                        </p:tgtEl>
                                        <p:attrNameLst>
                                          <p:attrName>style.visibility</p:attrName>
                                        </p:attrNameLst>
                                      </p:cBhvr>
                                      <p:to>
                                        <p:strVal val="visible"/>
                                      </p:to>
                                    </p:set>
                                    <p:anim calcmode="lin" valueType="num">
                                      <p:cBhvr additive="base">
                                        <p:cTn id="29" dur="500" fill="hold"/>
                                        <p:tgtEl>
                                          <p:spTgt spid="654339">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54339">
                                            <p:txEl>
                                              <p:pRg st="8" end="8"/>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54339">
                                            <p:txEl>
                                              <p:pRg st="9" end="9"/>
                                            </p:txEl>
                                          </p:spTgt>
                                        </p:tgtEl>
                                        <p:attrNameLst>
                                          <p:attrName>style.visibility</p:attrName>
                                        </p:attrNameLst>
                                      </p:cBhvr>
                                      <p:to>
                                        <p:strVal val="visible"/>
                                      </p:to>
                                    </p:set>
                                    <p:anim calcmode="lin" valueType="num">
                                      <p:cBhvr additive="base">
                                        <p:cTn id="33" dur="500" fill="hold"/>
                                        <p:tgtEl>
                                          <p:spTgt spid="654339">
                                            <p:txEl>
                                              <p:pRg st="9" end="9"/>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54339">
                                            <p:txEl>
                                              <p:pRg st="9" end="9"/>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654339">
                                            <p:txEl>
                                              <p:pRg st="10" end="10"/>
                                            </p:txEl>
                                          </p:spTgt>
                                        </p:tgtEl>
                                        <p:attrNameLst>
                                          <p:attrName>style.visibility</p:attrName>
                                        </p:attrNameLst>
                                      </p:cBhvr>
                                      <p:to>
                                        <p:strVal val="visible"/>
                                      </p:to>
                                    </p:set>
                                    <p:anim calcmode="lin" valueType="num">
                                      <p:cBhvr additive="base">
                                        <p:cTn id="37" dur="500" fill="hold"/>
                                        <p:tgtEl>
                                          <p:spTgt spid="654339">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54339">
                                            <p:txEl>
                                              <p:pRg st="10" end="1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654339">
                                            <p:txEl>
                                              <p:pRg st="11" end="11"/>
                                            </p:txEl>
                                          </p:spTgt>
                                        </p:tgtEl>
                                        <p:attrNameLst>
                                          <p:attrName>style.visibility</p:attrName>
                                        </p:attrNameLst>
                                      </p:cBhvr>
                                      <p:to>
                                        <p:strVal val="visible"/>
                                      </p:to>
                                    </p:set>
                                    <p:anim calcmode="lin" valueType="num">
                                      <p:cBhvr additive="base">
                                        <p:cTn id="41" dur="500" fill="hold"/>
                                        <p:tgtEl>
                                          <p:spTgt spid="654339">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54339">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eaLnBrk="1" hangingPunct="1"/>
            <a:r>
              <a:rPr lang="en-US" altLang="zh-CN" smtClean="0"/>
              <a:t>3.6.2  </a:t>
            </a:r>
            <a:r>
              <a:rPr lang="zh-CN" altLang="en-US" smtClean="0"/>
              <a:t>查询视图</a:t>
            </a:r>
          </a:p>
        </p:txBody>
      </p:sp>
      <p:sp>
        <p:nvSpPr>
          <p:cNvPr id="149507" name="Rectangle 3"/>
          <p:cNvSpPr>
            <a:spLocks noGrp="1" noChangeArrowheads="1"/>
          </p:cNvSpPr>
          <p:nvPr>
            <p:ph type="body" idx="1"/>
          </p:nvPr>
        </p:nvSpPr>
        <p:spPr>
          <a:xfrm>
            <a:off x="611188" y="1268413"/>
            <a:ext cx="7777162" cy="4537075"/>
          </a:xfrm>
        </p:spPr>
        <p:txBody>
          <a:bodyPr/>
          <a:lstStyle/>
          <a:p>
            <a:pPr eaLnBrk="1" hangingPunct="1">
              <a:lnSpc>
                <a:spcPct val="120000"/>
              </a:lnSpc>
              <a:defRPr/>
            </a:pPr>
            <a:r>
              <a:rPr lang="zh-CN" altLang="en-US" sz="2400" dirty="0" smtClean="0">
                <a:latin typeface="+mj-ea"/>
                <a:ea typeface="+mj-ea"/>
              </a:rPr>
              <a:t>视图消解法					</a:t>
            </a:r>
          </a:p>
          <a:p>
            <a:pPr lvl="1" eaLnBrk="1" hangingPunct="1">
              <a:lnSpc>
                <a:spcPct val="120000"/>
              </a:lnSpc>
              <a:buFont typeface="Wingdings" pitchFamily="2" charset="2"/>
              <a:buNone/>
              <a:defRPr/>
            </a:pPr>
            <a:r>
              <a:rPr lang="zh-CN" altLang="en-US" sz="2400" dirty="0" smtClean="0">
                <a:latin typeface="+mj-ea"/>
                <a:ea typeface="+mj-ea"/>
              </a:rPr>
              <a:t>转换后的查询语句为：</a:t>
            </a:r>
            <a:endParaRPr lang="en-US" altLang="zh-CN" sz="2400" dirty="0" smtClean="0">
              <a:latin typeface="+mj-ea"/>
              <a:ea typeface="+mj-ea"/>
            </a:endParaRPr>
          </a:p>
          <a:p>
            <a:pPr lvl="1" eaLnBrk="1" hangingPunct="1">
              <a:lnSpc>
                <a:spcPct val="120000"/>
              </a:lnSpc>
              <a:buFont typeface="Wingdings" pitchFamily="2" charset="2"/>
              <a:buNone/>
              <a:defRPr/>
            </a:pPr>
            <a:endParaRPr lang="zh-CN" altLang="en-US" sz="1100" dirty="0" smtClean="0">
              <a:latin typeface="+mj-ea"/>
              <a:ea typeface="+mj-ea"/>
            </a:endParaRPr>
          </a:p>
          <a:p>
            <a:pPr lvl="1" eaLnBrk="1" hangingPunct="1">
              <a:lnSpc>
                <a:spcPct val="120000"/>
              </a:lnSpc>
              <a:buFont typeface="Wingdings" pitchFamily="2" charset="2"/>
              <a:buNone/>
              <a:defRPr/>
            </a:pPr>
            <a:r>
              <a:rPr lang="zh-CN" altLang="en-US" sz="2400" dirty="0" smtClean="0">
                <a:latin typeface="+mj-ea"/>
                <a:ea typeface="+mj-ea"/>
              </a:rPr>
              <a:t> </a:t>
            </a:r>
            <a:r>
              <a:rPr lang="en-US" altLang="zh-CN" sz="2000" dirty="0" smtClean="0">
                <a:latin typeface="+mj-ea"/>
                <a:ea typeface="+mj-ea"/>
              </a:rPr>
              <a:t>SELECT  </a:t>
            </a:r>
            <a:r>
              <a:rPr lang="en-US" altLang="zh-CN" sz="2000" dirty="0" err="1" smtClean="0">
                <a:latin typeface="+mj-ea"/>
                <a:ea typeface="+mj-ea"/>
              </a:rPr>
              <a:t>Sno</a:t>
            </a:r>
            <a:r>
              <a:rPr lang="zh-CN" altLang="en-US" sz="2000" dirty="0" smtClean="0">
                <a:latin typeface="+mj-ea"/>
                <a:ea typeface="+mj-ea"/>
              </a:rPr>
              <a:t>，</a:t>
            </a:r>
            <a:r>
              <a:rPr lang="en-US" altLang="zh-CN" sz="2000" dirty="0" err="1" smtClean="0">
                <a:latin typeface="+mj-ea"/>
                <a:ea typeface="+mj-ea"/>
              </a:rPr>
              <a:t>Sbirth</a:t>
            </a:r>
            <a:r>
              <a:rPr lang="en-US" altLang="zh-CN" sz="2000" dirty="0" smtClean="0">
                <a:latin typeface="+mj-ea"/>
                <a:ea typeface="+mj-ea"/>
              </a:rPr>
              <a:t>       </a:t>
            </a:r>
          </a:p>
          <a:p>
            <a:pPr lvl="1" eaLnBrk="1" hangingPunct="1">
              <a:lnSpc>
                <a:spcPct val="120000"/>
              </a:lnSpc>
              <a:buFont typeface="Wingdings" pitchFamily="2" charset="2"/>
              <a:buNone/>
              <a:defRPr/>
            </a:pPr>
            <a:r>
              <a:rPr lang="en-US" altLang="zh-CN" sz="2000" dirty="0" smtClean="0">
                <a:latin typeface="+mj-ea"/>
                <a:ea typeface="+mj-ea"/>
              </a:rPr>
              <a:t>  FROM  S</a:t>
            </a:r>
          </a:p>
          <a:p>
            <a:pPr lvl="1" eaLnBrk="1" hangingPunct="1">
              <a:lnSpc>
                <a:spcPct val="120000"/>
              </a:lnSpc>
              <a:buFont typeface="Wingdings" pitchFamily="2" charset="2"/>
              <a:buNone/>
              <a:defRPr/>
            </a:pPr>
            <a:r>
              <a:rPr lang="en-US" altLang="zh-CN" sz="2000" dirty="0" smtClean="0">
                <a:latin typeface="+mj-ea"/>
                <a:ea typeface="+mj-ea"/>
              </a:rPr>
              <a:t>  WHERE  College=‘</a:t>
            </a:r>
            <a:r>
              <a:rPr lang="zh-CN" altLang="en-US" sz="2000" dirty="0" smtClean="0">
                <a:latin typeface="+mj-ea"/>
                <a:ea typeface="+mj-ea"/>
              </a:rPr>
              <a:t>植保’ </a:t>
            </a:r>
            <a:r>
              <a:rPr lang="en-US" altLang="zh-CN" sz="2000" dirty="0" smtClean="0">
                <a:latin typeface="+mj-ea"/>
                <a:ea typeface="+mj-ea"/>
              </a:rPr>
              <a:t>AND </a:t>
            </a:r>
          </a:p>
          <a:p>
            <a:pPr lvl="1" eaLnBrk="1" hangingPunct="1">
              <a:lnSpc>
                <a:spcPct val="120000"/>
              </a:lnSpc>
              <a:buFont typeface="Wingdings" pitchFamily="2" charset="2"/>
              <a:buNone/>
              <a:defRPr/>
            </a:pPr>
            <a:r>
              <a:rPr lang="en-US" altLang="zh-CN" sz="2000" dirty="0">
                <a:latin typeface="+mj-ea"/>
                <a:ea typeface="+mj-ea"/>
              </a:rPr>
              <a:t> </a:t>
            </a:r>
            <a:r>
              <a:rPr lang="en-US" altLang="zh-CN" sz="2000" dirty="0" smtClean="0">
                <a:latin typeface="+mj-ea"/>
                <a:ea typeface="+mj-ea"/>
              </a:rPr>
              <a:t>       </a:t>
            </a:r>
            <a:r>
              <a:rPr lang="en-US" altLang="zh-CN" sz="2000" dirty="0" err="1" smtClean="0">
                <a:latin typeface="+mj-ea"/>
              </a:rPr>
              <a:t>Sbirth</a:t>
            </a:r>
            <a:r>
              <a:rPr lang="en-US" altLang="zh-CN" sz="2000" dirty="0" smtClean="0">
                <a:latin typeface="+mj-ea"/>
              </a:rPr>
              <a:t>&gt;</a:t>
            </a:r>
            <a:r>
              <a:rPr lang="en-US" altLang="zh-CN" sz="2000" dirty="0" err="1" smtClean="0">
                <a:latin typeface="+mj-ea"/>
              </a:rPr>
              <a:t>to_date</a:t>
            </a:r>
            <a:r>
              <a:rPr lang="en-US" altLang="zh-CN" sz="2000" dirty="0">
                <a:latin typeface="+mj-ea"/>
              </a:rPr>
              <a:t>(‘</a:t>
            </a:r>
            <a:r>
              <a:rPr lang="en-US" altLang="zh-CN" sz="2000" dirty="0" smtClean="0">
                <a:latin typeface="+mj-ea"/>
              </a:rPr>
              <a:t>1994/01/01</a:t>
            </a:r>
            <a:r>
              <a:rPr lang="en-US" altLang="zh-CN" sz="2000" dirty="0">
                <a:latin typeface="+mj-ea"/>
              </a:rPr>
              <a:t>’,’yyyy/mm/</a:t>
            </a:r>
            <a:r>
              <a:rPr lang="en-US" altLang="zh-CN" sz="2000" dirty="0" err="1">
                <a:latin typeface="+mj-ea"/>
              </a:rPr>
              <a:t>dd</a:t>
            </a:r>
            <a:r>
              <a:rPr lang="en-US" altLang="zh-CN" sz="2000" dirty="0" smtClean="0">
                <a:latin typeface="+mj-ea"/>
              </a:rPr>
              <a:t>’)</a:t>
            </a:r>
            <a:endParaRPr lang="zh-CN" altLang="en-US" sz="2000" dirty="0" smtClean="0">
              <a:latin typeface="+mj-ea"/>
              <a:ea typeface="+mj-ea"/>
            </a:endParaRPr>
          </a:p>
          <a:p>
            <a:pPr eaLnBrk="1" hangingPunct="1">
              <a:buFont typeface="Wingdings" pitchFamily="2" charset="2"/>
              <a:buNone/>
              <a:defRPr/>
            </a:pPr>
            <a:endParaRPr lang="en-US" altLang="zh-CN" sz="2400" dirty="0" smtClean="0">
              <a:latin typeface="+mj-ea"/>
              <a:ea typeface="+mj-ea"/>
            </a:endParaRPr>
          </a:p>
        </p:txBody>
      </p:sp>
    </p:spTree>
  </p:cSld>
  <p:clrMapOvr>
    <a:masterClrMapping/>
  </p:clrMapOvr>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827088" y="0"/>
            <a:ext cx="7848600" cy="1125538"/>
          </a:xfrm>
        </p:spPr>
        <p:txBody>
          <a:bodyPr/>
          <a:lstStyle/>
          <a:p>
            <a:pPr eaLnBrk="1" hangingPunct="1"/>
            <a:r>
              <a:rPr lang="en-US" altLang="zh-CN" sz="3200" smtClean="0"/>
              <a:t>3.6  </a:t>
            </a:r>
            <a:r>
              <a:rPr lang="zh-CN" altLang="en-US" sz="3200" smtClean="0"/>
              <a:t>视 图</a:t>
            </a:r>
          </a:p>
        </p:txBody>
      </p:sp>
      <p:sp>
        <p:nvSpPr>
          <p:cNvPr id="150531" name="Rectangle 3"/>
          <p:cNvSpPr>
            <a:spLocks noGrp="1" noChangeArrowheads="1"/>
          </p:cNvSpPr>
          <p:nvPr>
            <p:ph type="body" idx="1"/>
          </p:nvPr>
        </p:nvSpPr>
        <p:spPr>
          <a:xfrm>
            <a:off x="1619250" y="1628775"/>
            <a:ext cx="6408738" cy="4321175"/>
          </a:xfrm>
        </p:spPr>
        <p:txBody>
          <a:bodyPr/>
          <a:lstStyle/>
          <a:p>
            <a:pPr eaLnBrk="1" hangingPunct="1">
              <a:lnSpc>
                <a:spcPct val="110000"/>
              </a:lnSpc>
              <a:buFont typeface="Wingdings" pitchFamily="2" charset="2"/>
              <a:buNone/>
              <a:defRPr/>
            </a:pPr>
            <a:r>
              <a:rPr lang="en-US" altLang="zh-CN" dirty="0" smtClean="0">
                <a:latin typeface="+mj-ea"/>
                <a:ea typeface="+mj-ea"/>
              </a:rPr>
              <a:t>3.6.1  </a:t>
            </a:r>
            <a:r>
              <a:rPr lang="zh-CN" altLang="en-US" dirty="0" smtClean="0">
                <a:latin typeface="+mj-ea"/>
                <a:ea typeface="+mj-ea"/>
              </a:rPr>
              <a:t>定义视图</a:t>
            </a:r>
          </a:p>
          <a:p>
            <a:pPr eaLnBrk="1" hangingPunct="1">
              <a:lnSpc>
                <a:spcPct val="110000"/>
              </a:lnSpc>
              <a:buFont typeface="Wingdings" pitchFamily="2" charset="2"/>
              <a:buNone/>
              <a:defRPr/>
            </a:pPr>
            <a:r>
              <a:rPr lang="en-US" altLang="zh-CN" dirty="0" smtClean="0">
                <a:latin typeface="+mj-ea"/>
                <a:ea typeface="+mj-ea"/>
              </a:rPr>
              <a:t>3.6.2  </a:t>
            </a:r>
            <a:r>
              <a:rPr lang="zh-CN" altLang="en-US" dirty="0" smtClean="0">
                <a:latin typeface="+mj-ea"/>
                <a:ea typeface="+mj-ea"/>
              </a:rPr>
              <a:t>查询视图</a:t>
            </a:r>
          </a:p>
          <a:p>
            <a:pPr eaLnBrk="1" hangingPunct="1">
              <a:lnSpc>
                <a:spcPct val="110000"/>
              </a:lnSpc>
              <a:buFont typeface="Wingdings" pitchFamily="2" charset="2"/>
              <a:buNone/>
              <a:defRPr/>
            </a:pPr>
            <a:r>
              <a:rPr lang="en-US" altLang="zh-CN" dirty="0" smtClean="0">
                <a:solidFill>
                  <a:srgbClr val="FF0000"/>
                </a:solidFill>
                <a:latin typeface="+mj-ea"/>
                <a:ea typeface="+mj-ea"/>
              </a:rPr>
              <a:t>3.6.3  </a:t>
            </a:r>
            <a:r>
              <a:rPr lang="zh-CN" altLang="en-US" dirty="0" smtClean="0">
                <a:solidFill>
                  <a:srgbClr val="FF0000"/>
                </a:solidFill>
                <a:latin typeface="+mj-ea"/>
                <a:ea typeface="+mj-ea"/>
              </a:rPr>
              <a:t>更新视图</a:t>
            </a:r>
          </a:p>
          <a:p>
            <a:pPr eaLnBrk="1" hangingPunct="1">
              <a:lnSpc>
                <a:spcPct val="110000"/>
              </a:lnSpc>
              <a:buFont typeface="Wingdings" pitchFamily="2" charset="2"/>
              <a:buNone/>
              <a:defRPr/>
            </a:pPr>
            <a:r>
              <a:rPr lang="en-US" altLang="zh-CN" dirty="0" smtClean="0">
                <a:latin typeface="+mj-ea"/>
                <a:ea typeface="+mj-ea"/>
              </a:rPr>
              <a:t>3.6.4  </a:t>
            </a:r>
            <a:r>
              <a:rPr lang="zh-CN" altLang="en-US" dirty="0" smtClean="0">
                <a:latin typeface="+mj-ea"/>
                <a:ea typeface="+mj-ea"/>
              </a:rPr>
              <a:t>视图的作用</a:t>
            </a:r>
          </a:p>
          <a:p>
            <a:pPr eaLnBrk="1" hangingPunct="1">
              <a:buFont typeface="Wingdings" pitchFamily="2" charset="2"/>
              <a:buNone/>
              <a:defRPr/>
            </a:pPr>
            <a:endParaRPr lang="en-US" altLang="zh-CN" dirty="0" smtClean="0">
              <a:latin typeface="+mj-ea"/>
              <a:ea typeface="+mj-ea"/>
            </a:endParaRPr>
          </a:p>
        </p:txBody>
      </p:sp>
    </p:spTree>
  </p:cSld>
  <p:clrMapOvr>
    <a:masterClrMapping/>
  </p:clrMapOvr>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pPr eaLnBrk="1" hangingPunct="1"/>
            <a:r>
              <a:rPr lang="en-US" altLang="zh-CN" smtClean="0"/>
              <a:t>3.6.3  </a:t>
            </a:r>
            <a:r>
              <a:rPr lang="zh-CN" altLang="en-US" smtClean="0"/>
              <a:t>更新视图</a:t>
            </a:r>
          </a:p>
        </p:txBody>
      </p:sp>
      <p:sp>
        <p:nvSpPr>
          <p:cNvPr id="151555" name="Rectangle 3"/>
          <p:cNvSpPr>
            <a:spLocks noGrp="1" noChangeArrowheads="1"/>
          </p:cNvSpPr>
          <p:nvPr>
            <p:ph type="body" idx="1"/>
          </p:nvPr>
        </p:nvSpPr>
        <p:spPr>
          <a:xfrm>
            <a:off x="684213" y="1700213"/>
            <a:ext cx="7848600" cy="4565650"/>
          </a:xfrm>
        </p:spPr>
        <p:txBody>
          <a:bodyPr/>
          <a:lstStyle/>
          <a:p>
            <a:pPr eaLnBrk="1" hangingPunct="1">
              <a:lnSpc>
                <a:spcPct val="130000"/>
              </a:lnSpc>
              <a:defRPr/>
            </a:pPr>
            <a:r>
              <a:rPr lang="zh-CN" altLang="en-US" sz="2800" dirty="0" smtClean="0">
                <a:latin typeface="+mj-ea"/>
                <a:ea typeface="+mj-ea"/>
              </a:rPr>
              <a:t>用户角度：更新视图与更新基本表相同</a:t>
            </a:r>
          </a:p>
          <a:p>
            <a:pPr eaLnBrk="1" hangingPunct="1">
              <a:lnSpc>
                <a:spcPct val="130000"/>
              </a:lnSpc>
              <a:defRPr/>
            </a:pPr>
            <a:r>
              <a:rPr lang="en-US" altLang="zh-CN" sz="2800" dirty="0" smtClean="0">
                <a:latin typeface="+mj-ea"/>
                <a:ea typeface="+mj-ea"/>
              </a:rPr>
              <a:t>DBMS</a:t>
            </a:r>
            <a:r>
              <a:rPr lang="zh-CN" altLang="en-US" sz="2800" dirty="0" smtClean="0">
                <a:latin typeface="+mj-ea"/>
                <a:ea typeface="+mj-ea"/>
              </a:rPr>
              <a:t>实现视图更新的方法</a:t>
            </a:r>
          </a:p>
          <a:p>
            <a:pPr lvl="1" eaLnBrk="1" hangingPunct="1">
              <a:lnSpc>
                <a:spcPct val="130000"/>
              </a:lnSpc>
              <a:defRPr/>
            </a:pPr>
            <a:r>
              <a:rPr lang="zh-CN" altLang="en-US" sz="2400" dirty="0" smtClean="0">
                <a:latin typeface="+mj-ea"/>
                <a:ea typeface="+mj-ea"/>
              </a:rPr>
              <a:t>视图消解法（</a:t>
            </a:r>
            <a:r>
              <a:rPr lang="en-US" altLang="zh-CN" sz="2400" dirty="0" smtClean="0">
                <a:latin typeface="+mj-ea"/>
                <a:ea typeface="+mj-ea"/>
              </a:rPr>
              <a:t>View Resolution</a:t>
            </a:r>
            <a:r>
              <a:rPr lang="zh-CN" altLang="en-US" sz="2400" dirty="0" smtClean="0">
                <a:latin typeface="+mj-ea"/>
                <a:ea typeface="+mj-ea"/>
              </a:rPr>
              <a:t>）</a:t>
            </a:r>
          </a:p>
          <a:p>
            <a:pPr eaLnBrk="1" hangingPunct="1">
              <a:lnSpc>
                <a:spcPct val="130000"/>
              </a:lnSpc>
              <a:defRPr/>
            </a:pPr>
            <a:r>
              <a:rPr lang="zh-CN" altLang="en-US" sz="2800" dirty="0" smtClean="0">
                <a:latin typeface="+mj-ea"/>
                <a:ea typeface="+mj-ea"/>
              </a:rPr>
              <a:t>指定</a:t>
            </a:r>
            <a:r>
              <a:rPr lang="en-US" altLang="zh-CN" sz="2800" dirty="0" smtClean="0">
                <a:latin typeface="+mj-ea"/>
                <a:ea typeface="+mj-ea"/>
              </a:rPr>
              <a:t>WITH CHECK OPTION</a:t>
            </a:r>
            <a:r>
              <a:rPr lang="zh-CN" altLang="en-US" sz="2800" dirty="0" smtClean="0">
                <a:latin typeface="+mj-ea"/>
                <a:ea typeface="+mj-ea"/>
              </a:rPr>
              <a:t>子句后</a:t>
            </a:r>
          </a:p>
          <a:p>
            <a:pPr eaLnBrk="1" hangingPunct="1">
              <a:lnSpc>
                <a:spcPct val="130000"/>
              </a:lnSpc>
              <a:buFont typeface="Wingdings" pitchFamily="2" charset="2"/>
              <a:buNone/>
              <a:defRPr/>
            </a:pPr>
            <a:r>
              <a:rPr lang="zh-CN" altLang="en-US" sz="2800" dirty="0" smtClean="0">
                <a:latin typeface="+mj-ea"/>
                <a:ea typeface="+mj-ea"/>
              </a:rPr>
              <a:t>    </a:t>
            </a:r>
            <a:r>
              <a:rPr lang="en-US" altLang="zh-CN" sz="2400" dirty="0" smtClean="0">
                <a:latin typeface="+mj-ea"/>
                <a:ea typeface="+mj-ea"/>
              </a:rPr>
              <a:t>DBMS</a:t>
            </a:r>
            <a:r>
              <a:rPr lang="zh-CN" altLang="en-US" sz="2400" dirty="0" smtClean="0">
                <a:latin typeface="+mj-ea"/>
                <a:ea typeface="+mj-ea"/>
              </a:rPr>
              <a:t>在更新视图时会进行检查，防止用户通过视图对</a:t>
            </a:r>
            <a:r>
              <a:rPr lang="zh-CN" altLang="en-US" sz="2400" dirty="0" smtClean="0">
                <a:solidFill>
                  <a:srgbClr val="FF0000"/>
                </a:solidFill>
                <a:latin typeface="+mj-ea"/>
                <a:ea typeface="+mj-ea"/>
              </a:rPr>
              <a:t>不属于视图范围内</a:t>
            </a:r>
            <a:r>
              <a:rPr lang="zh-CN" altLang="en-US" sz="2400" dirty="0" smtClean="0">
                <a:latin typeface="+mj-ea"/>
                <a:ea typeface="+mj-ea"/>
              </a:rPr>
              <a:t>的基本表数据进行更新</a:t>
            </a:r>
            <a:endParaRPr lang="zh-CN" altLang="en-US" dirty="0" smtClean="0">
              <a:latin typeface="+mj-ea"/>
              <a:ea typeface="+mj-ea"/>
            </a:endParaRPr>
          </a:p>
        </p:txBody>
      </p:sp>
    </p:spTree>
  </p:cSld>
  <p:clrMapOvr>
    <a:masterClrMapping/>
  </p:clrMapOvr>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468313" y="0"/>
            <a:ext cx="8229600" cy="1125538"/>
          </a:xfrm>
        </p:spPr>
        <p:txBody>
          <a:bodyPr/>
          <a:lstStyle/>
          <a:p>
            <a:pPr eaLnBrk="1" hangingPunct="1"/>
            <a:r>
              <a:rPr lang="en-US" altLang="zh-CN" smtClean="0"/>
              <a:t>3.6.3 </a:t>
            </a:r>
            <a:r>
              <a:rPr lang="zh-CN" altLang="en-US" smtClean="0"/>
              <a:t>更新视图</a:t>
            </a:r>
          </a:p>
        </p:txBody>
      </p:sp>
      <p:sp>
        <p:nvSpPr>
          <p:cNvPr id="662531" name="Rectangle 3"/>
          <p:cNvSpPr>
            <a:spLocks noGrp="1" noChangeArrowheads="1"/>
          </p:cNvSpPr>
          <p:nvPr>
            <p:ph type="body" idx="1"/>
          </p:nvPr>
        </p:nvSpPr>
        <p:spPr>
          <a:xfrm>
            <a:off x="687388" y="1484313"/>
            <a:ext cx="7772400" cy="4392612"/>
          </a:xfrm>
        </p:spPr>
        <p:txBody>
          <a:bodyPr/>
          <a:lstStyle/>
          <a:p>
            <a:pPr eaLnBrk="1" hangingPunct="1">
              <a:lnSpc>
                <a:spcPct val="120000"/>
              </a:lnSpc>
              <a:spcBef>
                <a:spcPct val="0"/>
              </a:spcBef>
              <a:buFont typeface="Wingdings" pitchFamily="2" charset="2"/>
              <a:buNone/>
              <a:defRPr/>
            </a:pPr>
            <a:r>
              <a:rPr lang="en-US" altLang="zh-CN" sz="2400" dirty="0" smtClean="0">
                <a:latin typeface="+mj-ea"/>
                <a:ea typeface="+mj-ea"/>
              </a:rPr>
              <a:t>[</a:t>
            </a:r>
            <a:r>
              <a:rPr lang="zh-CN" altLang="en-US" sz="2400" dirty="0" smtClean="0">
                <a:latin typeface="+mj-ea"/>
                <a:ea typeface="+mj-ea"/>
              </a:rPr>
              <a:t>例</a:t>
            </a:r>
            <a:r>
              <a:rPr lang="en-US" altLang="zh-CN" sz="2400" dirty="0" smtClean="0">
                <a:latin typeface="+mj-ea"/>
                <a:ea typeface="+mj-ea"/>
              </a:rPr>
              <a:t>1]  </a:t>
            </a:r>
            <a:r>
              <a:rPr lang="zh-CN" altLang="en-US" sz="2400" dirty="0" smtClean="0">
                <a:latin typeface="+mj-ea"/>
                <a:ea typeface="+mj-ea"/>
              </a:rPr>
              <a:t>将植保学院学生视图</a:t>
            </a:r>
            <a:r>
              <a:rPr lang="en-US" altLang="zh-CN" sz="2400" dirty="0" smtClean="0">
                <a:latin typeface="+mj-ea"/>
                <a:ea typeface="+mj-ea"/>
              </a:rPr>
              <a:t>ZB_S</a:t>
            </a:r>
            <a:r>
              <a:rPr lang="zh-CN" altLang="en-US" sz="2400" dirty="0" smtClean="0">
                <a:latin typeface="+mj-ea"/>
                <a:ea typeface="+mj-ea"/>
              </a:rPr>
              <a:t>中学号</a:t>
            </a:r>
            <a:r>
              <a:rPr lang="en-US" altLang="zh-CN" sz="2400" dirty="0" smtClean="0">
                <a:latin typeface="+mj-ea"/>
                <a:ea typeface="+mj-ea"/>
              </a:rPr>
              <a:t>04003</a:t>
            </a:r>
            <a:r>
              <a:rPr lang="zh-CN" altLang="en-US" sz="2400" dirty="0" smtClean="0">
                <a:latin typeface="+mj-ea"/>
                <a:ea typeface="+mj-ea"/>
              </a:rPr>
              <a:t>的学生姓名改为“刘辰”。</a:t>
            </a:r>
          </a:p>
          <a:p>
            <a:pPr lvl="1" eaLnBrk="1" hangingPunct="1">
              <a:lnSpc>
                <a:spcPct val="120000"/>
              </a:lnSpc>
              <a:spcBef>
                <a:spcPct val="0"/>
              </a:spcBef>
              <a:buFont typeface="Wingdings" pitchFamily="2" charset="2"/>
              <a:buNone/>
              <a:defRPr/>
            </a:pPr>
            <a:r>
              <a:rPr lang="en-US" altLang="zh-CN" sz="2400" dirty="0" smtClean="0">
                <a:latin typeface="+mj-ea"/>
                <a:ea typeface="+mj-ea"/>
              </a:rPr>
              <a:t>UPDATE  </a:t>
            </a:r>
            <a:r>
              <a:rPr lang="en-US" altLang="zh-CN" sz="2400" dirty="0" smtClean="0">
                <a:solidFill>
                  <a:srgbClr val="FF0000"/>
                </a:solidFill>
                <a:latin typeface="+mj-ea"/>
                <a:ea typeface="+mj-ea"/>
              </a:rPr>
              <a:t>ZB_S</a:t>
            </a:r>
          </a:p>
          <a:p>
            <a:pPr lvl="1" eaLnBrk="1" hangingPunct="1">
              <a:lnSpc>
                <a:spcPct val="120000"/>
              </a:lnSpc>
              <a:spcBef>
                <a:spcPct val="0"/>
              </a:spcBef>
              <a:buFont typeface="Wingdings" pitchFamily="2" charset="2"/>
              <a:buNone/>
              <a:defRPr/>
            </a:pPr>
            <a:r>
              <a:rPr lang="en-US" altLang="zh-CN" sz="2400" dirty="0" smtClean="0">
                <a:latin typeface="+mj-ea"/>
                <a:ea typeface="+mj-ea"/>
              </a:rPr>
              <a:t>SET  </a:t>
            </a:r>
            <a:r>
              <a:rPr lang="en-US" altLang="zh-CN" sz="2400" dirty="0" err="1" smtClean="0">
                <a:latin typeface="+mj-ea"/>
                <a:ea typeface="+mj-ea"/>
              </a:rPr>
              <a:t>Sname</a:t>
            </a:r>
            <a:r>
              <a:rPr lang="en-US" altLang="zh-CN" sz="2400" dirty="0" smtClean="0">
                <a:latin typeface="+mj-ea"/>
                <a:ea typeface="+mj-ea"/>
              </a:rPr>
              <a:t>= '</a:t>
            </a:r>
            <a:r>
              <a:rPr lang="zh-CN" altLang="en-US" sz="2400" dirty="0" smtClean="0">
                <a:latin typeface="+mj-ea"/>
                <a:ea typeface="+mj-ea"/>
              </a:rPr>
              <a:t>刘辰</a:t>
            </a:r>
            <a:r>
              <a:rPr lang="en-US" altLang="zh-CN" sz="2400" dirty="0" smtClean="0">
                <a:latin typeface="+mj-ea"/>
                <a:ea typeface="+mj-ea"/>
              </a:rPr>
              <a:t>'</a:t>
            </a:r>
          </a:p>
          <a:p>
            <a:pPr lvl="1" eaLnBrk="1" hangingPunct="1">
              <a:lnSpc>
                <a:spcPct val="120000"/>
              </a:lnSpc>
              <a:spcBef>
                <a:spcPct val="0"/>
              </a:spcBef>
              <a:buFont typeface="Wingdings" pitchFamily="2" charset="2"/>
              <a:buNone/>
              <a:defRPr/>
            </a:pPr>
            <a:r>
              <a:rPr lang="en-US" altLang="zh-CN" sz="2400" dirty="0" smtClean="0">
                <a:latin typeface="+mj-ea"/>
                <a:ea typeface="+mj-ea"/>
              </a:rPr>
              <a:t>WHERE  </a:t>
            </a:r>
            <a:r>
              <a:rPr lang="en-US" altLang="zh-CN" sz="2400" dirty="0" err="1" smtClean="0">
                <a:latin typeface="+mj-ea"/>
                <a:ea typeface="+mj-ea"/>
              </a:rPr>
              <a:t>Sno</a:t>
            </a:r>
            <a:r>
              <a:rPr lang="en-US" altLang="zh-CN" sz="2400" dirty="0" smtClean="0">
                <a:latin typeface="+mj-ea"/>
                <a:ea typeface="+mj-ea"/>
              </a:rPr>
              <a:t>= ‘04003'</a:t>
            </a:r>
            <a:r>
              <a:rPr lang="zh-CN" altLang="en-US" sz="2400" dirty="0" smtClean="0">
                <a:latin typeface="+mj-ea"/>
                <a:ea typeface="+mj-ea"/>
              </a:rPr>
              <a:t>；</a:t>
            </a:r>
          </a:p>
          <a:p>
            <a:pPr lvl="1" eaLnBrk="1" hangingPunct="1">
              <a:lnSpc>
                <a:spcPct val="120000"/>
              </a:lnSpc>
              <a:spcBef>
                <a:spcPct val="0"/>
              </a:spcBef>
              <a:buFont typeface="Wingdings" pitchFamily="2" charset="2"/>
              <a:buNone/>
              <a:defRPr/>
            </a:pPr>
            <a:r>
              <a:rPr lang="zh-CN" altLang="en-US" sz="2000" dirty="0" smtClean="0">
                <a:latin typeface="+mj-ea"/>
                <a:ea typeface="+mj-ea"/>
              </a:rPr>
              <a:t>转换后的语句：</a:t>
            </a:r>
            <a:endParaRPr lang="zh-CN" altLang="en-US" dirty="0" smtClean="0">
              <a:latin typeface="+mj-ea"/>
              <a:ea typeface="+mj-ea"/>
            </a:endParaRPr>
          </a:p>
          <a:p>
            <a:pPr lvl="2" eaLnBrk="1" hangingPunct="1">
              <a:lnSpc>
                <a:spcPct val="120000"/>
              </a:lnSpc>
              <a:spcBef>
                <a:spcPct val="0"/>
              </a:spcBef>
              <a:buFont typeface="Wingdings" pitchFamily="2" charset="2"/>
              <a:buNone/>
              <a:defRPr/>
            </a:pPr>
            <a:r>
              <a:rPr lang="en-US" altLang="zh-CN" dirty="0" smtClean="0">
                <a:latin typeface="+mj-ea"/>
                <a:ea typeface="+mj-ea"/>
              </a:rPr>
              <a:t>UPDATE </a:t>
            </a:r>
            <a:r>
              <a:rPr lang="en-US" altLang="zh-CN" dirty="0" smtClean="0">
                <a:solidFill>
                  <a:schemeClr val="hlink"/>
                </a:solidFill>
                <a:latin typeface="+mj-ea"/>
                <a:ea typeface="+mj-ea"/>
              </a:rPr>
              <a:t> </a:t>
            </a:r>
            <a:r>
              <a:rPr lang="en-US" altLang="zh-CN" dirty="0" smtClean="0">
                <a:solidFill>
                  <a:srgbClr val="FF0000"/>
                </a:solidFill>
                <a:latin typeface="+mj-ea"/>
                <a:ea typeface="+mj-ea"/>
              </a:rPr>
              <a:t>S</a:t>
            </a:r>
          </a:p>
          <a:p>
            <a:pPr lvl="2" eaLnBrk="1" hangingPunct="1">
              <a:lnSpc>
                <a:spcPct val="120000"/>
              </a:lnSpc>
              <a:spcBef>
                <a:spcPct val="0"/>
              </a:spcBef>
              <a:buFont typeface="Wingdings" pitchFamily="2" charset="2"/>
              <a:buNone/>
              <a:defRPr/>
            </a:pPr>
            <a:r>
              <a:rPr lang="en-US" altLang="zh-CN" dirty="0" smtClean="0">
                <a:latin typeface="+mj-ea"/>
                <a:ea typeface="+mj-ea"/>
              </a:rPr>
              <a:t>SET </a:t>
            </a:r>
            <a:r>
              <a:rPr lang="en-US" altLang="zh-CN" dirty="0" err="1" smtClean="0">
                <a:latin typeface="+mj-ea"/>
                <a:ea typeface="+mj-ea"/>
              </a:rPr>
              <a:t>Sname</a:t>
            </a:r>
            <a:r>
              <a:rPr lang="en-US" altLang="zh-CN" dirty="0" smtClean="0">
                <a:latin typeface="+mj-ea"/>
                <a:ea typeface="+mj-ea"/>
              </a:rPr>
              <a:t>= '</a:t>
            </a:r>
            <a:r>
              <a:rPr lang="zh-CN" altLang="en-US" dirty="0" smtClean="0">
                <a:latin typeface="+mj-ea"/>
                <a:ea typeface="+mj-ea"/>
              </a:rPr>
              <a:t>刘辰</a:t>
            </a:r>
            <a:r>
              <a:rPr lang="en-US" altLang="zh-CN" dirty="0" smtClean="0">
                <a:latin typeface="+mj-ea"/>
                <a:ea typeface="+mj-ea"/>
              </a:rPr>
              <a:t>'</a:t>
            </a:r>
          </a:p>
          <a:p>
            <a:pPr lvl="2" eaLnBrk="1" hangingPunct="1">
              <a:lnSpc>
                <a:spcPct val="120000"/>
              </a:lnSpc>
              <a:spcBef>
                <a:spcPct val="0"/>
              </a:spcBef>
              <a:buFont typeface="Wingdings" pitchFamily="2" charset="2"/>
              <a:buNone/>
              <a:defRPr/>
            </a:pPr>
            <a:r>
              <a:rPr lang="en-US" altLang="zh-CN" dirty="0" smtClean="0">
                <a:latin typeface="+mj-ea"/>
                <a:ea typeface="+mj-ea"/>
              </a:rPr>
              <a:t>WHERE </a:t>
            </a:r>
            <a:r>
              <a:rPr lang="en-US" altLang="zh-CN" dirty="0" err="1" smtClean="0">
                <a:latin typeface="+mj-ea"/>
                <a:ea typeface="+mj-ea"/>
              </a:rPr>
              <a:t>Sno</a:t>
            </a:r>
            <a:r>
              <a:rPr lang="en-US" altLang="zh-CN" dirty="0" smtClean="0">
                <a:latin typeface="+mj-ea"/>
                <a:ea typeface="+mj-ea"/>
              </a:rPr>
              <a:t>= ‘04003’ AND </a:t>
            </a:r>
            <a:r>
              <a:rPr lang="en-US" altLang="zh-CN" dirty="0" smtClean="0">
                <a:solidFill>
                  <a:srgbClr val="FF0000"/>
                </a:solidFill>
                <a:latin typeface="+mj-ea"/>
                <a:ea typeface="+mj-ea"/>
              </a:rPr>
              <a:t>College= ‘</a:t>
            </a:r>
            <a:r>
              <a:rPr lang="zh-CN" altLang="en-US" dirty="0" smtClean="0">
                <a:solidFill>
                  <a:srgbClr val="FF0000"/>
                </a:solidFill>
                <a:latin typeface="+mj-ea"/>
                <a:ea typeface="+mj-ea"/>
              </a:rPr>
              <a:t>植保</a:t>
            </a:r>
            <a:r>
              <a:rPr lang="en-US" altLang="zh-CN" dirty="0" smtClean="0">
                <a:solidFill>
                  <a:srgbClr val="FF0000"/>
                </a:solidFill>
                <a:latin typeface="+mj-ea"/>
                <a:ea typeface="+mj-ea"/>
              </a:rPr>
              <a:t>'</a:t>
            </a:r>
            <a:r>
              <a:rPr lang="zh-CN" altLang="en-US" dirty="0" smtClean="0">
                <a:latin typeface="+mj-ea"/>
                <a:ea typeface="+mj-ea"/>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62531">
                                            <p:txEl>
                                              <p:pRg st="1" end="1"/>
                                            </p:txEl>
                                          </p:spTgt>
                                        </p:tgtEl>
                                        <p:attrNameLst>
                                          <p:attrName>style.visibility</p:attrName>
                                        </p:attrNameLst>
                                      </p:cBhvr>
                                      <p:to>
                                        <p:strVal val="visible"/>
                                      </p:to>
                                    </p:set>
                                    <p:anim calcmode="lin" valueType="num">
                                      <p:cBhvr additive="base">
                                        <p:cTn id="7" dur="500" fill="hold"/>
                                        <p:tgtEl>
                                          <p:spTgt spid="66253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2531">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62531">
                                            <p:txEl>
                                              <p:pRg st="2" end="2"/>
                                            </p:txEl>
                                          </p:spTgt>
                                        </p:tgtEl>
                                        <p:attrNameLst>
                                          <p:attrName>style.visibility</p:attrName>
                                        </p:attrNameLst>
                                      </p:cBhvr>
                                      <p:to>
                                        <p:strVal val="visible"/>
                                      </p:to>
                                    </p:set>
                                    <p:anim calcmode="lin" valueType="num">
                                      <p:cBhvr additive="base">
                                        <p:cTn id="11" dur="500" fill="hold"/>
                                        <p:tgtEl>
                                          <p:spTgt spid="662531">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62531">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62531">
                                            <p:txEl>
                                              <p:pRg st="3" end="3"/>
                                            </p:txEl>
                                          </p:spTgt>
                                        </p:tgtEl>
                                        <p:attrNameLst>
                                          <p:attrName>style.visibility</p:attrName>
                                        </p:attrNameLst>
                                      </p:cBhvr>
                                      <p:to>
                                        <p:strVal val="visible"/>
                                      </p:to>
                                    </p:set>
                                    <p:anim calcmode="lin" valueType="num">
                                      <p:cBhvr additive="base">
                                        <p:cTn id="15" dur="500" fill="hold"/>
                                        <p:tgtEl>
                                          <p:spTgt spid="662531">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625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662531">
                                            <p:txEl>
                                              <p:pRg st="4" end="4"/>
                                            </p:txEl>
                                          </p:spTgt>
                                        </p:tgtEl>
                                        <p:attrNameLst>
                                          <p:attrName>style.visibility</p:attrName>
                                        </p:attrNameLst>
                                      </p:cBhvr>
                                      <p:to>
                                        <p:strVal val="visible"/>
                                      </p:to>
                                    </p:set>
                                    <p:anim calcmode="lin" valueType="num">
                                      <p:cBhvr additive="base">
                                        <p:cTn id="21" dur="500" fill="hold"/>
                                        <p:tgtEl>
                                          <p:spTgt spid="662531">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62531">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62531">
                                            <p:txEl>
                                              <p:pRg st="5" end="5"/>
                                            </p:txEl>
                                          </p:spTgt>
                                        </p:tgtEl>
                                        <p:attrNameLst>
                                          <p:attrName>style.visibility</p:attrName>
                                        </p:attrNameLst>
                                      </p:cBhvr>
                                      <p:to>
                                        <p:strVal val="visible"/>
                                      </p:to>
                                    </p:set>
                                    <p:anim calcmode="lin" valueType="num">
                                      <p:cBhvr additive="base">
                                        <p:cTn id="25" dur="500" fill="hold"/>
                                        <p:tgtEl>
                                          <p:spTgt spid="662531">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62531">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62531">
                                            <p:txEl>
                                              <p:pRg st="6" end="6"/>
                                            </p:txEl>
                                          </p:spTgt>
                                        </p:tgtEl>
                                        <p:attrNameLst>
                                          <p:attrName>style.visibility</p:attrName>
                                        </p:attrNameLst>
                                      </p:cBhvr>
                                      <p:to>
                                        <p:strVal val="visible"/>
                                      </p:to>
                                    </p:set>
                                    <p:anim calcmode="lin" valueType="num">
                                      <p:cBhvr additive="base">
                                        <p:cTn id="29" dur="500" fill="hold"/>
                                        <p:tgtEl>
                                          <p:spTgt spid="662531">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62531">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62531">
                                            <p:txEl>
                                              <p:pRg st="7" end="7"/>
                                            </p:txEl>
                                          </p:spTgt>
                                        </p:tgtEl>
                                        <p:attrNameLst>
                                          <p:attrName>style.visibility</p:attrName>
                                        </p:attrNameLst>
                                      </p:cBhvr>
                                      <p:to>
                                        <p:strVal val="visible"/>
                                      </p:to>
                                    </p:set>
                                    <p:anim calcmode="lin" valueType="num">
                                      <p:cBhvr additive="base">
                                        <p:cTn id="33" dur="500" fill="hold"/>
                                        <p:tgtEl>
                                          <p:spTgt spid="662531">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6253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395288" y="908050"/>
            <a:ext cx="8229600" cy="1125538"/>
          </a:xfrm>
        </p:spPr>
        <p:txBody>
          <a:bodyPr/>
          <a:lstStyle/>
          <a:p>
            <a:pPr eaLnBrk="1" hangingPunct="1"/>
            <a:r>
              <a:rPr lang="zh-CN" altLang="en-US" sz="2800" smtClean="0">
                <a:solidFill>
                  <a:srgbClr val="FF0000"/>
                </a:solidFill>
              </a:rPr>
              <a:t>更新视图的限制</a:t>
            </a:r>
          </a:p>
        </p:txBody>
      </p:sp>
      <p:sp>
        <p:nvSpPr>
          <p:cNvPr id="153603" name="Rectangle 3"/>
          <p:cNvSpPr>
            <a:spLocks noGrp="1" noChangeArrowheads="1"/>
          </p:cNvSpPr>
          <p:nvPr>
            <p:ph type="body" idx="1"/>
          </p:nvPr>
        </p:nvSpPr>
        <p:spPr>
          <a:xfrm>
            <a:off x="611188" y="1916113"/>
            <a:ext cx="7993062" cy="4608512"/>
          </a:xfrm>
        </p:spPr>
        <p:txBody>
          <a:bodyPr/>
          <a:lstStyle/>
          <a:p>
            <a:pPr eaLnBrk="1" hangingPunct="1">
              <a:lnSpc>
                <a:spcPct val="120000"/>
              </a:lnSpc>
              <a:defRPr/>
            </a:pPr>
            <a:r>
              <a:rPr lang="zh-CN" altLang="en-US" sz="2400" dirty="0" smtClean="0">
                <a:latin typeface="+mj-ea"/>
                <a:ea typeface="+mj-ea"/>
              </a:rPr>
              <a:t>一些视图是不可更新的，因为对这些视图的更新不能唯一地有意义地转换成对相应基本表的更新</a:t>
            </a:r>
          </a:p>
          <a:p>
            <a:pPr lvl="1" eaLnBrk="1" hangingPunct="1">
              <a:lnSpc>
                <a:spcPct val="120000"/>
              </a:lnSpc>
              <a:buFont typeface="Wingdings" pitchFamily="2" charset="2"/>
              <a:buNone/>
              <a:defRPr/>
            </a:pPr>
            <a:r>
              <a:rPr lang="zh-CN" altLang="en-US" sz="2400" dirty="0" smtClean="0">
                <a:latin typeface="+mj-ea"/>
                <a:ea typeface="+mj-ea"/>
              </a:rPr>
              <a:t>例：视图</a:t>
            </a:r>
            <a:r>
              <a:rPr lang="en-US" altLang="zh-CN" sz="2400" dirty="0" smtClean="0">
                <a:latin typeface="+mj-ea"/>
                <a:ea typeface="+mj-ea"/>
              </a:rPr>
              <a:t>S_G</a:t>
            </a:r>
            <a:r>
              <a:rPr lang="zh-CN" altLang="en-US" sz="2400" dirty="0" smtClean="0">
                <a:latin typeface="+mj-ea"/>
                <a:ea typeface="+mj-ea"/>
              </a:rPr>
              <a:t>为不可更新视图。</a:t>
            </a:r>
          </a:p>
          <a:p>
            <a:pPr eaLnBrk="1" hangingPunct="1">
              <a:lnSpc>
                <a:spcPct val="120000"/>
              </a:lnSpc>
              <a:buFont typeface="Wingdings" pitchFamily="2" charset="2"/>
              <a:buNone/>
              <a:defRPr/>
            </a:pPr>
            <a:r>
              <a:rPr lang="zh-CN" altLang="en-US" sz="2400" dirty="0" smtClean="0">
                <a:latin typeface="+mj-ea"/>
                <a:ea typeface="+mj-ea"/>
              </a:rPr>
              <a:t>        </a:t>
            </a:r>
            <a:r>
              <a:rPr lang="en-US" altLang="zh-CN" sz="2400" dirty="0" smtClean="0">
                <a:latin typeface="+mj-ea"/>
                <a:ea typeface="+mj-ea"/>
              </a:rPr>
              <a:t>CREATE VIEW S_G (</a:t>
            </a:r>
            <a:r>
              <a:rPr lang="en-US" altLang="zh-CN" sz="2400" dirty="0" err="1" smtClean="0">
                <a:latin typeface="+mj-ea"/>
                <a:ea typeface="+mj-ea"/>
              </a:rPr>
              <a:t>Sno</a:t>
            </a:r>
            <a:r>
              <a:rPr lang="zh-CN" altLang="en-US" sz="2400" dirty="0" smtClean="0">
                <a:latin typeface="+mj-ea"/>
                <a:ea typeface="+mj-ea"/>
              </a:rPr>
              <a:t>，</a:t>
            </a:r>
            <a:r>
              <a:rPr lang="en-US" altLang="zh-CN" sz="2400" dirty="0" err="1" smtClean="0">
                <a:latin typeface="+mj-ea"/>
                <a:ea typeface="+mj-ea"/>
              </a:rPr>
              <a:t>Gavg</a:t>
            </a:r>
            <a:r>
              <a:rPr lang="en-US" altLang="zh-CN" sz="2400" dirty="0" smtClean="0">
                <a:latin typeface="+mj-ea"/>
                <a:ea typeface="+mj-ea"/>
              </a:rPr>
              <a:t>)</a:t>
            </a:r>
          </a:p>
          <a:p>
            <a:pPr eaLnBrk="1" hangingPunct="1">
              <a:lnSpc>
                <a:spcPct val="120000"/>
              </a:lnSpc>
              <a:buFont typeface="Wingdings" pitchFamily="2" charset="2"/>
              <a:buNone/>
              <a:defRPr/>
            </a:pPr>
            <a:r>
              <a:rPr lang="en-US" altLang="zh-CN" sz="2400" dirty="0" smtClean="0">
                <a:latin typeface="+mj-ea"/>
                <a:ea typeface="+mj-ea"/>
              </a:rPr>
              <a:t>        AS </a:t>
            </a:r>
          </a:p>
          <a:p>
            <a:pPr eaLnBrk="1" hangingPunct="1">
              <a:lnSpc>
                <a:spcPct val="120000"/>
              </a:lnSpc>
              <a:buFont typeface="Wingdings" pitchFamily="2" charset="2"/>
              <a:buNone/>
              <a:defRPr/>
            </a:pPr>
            <a:r>
              <a:rPr lang="en-US" altLang="zh-CN" sz="2400" dirty="0" smtClean="0">
                <a:latin typeface="+mj-ea"/>
                <a:ea typeface="+mj-ea"/>
              </a:rPr>
              <a:t>		  SELECT  </a:t>
            </a:r>
            <a:r>
              <a:rPr lang="en-US" altLang="zh-CN" sz="2400" dirty="0" err="1" smtClean="0">
                <a:latin typeface="+mj-ea"/>
                <a:ea typeface="+mj-ea"/>
              </a:rPr>
              <a:t>Sno</a:t>
            </a:r>
            <a:r>
              <a:rPr lang="zh-CN" altLang="en-US" sz="2400" dirty="0" smtClean="0">
                <a:latin typeface="+mj-ea"/>
                <a:ea typeface="+mj-ea"/>
              </a:rPr>
              <a:t>，</a:t>
            </a:r>
            <a:r>
              <a:rPr lang="en-US" altLang="zh-CN" sz="2400" dirty="0" smtClean="0">
                <a:latin typeface="+mj-ea"/>
                <a:ea typeface="+mj-ea"/>
              </a:rPr>
              <a:t>AVG(Grade)</a:t>
            </a:r>
          </a:p>
          <a:p>
            <a:pPr eaLnBrk="1" hangingPunct="1">
              <a:lnSpc>
                <a:spcPct val="120000"/>
              </a:lnSpc>
              <a:buFont typeface="Wingdings" pitchFamily="2" charset="2"/>
              <a:buNone/>
              <a:defRPr/>
            </a:pPr>
            <a:r>
              <a:rPr lang="en-US" altLang="zh-CN" sz="2400" dirty="0" smtClean="0">
                <a:latin typeface="+mj-ea"/>
                <a:ea typeface="+mj-ea"/>
              </a:rPr>
              <a:t>		  FROM    SC</a:t>
            </a:r>
          </a:p>
          <a:p>
            <a:pPr eaLnBrk="1" hangingPunct="1">
              <a:lnSpc>
                <a:spcPct val="120000"/>
              </a:lnSpc>
              <a:buFont typeface="Wingdings" pitchFamily="2" charset="2"/>
              <a:buNone/>
              <a:defRPr/>
            </a:pPr>
            <a:r>
              <a:rPr lang="en-US" altLang="zh-CN" sz="2400" dirty="0" smtClean="0">
                <a:latin typeface="+mj-ea"/>
                <a:ea typeface="+mj-ea"/>
              </a:rPr>
              <a:t>		  GROUP BY </a:t>
            </a:r>
            <a:r>
              <a:rPr lang="en-US" altLang="zh-CN" sz="2400" dirty="0" err="1" smtClean="0">
                <a:latin typeface="+mj-ea"/>
                <a:ea typeface="+mj-ea"/>
              </a:rPr>
              <a:t>Sno</a:t>
            </a:r>
            <a:r>
              <a:rPr lang="zh-CN" altLang="en-US" sz="2400" dirty="0" smtClean="0">
                <a:latin typeface="+mj-ea"/>
                <a:ea typeface="+mj-ea"/>
              </a:rPr>
              <a:t>；</a:t>
            </a:r>
          </a:p>
        </p:txBody>
      </p:sp>
      <p:sp>
        <p:nvSpPr>
          <p:cNvPr id="4" name="Rectangle 2"/>
          <p:cNvSpPr txBox="1">
            <a:spLocks noChangeArrowheads="1"/>
          </p:cNvSpPr>
          <p:nvPr/>
        </p:nvSpPr>
        <p:spPr bwMode="auto">
          <a:xfrm>
            <a:off x="468313" y="0"/>
            <a:ext cx="82296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smtClean="0"/>
              <a:t>3.6.3 </a:t>
            </a:r>
            <a:r>
              <a:rPr lang="zh-CN" altLang="en-US" b="0" kern="0" smtClean="0"/>
              <a:t>更新视图</a:t>
            </a:r>
            <a:endParaRPr lang="zh-CN" altLang="en-US" b="0" kern="0" dirty="0" smtClean="0"/>
          </a:p>
        </p:txBody>
      </p:sp>
    </p:spTree>
  </p:cSld>
  <p:clrMapOvr>
    <a:masterClrMapping/>
  </p:clrMapOvr>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7" name="Rectangle 3"/>
          <p:cNvSpPr>
            <a:spLocks noGrp="1" noChangeArrowheads="1"/>
          </p:cNvSpPr>
          <p:nvPr>
            <p:ph type="body" idx="1"/>
          </p:nvPr>
        </p:nvSpPr>
        <p:spPr>
          <a:xfrm>
            <a:off x="696913" y="1844675"/>
            <a:ext cx="7772400" cy="4751388"/>
          </a:xfrm>
        </p:spPr>
        <p:txBody>
          <a:bodyPr/>
          <a:lstStyle/>
          <a:p>
            <a:pPr eaLnBrk="1" hangingPunct="1">
              <a:lnSpc>
                <a:spcPct val="110000"/>
              </a:lnSpc>
              <a:buFont typeface="Wingdings" pitchFamily="2" charset="2"/>
              <a:buNone/>
              <a:defRPr/>
            </a:pPr>
            <a:r>
              <a:rPr lang="zh-CN" altLang="en-US" sz="2400" dirty="0" smtClean="0">
                <a:latin typeface="+mj-ea"/>
                <a:ea typeface="+mj-ea"/>
              </a:rPr>
              <a:t>对于如下更新语句：</a:t>
            </a:r>
          </a:p>
          <a:p>
            <a:pPr lvl="1" eaLnBrk="1" hangingPunct="1">
              <a:lnSpc>
                <a:spcPct val="110000"/>
              </a:lnSpc>
              <a:buFont typeface="Wingdings" pitchFamily="2" charset="2"/>
              <a:buNone/>
              <a:defRPr/>
            </a:pPr>
            <a:r>
              <a:rPr lang="zh-CN" altLang="en-US" sz="2400" dirty="0" smtClean="0">
                <a:latin typeface="+mj-ea"/>
                <a:ea typeface="+mj-ea"/>
              </a:rPr>
              <a:t>   </a:t>
            </a:r>
            <a:r>
              <a:rPr lang="en-US" altLang="zh-CN" sz="2400" dirty="0" smtClean="0">
                <a:latin typeface="+mj-ea"/>
                <a:ea typeface="+mj-ea"/>
              </a:rPr>
              <a:t>UPDATE  S_G</a:t>
            </a:r>
          </a:p>
          <a:p>
            <a:pPr lvl="1" eaLnBrk="1" hangingPunct="1">
              <a:lnSpc>
                <a:spcPct val="110000"/>
              </a:lnSpc>
              <a:buFont typeface="Wingdings" pitchFamily="2" charset="2"/>
              <a:buNone/>
              <a:defRPr/>
            </a:pPr>
            <a:r>
              <a:rPr lang="en-US" altLang="zh-CN" sz="2400" dirty="0" smtClean="0">
                <a:latin typeface="+mj-ea"/>
                <a:ea typeface="+mj-ea"/>
              </a:rPr>
              <a:t>   SET  </a:t>
            </a:r>
            <a:r>
              <a:rPr lang="en-US" altLang="zh-CN" sz="2400" dirty="0" err="1" smtClean="0">
                <a:solidFill>
                  <a:srgbClr val="FF0000"/>
                </a:solidFill>
                <a:latin typeface="+mj-ea"/>
                <a:ea typeface="+mj-ea"/>
              </a:rPr>
              <a:t>Gavg</a:t>
            </a:r>
            <a:r>
              <a:rPr lang="en-US" altLang="zh-CN" sz="2400" dirty="0" smtClean="0">
                <a:solidFill>
                  <a:srgbClr val="FF0000"/>
                </a:solidFill>
                <a:latin typeface="+mj-ea"/>
                <a:ea typeface="+mj-ea"/>
              </a:rPr>
              <a:t>=90</a:t>
            </a:r>
          </a:p>
          <a:p>
            <a:pPr lvl="1" eaLnBrk="1" hangingPunct="1">
              <a:lnSpc>
                <a:spcPct val="110000"/>
              </a:lnSpc>
              <a:buFont typeface="Wingdings" pitchFamily="2" charset="2"/>
              <a:buNone/>
              <a:defRPr/>
            </a:pPr>
            <a:r>
              <a:rPr lang="en-US" altLang="zh-CN" sz="2400" dirty="0" smtClean="0">
                <a:latin typeface="+mj-ea"/>
                <a:ea typeface="+mj-ea"/>
              </a:rPr>
              <a:t>   WHERE  </a:t>
            </a:r>
            <a:r>
              <a:rPr lang="en-US" altLang="zh-CN" sz="2400" dirty="0" err="1" smtClean="0">
                <a:latin typeface="+mj-ea"/>
                <a:ea typeface="+mj-ea"/>
              </a:rPr>
              <a:t>Sno</a:t>
            </a:r>
            <a:r>
              <a:rPr lang="en-US" altLang="zh-CN" sz="2400" dirty="0" smtClean="0">
                <a:latin typeface="+mj-ea"/>
                <a:ea typeface="+mj-ea"/>
              </a:rPr>
              <a:t>= ‘04001’</a:t>
            </a:r>
            <a:r>
              <a:rPr lang="zh-CN" altLang="en-US" sz="2400" dirty="0" smtClean="0">
                <a:latin typeface="+mj-ea"/>
                <a:ea typeface="+mj-ea"/>
              </a:rPr>
              <a:t>；</a:t>
            </a:r>
          </a:p>
          <a:p>
            <a:pPr lvl="1" eaLnBrk="1" hangingPunct="1">
              <a:lnSpc>
                <a:spcPct val="110000"/>
              </a:lnSpc>
              <a:buFont typeface="Wingdings" pitchFamily="2" charset="2"/>
              <a:buNone/>
              <a:defRPr/>
            </a:pPr>
            <a:endParaRPr lang="zh-CN" altLang="en-US" sz="2400" dirty="0" smtClean="0">
              <a:latin typeface="+mj-ea"/>
              <a:ea typeface="+mj-ea"/>
            </a:endParaRPr>
          </a:p>
          <a:p>
            <a:pPr eaLnBrk="1" hangingPunct="1">
              <a:lnSpc>
                <a:spcPct val="110000"/>
              </a:lnSpc>
              <a:buFont typeface="Wingdings" pitchFamily="2" charset="2"/>
              <a:buNone/>
              <a:defRPr/>
            </a:pPr>
            <a:r>
              <a:rPr lang="zh-CN" altLang="en-US" sz="2400" dirty="0" smtClean="0">
                <a:latin typeface="+mj-ea"/>
                <a:ea typeface="+mj-ea"/>
              </a:rPr>
              <a:t>   对视图的更新是无法转换成对基本表</a:t>
            </a:r>
            <a:r>
              <a:rPr lang="en-US" altLang="zh-CN" sz="2400" dirty="0" smtClean="0">
                <a:latin typeface="+mj-ea"/>
                <a:ea typeface="+mj-ea"/>
              </a:rPr>
              <a:t>SC</a:t>
            </a:r>
            <a:r>
              <a:rPr lang="zh-CN" altLang="en-US" sz="2400" dirty="0" smtClean="0">
                <a:latin typeface="+mj-ea"/>
                <a:ea typeface="+mj-ea"/>
              </a:rPr>
              <a:t>的更新的，因为系统无法修改各科成绩，以使平均成绩为</a:t>
            </a:r>
            <a:r>
              <a:rPr lang="en-US" altLang="zh-CN" sz="2400" dirty="0" smtClean="0">
                <a:latin typeface="+mj-ea"/>
                <a:ea typeface="+mj-ea"/>
              </a:rPr>
              <a:t>90</a:t>
            </a:r>
            <a:r>
              <a:rPr lang="zh-CN" altLang="en-US" sz="2400" dirty="0" smtClean="0">
                <a:latin typeface="+mj-ea"/>
                <a:ea typeface="+mj-ea"/>
              </a:rPr>
              <a:t>。</a:t>
            </a:r>
          </a:p>
        </p:txBody>
      </p:sp>
      <p:sp>
        <p:nvSpPr>
          <p:cNvPr id="160771" name="Rectangle 2"/>
          <p:cNvSpPr>
            <a:spLocks noGrp="1" noChangeArrowheads="1"/>
          </p:cNvSpPr>
          <p:nvPr>
            <p:ph type="title"/>
          </p:nvPr>
        </p:nvSpPr>
        <p:spPr>
          <a:xfrm>
            <a:off x="395288" y="908050"/>
            <a:ext cx="8229600" cy="1125538"/>
          </a:xfrm>
        </p:spPr>
        <p:txBody>
          <a:bodyPr/>
          <a:lstStyle/>
          <a:p>
            <a:pPr eaLnBrk="1" hangingPunct="1"/>
            <a:r>
              <a:rPr lang="zh-CN" altLang="en-US" sz="2800" smtClean="0">
                <a:solidFill>
                  <a:srgbClr val="FF0000"/>
                </a:solidFill>
              </a:rPr>
              <a:t>更新视图的限制</a:t>
            </a:r>
          </a:p>
        </p:txBody>
      </p:sp>
      <p:sp>
        <p:nvSpPr>
          <p:cNvPr id="6" name="Rectangle 2"/>
          <p:cNvSpPr txBox="1">
            <a:spLocks noChangeArrowheads="1"/>
          </p:cNvSpPr>
          <p:nvPr/>
        </p:nvSpPr>
        <p:spPr bwMode="auto">
          <a:xfrm>
            <a:off x="468313" y="0"/>
            <a:ext cx="82296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t>3.6.3 </a:t>
            </a:r>
            <a:r>
              <a:rPr lang="zh-CN" altLang="en-US" b="0" kern="0" dirty="0" smtClean="0"/>
              <a:t>更新视图</a:t>
            </a:r>
          </a:p>
        </p:txBody>
      </p:sp>
    </p:spTree>
  </p:cSld>
  <p:clrMapOvr>
    <a:masterClrMapping/>
  </p:clrMapOvr>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3"/>
          <p:cNvSpPr>
            <a:spLocks noGrp="1" noChangeArrowheads="1"/>
          </p:cNvSpPr>
          <p:nvPr>
            <p:ph type="body" idx="1"/>
          </p:nvPr>
        </p:nvSpPr>
        <p:spPr>
          <a:xfrm>
            <a:off x="695325" y="1844675"/>
            <a:ext cx="7775575" cy="4032250"/>
          </a:xfrm>
        </p:spPr>
        <p:txBody>
          <a:bodyPr/>
          <a:lstStyle/>
          <a:p>
            <a:pPr eaLnBrk="1" hangingPunct="1">
              <a:lnSpc>
                <a:spcPct val="120000"/>
              </a:lnSpc>
            </a:pPr>
            <a:r>
              <a:rPr lang="zh-CN" altLang="en-US" sz="2400" smtClean="0">
                <a:latin typeface="黑体" pitchFamily="49" charset="-122"/>
                <a:ea typeface="黑体" pitchFamily="49" charset="-122"/>
              </a:rPr>
              <a:t>允许对行列子集视图进行更新</a:t>
            </a:r>
          </a:p>
          <a:p>
            <a:pPr eaLnBrk="1" hangingPunct="1">
              <a:lnSpc>
                <a:spcPct val="120000"/>
              </a:lnSpc>
            </a:pPr>
            <a:r>
              <a:rPr lang="zh-CN" altLang="en-US" sz="2400" smtClean="0">
                <a:latin typeface="黑体" pitchFamily="49" charset="-122"/>
                <a:ea typeface="黑体" pitchFamily="49" charset="-122"/>
              </a:rPr>
              <a:t>对其他类型视图的更新不同系统有不同限制</a:t>
            </a:r>
          </a:p>
          <a:p>
            <a:pPr eaLnBrk="1" hangingPunct="1">
              <a:lnSpc>
                <a:spcPct val="120000"/>
              </a:lnSpc>
              <a:buFont typeface="Wingdings" pitchFamily="2" charset="2"/>
              <a:buNone/>
            </a:pPr>
            <a:r>
              <a:rPr lang="en-US" altLang="zh-CN" sz="2400" smtClean="0">
                <a:latin typeface="黑体" pitchFamily="49" charset="-122"/>
                <a:ea typeface="黑体" pitchFamily="49" charset="-122"/>
              </a:rPr>
              <a:t>DB2</a:t>
            </a:r>
            <a:r>
              <a:rPr lang="zh-CN" altLang="en-US" sz="2400" smtClean="0">
                <a:latin typeface="黑体" pitchFamily="49" charset="-122"/>
                <a:ea typeface="黑体" pitchFamily="49" charset="-122"/>
              </a:rPr>
              <a:t>对视图更新的限制：</a:t>
            </a:r>
          </a:p>
          <a:p>
            <a:pPr eaLnBrk="1" hangingPunct="1">
              <a:lnSpc>
                <a:spcPct val="120000"/>
              </a:lnSpc>
              <a:buFont typeface="Wingdings" pitchFamily="2" charset="2"/>
              <a:buNone/>
            </a:pPr>
            <a:r>
              <a:rPr lang="en-US" altLang="zh-CN" sz="2400" smtClean="0">
                <a:latin typeface="黑体" pitchFamily="49" charset="-122"/>
                <a:ea typeface="黑体" pitchFamily="49" charset="-122"/>
              </a:rPr>
              <a:t>(1) </a:t>
            </a:r>
            <a:r>
              <a:rPr lang="zh-CN" altLang="en-US" sz="2400" smtClean="0">
                <a:latin typeface="黑体" pitchFamily="49" charset="-122"/>
                <a:ea typeface="黑体" pitchFamily="49" charset="-122"/>
              </a:rPr>
              <a:t>若视图是由两个以上基本表导出的，则此视图不允许更新。</a:t>
            </a:r>
          </a:p>
          <a:p>
            <a:pPr eaLnBrk="1" hangingPunct="1">
              <a:lnSpc>
                <a:spcPct val="120000"/>
              </a:lnSpc>
              <a:buFont typeface="Wingdings" pitchFamily="2" charset="2"/>
              <a:buNone/>
            </a:pPr>
            <a:r>
              <a:rPr lang="en-US" altLang="zh-CN" sz="2400" smtClean="0">
                <a:latin typeface="黑体" pitchFamily="49" charset="-122"/>
                <a:ea typeface="黑体" pitchFamily="49" charset="-122"/>
              </a:rPr>
              <a:t>(2) </a:t>
            </a:r>
            <a:r>
              <a:rPr lang="zh-CN" altLang="en-US" sz="2400" smtClean="0">
                <a:latin typeface="黑体" pitchFamily="49" charset="-122"/>
                <a:ea typeface="黑体" pitchFamily="49" charset="-122"/>
              </a:rPr>
              <a:t>若视图的字段来自字段表达式或常数，则不允许对此视图执行</a:t>
            </a:r>
            <a:r>
              <a:rPr lang="en-US" altLang="zh-CN" sz="2400" smtClean="0">
                <a:latin typeface="黑体" pitchFamily="49" charset="-122"/>
                <a:ea typeface="黑体" pitchFamily="49" charset="-122"/>
              </a:rPr>
              <a:t>INSERT</a:t>
            </a:r>
            <a:r>
              <a:rPr lang="zh-CN" altLang="en-US" sz="2400" smtClean="0">
                <a:latin typeface="黑体" pitchFamily="49" charset="-122"/>
                <a:ea typeface="黑体" pitchFamily="49" charset="-122"/>
              </a:rPr>
              <a:t>和</a:t>
            </a:r>
            <a:r>
              <a:rPr lang="en-US" altLang="zh-CN" sz="2400" smtClean="0">
                <a:latin typeface="黑体" pitchFamily="49" charset="-122"/>
                <a:ea typeface="黑体" pitchFamily="49" charset="-122"/>
              </a:rPr>
              <a:t>UPDATE</a:t>
            </a:r>
            <a:r>
              <a:rPr lang="zh-CN" altLang="en-US" sz="2400" smtClean="0">
                <a:latin typeface="黑体" pitchFamily="49" charset="-122"/>
                <a:ea typeface="黑体" pitchFamily="49" charset="-122"/>
              </a:rPr>
              <a:t>操作，但允许执行</a:t>
            </a:r>
            <a:r>
              <a:rPr lang="en-US" altLang="zh-CN" sz="2400" smtClean="0">
                <a:latin typeface="黑体" pitchFamily="49" charset="-122"/>
                <a:ea typeface="黑体" pitchFamily="49" charset="-122"/>
              </a:rPr>
              <a:t>DELETE</a:t>
            </a:r>
            <a:r>
              <a:rPr lang="zh-CN" altLang="en-US" sz="2400" smtClean="0">
                <a:latin typeface="黑体" pitchFamily="49" charset="-122"/>
                <a:ea typeface="黑体" pitchFamily="49" charset="-122"/>
              </a:rPr>
              <a:t>操作。</a:t>
            </a:r>
          </a:p>
        </p:txBody>
      </p:sp>
      <p:sp>
        <p:nvSpPr>
          <p:cNvPr id="161795" name="Rectangle 2"/>
          <p:cNvSpPr>
            <a:spLocks noGrp="1" noChangeArrowheads="1"/>
          </p:cNvSpPr>
          <p:nvPr>
            <p:ph type="title"/>
          </p:nvPr>
        </p:nvSpPr>
        <p:spPr>
          <a:xfrm>
            <a:off x="395288" y="908050"/>
            <a:ext cx="8229600" cy="1125538"/>
          </a:xfrm>
        </p:spPr>
        <p:txBody>
          <a:bodyPr/>
          <a:lstStyle/>
          <a:p>
            <a:pPr eaLnBrk="1" hangingPunct="1"/>
            <a:r>
              <a:rPr lang="zh-CN" altLang="en-US" sz="2800" smtClean="0">
                <a:solidFill>
                  <a:srgbClr val="FF0000"/>
                </a:solidFill>
              </a:rPr>
              <a:t>更新视图的限制</a:t>
            </a:r>
          </a:p>
        </p:txBody>
      </p:sp>
      <p:sp>
        <p:nvSpPr>
          <p:cNvPr id="7" name="Rectangle 2"/>
          <p:cNvSpPr txBox="1">
            <a:spLocks noChangeArrowheads="1"/>
          </p:cNvSpPr>
          <p:nvPr/>
        </p:nvSpPr>
        <p:spPr bwMode="auto">
          <a:xfrm>
            <a:off x="468313" y="0"/>
            <a:ext cx="82296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t>3.6.3 </a:t>
            </a:r>
            <a:r>
              <a:rPr lang="zh-CN" altLang="en-US" b="0" kern="0" dirty="0" smtClean="0"/>
              <a:t>更新视图</a:t>
            </a:r>
          </a:p>
        </p:txBody>
      </p:sp>
    </p:spTree>
  </p:cSld>
  <p:clrMapOvr>
    <a:masterClrMapping/>
  </p:clrMapOvr>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3"/>
          <p:cNvSpPr>
            <a:spLocks noGrp="1" noChangeArrowheads="1"/>
          </p:cNvSpPr>
          <p:nvPr>
            <p:ph type="body" idx="1"/>
          </p:nvPr>
        </p:nvSpPr>
        <p:spPr>
          <a:xfrm>
            <a:off x="539750" y="1844675"/>
            <a:ext cx="8102600" cy="4176713"/>
          </a:xfrm>
        </p:spPr>
        <p:txBody>
          <a:bodyPr/>
          <a:lstStyle/>
          <a:p>
            <a:pPr marL="566738" indent="-566738" eaLnBrk="1" hangingPunct="1">
              <a:lnSpc>
                <a:spcPct val="130000"/>
              </a:lnSpc>
              <a:buFont typeface="Wingdings" pitchFamily="2" charset="2"/>
              <a:buNone/>
              <a:defRPr/>
            </a:pPr>
            <a:r>
              <a:rPr lang="en-US" altLang="zh-CN" sz="2400" dirty="0" smtClean="0">
                <a:latin typeface="黑体" pitchFamily="49" charset="-122"/>
                <a:ea typeface="黑体" pitchFamily="49" charset="-122"/>
              </a:rPr>
              <a:t>(3) </a:t>
            </a:r>
            <a:r>
              <a:rPr lang="zh-CN" altLang="en-US" sz="2400" dirty="0" smtClean="0">
                <a:latin typeface="黑体" pitchFamily="49" charset="-122"/>
                <a:ea typeface="黑体" pitchFamily="49" charset="-122"/>
              </a:rPr>
              <a:t>若视图的字段来自集函数，则此视图不允许更新。</a:t>
            </a:r>
          </a:p>
          <a:p>
            <a:pPr marL="566738" indent="-566738" eaLnBrk="1" hangingPunct="1">
              <a:lnSpc>
                <a:spcPct val="130000"/>
              </a:lnSpc>
              <a:buFont typeface="Wingdings" pitchFamily="2" charset="2"/>
              <a:buNone/>
              <a:defRPr/>
            </a:pPr>
            <a:r>
              <a:rPr lang="en-US" altLang="zh-CN" sz="2400" dirty="0" smtClean="0">
                <a:latin typeface="黑体" pitchFamily="49" charset="-122"/>
                <a:ea typeface="黑体" pitchFamily="49" charset="-122"/>
              </a:rPr>
              <a:t>(4) </a:t>
            </a:r>
            <a:r>
              <a:rPr lang="zh-CN" altLang="en-US" sz="2400" dirty="0" smtClean="0">
                <a:latin typeface="黑体" pitchFamily="49" charset="-122"/>
                <a:ea typeface="黑体" pitchFamily="49" charset="-122"/>
              </a:rPr>
              <a:t>若视图定义中含有</a:t>
            </a:r>
            <a:r>
              <a:rPr lang="en-US" altLang="zh-CN" sz="2400" dirty="0" smtClean="0">
                <a:latin typeface="黑体" pitchFamily="49" charset="-122"/>
                <a:ea typeface="黑体" pitchFamily="49" charset="-122"/>
              </a:rPr>
              <a:t>GROUP BY</a:t>
            </a:r>
            <a:r>
              <a:rPr lang="zh-CN" altLang="en-US" sz="2400" dirty="0" smtClean="0">
                <a:latin typeface="黑体" pitchFamily="49" charset="-122"/>
                <a:ea typeface="黑体" pitchFamily="49" charset="-122"/>
              </a:rPr>
              <a:t>子句，则此视图不允许更新。</a:t>
            </a:r>
          </a:p>
          <a:p>
            <a:pPr marL="566738" indent="-566738" eaLnBrk="1" hangingPunct="1">
              <a:lnSpc>
                <a:spcPct val="130000"/>
              </a:lnSpc>
              <a:buFont typeface="Wingdings" pitchFamily="2" charset="2"/>
              <a:buNone/>
              <a:defRPr/>
            </a:pPr>
            <a:r>
              <a:rPr lang="en-US" altLang="zh-CN" sz="2400" dirty="0" smtClean="0">
                <a:latin typeface="黑体" pitchFamily="49" charset="-122"/>
                <a:ea typeface="黑体" pitchFamily="49" charset="-122"/>
              </a:rPr>
              <a:t>(5) </a:t>
            </a:r>
            <a:r>
              <a:rPr lang="zh-CN" altLang="en-US" sz="2400" dirty="0" smtClean="0">
                <a:latin typeface="黑体" pitchFamily="49" charset="-122"/>
                <a:ea typeface="黑体" pitchFamily="49" charset="-122"/>
              </a:rPr>
              <a:t>若视图定义中含有</a:t>
            </a:r>
            <a:r>
              <a:rPr lang="en-US" altLang="zh-CN" sz="2400" dirty="0" smtClean="0">
                <a:latin typeface="黑体" pitchFamily="49" charset="-122"/>
                <a:ea typeface="黑体" pitchFamily="49" charset="-122"/>
              </a:rPr>
              <a:t>DISTINCT</a:t>
            </a:r>
            <a:r>
              <a:rPr lang="zh-CN" altLang="en-US" sz="2400" dirty="0" smtClean="0">
                <a:latin typeface="黑体" pitchFamily="49" charset="-122"/>
                <a:ea typeface="黑体" pitchFamily="49" charset="-122"/>
              </a:rPr>
              <a:t>短语，则此视图不允许更新。</a:t>
            </a:r>
            <a:endParaRPr lang="en-US" altLang="zh-CN" sz="2400" dirty="0" smtClean="0">
              <a:latin typeface="黑体" pitchFamily="49" charset="-122"/>
              <a:ea typeface="黑体" pitchFamily="49" charset="-122"/>
            </a:endParaRPr>
          </a:p>
          <a:p>
            <a:pPr marL="566738" indent="-566738" eaLnBrk="1" hangingPunct="1">
              <a:lnSpc>
                <a:spcPct val="130000"/>
              </a:lnSpc>
              <a:buFontTx/>
              <a:buNone/>
              <a:defRPr/>
            </a:pPr>
            <a:endParaRPr lang="en-US" altLang="zh-CN" sz="2400" dirty="0" smtClean="0">
              <a:latin typeface="+mj-ea"/>
            </a:endParaRPr>
          </a:p>
        </p:txBody>
      </p:sp>
      <p:sp>
        <p:nvSpPr>
          <p:cNvPr id="162819" name="Rectangle 2"/>
          <p:cNvSpPr>
            <a:spLocks noGrp="1" noChangeArrowheads="1"/>
          </p:cNvSpPr>
          <p:nvPr>
            <p:ph type="title"/>
          </p:nvPr>
        </p:nvSpPr>
        <p:spPr>
          <a:xfrm>
            <a:off x="395288" y="908050"/>
            <a:ext cx="8229600" cy="1125538"/>
          </a:xfrm>
        </p:spPr>
        <p:txBody>
          <a:bodyPr/>
          <a:lstStyle/>
          <a:p>
            <a:pPr eaLnBrk="1" hangingPunct="1"/>
            <a:r>
              <a:rPr lang="zh-CN" altLang="en-US" sz="2800" smtClean="0">
                <a:solidFill>
                  <a:srgbClr val="FF0000"/>
                </a:solidFill>
              </a:rPr>
              <a:t>更新视图的限制</a:t>
            </a:r>
          </a:p>
        </p:txBody>
      </p:sp>
      <p:sp>
        <p:nvSpPr>
          <p:cNvPr id="7" name="Rectangle 2"/>
          <p:cNvSpPr txBox="1">
            <a:spLocks noChangeArrowheads="1"/>
          </p:cNvSpPr>
          <p:nvPr/>
        </p:nvSpPr>
        <p:spPr bwMode="auto">
          <a:xfrm>
            <a:off x="457200" y="0"/>
            <a:ext cx="8229600"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sz="3600">
                <a:solidFill>
                  <a:schemeClr val="bg1"/>
                </a:solidFill>
                <a:latin typeface="+mj-lt"/>
                <a:ea typeface="+mj-ea"/>
                <a:cs typeface="+mj-cs"/>
              </a:defRPr>
            </a:lvl1pPr>
            <a:lvl2pPr algn="l" rtl="0" eaLnBrk="0" fontAlgn="base" hangingPunct="0">
              <a:spcBef>
                <a:spcPct val="0"/>
              </a:spcBef>
              <a:spcAft>
                <a:spcPct val="0"/>
              </a:spcAft>
              <a:defRPr sz="3600">
                <a:solidFill>
                  <a:schemeClr val="bg1"/>
                </a:solidFill>
                <a:latin typeface="Arial" charset="0"/>
                <a:ea typeface="黑体" pitchFamily="2" charset="-122"/>
              </a:defRPr>
            </a:lvl2pPr>
            <a:lvl3pPr algn="l" rtl="0" eaLnBrk="0" fontAlgn="base" hangingPunct="0">
              <a:spcBef>
                <a:spcPct val="0"/>
              </a:spcBef>
              <a:spcAft>
                <a:spcPct val="0"/>
              </a:spcAft>
              <a:defRPr sz="3600">
                <a:solidFill>
                  <a:schemeClr val="bg1"/>
                </a:solidFill>
                <a:latin typeface="Arial" charset="0"/>
                <a:ea typeface="黑体" pitchFamily="2" charset="-122"/>
              </a:defRPr>
            </a:lvl3pPr>
            <a:lvl4pPr algn="l" rtl="0" eaLnBrk="0" fontAlgn="base" hangingPunct="0">
              <a:spcBef>
                <a:spcPct val="0"/>
              </a:spcBef>
              <a:spcAft>
                <a:spcPct val="0"/>
              </a:spcAft>
              <a:defRPr sz="3600">
                <a:solidFill>
                  <a:schemeClr val="bg1"/>
                </a:solidFill>
                <a:latin typeface="Arial" charset="0"/>
                <a:ea typeface="黑体" pitchFamily="2" charset="-122"/>
              </a:defRPr>
            </a:lvl4pPr>
            <a:lvl5pPr algn="l" rtl="0" eaLnBrk="0" fontAlgn="base" hangingPunct="0">
              <a:spcBef>
                <a:spcPct val="0"/>
              </a:spcBef>
              <a:spcAft>
                <a:spcPct val="0"/>
              </a:spcAft>
              <a:defRPr sz="3600">
                <a:solidFill>
                  <a:schemeClr val="bg1"/>
                </a:solidFill>
                <a:latin typeface="Arial" charset="0"/>
                <a:ea typeface="黑体" pitchFamily="2" charset="-122"/>
              </a:defRPr>
            </a:lvl5pPr>
            <a:lvl6pPr marL="457200" algn="l" rtl="0" fontAlgn="base">
              <a:spcBef>
                <a:spcPct val="0"/>
              </a:spcBef>
              <a:spcAft>
                <a:spcPct val="0"/>
              </a:spcAft>
              <a:defRPr sz="3600">
                <a:solidFill>
                  <a:schemeClr val="bg1"/>
                </a:solidFill>
                <a:latin typeface="Arial" charset="0"/>
                <a:ea typeface="黑体" pitchFamily="2" charset="-122"/>
              </a:defRPr>
            </a:lvl6pPr>
            <a:lvl7pPr marL="914400" algn="l" rtl="0" fontAlgn="base">
              <a:spcBef>
                <a:spcPct val="0"/>
              </a:spcBef>
              <a:spcAft>
                <a:spcPct val="0"/>
              </a:spcAft>
              <a:defRPr sz="3600">
                <a:solidFill>
                  <a:schemeClr val="bg1"/>
                </a:solidFill>
                <a:latin typeface="Arial" charset="0"/>
                <a:ea typeface="黑体" pitchFamily="2" charset="-122"/>
              </a:defRPr>
            </a:lvl7pPr>
            <a:lvl8pPr marL="1371600" algn="l" rtl="0" fontAlgn="base">
              <a:spcBef>
                <a:spcPct val="0"/>
              </a:spcBef>
              <a:spcAft>
                <a:spcPct val="0"/>
              </a:spcAft>
              <a:defRPr sz="3600">
                <a:solidFill>
                  <a:schemeClr val="bg1"/>
                </a:solidFill>
                <a:latin typeface="Arial" charset="0"/>
                <a:ea typeface="黑体" pitchFamily="2" charset="-122"/>
              </a:defRPr>
            </a:lvl8pPr>
            <a:lvl9pPr marL="1828800" algn="l" rtl="0" fontAlgn="base">
              <a:spcBef>
                <a:spcPct val="0"/>
              </a:spcBef>
              <a:spcAft>
                <a:spcPct val="0"/>
              </a:spcAft>
              <a:defRPr sz="3600">
                <a:solidFill>
                  <a:schemeClr val="bg1"/>
                </a:solidFill>
                <a:latin typeface="Arial" charset="0"/>
                <a:ea typeface="黑体" pitchFamily="2" charset="-122"/>
              </a:defRPr>
            </a:lvl9pPr>
          </a:lstStyle>
          <a:p>
            <a:pPr eaLnBrk="1" hangingPunct="1">
              <a:defRPr/>
            </a:pPr>
            <a:r>
              <a:rPr lang="en-US" altLang="zh-CN" b="0" kern="0" dirty="0" smtClean="0"/>
              <a:t>3.6.3 </a:t>
            </a:r>
            <a:r>
              <a:rPr lang="zh-CN" altLang="en-US" b="0" kern="0" dirty="0" smtClean="0"/>
              <a:t>更新视图</a:t>
            </a:r>
          </a:p>
        </p:txBody>
      </p:sp>
    </p:spTree>
  </p:cSld>
  <p:clrMapOvr>
    <a:masterClrMapping/>
  </p:clrMapOvr>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lstStyle/>
          <a:p>
            <a:pPr eaLnBrk="1" hangingPunct="1"/>
            <a:r>
              <a:rPr lang="en-US" altLang="zh-CN" smtClean="0"/>
              <a:t>3.6.3 </a:t>
            </a:r>
            <a:r>
              <a:rPr lang="zh-CN" altLang="en-US" smtClean="0"/>
              <a:t>更新视图</a:t>
            </a:r>
          </a:p>
        </p:txBody>
      </p:sp>
      <p:sp>
        <p:nvSpPr>
          <p:cNvPr id="697347" name="Rectangle 3"/>
          <p:cNvSpPr>
            <a:spLocks noGrp="1" noChangeArrowheads="1"/>
          </p:cNvSpPr>
          <p:nvPr>
            <p:ph type="body" idx="1"/>
          </p:nvPr>
        </p:nvSpPr>
        <p:spPr>
          <a:xfrm>
            <a:off x="468313" y="1557338"/>
            <a:ext cx="8280400" cy="4895850"/>
          </a:xfrm>
        </p:spPr>
        <p:txBody>
          <a:bodyPr/>
          <a:lstStyle/>
          <a:p>
            <a:pPr eaLnBrk="1" hangingPunct="1">
              <a:lnSpc>
                <a:spcPts val="2700"/>
              </a:lnSpc>
              <a:spcBef>
                <a:spcPts val="0"/>
              </a:spcBef>
              <a:buFont typeface="Wingdings" pitchFamily="2" charset="2"/>
              <a:buNone/>
              <a:defRPr/>
            </a:pPr>
            <a:r>
              <a:rPr lang="en-US" altLang="zh-CN" sz="2000" dirty="0" smtClean="0">
                <a:latin typeface="黑体" pitchFamily="49" charset="-122"/>
                <a:ea typeface="黑体" pitchFamily="49" charset="-122"/>
              </a:rPr>
              <a:t>(6) </a:t>
            </a:r>
            <a:r>
              <a:rPr lang="zh-CN" altLang="en-US" sz="2000" dirty="0" smtClean="0">
                <a:latin typeface="黑体" pitchFamily="49" charset="-122"/>
                <a:ea typeface="黑体" pitchFamily="49" charset="-122"/>
              </a:rPr>
              <a:t>若视图定义中有嵌套查询，并且内层查询的</a:t>
            </a:r>
            <a:r>
              <a:rPr lang="en-US" altLang="zh-CN" sz="2000" dirty="0" smtClean="0">
                <a:latin typeface="黑体" pitchFamily="49" charset="-122"/>
                <a:ea typeface="黑体" pitchFamily="49" charset="-122"/>
              </a:rPr>
              <a:t>FROM</a:t>
            </a:r>
            <a:r>
              <a:rPr lang="zh-CN" altLang="en-US" sz="2000" dirty="0" smtClean="0">
                <a:latin typeface="黑体" pitchFamily="49" charset="-122"/>
                <a:ea typeface="黑体" pitchFamily="49" charset="-122"/>
              </a:rPr>
              <a:t>子句中涉及的表也是导出该视图的基本表，则此视图不允许更新。</a:t>
            </a:r>
          </a:p>
          <a:p>
            <a:pPr lvl="1" eaLnBrk="1" hangingPunct="1">
              <a:lnSpc>
                <a:spcPts val="2700"/>
              </a:lnSpc>
              <a:spcBef>
                <a:spcPts val="0"/>
              </a:spcBef>
              <a:buFont typeface="Wingdings" pitchFamily="2" charset="2"/>
              <a:buNone/>
              <a:defRPr/>
            </a:pPr>
            <a:r>
              <a:rPr lang="en-US" altLang="zh-CN" sz="2000" dirty="0" smtClean="0"/>
              <a:t>CREATE VIEW GOOD_SC</a:t>
            </a:r>
          </a:p>
          <a:p>
            <a:pPr lvl="1" eaLnBrk="1" hangingPunct="1">
              <a:lnSpc>
                <a:spcPts val="2700"/>
              </a:lnSpc>
              <a:spcBef>
                <a:spcPts val="0"/>
              </a:spcBef>
              <a:buFont typeface="Wingdings" pitchFamily="2" charset="2"/>
              <a:buNone/>
              <a:defRPr/>
            </a:pPr>
            <a:r>
              <a:rPr lang="en-US" altLang="zh-CN" sz="2000" dirty="0" smtClean="0"/>
              <a:t>AS</a:t>
            </a:r>
          </a:p>
          <a:p>
            <a:pPr lvl="1" eaLnBrk="1" hangingPunct="1">
              <a:lnSpc>
                <a:spcPts val="2700"/>
              </a:lnSpc>
              <a:spcBef>
                <a:spcPts val="0"/>
              </a:spcBef>
              <a:buFont typeface="Wingdings" pitchFamily="2" charset="2"/>
              <a:buNone/>
              <a:defRPr/>
            </a:pPr>
            <a:r>
              <a:rPr lang="en-US" altLang="zh-CN" sz="2000" dirty="0" smtClean="0"/>
              <a:t>SELECT </a:t>
            </a:r>
            <a:r>
              <a:rPr lang="en-US" altLang="zh-CN" sz="2000" dirty="0" err="1" smtClean="0"/>
              <a:t>Sno,Cno,Grade</a:t>
            </a:r>
            <a:endParaRPr lang="en-US" altLang="zh-CN" sz="2000" dirty="0" smtClean="0"/>
          </a:p>
          <a:p>
            <a:pPr lvl="1" eaLnBrk="1" hangingPunct="1">
              <a:lnSpc>
                <a:spcPts val="2700"/>
              </a:lnSpc>
              <a:spcBef>
                <a:spcPts val="0"/>
              </a:spcBef>
              <a:buFont typeface="Wingdings" pitchFamily="2" charset="2"/>
              <a:buNone/>
              <a:defRPr/>
            </a:pPr>
            <a:r>
              <a:rPr lang="en-US" altLang="zh-CN" sz="2000" dirty="0" smtClean="0"/>
              <a:t>FROM SC x</a:t>
            </a:r>
          </a:p>
          <a:p>
            <a:pPr lvl="1" eaLnBrk="1" hangingPunct="1">
              <a:lnSpc>
                <a:spcPts val="2700"/>
              </a:lnSpc>
              <a:spcBef>
                <a:spcPts val="0"/>
              </a:spcBef>
              <a:buFont typeface="Wingdings" pitchFamily="2" charset="2"/>
              <a:buNone/>
              <a:defRPr/>
            </a:pPr>
            <a:r>
              <a:rPr lang="en-US" altLang="zh-CN" sz="2000" dirty="0" smtClean="0"/>
              <a:t>WHERE Grade&gt;(SELECT AVG(Grade)</a:t>
            </a:r>
          </a:p>
          <a:p>
            <a:pPr lvl="1" eaLnBrk="1" hangingPunct="1">
              <a:lnSpc>
                <a:spcPts val="2700"/>
              </a:lnSpc>
              <a:spcBef>
                <a:spcPts val="0"/>
              </a:spcBef>
              <a:buFont typeface="Wingdings" pitchFamily="2" charset="2"/>
              <a:buNone/>
              <a:defRPr/>
            </a:pPr>
            <a:r>
              <a:rPr lang="en-US" altLang="zh-CN" sz="2000" dirty="0" smtClean="0"/>
              <a:t>                       FROM SC y</a:t>
            </a:r>
          </a:p>
          <a:p>
            <a:pPr lvl="1" eaLnBrk="1" hangingPunct="1">
              <a:lnSpc>
                <a:spcPts val="2700"/>
              </a:lnSpc>
              <a:spcBef>
                <a:spcPts val="0"/>
              </a:spcBef>
              <a:buFont typeface="Wingdings" pitchFamily="2" charset="2"/>
              <a:buNone/>
              <a:defRPr/>
            </a:pPr>
            <a:r>
              <a:rPr lang="en-US" altLang="zh-CN" sz="2000" dirty="0" smtClean="0"/>
              <a:t>                       WHERE </a:t>
            </a:r>
            <a:r>
              <a:rPr lang="en-US" altLang="zh-CN" sz="2000" dirty="0" err="1" smtClean="0"/>
              <a:t>y.sno</a:t>
            </a:r>
            <a:r>
              <a:rPr lang="en-US" altLang="zh-CN" sz="2000" dirty="0" smtClean="0"/>
              <a:t>=</a:t>
            </a:r>
            <a:r>
              <a:rPr lang="en-US" altLang="zh-CN" sz="2000" dirty="0" err="1" smtClean="0"/>
              <a:t>x.sno</a:t>
            </a:r>
            <a:r>
              <a:rPr lang="en-US" altLang="zh-CN" sz="2000" dirty="0" smtClean="0"/>
              <a:t>)</a:t>
            </a:r>
            <a:endParaRPr lang="en-US" altLang="zh-CN" sz="2000" dirty="0" smtClean="0">
              <a:latin typeface="黑体" pitchFamily="49" charset="-122"/>
              <a:ea typeface="黑体" pitchFamily="49" charset="-122"/>
            </a:endParaRPr>
          </a:p>
          <a:p>
            <a:pPr eaLnBrk="1" hangingPunct="1">
              <a:lnSpc>
                <a:spcPts val="2700"/>
              </a:lnSpc>
              <a:spcBef>
                <a:spcPts val="0"/>
              </a:spcBef>
              <a:buFont typeface="Wingdings" pitchFamily="2" charset="2"/>
              <a:buNone/>
              <a:defRPr/>
            </a:pPr>
            <a:r>
              <a:rPr lang="en-US" altLang="zh-CN" sz="2000" dirty="0" smtClean="0">
                <a:latin typeface="黑体" pitchFamily="49" charset="-122"/>
                <a:ea typeface="黑体" pitchFamily="49" charset="-122"/>
              </a:rPr>
              <a:t>(7) </a:t>
            </a:r>
            <a:r>
              <a:rPr lang="zh-CN" altLang="en-US" sz="2000" dirty="0" smtClean="0">
                <a:latin typeface="黑体" pitchFamily="49" charset="-122"/>
                <a:ea typeface="黑体" pitchFamily="49" charset="-122"/>
              </a:rPr>
              <a:t>一个不允许更新的视图上定义的视图也不允许更新。</a:t>
            </a:r>
            <a:endParaRPr lang="en-US" altLang="zh-CN" sz="2000" dirty="0" smtClean="0">
              <a:latin typeface="黑体" pitchFamily="49" charset="-122"/>
              <a:ea typeface="黑体" pitchFamily="49" charset="-122"/>
            </a:endParaRPr>
          </a:p>
          <a:p>
            <a:pPr eaLnBrk="1" hangingPunct="1">
              <a:lnSpc>
                <a:spcPct val="130000"/>
              </a:lnSpc>
              <a:spcBef>
                <a:spcPts val="0"/>
              </a:spcBef>
              <a:buFont typeface="Wingdings" pitchFamily="2" charset="2"/>
              <a:buNone/>
              <a:defRPr/>
            </a:pPr>
            <a:endParaRPr lang="en-US" altLang="zh-CN" sz="2000" dirty="0" smtClean="0">
              <a:latin typeface="黑体" pitchFamily="49" charset="-122"/>
              <a:ea typeface="黑体" pitchFamily="49" charset="-122"/>
            </a:endParaRPr>
          </a:p>
          <a:p>
            <a:pPr marL="0" indent="0" eaLnBrk="1" hangingPunct="1">
              <a:lnSpc>
                <a:spcPts val="3500"/>
              </a:lnSpc>
              <a:spcBef>
                <a:spcPts val="0"/>
              </a:spcBef>
              <a:buFontTx/>
              <a:buNone/>
              <a:defRPr/>
            </a:pPr>
            <a:r>
              <a:rPr lang="zh-CN" altLang="en-US" sz="2400" dirty="0" smtClean="0">
                <a:solidFill>
                  <a:srgbClr val="FF0000"/>
                </a:solidFill>
                <a:latin typeface="+mj-ea"/>
                <a:ea typeface="+mj-ea"/>
              </a:rPr>
              <a:t>    对</a:t>
            </a:r>
            <a:r>
              <a:rPr lang="zh-CN" altLang="en-US" sz="2400" dirty="0">
                <a:solidFill>
                  <a:srgbClr val="FF0000"/>
                </a:solidFill>
                <a:latin typeface="+mj-ea"/>
                <a:ea typeface="+mj-ea"/>
              </a:rPr>
              <a:t>视图的更新不同系统有不同限制，在</a:t>
            </a:r>
            <a:r>
              <a:rPr lang="en-US" altLang="zh-CN" sz="2400" dirty="0">
                <a:solidFill>
                  <a:srgbClr val="FF0000"/>
                </a:solidFill>
                <a:latin typeface="+mj-ea"/>
                <a:ea typeface="+mj-ea"/>
              </a:rPr>
              <a:t>Oracle</a:t>
            </a:r>
            <a:r>
              <a:rPr lang="zh-CN" altLang="en-US" sz="2400" dirty="0">
                <a:solidFill>
                  <a:srgbClr val="FF0000"/>
                </a:solidFill>
                <a:latin typeface="+mj-ea"/>
                <a:ea typeface="+mj-ea"/>
              </a:rPr>
              <a:t>中可以通过数据字典</a:t>
            </a:r>
            <a:r>
              <a:rPr lang="en-US" altLang="zh-CN" sz="2400" dirty="0" err="1">
                <a:solidFill>
                  <a:srgbClr val="FF0000"/>
                </a:solidFill>
                <a:latin typeface="+mj-ea"/>
                <a:ea typeface="+mj-ea"/>
              </a:rPr>
              <a:t>user_updatable_columns</a:t>
            </a:r>
            <a:r>
              <a:rPr lang="zh-CN" altLang="en-US" sz="2400" dirty="0">
                <a:solidFill>
                  <a:srgbClr val="FF0000"/>
                </a:solidFill>
                <a:latin typeface="+mj-ea"/>
                <a:ea typeface="+mj-ea"/>
              </a:rPr>
              <a:t>进行查看。</a:t>
            </a:r>
          </a:p>
          <a:p>
            <a:pPr eaLnBrk="1" hangingPunct="1">
              <a:lnSpc>
                <a:spcPct val="130000"/>
              </a:lnSpc>
              <a:spcBef>
                <a:spcPts val="0"/>
              </a:spcBef>
              <a:buFont typeface="Wingdings" pitchFamily="2" charset="2"/>
              <a:buNone/>
              <a:defRPr/>
            </a:pPr>
            <a:endParaRPr lang="zh-CN" altLang="en-US" sz="2000" dirty="0" smtClean="0"/>
          </a:p>
        </p:txBody>
      </p:sp>
      <p:sp>
        <p:nvSpPr>
          <p:cNvPr id="163844" name="Rectangle 2"/>
          <p:cNvSpPr txBox="1">
            <a:spLocks noChangeArrowheads="1"/>
          </p:cNvSpPr>
          <p:nvPr/>
        </p:nvSpPr>
        <p:spPr bwMode="auto">
          <a:xfrm>
            <a:off x="395288" y="908050"/>
            <a:ext cx="82296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200" b="1">
                <a:solidFill>
                  <a:schemeClr val="tx1"/>
                </a:solidFill>
                <a:latin typeface="Times New Roman" pitchFamily="18" charset="0"/>
                <a:ea typeface="宋体" pitchFamily="2" charset="-122"/>
              </a:defRPr>
            </a:lvl1pPr>
            <a:lvl2pPr marL="742950" indent="-285750">
              <a:defRPr sz="3200" b="1">
                <a:solidFill>
                  <a:schemeClr val="tx1"/>
                </a:solidFill>
                <a:latin typeface="Times New Roman" pitchFamily="18" charset="0"/>
                <a:ea typeface="宋体" pitchFamily="2" charset="-122"/>
              </a:defRPr>
            </a:lvl2pPr>
            <a:lvl3pPr marL="1143000" indent="-228600">
              <a:defRPr sz="3200" b="1">
                <a:solidFill>
                  <a:schemeClr val="tx1"/>
                </a:solidFill>
                <a:latin typeface="Times New Roman" pitchFamily="18" charset="0"/>
                <a:ea typeface="宋体" pitchFamily="2" charset="-122"/>
              </a:defRPr>
            </a:lvl3pPr>
            <a:lvl4pPr marL="1600200" indent="-228600">
              <a:defRPr sz="3200" b="1">
                <a:solidFill>
                  <a:schemeClr val="tx1"/>
                </a:solidFill>
                <a:latin typeface="Times New Roman" pitchFamily="18" charset="0"/>
                <a:ea typeface="宋体" pitchFamily="2" charset="-122"/>
              </a:defRPr>
            </a:lvl4pPr>
            <a:lvl5pPr marL="2057400" indent="-228600">
              <a:defRPr sz="32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32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32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32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3200" b="1">
                <a:solidFill>
                  <a:schemeClr val="tx1"/>
                </a:solidFill>
                <a:latin typeface="Times New Roman" pitchFamily="18" charset="0"/>
                <a:ea typeface="宋体" pitchFamily="2" charset="-122"/>
              </a:defRPr>
            </a:lvl9pPr>
          </a:lstStyle>
          <a:p>
            <a:pPr eaLnBrk="1" hangingPunct="1"/>
            <a:r>
              <a:rPr lang="zh-CN" altLang="en-US" sz="2800" b="0">
                <a:solidFill>
                  <a:srgbClr val="FF0000"/>
                </a:solidFill>
                <a:latin typeface="Arial" charset="0"/>
                <a:ea typeface="黑体" pitchFamily="49" charset="-122"/>
              </a:rPr>
              <a:t>更新视图的限制</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97347">
                                            <p:txEl>
                                              <p:pRg st="0" end="0"/>
                                            </p:txEl>
                                          </p:spTgt>
                                        </p:tgtEl>
                                        <p:attrNameLst>
                                          <p:attrName>style.visibility</p:attrName>
                                        </p:attrNameLst>
                                      </p:cBhvr>
                                      <p:to>
                                        <p:strVal val="visible"/>
                                      </p:to>
                                    </p:set>
                                    <p:anim calcmode="lin" valueType="num">
                                      <p:cBhvr additive="base">
                                        <p:cTn id="7" dur="500" fill="hold"/>
                                        <p:tgtEl>
                                          <p:spTgt spid="6973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73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97347">
                                            <p:txEl>
                                              <p:pRg st="1" end="1"/>
                                            </p:txEl>
                                          </p:spTgt>
                                        </p:tgtEl>
                                        <p:attrNameLst>
                                          <p:attrName>style.visibility</p:attrName>
                                        </p:attrNameLst>
                                      </p:cBhvr>
                                      <p:to>
                                        <p:strVal val="visible"/>
                                      </p:to>
                                    </p:set>
                                    <p:anim calcmode="lin" valueType="num">
                                      <p:cBhvr additive="base">
                                        <p:cTn id="13" dur="500" fill="hold"/>
                                        <p:tgtEl>
                                          <p:spTgt spid="6973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9734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97347">
                                            <p:txEl>
                                              <p:pRg st="2" end="2"/>
                                            </p:txEl>
                                          </p:spTgt>
                                        </p:tgtEl>
                                        <p:attrNameLst>
                                          <p:attrName>style.visibility</p:attrName>
                                        </p:attrNameLst>
                                      </p:cBhvr>
                                      <p:to>
                                        <p:strVal val="visible"/>
                                      </p:to>
                                    </p:set>
                                    <p:anim calcmode="lin" valueType="num">
                                      <p:cBhvr additive="base">
                                        <p:cTn id="17" dur="500" fill="hold"/>
                                        <p:tgtEl>
                                          <p:spTgt spid="69734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9734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97347">
                                            <p:txEl>
                                              <p:pRg st="3" end="3"/>
                                            </p:txEl>
                                          </p:spTgt>
                                        </p:tgtEl>
                                        <p:attrNameLst>
                                          <p:attrName>style.visibility</p:attrName>
                                        </p:attrNameLst>
                                      </p:cBhvr>
                                      <p:to>
                                        <p:strVal val="visible"/>
                                      </p:to>
                                    </p:set>
                                    <p:anim calcmode="lin" valueType="num">
                                      <p:cBhvr additive="base">
                                        <p:cTn id="21" dur="500" fill="hold"/>
                                        <p:tgtEl>
                                          <p:spTgt spid="69734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97347">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97347">
                                            <p:txEl>
                                              <p:pRg st="4" end="4"/>
                                            </p:txEl>
                                          </p:spTgt>
                                        </p:tgtEl>
                                        <p:attrNameLst>
                                          <p:attrName>style.visibility</p:attrName>
                                        </p:attrNameLst>
                                      </p:cBhvr>
                                      <p:to>
                                        <p:strVal val="visible"/>
                                      </p:to>
                                    </p:set>
                                    <p:anim calcmode="lin" valueType="num">
                                      <p:cBhvr additive="base">
                                        <p:cTn id="25" dur="500" fill="hold"/>
                                        <p:tgtEl>
                                          <p:spTgt spid="69734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97347">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97347">
                                            <p:txEl>
                                              <p:pRg st="5" end="5"/>
                                            </p:txEl>
                                          </p:spTgt>
                                        </p:tgtEl>
                                        <p:attrNameLst>
                                          <p:attrName>style.visibility</p:attrName>
                                        </p:attrNameLst>
                                      </p:cBhvr>
                                      <p:to>
                                        <p:strVal val="visible"/>
                                      </p:to>
                                    </p:set>
                                    <p:anim calcmode="lin" valueType="num">
                                      <p:cBhvr additive="base">
                                        <p:cTn id="29" dur="500" fill="hold"/>
                                        <p:tgtEl>
                                          <p:spTgt spid="697347">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97347">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97347">
                                            <p:txEl>
                                              <p:pRg st="6" end="6"/>
                                            </p:txEl>
                                          </p:spTgt>
                                        </p:tgtEl>
                                        <p:attrNameLst>
                                          <p:attrName>style.visibility</p:attrName>
                                        </p:attrNameLst>
                                      </p:cBhvr>
                                      <p:to>
                                        <p:strVal val="visible"/>
                                      </p:to>
                                    </p:set>
                                    <p:anim calcmode="lin" valueType="num">
                                      <p:cBhvr additive="base">
                                        <p:cTn id="33" dur="500" fill="hold"/>
                                        <p:tgtEl>
                                          <p:spTgt spid="697347">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97347">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697347">
                                            <p:txEl>
                                              <p:pRg st="7" end="7"/>
                                            </p:txEl>
                                          </p:spTgt>
                                        </p:tgtEl>
                                        <p:attrNameLst>
                                          <p:attrName>style.visibility</p:attrName>
                                        </p:attrNameLst>
                                      </p:cBhvr>
                                      <p:to>
                                        <p:strVal val="visible"/>
                                      </p:to>
                                    </p:set>
                                    <p:anim calcmode="lin" valueType="num">
                                      <p:cBhvr additive="base">
                                        <p:cTn id="37" dur="500" fill="hold"/>
                                        <p:tgtEl>
                                          <p:spTgt spid="697347">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97347">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697347">
                                            <p:txEl>
                                              <p:pRg st="8" end="8"/>
                                            </p:txEl>
                                          </p:spTgt>
                                        </p:tgtEl>
                                        <p:attrNameLst>
                                          <p:attrName>style.visibility</p:attrName>
                                        </p:attrNameLst>
                                      </p:cBhvr>
                                      <p:to>
                                        <p:strVal val="visible"/>
                                      </p:to>
                                    </p:set>
                                    <p:anim calcmode="lin" valueType="num">
                                      <p:cBhvr additive="base">
                                        <p:cTn id="43" dur="500" fill="hold"/>
                                        <p:tgtEl>
                                          <p:spTgt spid="697347">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9734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697347">
                                            <p:txEl>
                                              <p:pRg st="10" end="10"/>
                                            </p:txEl>
                                          </p:spTgt>
                                        </p:tgtEl>
                                        <p:attrNameLst>
                                          <p:attrName>style.visibility</p:attrName>
                                        </p:attrNameLst>
                                      </p:cBhvr>
                                      <p:to>
                                        <p:strVal val="visible"/>
                                      </p:to>
                                    </p:set>
                                    <p:anim calcmode="lin" valueType="num">
                                      <p:cBhvr additive="base">
                                        <p:cTn id="49" dur="500" fill="hold"/>
                                        <p:tgtEl>
                                          <p:spTgt spid="697347">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97347">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930275" y="0"/>
            <a:ext cx="8229600" cy="1125538"/>
          </a:xfrm>
        </p:spPr>
        <p:txBody>
          <a:bodyPr/>
          <a:lstStyle/>
          <a:p>
            <a:pPr eaLnBrk="1" hangingPunct="1"/>
            <a:r>
              <a:rPr lang="en-US" altLang="zh-CN" sz="3200" smtClean="0"/>
              <a:t>3.6  </a:t>
            </a:r>
            <a:r>
              <a:rPr lang="zh-CN" altLang="en-US" sz="3200" smtClean="0"/>
              <a:t>视 图</a:t>
            </a:r>
          </a:p>
        </p:txBody>
      </p:sp>
      <p:sp>
        <p:nvSpPr>
          <p:cNvPr id="156675" name="Rectangle 3"/>
          <p:cNvSpPr>
            <a:spLocks noGrp="1" noChangeArrowheads="1"/>
          </p:cNvSpPr>
          <p:nvPr>
            <p:ph type="body" idx="1"/>
          </p:nvPr>
        </p:nvSpPr>
        <p:spPr>
          <a:xfrm>
            <a:off x="2051050" y="1844675"/>
            <a:ext cx="6264275" cy="4321175"/>
          </a:xfrm>
        </p:spPr>
        <p:txBody>
          <a:bodyPr/>
          <a:lstStyle/>
          <a:p>
            <a:pPr eaLnBrk="1" hangingPunct="1">
              <a:lnSpc>
                <a:spcPct val="110000"/>
              </a:lnSpc>
              <a:buFont typeface="Wingdings" pitchFamily="2" charset="2"/>
              <a:buNone/>
              <a:defRPr/>
            </a:pPr>
            <a:r>
              <a:rPr lang="en-US" altLang="zh-CN" dirty="0" smtClean="0">
                <a:latin typeface="+mj-ea"/>
                <a:ea typeface="+mj-ea"/>
              </a:rPr>
              <a:t>3.6.1  </a:t>
            </a:r>
            <a:r>
              <a:rPr lang="zh-CN" altLang="en-US" dirty="0" smtClean="0">
                <a:latin typeface="+mj-ea"/>
                <a:ea typeface="+mj-ea"/>
              </a:rPr>
              <a:t>定义视图</a:t>
            </a:r>
          </a:p>
          <a:p>
            <a:pPr eaLnBrk="1" hangingPunct="1">
              <a:lnSpc>
                <a:spcPct val="110000"/>
              </a:lnSpc>
              <a:buFont typeface="Wingdings" pitchFamily="2" charset="2"/>
              <a:buNone/>
              <a:defRPr/>
            </a:pPr>
            <a:r>
              <a:rPr lang="en-US" altLang="zh-CN" dirty="0" smtClean="0">
                <a:latin typeface="+mj-ea"/>
                <a:ea typeface="+mj-ea"/>
              </a:rPr>
              <a:t>3.6.2  </a:t>
            </a:r>
            <a:r>
              <a:rPr lang="zh-CN" altLang="en-US" dirty="0" smtClean="0">
                <a:latin typeface="+mj-ea"/>
                <a:ea typeface="+mj-ea"/>
              </a:rPr>
              <a:t>查询视图</a:t>
            </a:r>
          </a:p>
          <a:p>
            <a:pPr eaLnBrk="1" hangingPunct="1">
              <a:lnSpc>
                <a:spcPct val="110000"/>
              </a:lnSpc>
              <a:buFont typeface="Wingdings" pitchFamily="2" charset="2"/>
              <a:buNone/>
              <a:defRPr/>
            </a:pPr>
            <a:r>
              <a:rPr lang="en-US" altLang="zh-CN" dirty="0" smtClean="0">
                <a:latin typeface="+mj-ea"/>
                <a:ea typeface="+mj-ea"/>
              </a:rPr>
              <a:t>3.6.3  </a:t>
            </a:r>
            <a:r>
              <a:rPr lang="zh-CN" altLang="en-US" dirty="0" smtClean="0">
                <a:latin typeface="+mj-ea"/>
                <a:ea typeface="+mj-ea"/>
              </a:rPr>
              <a:t>更新视图</a:t>
            </a:r>
          </a:p>
          <a:p>
            <a:pPr eaLnBrk="1" hangingPunct="1">
              <a:lnSpc>
                <a:spcPct val="110000"/>
              </a:lnSpc>
              <a:buFont typeface="Wingdings" pitchFamily="2" charset="2"/>
              <a:buNone/>
              <a:defRPr/>
            </a:pPr>
            <a:r>
              <a:rPr lang="en-US" altLang="zh-CN" dirty="0" smtClean="0">
                <a:solidFill>
                  <a:srgbClr val="FF0000"/>
                </a:solidFill>
                <a:latin typeface="+mj-ea"/>
                <a:ea typeface="+mj-ea"/>
              </a:rPr>
              <a:t>3.6.4  </a:t>
            </a:r>
            <a:r>
              <a:rPr lang="zh-CN" altLang="en-US" dirty="0" smtClean="0">
                <a:solidFill>
                  <a:srgbClr val="FF0000"/>
                </a:solidFill>
                <a:latin typeface="+mj-ea"/>
                <a:ea typeface="+mj-ea"/>
              </a:rPr>
              <a:t>视图的作用</a:t>
            </a:r>
          </a:p>
          <a:p>
            <a:pPr eaLnBrk="1" hangingPunct="1">
              <a:buFont typeface="Wingdings" pitchFamily="2" charset="2"/>
              <a:buNone/>
              <a:defRPr/>
            </a:pPr>
            <a:endParaRPr lang="en-US" altLang="zh-CN" dirty="0" smtClean="0">
              <a:latin typeface="+mj-ea"/>
              <a:ea typeface="+mj-ea"/>
            </a:endParaRPr>
          </a:p>
        </p:txBody>
      </p:sp>
    </p:spTree>
  </p:cSld>
  <p:clrMapOvr>
    <a:masterClrMapping/>
  </p:clrMapOvr>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lstStyle/>
          <a:p>
            <a:pPr eaLnBrk="1" hangingPunct="1"/>
            <a:r>
              <a:rPr lang="en-US" altLang="zh-CN" sz="3200" smtClean="0"/>
              <a:t>3.6.4  </a:t>
            </a:r>
            <a:r>
              <a:rPr lang="zh-CN" altLang="en-US" sz="3200" smtClean="0"/>
              <a:t>视图的作用</a:t>
            </a:r>
          </a:p>
        </p:txBody>
      </p:sp>
      <p:sp>
        <p:nvSpPr>
          <p:cNvPr id="157699" name="Rectangle 3"/>
          <p:cNvSpPr>
            <a:spLocks noGrp="1" noChangeArrowheads="1"/>
          </p:cNvSpPr>
          <p:nvPr>
            <p:ph type="body" idx="1"/>
          </p:nvPr>
        </p:nvSpPr>
        <p:spPr>
          <a:xfrm>
            <a:off x="827088" y="1628775"/>
            <a:ext cx="7772400" cy="3794125"/>
          </a:xfrm>
        </p:spPr>
        <p:txBody>
          <a:bodyPr/>
          <a:lstStyle/>
          <a:p>
            <a:pPr eaLnBrk="1" hangingPunct="1">
              <a:lnSpc>
                <a:spcPct val="120000"/>
              </a:lnSpc>
              <a:buFont typeface="Wingdings" pitchFamily="2" charset="2"/>
              <a:buNone/>
              <a:defRPr/>
            </a:pPr>
            <a:r>
              <a:rPr lang="en-US" altLang="zh-CN" sz="2400" dirty="0" smtClean="0">
                <a:latin typeface="+mj-ea"/>
                <a:ea typeface="+mj-ea"/>
              </a:rPr>
              <a:t>1. </a:t>
            </a:r>
            <a:r>
              <a:rPr lang="zh-CN" altLang="en-US" sz="2400" dirty="0" smtClean="0">
                <a:latin typeface="+mj-ea"/>
                <a:ea typeface="+mj-ea"/>
              </a:rPr>
              <a:t>视图能够</a:t>
            </a:r>
            <a:r>
              <a:rPr lang="zh-CN" altLang="en-US" sz="2400" dirty="0" smtClean="0">
                <a:solidFill>
                  <a:srgbClr val="FF0000"/>
                </a:solidFill>
                <a:latin typeface="+mj-ea"/>
                <a:ea typeface="+mj-ea"/>
              </a:rPr>
              <a:t>简化</a:t>
            </a:r>
            <a:r>
              <a:rPr lang="zh-CN" altLang="en-US" sz="2400" dirty="0" smtClean="0">
                <a:latin typeface="+mj-ea"/>
                <a:ea typeface="+mj-ea"/>
              </a:rPr>
              <a:t>用户的操作</a:t>
            </a:r>
          </a:p>
          <a:p>
            <a:pPr eaLnBrk="1" hangingPunct="1">
              <a:lnSpc>
                <a:spcPct val="120000"/>
              </a:lnSpc>
              <a:buFont typeface="Wingdings" pitchFamily="2" charset="2"/>
              <a:buNone/>
              <a:defRPr/>
            </a:pPr>
            <a:r>
              <a:rPr lang="zh-CN" altLang="en-US" sz="2400" dirty="0" smtClean="0">
                <a:latin typeface="+mj-ea"/>
                <a:ea typeface="+mj-ea"/>
              </a:rPr>
              <a:t>当数据不是直接来自基本表时，定义视图能够简化用户的操作</a:t>
            </a:r>
          </a:p>
          <a:p>
            <a:pPr lvl="1" eaLnBrk="1" hangingPunct="1">
              <a:lnSpc>
                <a:spcPct val="120000"/>
              </a:lnSpc>
              <a:defRPr/>
            </a:pPr>
            <a:r>
              <a:rPr lang="zh-CN" altLang="en-US" sz="2400" dirty="0" smtClean="0">
                <a:latin typeface="+mj-ea"/>
                <a:ea typeface="+mj-ea"/>
              </a:rPr>
              <a:t>基于多张表连接形成的视图</a:t>
            </a:r>
          </a:p>
          <a:p>
            <a:pPr lvl="1" eaLnBrk="1" hangingPunct="1">
              <a:lnSpc>
                <a:spcPct val="120000"/>
              </a:lnSpc>
              <a:defRPr/>
            </a:pPr>
            <a:r>
              <a:rPr lang="zh-CN" altLang="en-US" sz="2400" dirty="0" smtClean="0">
                <a:latin typeface="+mj-ea"/>
                <a:ea typeface="+mj-ea"/>
              </a:rPr>
              <a:t>基于复杂嵌套查询的视图</a:t>
            </a:r>
          </a:p>
          <a:p>
            <a:pPr lvl="1" eaLnBrk="1" hangingPunct="1">
              <a:lnSpc>
                <a:spcPct val="120000"/>
              </a:lnSpc>
              <a:defRPr/>
            </a:pPr>
            <a:r>
              <a:rPr lang="zh-CN" altLang="en-US" sz="2400" dirty="0" smtClean="0">
                <a:latin typeface="+mj-ea"/>
                <a:ea typeface="+mj-ea"/>
              </a:rPr>
              <a:t>含导出属性的视图</a:t>
            </a:r>
          </a:p>
        </p:txBody>
      </p:sp>
    </p:spTree>
  </p:cSld>
  <p:clrMapOvr>
    <a:masterClrMapping/>
  </p:clrMapOvr>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a:xfrm>
            <a:off x="611188" y="0"/>
            <a:ext cx="7793037" cy="1143000"/>
          </a:xfrm>
        </p:spPr>
        <p:txBody>
          <a:bodyPr/>
          <a:lstStyle/>
          <a:p>
            <a:pPr eaLnBrk="1" hangingPunct="1"/>
            <a:r>
              <a:rPr lang="en-US" altLang="zh-CN" sz="3200" smtClean="0"/>
              <a:t>3.6.4  </a:t>
            </a:r>
            <a:r>
              <a:rPr lang="zh-CN" altLang="en-US" sz="3200" smtClean="0"/>
              <a:t>视图的作用</a:t>
            </a:r>
            <a:endParaRPr lang="zh-CN" altLang="en-US" sz="2400" smtClean="0"/>
          </a:p>
        </p:txBody>
      </p:sp>
      <p:sp>
        <p:nvSpPr>
          <p:cNvPr id="158723" name="Rectangle 3"/>
          <p:cNvSpPr>
            <a:spLocks noGrp="1" noChangeArrowheads="1"/>
          </p:cNvSpPr>
          <p:nvPr>
            <p:ph type="body" idx="1"/>
          </p:nvPr>
        </p:nvSpPr>
        <p:spPr>
          <a:xfrm>
            <a:off x="755650" y="1484313"/>
            <a:ext cx="7772400" cy="4114800"/>
          </a:xfrm>
        </p:spPr>
        <p:txBody>
          <a:bodyPr/>
          <a:lstStyle/>
          <a:p>
            <a:pPr eaLnBrk="1" hangingPunct="1">
              <a:lnSpc>
                <a:spcPct val="120000"/>
              </a:lnSpc>
              <a:buFont typeface="Wingdings" pitchFamily="2" charset="2"/>
              <a:buNone/>
              <a:defRPr/>
            </a:pPr>
            <a:r>
              <a:rPr lang="en-US" altLang="zh-CN" sz="2400" dirty="0" smtClean="0">
                <a:latin typeface="+mj-ea"/>
                <a:ea typeface="+mj-ea"/>
              </a:rPr>
              <a:t>2.</a:t>
            </a:r>
            <a:r>
              <a:rPr lang="zh-CN" altLang="en-US" sz="2400" dirty="0" smtClean="0">
                <a:latin typeface="+mj-ea"/>
                <a:ea typeface="+mj-ea"/>
              </a:rPr>
              <a:t>视图使用户能以</a:t>
            </a:r>
            <a:r>
              <a:rPr lang="zh-CN" altLang="en-US" sz="2400" dirty="0" smtClean="0">
                <a:solidFill>
                  <a:srgbClr val="FF0000"/>
                </a:solidFill>
                <a:latin typeface="+mj-ea"/>
                <a:ea typeface="+mj-ea"/>
              </a:rPr>
              <a:t>多种角度</a:t>
            </a:r>
            <a:r>
              <a:rPr lang="zh-CN" altLang="en-US" sz="2400" dirty="0" smtClean="0">
                <a:latin typeface="+mj-ea"/>
                <a:ea typeface="+mj-ea"/>
              </a:rPr>
              <a:t>看待同一数据</a:t>
            </a:r>
          </a:p>
          <a:p>
            <a:pPr eaLnBrk="1" hangingPunct="1">
              <a:lnSpc>
                <a:spcPct val="120000"/>
              </a:lnSpc>
              <a:buFont typeface="Wingdings" pitchFamily="2" charset="2"/>
              <a:buNone/>
              <a:defRPr/>
            </a:pPr>
            <a:endParaRPr lang="zh-CN" altLang="en-US" dirty="0" smtClean="0">
              <a:latin typeface="+mj-ea"/>
              <a:ea typeface="+mj-ea"/>
            </a:endParaRPr>
          </a:p>
          <a:p>
            <a:pPr eaLnBrk="1" hangingPunct="1">
              <a:lnSpc>
                <a:spcPct val="120000"/>
              </a:lnSpc>
              <a:defRPr/>
            </a:pPr>
            <a:r>
              <a:rPr lang="zh-CN" altLang="en-US" sz="2400" dirty="0" smtClean="0">
                <a:latin typeface="+mj-ea"/>
                <a:ea typeface="+mj-ea"/>
              </a:rPr>
              <a:t>视图机制能使不同用户以不同方式看待同一数据，适应数据库共享的需要</a:t>
            </a:r>
          </a:p>
          <a:p>
            <a:pPr eaLnBrk="1" hangingPunct="1">
              <a:lnSpc>
                <a:spcPct val="120000"/>
              </a:lnSpc>
              <a:defRPr/>
            </a:pPr>
            <a:endParaRPr lang="en-US" altLang="zh-CN" dirty="0" smtClean="0">
              <a:latin typeface="+mj-ea"/>
              <a:ea typeface="+mj-ea"/>
            </a:endParaRPr>
          </a:p>
        </p:txBody>
      </p:sp>
    </p:spTree>
  </p:cSld>
  <p:clrMapOvr>
    <a:masterClrMapping/>
  </p:clrMapOvr>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xfrm>
            <a:off x="468313" y="0"/>
            <a:ext cx="7793037" cy="1143000"/>
          </a:xfrm>
        </p:spPr>
        <p:txBody>
          <a:bodyPr/>
          <a:lstStyle/>
          <a:p>
            <a:pPr eaLnBrk="1" hangingPunct="1"/>
            <a:r>
              <a:rPr lang="en-US" altLang="zh-CN" sz="3200" smtClean="0"/>
              <a:t>3.6.4  </a:t>
            </a:r>
            <a:r>
              <a:rPr lang="zh-CN" altLang="en-US" sz="3200" smtClean="0"/>
              <a:t>视图的作用</a:t>
            </a:r>
          </a:p>
        </p:txBody>
      </p:sp>
      <p:sp>
        <p:nvSpPr>
          <p:cNvPr id="159747" name="Rectangle 3"/>
          <p:cNvSpPr>
            <a:spLocks noGrp="1" noChangeArrowheads="1"/>
          </p:cNvSpPr>
          <p:nvPr>
            <p:ph type="body" idx="1"/>
          </p:nvPr>
        </p:nvSpPr>
        <p:spPr>
          <a:xfrm>
            <a:off x="539750" y="1628775"/>
            <a:ext cx="7983538" cy="4114800"/>
          </a:xfrm>
        </p:spPr>
        <p:txBody>
          <a:bodyPr/>
          <a:lstStyle/>
          <a:p>
            <a:pPr eaLnBrk="1" hangingPunct="1">
              <a:lnSpc>
                <a:spcPct val="125000"/>
              </a:lnSpc>
              <a:buFont typeface="Wingdings" pitchFamily="2" charset="2"/>
              <a:buNone/>
              <a:defRPr/>
            </a:pPr>
            <a:r>
              <a:rPr lang="en-US" altLang="zh-CN" sz="2400" dirty="0" smtClean="0">
                <a:latin typeface="+mj-ea"/>
                <a:ea typeface="+mj-ea"/>
              </a:rPr>
              <a:t>3. </a:t>
            </a:r>
            <a:r>
              <a:rPr lang="zh-CN" altLang="en-US" sz="2400" dirty="0" smtClean="0">
                <a:latin typeface="+mj-ea"/>
                <a:ea typeface="+mj-ea"/>
              </a:rPr>
              <a:t>视图对重构数据库提供了一定程度的</a:t>
            </a:r>
            <a:r>
              <a:rPr lang="zh-CN" altLang="en-US" sz="2400" dirty="0" smtClean="0">
                <a:solidFill>
                  <a:srgbClr val="FF0000"/>
                </a:solidFill>
                <a:latin typeface="+mj-ea"/>
                <a:ea typeface="+mj-ea"/>
              </a:rPr>
              <a:t>逻辑独立性</a:t>
            </a:r>
            <a:endParaRPr lang="en-US" altLang="zh-CN" sz="2400" dirty="0" smtClean="0">
              <a:solidFill>
                <a:srgbClr val="FF0000"/>
              </a:solidFill>
              <a:latin typeface="+mj-ea"/>
              <a:ea typeface="+mj-ea"/>
            </a:endParaRPr>
          </a:p>
          <a:p>
            <a:pPr eaLnBrk="1" hangingPunct="1">
              <a:lnSpc>
                <a:spcPct val="125000"/>
              </a:lnSpc>
              <a:buFont typeface="Wingdings" pitchFamily="2" charset="2"/>
              <a:buNone/>
              <a:defRPr/>
            </a:pPr>
            <a:endParaRPr lang="zh-CN" altLang="en-US" sz="2400" dirty="0" smtClean="0">
              <a:solidFill>
                <a:schemeClr val="hlink"/>
              </a:solidFill>
              <a:latin typeface="+mj-ea"/>
              <a:ea typeface="+mj-ea"/>
            </a:endParaRPr>
          </a:p>
          <a:p>
            <a:pPr eaLnBrk="1" hangingPunct="1">
              <a:buFont typeface="Wingdings" pitchFamily="2" charset="2"/>
              <a:buNone/>
              <a:defRPr/>
            </a:pPr>
            <a:r>
              <a:rPr lang="zh-CN" altLang="en-US" sz="2400" dirty="0" smtClean="0">
                <a:latin typeface="+mj-ea"/>
                <a:ea typeface="+mj-ea"/>
              </a:rPr>
              <a:t>例：数据库逻辑结构发生改变</a:t>
            </a:r>
          </a:p>
          <a:p>
            <a:pPr eaLnBrk="1" hangingPunct="1">
              <a:buFont typeface="Wingdings" pitchFamily="2" charset="2"/>
              <a:buNone/>
              <a:defRPr/>
            </a:pPr>
            <a:r>
              <a:rPr lang="zh-CN" altLang="en-US" sz="2400" dirty="0" smtClean="0">
                <a:latin typeface="+mj-ea"/>
                <a:ea typeface="+mj-ea"/>
              </a:rPr>
              <a:t>学生关系</a:t>
            </a:r>
            <a:r>
              <a:rPr lang="en-US" altLang="zh-CN" sz="2400" dirty="0" smtClean="0">
                <a:latin typeface="+mj-ea"/>
                <a:ea typeface="+mj-ea"/>
              </a:rPr>
              <a:t>S(</a:t>
            </a:r>
            <a:r>
              <a:rPr lang="en-US" altLang="zh-CN" sz="2400" dirty="0" err="1" smtClean="0">
                <a:latin typeface="+mj-ea"/>
                <a:ea typeface="+mj-ea"/>
              </a:rPr>
              <a:t>Sno</a:t>
            </a:r>
            <a:r>
              <a:rPr lang="zh-CN" altLang="en-US" sz="2400" dirty="0" smtClean="0">
                <a:latin typeface="+mj-ea"/>
                <a:ea typeface="+mj-ea"/>
              </a:rPr>
              <a:t>，</a:t>
            </a:r>
            <a:r>
              <a:rPr lang="en-US" altLang="zh-CN" sz="2400" dirty="0" err="1" smtClean="0">
                <a:latin typeface="+mj-ea"/>
                <a:ea typeface="+mj-ea"/>
              </a:rPr>
              <a:t>Sname</a:t>
            </a:r>
            <a:r>
              <a:rPr lang="zh-CN" altLang="en-US" sz="2400" dirty="0" smtClean="0">
                <a:latin typeface="+mj-ea"/>
                <a:ea typeface="+mj-ea"/>
              </a:rPr>
              <a:t>，</a:t>
            </a:r>
            <a:r>
              <a:rPr lang="en-US" altLang="zh-CN" sz="2400" dirty="0" err="1" smtClean="0">
                <a:latin typeface="+mj-ea"/>
                <a:ea typeface="+mj-ea"/>
              </a:rPr>
              <a:t>Ssex</a:t>
            </a:r>
            <a:r>
              <a:rPr lang="zh-CN" altLang="en-US" sz="2400" dirty="0" smtClean="0">
                <a:latin typeface="+mj-ea"/>
                <a:ea typeface="+mj-ea"/>
              </a:rPr>
              <a:t>，</a:t>
            </a:r>
            <a:r>
              <a:rPr lang="en-US" altLang="zh-CN" sz="2400" dirty="0" err="1" smtClean="0">
                <a:latin typeface="+mj-ea"/>
                <a:ea typeface="+mj-ea"/>
              </a:rPr>
              <a:t>Sbirth</a:t>
            </a:r>
            <a:r>
              <a:rPr lang="zh-CN" altLang="en-US" sz="2400" dirty="0" smtClean="0">
                <a:latin typeface="+mj-ea"/>
                <a:ea typeface="+mj-ea"/>
              </a:rPr>
              <a:t>，</a:t>
            </a:r>
            <a:r>
              <a:rPr lang="en-US" altLang="zh-CN" sz="2400" dirty="0" smtClean="0">
                <a:latin typeface="+mj-ea"/>
                <a:ea typeface="+mj-ea"/>
              </a:rPr>
              <a:t>College) </a:t>
            </a:r>
          </a:p>
          <a:p>
            <a:pPr eaLnBrk="1" hangingPunct="1">
              <a:buFont typeface="Wingdings" pitchFamily="2" charset="2"/>
              <a:buNone/>
              <a:defRPr/>
            </a:pPr>
            <a:r>
              <a:rPr lang="en-US" altLang="zh-CN" sz="2400" dirty="0" smtClean="0">
                <a:latin typeface="+mj-ea"/>
                <a:ea typeface="+mj-ea"/>
              </a:rPr>
              <a:t>“</a:t>
            </a:r>
            <a:r>
              <a:rPr lang="zh-CN" altLang="en-US" sz="2400" dirty="0" smtClean="0">
                <a:latin typeface="+mj-ea"/>
                <a:ea typeface="+mj-ea"/>
              </a:rPr>
              <a:t>垂直”地分成两个基本表：</a:t>
            </a:r>
          </a:p>
          <a:p>
            <a:pPr eaLnBrk="1" hangingPunct="1">
              <a:buFont typeface="Wingdings" pitchFamily="2" charset="2"/>
              <a:buNone/>
              <a:defRPr/>
            </a:pPr>
            <a:r>
              <a:rPr lang="zh-CN" altLang="en-US" sz="2400" dirty="0" smtClean="0">
                <a:latin typeface="+mj-ea"/>
                <a:ea typeface="+mj-ea"/>
              </a:rPr>
              <a:t>        </a:t>
            </a:r>
            <a:r>
              <a:rPr lang="en-US" altLang="zh-CN" sz="2400" dirty="0" smtClean="0">
                <a:latin typeface="+mj-ea"/>
                <a:ea typeface="+mj-ea"/>
              </a:rPr>
              <a:t>SX(</a:t>
            </a:r>
            <a:r>
              <a:rPr lang="en-US" altLang="zh-CN" sz="2400" dirty="0" err="1" smtClean="0">
                <a:latin typeface="+mj-ea"/>
                <a:ea typeface="+mj-ea"/>
              </a:rPr>
              <a:t>Sno</a:t>
            </a:r>
            <a:r>
              <a:rPr lang="zh-CN" altLang="en-US" sz="2400" dirty="0" smtClean="0">
                <a:latin typeface="+mj-ea"/>
                <a:ea typeface="+mj-ea"/>
              </a:rPr>
              <a:t>，</a:t>
            </a:r>
            <a:r>
              <a:rPr lang="en-US" altLang="zh-CN" sz="2400" dirty="0" err="1" smtClean="0">
                <a:latin typeface="+mj-ea"/>
                <a:ea typeface="+mj-ea"/>
              </a:rPr>
              <a:t>Sname</a:t>
            </a:r>
            <a:r>
              <a:rPr lang="zh-CN" altLang="en-US" sz="2400" dirty="0" smtClean="0">
                <a:latin typeface="+mj-ea"/>
                <a:ea typeface="+mj-ea"/>
              </a:rPr>
              <a:t>，</a:t>
            </a:r>
            <a:r>
              <a:rPr lang="en-US" altLang="zh-CN" sz="2400" dirty="0" err="1" smtClean="0">
                <a:latin typeface="+mj-ea"/>
                <a:ea typeface="+mj-ea"/>
              </a:rPr>
              <a:t>Sbirth</a:t>
            </a:r>
            <a:r>
              <a:rPr lang="en-US" altLang="zh-CN" sz="2400" dirty="0" smtClean="0">
                <a:latin typeface="+mj-ea"/>
                <a:ea typeface="+mj-ea"/>
              </a:rPr>
              <a:t>)</a:t>
            </a:r>
          </a:p>
          <a:p>
            <a:pPr eaLnBrk="1" hangingPunct="1">
              <a:buFont typeface="Wingdings" pitchFamily="2" charset="2"/>
              <a:buNone/>
              <a:defRPr/>
            </a:pPr>
            <a:r>
              <a:rPr lang="en-US" altLang="zh-CN" sz="2400" dirty="0" smtClean="0">
                <a:latin typeface="+mj-ea"/>
                <a:ea typeface="+mj-ea"/>
              </a:rPr>
              <a:t>         SY(</a:t>
            </a:r>
            <a:r>
              <a:rPr lang="en-US" altLang="zh-CN" sz="2400" dirty="0" err="1" smtClean="0">
                <a:latin typeface="+mj-ea"/>
                <a:ea typeface="+mj-ea"/>
              </a:rPr>
              <a:t>Sno</a:t>
            </a:r>
            <a:r>
              <a:rPr lang="zh-CN" altLang="en-US" sz="2400" dirty="0" smtClean="0">
                <a:latin typeface="+mj-ea"/>
                <a:ea typeface="+mj-ea"/>
              </a:rPr>
              <a:t>，</a:t>
            </a:r>
            <a:r>
              <a:rPr lang="en-US" altLang="zh-CN" sz="2400" dirty="0" err="1" smtClean="0">
                <a:latin typeface="+mj-ea"/>
                <a:ea typeface="+mj-ea"/>
              </a:rPr>
              <a:t>Ssex</a:t>
            </a:r>
            <a:r>
              <a:rPr lang="zh-CN" altLang="en-US" sz="2400" dirty="0" smtClean="0">
                <a:latin typeface="+mj-ea"/>
                <a:ea typeface="+mj-ea"/>
              </a:rPr>
              <a:t>，</a:t>
            </a:r>
            <a:r>
              <a:rPr lang="en-US" altLang="zh-CN" sz="2400" dirty="0" smtClean="0">
                <a:latin typeface="+mj-ea"/>
                <a:ea typeface="+mj-ea"/>
              </a:rPr>
              <a:t>College)</a:t>
            </a:r>
          </a:p>
          <a:p>
            <a:pPr eaLnBrk="1" hangingPunct="1">
              <a:lnSpc>
                <a:spcPct val="125000"/>
              </a:lnSpc>
              <a:buFont typeface="Wingdings" pitchFamily="2" charset="2"/>
              <a:buNone/>
              <a:defRPr/>
            </a:pPr>
            <a:endParaRPr lang="en-US" altLang="zh-CN" sz="2400" dirty="0" smtClean="0">
              <a:latin typeface="+mj-ea"/>
              <a:ea typeface="+mj-ea"/>
            </a:endParaRPr>
          </a:p>
        </p:txBody>
      </p:sp>
    </p:spTree>
  </p:cSld>
  <p:clrMapOvr>
    <a:masterClrMapping/>
  </p:clrMapOvr>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a:xfrm>
            <a:off x="611188" y="-4763"/>
            <a:ext cx="7793037" cy="1143001"/>
          </a:xfrm>
        </p:spPr>
        <p:txBody>
          <a:bodyPr/>
          <a:lstStyle/>
          <a:p>
            <a:pPr eaLnBrk="1" hangingPunct="1"/>
            <a:r>
              <a:rPr lang="en-US" altLang="zh-CN" sz="3200" smtClean="0"/>
              <a:t>3.6.4  </a:t>
            </a:r>
            <a:r>
              <a:rPr lang="zh-CN" altLang="en-US" sz="3200" smtClean="0"/>
              <a:t>视图的作用</a:t>
            </a:r>
          </a:p>
        </p:txBody>
      </p:sp>
      <p:sp>
        <p:nvSpPr>
          <p:cNvPr id="160771" name="Rectangle 3"/>
          <p:cNvSpPr>
            <a:spLocks noGrp="1" noChangeArrowheads="1"/>
          </p:cNvSpPr>
          <p:nvPr>
            <p:ph type="body" idx="1"/>
          </p:nvPr>
        </p:nvSpPr>
        <p:spPr>
          <a:xfrm>
            <a:off x="684213" y="1557338"/>
            <a:ext cx="7772400" cy="4319587"/>
          </a:xfrm>
        </p:spPr>
        <p:txBody>
          <a:bodyPr/>
          <a:lstStyle/>
          <a:p>
            <a:pPr eaLnBrk="1" hangingPunct="1">
              <a:lnSpc>
                <a:spcPct val="110000"/>
              </a:lnSpc>
              <a:buFont typeface="Wingdings" pitchFamily="2" charset="2"/>
              <a:buNone/>
              <a:defRPr/>
            </a:pPr>
            <a:r>
              <a:rPr lang="zh-CN" altLang="en-US" sz="2400" dirty="0" smtClean="0">
                <a:latin typeface="+mj-ea"/>
                <a:ea typeface="+mj-ea"/>
              </a:rPr>
              <a:t>通过建立一个视图</a:t>
            </a:r>
            <a:r>
              <a:rPr lang="en-US" altLang="zh-CN" sz="2400" dirty="0" smtClean="0">
                <a:latin typeface="+mj-ea"/>
                <a:ea typeface="+mj-ea"/>
              </a:rPr>
              <a:t>S</a:t>
            </a:r>
            <a:r>
              <a:rPr lang="zh-CN" altLang="en-US" sz="2400" dirty="0" smtClean="0">
                <a:latin typeface="+mj-ea"/>
                <a:ea typeface="+mj-ea"/>
              </a:rPr>
              <a:t>：</a:t>
            </a:r>
          </a:p>
          <a:p>
            <a:pPr lvl="1" eaLnBrk="1" hangingPunct="1">
              <a:lnSpc>
                <a:spcPct val="110000"/>
              </a:lnSpc>
              <a:buFont typeface="Wingdings" pitchFamily="2" charset="2"/>
              <a:buNone/>
              <a:defRPr/>
            </a:pPr>
            <a:r>
              <a:rPr lang="en-US" altLang="zh-CN" sz="2000" dirty="0" smtClean="0">
                <a:latin typeface="+mj-ea"/>
                <a:ea typeface="+mj-ea"/>
              </a:rPr>
              <a:t>CREATE VIEW  S(</a:t>
            </a:r>
            <a:r>
              <a:rPr lang="en-US" altLang="zh-CN" sz="2000" dirty="0" err="1" smtClean="0">
                <a:latin typeface="+mj-ea"/>
                <a:ea typeface="+mj-ea"/>
              </a:rPr>
              <a:t>Sno</a:t>
            </a:r>
            <a:r>
              <a:rPr lang="zh-CN" altLang="en-US" sz="2000" dirty="0" smtClean="0">
                <a:latin typeface="+mj-ea"/>
                <a:ea typeface="+mj-ea"/>
              </a:rPr>
              <a:t>，</a:t>
            </a:r>
            <a:r>
              <a:rPr lang="en-US" altLang="zh-CN" sz="2000" dirty="0" err="1" smtClean="0">
                <a:latin typeface="+mj-ea"/>
                <a:ea typeface="+mj-ea"/>
              </a:rPr>
              <a:t>Sname</a:t>
            </a:r>
            <a:r>
              <a:rPr lang="zh-CN" altLang="en-US" sz="2000" dirty="0" smtClean="0">
                <a:latin typeface="+mj-ea"/>
                <a:ea typeface="+mj-ea"/>
              </a:rPr>
              <a:t>，</a:t>
            </a:r>
            <a:r>
              <a:rPr lang="en-US" altLang="zh-CN" sz="2000" dirty="0" err="1" smtClean="0">
                <a:latin typeface="+mj-ea"/>
                <a:ea typeface="+mj-ea"/>
              </a:rPr>
              <a:t>Ssex</a:t>
            </a:r>
            <a:r>
              <a:rPr lang="zh-CN" altLang="en-US" sz="2000" dirty="0" smtClean="0">
                <a:latin typeface="+mj-ea"/>
                <a:ea typeface="+mj-ea"/>
              </a:rPr>
              <a:t>，</a:t>
            </a:r>
            <a:r>
              <a:rPr lang="en-US" altLang="zh-CN" sz="2000" dirty="0" err="1" smtClean="0">
                <a:latin typeface="+mj-ea"/>
                <a:ea typeface="+mj-ea"/>
              </a:rPr>
              <a:t>Sbirth</a:t>
            </a:r>
            <a:r>
              <a:rPr lang="zh-CN" altLang="en-US" sz="2000" dirty="0" smtClean="0">
                <a:latin typeface="+mj-ea"/>
                <a:ea typeface="+mj-ea"/>
              </a:rPr>
              <a:t>，</a:t>
            </a:r>
            <a:r>
              <a:rPr lang="en-US" altLang="zh-CN" sz="2000" dirty="0" smtClean="0">
                <a:latin typeface="+mj-ea"/>
                <a:ea typeface="+mj-ea"/>
              </a:rPr>
              <a:t>College)</a:t>
            </a:r>
          </a:p>
          <a:p>
            <a:pPr lvl="1" eaLnBrk="1" hangingPunct="1">
              <a:lnSpc>
                <a:spcPct val="110000"/>
              </a:lnSpc>
              <a:buFont typeface="Wingdings" pitchFamily="2" charset="2"/>
              <a:buNone/>
              <a:defRPr/>
            </a:pPr>
            <a:r>
              <a:rPr lang="en-US" altLang="zh-CN" sz="2000" dirty="0" smtClean="0">
                <a:latin typeface="+mj-ea"/>
                <a:ea typeface="+mj-ea"/>
              </a:rPr>
              <a:t>AS  </a:t>
            </a:r>
          </a:p>
          <a:p>
            <a:pPr lvl="1" eaLnBrk="1" hangingPunct="1">
              <a:lnSpc>
                <a:spcPct val="110000"/>
              </a:lnSpc>
              <a:buFont typeface="Wingdings" pitchFamily="2" charset="2"/>
              <a:buNone/>
              <a:defRPr/>
            </a:pPr>
            <a:r>
              <a:rPr lang="en-US" altLang="zh-CN" sz="2000" dirty="0" smtClean="0">
                <a:latin typeface="+mj-ea"/>
                <a:ea typeface="+mj-ea"/>
              </a:rPr>
              <a:t>SELECT  </a:t>
            </a:r>
            <a:r>
              <a:rPr lang="en-US" altLang="zh-CN" sz="2000" dirty="0" err="1" smtClean="0">
                <a:latin typeface="+mj-ea"/>
                <a:ea typeface="+mj-ea"/>
              </a:rPr>
              <a:t>SX.Sno</a:t>
            </a:r>
            <a:r>
              <a:rPr lang="zh-CN" altLang="en-US" sz="2000" dirty="0" smtClean="0">
                <a:latin typeface="+mj-ea"/>
                <a:ea typeface="+mj-ea"/>
              </a:rPr>
              <a:t>，</a:t>
            </a:r>
            <a:r>
              <a:rPr lang="en-US" altLang="zh-CN" sz="2000" dirty="0" err="1" smtClean="0">
                <a:latin typeface="+mj-ea"/>
                <a:ea typeface="+mj-ea"/>
              </a:rPr>
              <a:t>SX.Sname</a:t>
            </a:r>
            <a:r>
              <a:rPr lang="zh-CN" altLang="en-US" sz="2000" dirty="0" smtClean="0">
                <a:latin typeface="+mj-ea"/>
                <a:ea typeface="+mj-ea"/>
              </a:rPr>
              <a:t>，</a:t>
            </a:r>
            <a:r>
              <a:rPr lang="en-US" altLang="zh-CN" sz="2000" dirty="0" err="1" smtClean="0">
                <a:latin typeface="+mj-ea"/>
                <a:ea typeface="+mj-ea"/>
              </a:rPr>
              <a:t>SY.Ssex</a:t>
            </a:r>
            <a:r>
              <a:rPr lang="zh-CN" altLang="en-US" sz="2000" dirty="0" smtClean="0">
                <a:latin typeface="+mj-ea"/>
                <a:ea typeface="+mj-ea"/>
              </a:rPr>
              <a:t>，</a:t>
            </a:r>
            <a:r>
              <a:rPr lang="en-US" altLang="zh-CN" sz="2000" dirty="0" err="1" smtClean="0">
                <a:latin typeface="+mj-ea"/>
                <a:ea typeface="+mj-ea"/>
              </a:rPr>
              <a:t>SX.Sbirth</a:t>
            </a:r>
            <a:r>
              <a:rPr lang="zh-CN" altLang="en-US" sz="2000" dirty="0" smtClean="0">
                <a:latin typeface="+mj-ea"/>
                <a:ea typeface="+mj-ea"/>
              </a:rPr>
              <a:t>，</a:t>
            </a:r>
            <a:r>
              <a:rPr lang="en-US" altLang="zh-CN" sz="2000" dirty="0" err="1" smtClean="0">
                <a:latin typeface="+mj-ea"/>
                <a:ea typeface="+mj-ea"/>
              </a:rPr>
              <a:t>SY.College</a:t>
            </a:r>
            <a:endParaRPr lang="en-US" altLang="zh-CN" sz="2000" dirty="0" smtClean="0">
              <a:latin typeface="+mj-ea"/>
              <a:ea typeface="+mj-ea"/>
            </a:endParaRPr>
          </a:p>
          <a:p>
            <a:pPr lvl="1" eaLnBrk="1" hangingPunct="1">
              <a:lnSpc>
                <a:spcPct val="110000"/>
              </a:lnSpc>
              <a:buFont typeface="Wingdings" pitchFamily="2" charset="2"/>
              <a:buNone/>
              <a:defRPr/>
            </a:pPr>
            <a:r>
              <a:rPr lang="en-US" altLang="zh-CN" sz="2000" dirty="0" smtClean="0">
                <a:latin typeface="+mj-ea"/>
                <a:ea typeface="+mj-ea"/>
              </a:rPr>
              <a:t>FROM  SX</a:t>
            </a:r>
            <a:r>
              <a:rPr lang="zh-CN" altLang="en-US" sz="2000" dirty="0" smtClean="0">
                <a:latin typeface="+mj-ea"/>
                <a:ea typeface="+mj-ea"/>
              </a:rPr>
              <a:t>，</a:t>
            </a:r>
            <a:r>
              <a:rPr lang="en-US" altLang="zh-CN" sz="2000" dirty="0" smtClean="0">
                <a:latin typeface="+mj-ea"/>
                <a:ea typeface="+mj-ea"/>
              </a:rPr>
              <a:t>SY</a:t>
            </a:r>
          </a:p>
          <a:p>
            <a:pPr lvl="1" eaLnBrk="1" hangingPunct="1">
              <a:lnSpc>
                <a:spcPct val="110000"/>
              </a:lnSpc>
              <a:buFont typeface="Wingdings" pitchFamily="2" charset="2"/>
              <a:buNone/>
              <a:defRPr/>
            </a:pPr>
            <a:r>
              <a:rPr lang="en-US" altLang="zh-CN" sz="2000" dirty="0" smtClean="0">
                <a:latin typeface="+mj-ea"/>
                <a:ea typeface="+mj-ea"/>
              </a:rPr>
              <a:t>WHERE  </a:t>
            </a:r>
            <a:r>
              <a:rPr lang="en-US" altLang="zh-CN" sz="2000" dirty="0" err="1" smtClean="0">
                <a:latin typeface="+mj-ea"/>
                <a:ea typeface="+mj-ea"/>
              </a:rPr>
              <a:t>SX.Sno</a:t>
            </a:r>
            <a:r>
              <a:rPr lang="en-US" altLang="zh-CN" sz="2000" dirty="0" smtClean="0">
                <a:latin typeface="+mj-ea"/>
                <a:ea typeface="+mj-ea"/>
              </a:rPr>
              <a:t>=</a:t>
            </a:r>
            <a:r>
              <a:rPr lang="en-US" altLang="zh-CN" sz="2000" dirty="0" err="1" smtClean="0">
                <a:latin typeface="+mj-ea"/>
                <a:ea typeface="+mj-ea"/>
              </a:rPr>
              <a:t>SY.Sno</a:t>
            </a:r>
            <a:r>
              <a:rPr lang="zh-CN" altLang="en-US" sz="2000" dirty="0" smtClean="0">
                <a:latin typeface="+mj-ea"/>
                <a:ea typeface="+mj-ea"/>
              </a:rPr>
              <a:t>；</a:t>
            </a:r>
            <a:endParaRPr lang="en-US" altLang="zh-CN" sz="2000" dirty="0" smtClean="0">
              <a:latin typeface="+mj-ea"/>
              <a:ea typeface="+mj-ea"/>
            </a:endParaRPr>
          </a:p>
          <a:p>
            <a:pPr lvl="1" eaLnBrk="1" hangingPunct="1">
              <a:lnSpc>
                <a:spcPct val="110000"/>
              </a:lnSpc>
              <a:buFont typeface="Wingdings" pitchFamily="2" charset="2"/>
              <a:buNone/>
              <a:defRPr/>
            </a:pPr>
            <a:endParaRPr lang="zh-CN" altLang="en-US" sz="2000" dirty="0" smtClean="0">
              <a:latin typeface="+mj-ea"/>
              <a:ea typeface="+mj-ea"/>
            </a:endParaRPr>
          </a:p>
          <a:p>
            <a:pPr eaLnBrk="1" hangingPunct="1">
              <a:lnSpc>
                <a:spcPct val="110000"/>
              </a:lnSpc>
              <a:buFont typeface="Wingdings" pitchFamily="2" charset="2"/>
              <a:buNone/>
              <a:defRPr/>
            </a:pPr>
            <a:r>
              <a:rPr lang="zh-CN" altLang="en-US" sz="2400" dirty="0" smtClean="0">
                <a:latin typeface="+mj-ea"/>
                <a:ea typeface="+mj-ea"/>
              </a:rPr>
              <a:t>使用户的外模式保持不变，从而对原</a:t>
            </a:r>
            <a:r>
              <a:rPr lang="en-US" altLang="zh-CN" sz="2400" dirty="0" smtClean="0">
                <a:latin typeface="+mj-ea"/>
                <a:ea typeface="+mj-ea"/>
              </a:rPr>
              <a:t>S</a:t>
            </a:r>
            <a:r>
              <a:rPr lang="zh-CN" altLang="en-US" sz="2400" dirty="0" smtClean="0">
                <a:latin typeface="+mj-ea"/>
                <a:ea typeface="+mj-ea"/>
              </a:rPr>
              <a:t>表的查询程序不必修改</a:t>
            </a:r>
          </a:p>
        </p:txBody>
      </p:sp>
    </p:spTree>
  </p:cSld>
  <p:clrMapOvr>
    <a:masterClrMapping/>
  </p:clrMapOvr>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a:xfrm>
            <a:off x="323850" y="0"/>
            <a:ext cx="8229600" cy="1125538"/>
          </a:xfrm>
        </p:spPr>
        <p:txBody>
          <a:bodyPr/>
          <a:lstStyle/>
          <a:p>
            <a:pPr eaLnBrk="1" hangingPunct="1"/>
            <a:r>
              <a:rPr lang="en-US" altLang="zh-CN" sz="3200" smtClean="0"/>
              <a:t>3.6.4  </a:t>
            </a:r>
            <a:r>
              <a:rPr lang="zh-CN" altLang="en-US" sz="3200" smtClean="0"/>
              <a:t>视图的作用</a:t>
            </a:r>
            <a:endParaRPr lang="zh-CN" altLang="en-US" sz="2800" smtClean="0"/>
          </a:p>
        </p:txBody>
      </p:sp>
      <p:sp>
        <p:nvSpPr>
          <p:cNvPr id="161795" name="Rectangle 3"/>
          <p:cNvSpPr>
            <a:spLocks noGrp="1" noChangeArrowheads="1"/>
          </p:cNvSpPr>
          <p:nvPr>
            <p:ph type="body" idx="1"/>
          </p:nvPr>
        </p:nvSpPr>
        <p:spPr>
          <a:xfrm>
            <a:off x="684213" y="1557338"/>
            <a:ext cx="7772400" cy="4114800"/>
          </a:xfrm>
        </p:spPr>
        <p:txBody>
          <a:bodyPr/>
          <a:lstStyle/>
          <a:p>
            <a:pPr eaLnBrk="1" hangingPunct="1">
              <a:lnSpc>
                <a:spcPct val="150000"/>
              </a:lnSpc>
              <a:buFont typeface="Wingdings" pitchFamily="2" charset="2"/>
              <a:buNone/>
              <a:defRPr/>
            </a:pPr>
            <a:r>
              <a:rPr lang="en-US" altLang="zh-CN" sz="2800" dirty="0" smtClean="0">
                <a:latin typeface="+mj-ea"/>
                <a:ea typeface="+mj-ea"/>
              </a:rPr>
              <a:t>4. </a:t>
            </a:r>
            <a:r>
              <a:rPr lang="zh-CN" altLang="en-US" sz="2800" dirty="0" smtClean="0">
                <a:latin typeface="+mj-ea"/>
                <a:ea typeface="+mj-ea"/>
              </a:rPr>
              <a:t>视图能够对机密数据提供安全保护</a:t>
            </a:r>
          </a:p>
          <a:p>
            <a:pPr eaLnBrk="1" hangingPunct="1">
              <a:lnSpc>
                <a:spcPct val="150000"/>
              </a:lnSpc>
              <a:defRPr/>
            </a:pPr>
            <a:r>
              <a:rPr lang="zh-CN" altLang="en-US" sz="2800" dirty="0" smtClean="0">
                <a:latin typeface="+mj-ea"/>
                <a:ea typeface="+mj-ea"/>
              </a:rPr>
              <a:t>对不同用户定义不同视图，使每个用户只能看到他有权看到的数据</a:t>
            </a:r>
          </a:p>
        </p:txBody>
      </p:sp>
    </p:spTree>
  </p:cSld>
  <p:clrMapOvr>
    <a:masterClrMapping/>
  </p:clrMapOvr>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a:xfrm>
            <a:off x="395288" y="0"/>
            <a:ext cx="8229600" cy="1125538"/>
          </a:xfrm>
        </p:spPr>
        <p:txBody>
          <a:bodyPr/>
          <a:lstStyle/>
          <a:p>
            <a:pPr eaLnBrk="1" hangingPunct="1"/>
            <a:r>
              <a:rPr lang="en-US" altLang="zh-CN" smtClean="0"/>
              <a:t>3.6.4  </a:t>
            </a:r>
            <a:r>
              <a:rPr lang="zh-CN" altLang="en-US" smtClean="0"/>
              <a:t>视图的作用</a:t>
            </a:r>
          </a:p>
        </p:txBody>
      </p:sp>
      <p:sp>
        <p:nvSpPr>
          <p:cNvPr id="162819" name="Rectangle 3"/>
          <p:cNvSpPr>
            <a:spLocks noGrp="1" noChangeArrowheads="1"/>
          </p:cNvSpPr>
          <p:nvPr>
            <p:ph type="body" idx="1"/>
          </p:nvPr>
        </p:nvSpPr>
        <p:spPr>
          <a:xfrm>
            <a:off x="660400" y="1320800"/>
            <a:ext cx="8088313" cy="4772025"/>
          </a:xfrm>
        </p:spPr>
        <p:txBody>
          <a:bodyPr/>
          <a:lstStyle/>
          <a:p>
            <a:pPr eaLnBrk="1" hangingPunct="1">
              <a:lnSpc>
                <a:spcPct val="110000"/>
              </a:lnSpc>
              <a:buFont typeface="Wingdings" pitchFamily="2" charset="2"/>
              <a:buNone/>
              <a:defRPr/>
            </a:pPr>
            <a:r>
              <a:rPr lang="en-US" altLang="zh-CN" sz="2400" dirty="0" smtClean="0">
                <a:latin typeface="+mj-ea"/>
                <a:ea typeface="+mj-ea"/>
              </a:rPr>
              <a:t>5. </a:t>
            </a:r>
            <a:r>
              <a:rPr lang="zh-CN" altLang="en-US" sz="2400" dirty="0" smtClean="0">
                <a:latin typeface="+mj-ea"/>
                <a:ea typeface="+mj-ea"/>
              </a:rPr>
              <a:t>适当的利用视图可以更清晰的表达查询</a:t>
            </a:r>
          </a:p>
          <a:p>
            <a:pPr eaLnBrk="1" hangingPunct="1">
              <a:lnSpc>
                <a:spcPct val="110000"/>
              </a:lnSpc>
              <a:buFont typeface="Wingdings" pitchFamily="2" charset="2"/>
              <a:buNone/>
              <a:defRPr/>
            </a:pPr>
            <a:r>
              <a:rPr lang="zh-CN" altLang="en-US" sz="2400" dirty="0" smtClean="0">
                <a:latin typeface="+mj-ea"/>
                <a:ea typeface="+mj-ea"/>
              </a:rPr>
              <a:t>   例如经常需要执行这样的查询：</a:t>
            </a:r>
          </a:p>
          <a:p>
            <a:pPr eaLnBrk="1" hangingPunct="1">
              <a:lnSpc>
                <a:spcPct val="110000"/>
              </a:lnSpc>
              <a:buFont typeface="Wingdings" pitchFamily="2" charset="2"/>
              <a:buNone/>
              <a:defRPr/>
            </a:pPr>
            <a:r>
              <a:rPr lang="zh-CN" altLang="en-US" sz="2400" dirty="0" smtClean="0">
                <a:latin typeface="+mj-ea"/>
                <a:ea typeface="+mj-ea"/>
              </a:rPr>
              <a:t>   “对每个同学找出他获得最高成绩的课程号”</a:t>
            </a:r>
          </a:p>
          <a:p>
            <a:pPr eaLnBrk="1" hangingPunct="1">
              <a:lnSpc>
                <a:spcPct val="110000"/>
              </a:lnSpc>
              <a:buFont typeface="Wingdings" pitchFamily="2" charset="2"/>
              <a:buNone/>
              <a:defRPr/>
            </a:pPr>
            <a:r>
              <a:rPr lang="zh-CN" altLang="en-US" sz="2400" dirty="0" smtClean="0">
                <a:latin typeface="+mj-ea"/>
                <a:ea typeface="+mj-ea"/>
              </a:rPr>
              <a:t>      </a:t>
            </a:r>
            <a:r>
              <a:rPr lang="en-US" altLang="zh-CN" sz="2400" dirty="0" smtClean="0">
                <a:latin typeface="+mj-ea"/>
                <a:ea typeface="+mj-ea"/>
              </a:rPr>
              <a:t>create view </a:t>
            </a:r>
            <a:r>
              <a:rPr lang="en-US" altLang="zh-CN" sz="2400" dirty="0" err="1" smtClean="0">
                <a:latin typeface="+mj-ea"/>
                <a:ea typeface="+mj-ea"/>
              </a:rPr>
              <a:t>max_grade</a:t>
            </a:r>
            <a:r>
              <a:rPr lang="en-US" altLang="zh-CN" sz="2400" dirty="0" smtClean="0">
                <a:latin typeface="+mj-ea"/>
                <a:ea typeface="+mj-ea"/>
              </a:rPr>
              <a:t>(</a:t>
            </a:r>
            <a:r>
              <a:rPr lang="en-US" altLang="zh-CN" sz="2400" dirty="0" err="1" smtClean="0">
                <a:latin typeface="+mj-ea"/>
                <a:ea typeface="+mj-ea"/>
              </a:rPr>
              <a:t>sno,maxgrad</a:t>
            </a:r>
            <a:r>
              <a:rPr lang="en-US" altLang="zh-CN" sz="2400" dirty="0" smtClean="0">
                <a:latin typeface="+mj-ea"/>
                <a:ea typeface="+mj-ea"/>
              </a:rPr>
              <a:t>)</a:t>
            </a:r>
          </a:p>
          <a:p>
            <a:pPr eaLnBrk="1" hangingPunct="1">
              <a:lnSpc>
                <a:spcPct val="110000"/>
              </a:lnSpc>
              <a:buFont typeface="Wingdings" pitchFamily="2" charset="2"/>
              <a:buNone/>
              <a:defRPr/>
            </a:pPr>
            <a:r>
              <a:rPr lang="en-US" altLang="zh-CN" sz="2400" dirty="0" smtClean="0">
                <a:latin typeface="+mj-ea"/>
                <a:ea typeface="+mj-ea"/>
              </a:rPr>
              <a:t>      as</a:t>
            </a:r>
          </a:p>
          <a:p>
            <a:pPr eaLnBrk="1" hangingPunct="1">
              <a:lnSpc>
                <a:spcPct val="110000"/>
              </a:lnSpc>
              <a:buFont typeface="Wingdings" pitchFamily="2" charset="2"/>
              <a:buNone/>
              <a:defRPr/>
            </a:pPr>
            <a:r>
              <a:rPr lang="en-US" altLang="zh-CN" sz="2400" dirty="0" smtClean="0">
                <a:latin typeface="+mj-ea"/>
                <a:ea typeface="+mj-ea"/>
              </a:rPr>
              <a:t>      select </a:t>
            </a:r>
            <a:r>
              <a:rPr lang="en-US" altLang="zh-CN" sz="2400" dirty="0" err="1" smtClean="0">
                <a:latin typeface="+mj-ea"/>
                <a:ea typeface="+mj-ea"/>
              </a:rPr>
              <a:t>sno,max</a:t>
            </a:r>
            <a:r>
              <a:rPr lang="en-US" altLang="zh-CN" sz="2400" dirty="0" smtClean="0">
                <a:latin typeface="+mj-ea"/>
                <a:ea typeface="+mj-ea"/>
              </a:rPr>
              <a:t>(grade)</a:t>
            </a:r>
          </a:p>
          <a:p>
            <a:pPr eaLnBrk="1" hangingPunct="1">
              <a:lnSpc>
                <a:spcPct val="110000"/>
              </a:lnSpc>
              <a:buFont typeface="Wingdings" pitchFamily="2" charset="2"/>
              <a:buNone/>
              <a:defRPr/>
            </a:pPr>
            <a:r>
              <a:rPr lang="en-US" altLang="zh-CN" sz="2400" dirty="0" smtClean="0">
                <a:latin typeface="+mj-ea"/>
                <a:ea typeface="+mj-ea"/>
              </a:rPr>
              <a:t>      from </a:t>
            </a:r>
            <a:r>
              <a:rPr lang="en-US" altLang="zh-CN" sz="2400" dirty="0" err="1" smtClean="0">
                <a:latin typeface="+mj-ea"/>
                <a:ea typeface="+mj-ea"/>
              </a:rPr>
              <a:t>sc</a:t>
            </a:r>
            <a:endParaRPr lang="en-US" altLang="zh-CN" sz="2400" dirty="0" smtClean="0">
              <a:latin typeface="+mj-ea"/>
              <a:ea typeface="+mj-ea"/>
            </a:endParaRPr>
          </a:p>
          <a:p>
            <a:pPr eaLnBrk="1" hangingPunct="1">
              <a:lnSpc>
                <a:spcPct val="110000"/>
              </a:lnSpc>
              <a:buFont typeface="Wingdings" pitchFamily="2" charset="2"/>
              <a:buNone/>
              <a:defRPr/>
            </a:pPr>
            <a:r>
              <a:rPr lang="en-US" altLang="zh-CN" sz="2400" dirty="0" smtClean="0">
                <a:latin typeface="+mj-ea"/>
                <a:ea typeface="+mj-ea"/>
              </a:rPr>
              <a:t>      group by </a:t>
            </a:r>
            <a:r>
              <a:rPr lang="en-US" altLang="zh-CN" sz="2400" dirty="0" err="1" smtClean="0">
                <a:latin typeface="+mj-ea"/>
                <a:ea typeface="+mj-ea"/>
              </a:rPr>
              <a:t>sno</a:t>
            </a:r>
            <a:endParaRPr lang="en-US" altLang="zh-CN" sz="2400" dirty="0" smtClean="0">
              <a:latin typeface="+mj-ea"/>
              <a:ea typeface="+mj-ea"/>
            </a:endParaRP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答辩幻灯片模板">
  <a:themeElements>
    <a:clrScheme name="答辩幻灯片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fontScheme name="答辩幻灯片模板">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99CC"/>
        </a:solidFill>
        <a:ln w="9525" cap="flat" cmpd="sng" algn="ctr">
          <a:solidFill>
            <a:srgbClr val="00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20000"/>
          </a:spcBef>
          <a:spcAft>
            <a:spcPct val="0"/>
          </a:spcAft>
          <a:buClrTx/>
          <a:buSzTx/>
          <a:buFontTx/>
          <a:buNone/>
          <a:tabLst/>
          <a:defRPr kumimoji="0" lang="zh-CN" altLang="en-US" sz="32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rgbClr val="FF99CC"/>
        </a:solidFill>
        <a:ln w="9525" cap="flat" cmpd="sng" algn="ctr">
          <a:solidFill>
            <a:srgbClr val="00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20000"/>
          </a:spcBef>
          <a:spcAft>
            <a:spcPct val="0"/>
          </a:spcAft>
          <a:buClrTx/>
          <a:buSzTx/>
          <a:buFontTx/>
          <a:buNone/>
          <a:tabLst/>
          <a:defRPr kumimoji="0" lang="zh-CN" altLang="en-US" sz="32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答辩幻灯片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答辩幻灯片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答辩幻灯片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答辩幻灯片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答辩幻灯片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答辩幻灯片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答辩幻灯片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答辩幻灯片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答辩幻灯片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答辩幻灯片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答辩幻灯片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答辩幻灯片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Fan</Template>
  <TotalTime>6443</TotalTime>
  <Words>8402</Words>
  <Application>Microsoft Office PowerPoint</Application>
  <PresentationFormat>全屏显示(4:3)</PresentationFormat>
  <Paragraphs>1968</Paragraphs>
  <Slides>164</Slides>
  <Notes>3</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164</vt:i4>
      </vt:variant>
    </vt:vector>
  </HeadingPairs>
  <TitlesOfParts>
    <vt:vector size="173" baseType="lpstr">
      <vt:lpstr>Times New Roman</vt:lpstr>
      <vt:lpstr>宋体</vt:lpstr>
      <vt:lpstr>Arial</vt:lpstr>
      <vt:lpstr>黑体</vt:lpstr>
      <vt:lpstr>Wingdings</vt:lpstr>
      <vt:lpstr>Courier New</vt:lpstr>
      <vt:lpstr>Tahoma</vt:lpstr>
      <vt:lpstr>答辩幻灯片模板</vt:lpstr>
      <vt:lpstr>Microsoft Word 文档</vt:lpstr>
      <vt:lpstr> 第3章 关系数据库标准语言SQL </vt:lpstr>
      <vt:lpstr>  第三章  关系数据库标准语言SQL</vt:lpstr>
      <vt:lpstr>3.1 SQL概述</vt:lpstr>
      <vt:lpstr>3.1 SQL概述</vt:lpstr>
      <vt:lpstr>3.1 SQL概述</vt:lpstr>
      <vt:lpstr>3.1 SQL概述</vt:lpstr>
      <vt:lpstr>3.1 SQL概述</vt:lpstr>
      <vt:lpstr>第三章  关系数据库标准语言SQL</vt:lpstr>
      <vt:lpstr>3.3 SQL数据定义</vt:lpstr>
      <vt:lpstr>3.3 SQL数据定义</vt:lpstr>
      <vt:lpstr>3.3 SQL数据定义</vt:lpstr>
      <vt:lpstr>3.3 SQL数据定义</vt:lpstr>
      <vt:lpstr>3.3 SQL数据定义</vt:lpstr>
      <vt:lpstr>3.3 SQL数据定义</vt:lpstr>
      <vt:lpstr>3.3 SQL数据定义</vt:lpstr>
      <vt:lpstr>3.3 SQL数据定义</vt:lpstr>
      <vt:lpstr>3.3 SQL数据定义</vt:lpstr>
      <vt:lpstr>3.3 SQL数据定义</vt:lpstr>
      <vt:lpstr>3.3 SQL数据定义</vt:lpstr>
      <vt:lpstr>3.3 SQL数据定义</vt:lpstr>
      <vt:lpstr>3.3 SQL数据定义</vt:lpstr>
      <vt:lpstr>3.3 SQL数据定义</vt:lpstr>
      <vt:lpstr>3.3 SQL数据定义</vt:lpstr>
      <vt:lpstr>3.3 SQL数据定义</vt:lpstr>
      <vt:lpstr>3.3 SQL数据定义</vt:lpstr>
      <vt:lpstr>一、建立索引 </vt:lpstr>
      <vt:lpstr>3.3 SQL数据定义</vt:lpstr>
      <vt:lpstr>3.3 SQL数据定义</vt:lpstr>
      <vt:lpstr>三、删除索引 </vt:lpstr>
      <vt:lpstr>3.4  查  询 </vt:lpstr>
      <vt:lpstr>3.4.1 概述 </vt:lpstr>
      <vt:lpstr>3.4.2  单表查询 </vt:lpstr>
      <vt:lpstr>3.4.2  单表查询 </vt:lpstr>
      <vt:lpstr>3.4.2  单表查询 </vt:lpstr>
      <vt:lpstr>2.查询满足条件的元组</vt:lpstr>
      <vt:lpstr>（4）字符串匹配</vt:lpstr>
      <vt:lpstr>  通配符</vt:lpstr>
      <vt:lpstr>ESCAPE 短语</vt:lpstr>
      <vt:lpstr>3.4.2  单表查询 </vt:lpstr>
      <vt:lpstr>(5) 涉及空值的查询</vt:lpstr>
      <vt:lpstr>(6) 多重条件查询</vt:lpstr>
      <vt:lpstr>三、对查询结果排序 </vt:lpstr>
      <vt:lpstr>对查询结果排序</vt:lpstr>
      <vt:lpstr>四、使用集函数 </vt:lpstr>
      <vt:lpstr>3.4.2  单表查询 </vt:lpstr>
      <vt:lpstr>3.4.2  单表查询 </vt:lpstr>
      <vt:lpstr>五、对查询结果分组 </vt:lpstr>
      <vt:lpstr>五、对查询结果分组 </vt:lpstr>
      <vt:lpstr>五、对查询结果分组 </vt:lpstr>
      <vt:lpstr>五、对查询结果分组 </vt:lpstr>
      <vt:lpstr>五、对查询结果分组 </vt:lpstr>
      <vt:lpstr>五、对查询结果分组 </vt:lpstr>
      <vt:lpstr>3.4.3  连接查询 </vt:lpstr>
      <vt:lpstr>3.4.3  连接查询 </vt:lpstr>
      <vt:lpstr>3.4.3  连接查询 </vt:lpstr>
      <vt:lpstr>二、自身连接 </vt:lpstr>
      <vt:lpstr>二、自身连接 </vt:lpstr>
      <vt:lpstr>二、自身连接</vt:lpstr>
      <vt:lpstr>三、外连接（Outer Join） </vt:lpstr>
      <vt:lpstr>三、外连接（Outer Join） </vt:lpstr>
      <vt:lpstr>四、复合条件连接</vt:lpstr>
      <vt:lpstr>四、复合条件连接</vt:lpstr>
      <vt:lpstr>3.4  查    询 </vt:lpstr>
      <vt:lpstr>3.4.4  嵌套查询</vt:lpstr>
      <vt:lpstr>3.4.4  嵌套查询</vt:lpstr>
      <vt:lpstr>3.4.4  嵌套查询</vt:lpstr>
      <vt:lpstr>嵌套查询分类</vt:lpstr>
      <vt:lpstr>引出子查询的谓词</vt:lpstr>
      <vt:lpstr>一、带有IN谓词的子查询</vt:lpstr>
      <vt:lpstr>一、带有IN谓词的子查询</vt:lpstr>
      <vt:lpstr>一、带有IN谓词的子查询</vt:lpstr>
      <vt:lpstr>一、带有IN谓词的子查询</vt:lpstr>
      <vt:lpstr>一、带有IN谓词的子查询</vt:lpstr>
      <vt:lpstr>一、带有IN谓词的子查询</vt:lpstr>
      <vt:lpstr>二、带有比较运算符的子查询</vt:lpstr>
      <vt:lpstr>二、带有比较运算符的子查询</vt:lpstr>
      <vt:lpstr>二、带有比较运算符的子查询</vt:lpstr>
      <vt:lpstr>PowerPoint 演示文稿</vt:lpstr>
      <vt:lpstr>PowerPoint 演示文稿</vt:lpstr>
      <vt:lpstr>PowerPoint 演示文稿</vt:lpstr>
      <vt:lpstr>PowerPoint 演示文稿</vt:lpstr>
      <vt:lpstr>PowerPoint 演示文稿</vt:lpstr>
      <vt:lpstr>PowerPoint 演示文稿</vt:lpstr>
      <vt:lpstr>二、带有比较运算符的子查询</vt:lpstr>
      <vt:lpstr>二、带有比较运算符的子查询</vt:lpstr>
      <vt:lpstr>二、带有比较运算符的子查询</vt:lpstr>
      <vt:lpstr>三、带有ANY或ALL谓词的子查询</vt:lpstr>
      <vt:lpstr>三、带有ANY或ALL谓词的子查询</vt:lpstr>
      <vt:lpstr>三、带有ANY或ALL谓词的子查询</vt:lpstr>
      <vt:lpstr>三、带有ANY或ALL谓词的子查询</vt:lpstr>
      <vt:lpstr>三、带有ANY或ALL谓词的子查询</vt:lpstr>
      <vt:lpstr>三、带有ANY或ALL谓词的子查询</vt:lpstr>
      <vt:lpstr>四、带有EXISTS谓词的子查询</vt:lpstr>
      <vt:lpstr>四、带有EXISTS谓词的子查询</vt:lpstr>
      <vt:lpstr>PowerPoint 演示文稿</vt:lpstr>
      <vt:lpstr>四、带有EXISTS谓词的子查询</vt:lpstr>
      <vt:lpstr>四、带有EXISTS谓词的子查询</vt:lpstr>
      <vt:lpstr>四、带有EXISTS谓词的子查询</vt:lpstr>
      <vt:lpstr>3.4  查    询 </vt:lpstr>
      <vt:lpstr>3.4.5  集合查询</vt:lpstr>
      <vt:lpstr>一、并操作</vt:lpstr>
      <vt:lpstr>3.4.5  集合查询</vt:lpstr>
      <vt:lpstr>3.4.5  集合查询</vt:lpstr>
      <vt:lpstr>3.4.5  集合查询</vt:lpstr>
      <vt:lpstr>3.4.5  集合查询</vt:lpstr>
      <vt:lpstr>3.4.5  集合查询</vt:lpstr>
      <vt:lpstr>3．差操作</vt:lpstr>
      <vt:lpstr>3．差操作</vt:lpstr>
      <vt:lpstr>PowerPoint 演示文稿</vt:lpstr>
      <vt:lpstr>3.5  数据更新</vt:lpstr>
      <vt:lpstr>注意的问题</vt:lpstr>
      <vt:lpstr>3.5.1  插入数据</vt:lpstr>
      <vt:lpstr>1. 插入单个元组</vt:lpstr>
      <vt:lpstr>1. 插入单个元组</vt:lpstr>
      <vt:lpstr>1. 插入单个元组</vt:lpstr>
      <vt:lpstr>PowerPoint 演示文稿</vt:lpstr>
      <vt:lpstr>2. 插入子查询结果</vt:lpstr>
      <vt:lpstr>2. 插入子查询结果</vt:lpstr>
      <vt:lpstr>2. 插入子查询结果</vt:lpstr>
      <vt:lpstr>3.5  数 据 更 新 </vt:lpstr>
      <vt:lpstr>3.5.2  修改数据</vt:lpstr>
      <vt:lpstr>3.5.2  修改数据</vt:lpstr>
      <vt:lpstr>3.5.2  修改数据</vt:lpstr>
      <vt:lpstr>1. 修改某一个元组的值</vt:lpstr>
      <vt:lpstr>2.修改多个元组的值</vt:lpstr>
      <vt:lpstr>3. 带子查询的修改语句</vt:lpstr>
      <vt:lpstr>3.5  数 据 更 新 </vt:lpstr>
      <vt:lpstr>3.5.3  删除数据</vt:lpstr>
      <vt:lpstr>3.5.3  删除数据</vt:lpstr>
      <vt:lpstr>1. 删除某一个元组的值</vt:lpstr>
      <vt:lpstr>2. 删除多个元组的值</vt:lpstr>
      <vt:lpstr>3. 带子查询的删除语句</vt:lpstr>
      <vt:lpstr>3.6  视 图</vt:lpstr>
      <vt:lpstr>3. 6  视 图</vt:lpstr>
      <vt:lpstr>3.6.1  定义视图</vt:lpstr>
      <vt:lpstr>常见的视图类型</vt:lpstr>
      <vt:lpstr>行列子集视图</vt:lpstr>
      <vt:lpstr> WITH CHECK OPTION的视图</vt:lpstr>
      <vt:lpstr>对XX_S视图的更新操作</vt:lpstr>
      <vt:lpstr>基于多个基本表的视图</vt:lpstr>
      <vt:lpstr>基于视图的视图</vt:lpstr>
      <vt:lpstr>带表达式的视图</vt:lpstr>
      <vt:lpstr> 建立分组视图</vt:lpstr>
      <vt:lpstr>PowerPoint 演示文稿</vt:lpstr>
      <vt:lpstr>PowerPoint 演示文稿</vt:lpstr>
      <vt:lpstr>3.6  视 图</vt:lpstr>
      <vt:lpstr>3.6.2  查询视图</vt:lpstr>
      <vt:lpstr>3.6.2 查询视图</vt:lpstr>
      <vt:lpstr>3.6.2  查询视图</vt:lpstr>
      <vt:lpstr>3.6  视 图</vt:lpstr>
      <vt:lpstr>3.6.3  更新视图</vt:lpstr>
      <vt:lpstr>3.6.3 更新视图</vt:lpstr>
      <vt:lpstr>更新视图的限制</vt:lpstr>
      <vt:lpstr>更新视图的限制</vt:lpstr>
      <vt:lpstr>更新视图的限制</vt:lpstr>
      <vt:lpstr>更新视图的限制</vt:lpstr>
      <vt:lpstr>3.6.3 更新视图</vt:lpstr>
      <vt:lpstr>3.6  视 图</vt:lpstr>
      <vt:lpstr>3.6.4  视图的作用</vt:lpstr>
      <vt:lpstr>3.6.4  视图的作用</vt:lpstr>
      <vt:lpstr>3.6.4  视图的作用</vt:lpstr>
      <vt:lpstr>3.6.4  视图的作用</vt:lpstr>
      <vt:lpstr>3.6.4  视图的作用</vt:lpstr>
      <vt:lpstr>3.6.4  视图的作用</vt:lpstr>
    </vt:vector>
  </TitlesOfParts>
  <Company>西北农林科技大学信息工程学院</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数据库原理与应用课件</dc:title>
  <dc:creator>杨丽丽</dc:creator>
  <cp:lastModifiedBy>ll</cp:lastModifiedBy>
  <cp:revision>376</cp:revision>
  <dcterms:created xsi:type="dcterms:W3CDTF">2007-06-09T06:38:14Z</dcterms:created>
  <dcterms:modified xsi:type="dcterms:W3CDTF">2017-03-10T02:05:48Z</dcterms:modified>
</cp:coreProperties>
</file>